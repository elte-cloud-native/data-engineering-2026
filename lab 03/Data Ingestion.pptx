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272" r:id="rId2"/>
    <p:sldId id="472" r:id="rId3"/>
    <p:sldId id="671" r:id="rId4"/>
    <p:sldId id="679" r:id="rId5"/>
    <p:sldId id="396" r:id="rId6"/>
    <p:sldId id="402" r:id="rId7"/>
    <p:sldId id="401" r:id="rId8"/>
    <p:sldId id="403" r:id="rId9"/>
    <p:sldId id="404" r:id="rId10"/>
    <p:sldId id="405" r:id="rId11"/>
    <p:sldId id="406" r:id="rId12"/>
    <p:sldId id="422" r:id="rId13"/>
    <p:sldId id="423" r:id="rId14"/>
    <p:sldId id="424" r:id="rId15"/>
    <p:sldId id="672" r:id="rId16"/>
    <p:sldId id="398" r:id="rId17"/>
    <p:sldId id="407" r:id="rId18"/>
    <p:sldId id="408" r:id="rId19"/>
    <p:sldId id="419" r:id="rId20"/>
    <p:sldId id="409" r:id="rId21"/>
    <p:sldId id="673" r:id="rId22"/>
    <p:sldId id="411" r:id="rId23"/>
    <p:sldId id="674" r:id="rId24"/>
    <p:sldId id="680" r:id="rId25"/>
    <p:sldId id="681" r:id="rId26"/>
    <p:sldId id="682" r:id="rId27"/>
    <p:sldId id="414" r:id="rId28"/>
    <p:sldId id="415" r:id="rId29"/>
    <p:sldId id="416" r:id="rId30"/>
    <p:sldId id="417" r:id="rId31"/>
    <p:sldId id="666" r:id="rId32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ndows-felhasználó" initials="W" lastIdx="2" clrIdx="0">
    <p:extLst>
      <p:ext uri="{19B8F6BF-5375-455C-9EA6-DF929625EA0E}">
        <p15:presenceInfo xmlns:p15="http://schemas.microsoft.com/office/powerpoint/2012/main" userId="8e497090a0d7aaa3" providerId="Windows Live"/>
      </p:ext>
    </p:extLst>
  </p:cmAuthor>
  <p:cmAuthor id="2" name="Dávid Szabó" initials="DS" lastIdx="1" clrIdx="1">
    <p:extLst>
      <p:ext uri="{19B8F6BF-5375-455C-9EA6-DF929625EA0E}">
        <p15:presenceInfo xmlns:p15="http://schemas.microsoft.com/office/powerpoint/2012/main" userId="Dávid Szabó" providerId="None"/>
      </p:ext>
    </p:extLst>
  </p:cmAuthor>
  <p:cmAuthor id="3" name="Szabó, Dávid" initials="SD" lastIdx="1" clrIdx="2">
    <p:extLst>
      <p:ext uri="{19B8F6BF-5375-455C-9EA6-DF929625EA0E}">
        <p15:presenceInfo xmlns:p15="http://schemas.microsoft.com/office/powerpoint/2012/main" userId="Szabó, Dávid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E93D2"/>
    <a:srgbClr val="6CA6DA"/>
    <a:srgbClr val="012863"/>
    <a:srgbClr val="000000"/>
    <a:srgbClr val="0128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86" autoAdjust="0"/>
    <p:restoredTop sz="78912" autoAdjust="0"/>
  </p:normalViewPr>
  <p:slideViewPr>
    <p:cSldViewPr snapToGrid="0" snapToObjects="1">
      <p:cViewPr varScale="1">
        <p:scale>
          <a:sx n="52" d="100"/>
          <a:sy n="52" d="100"/>
        </p:scale>
        <p:origin x="1104" y="4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104" d="100"/>
          <a:sy n="104" d="100"/>
        </p:scale>
        <p:origin x="5560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>
            <a:extLst>
              <a:ext uri="{FF2B5EF4-FFF2-40B4-BE49-F238E27FC236}">
                <a16:creationId xmlns:a16="http://schemas.microsoft.com/office/drawing/2014/main" id="{12C39806-BB1D-8F56-1BD4-E8FD84A8860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8C5BF43A-04E9-CC17-BD51-B26CC338B3D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771E59-BB6D-9C41-A61C-2D524682E115}" type="datetimeFigureOut">
              <a:rPr lang="hu-HU" smtClean="0"/>
              <a:t>2026. 09. 29.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898E5719-5CA3-B83A-6AB2-CC9AF2C948A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8441738D-8521-5BCA-A098-BEAAADEBC96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9E7E85-FAC5-AA44-BBE8-3A2E745EC50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2384333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DA393B-998D-3C45-ACA4-5C51E3A83922}" type="datetimeFigureOut">
              <a:rPr lang="hu-HU" smtClean="0"/>
              <a:t>2026. 09. 29.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hu-HU"/>
              <a:t>Mintaszöveg szerkesztése
Második szint
Harmadik szint
Negyedik szint
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8B25AA-5A0B-7648-B33A-37E9A013F97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28872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B25AA-5A0B-7648-B33A-37E9A013F97A}" type="slidenum">
              <a:rPr lang="hu-HU" smtClean="0"/>
              <a:t>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84088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data pipeline</a:t>
            </a:r>
            <a:r>
              <a:rPr lang="en-US" dirty="0"/>
              <a:t> is a series of tools and processes that move data from one or more sources to a destination.</a:t>
            </a:r>
          </a:p>
          <a:p>
            <a:r>
              <a:rPr lang="en-US" dirty="0"/>
              <a:t>It includes </a:t>
            </a:r>
            <a:r>
              <a:rPr lang="en-US" b="1" dirty="0"/>
              <a:t>collection, processing, transformation, and delivery</a:t>
            </a:r>
            <a:r>
              <a:rPr lang="en-US" dirty="0"/>
              <a:t> of data.</a:t>
            </a:r>
          </a:p>
          <a:p>
            <a:r>
              <a:rPr lang="en-US" dirty="0"/>
              <a:t>Think of it as the digital equivalent of an oil pipeline—moving raw material (data) to where it can be refined and used.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B25AA-5A0B-7648-B33A-37E9A013F97A}" type="slidenum">
              <a:rPr lang="hu-HU" smtClean="0"/>
              <a:t>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564474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9CD47-BF36-34FC-F058-EBC3023FC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ACFFC2-26DD-9491-438A-9A695376F7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FA5AE2-C0A9-62C4-2872-6653CD5AD0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31818D-B047-0432-CC4B-877FB57B4D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B25AA-5A0B-7648-B33A-37E9A013F97A}" type="slidenum">
              <a:rPr lang="hu-HU" smtClean="0"/>
              <a:t>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2811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BD6B2-98A4-2B94-D9F6-88EE9B402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475381-2409-C513-E440-BBB335BADE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79BFB-DBD4-437B-18B0-0D6CCC8F59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Examples</a:t>
            </a:r>
            <a:r>
              <a:rPr lang="en-US" dirty="0"/>
              <a:t>:</a:t>
            </a:r>
          </a:p>
          <a:p>
            <a:r>
              <a:rPr lang="en-US" dirty="0"/>
              <a:t>A CRM system logs customer updates</a:t>
            </a:r>
          </a:p>
          <a:p>
            <a:r>
              <a:rPr lang="en-US" dirty="0"/>
              <a:t>A mobile app tracks user clicks</a:t>
            </a:r>
          </a:p>
          <a:p>
            <a:r>
              <a:rPr lang="en-US" dirty="0"/>
              <a:t>A temperature sensor emits readings every second</a:t>
            </a:r>
          </a:p>
          <a:p>
            <a:r>
              <a:rPr lang="en-US" b="1" dirty="0"/>
              <a:t>Speaker Notes</a:t>
            </a:r>
            <a:r>
              <a:rPr lang="en-US" dirty="0"/>
              <a:t>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48884A-8D6A-E9B6-8570-424604CBEA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B25AA-5A0B-7648-B33A-37E9A013F97A}" type="slidenum">
              <a:rPr lang="hu-HU" smtClean="0"/>
              <a:t>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6156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C5F4A-0791-72F0-B7D7-46CADD53E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E5D77B-6926-F083-C3B2-B8A37A61BE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CDD1DA-E0A6-EAEC-3C59-CB65C7CA60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transportation is the </a:t>
            </a:r>
            <a:r>
              <a:rPr lang="en-US" b="1" dirty="0"/>
              <a:t>logistics layer</a:t>
            </a:r>
            <a:r>
              <a:rPr lang="en-US" dirty="0"/>
              <a:t> — it ensures reliable delivery, but doesn’t inspect or store the data. It’s the bridge between collection and ingestion.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6C5468-4DA7-3D37-2549-45FB657BAD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B25AA-5A0B-7648-B33A-37E9A013F97A}" type="slidenum">
              <a:rPr lang="hu-HU" smtClean="0"/>
              <a:t>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954444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54D25-269B-1A73-68D2-DAD809A4F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6EFFC4-9379-4B3C-843A-5C67F33520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BD229E-2ED5-4DCE-1935-C5049FAC27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31AB37-5239-76B6-46D6-4662F04BFD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B25AA-5A0B-7648-B33A-37E9A013F97A}" type="slidenum">
              <a:rPr lang="hu-HU" smtClean="0"/>
              <a:t>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350401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diagram: </a:t>
            </a:r>
            <a:r>
              <a:rPr lang="en-US" dirty="0"/>
              <a:t>Timeline showing data arriving at fixed intervals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B25AA-5A0B-7648-B33A-37E9A013F97A}" type="slidenum">
              <a:rPr lang="hu-HU" smtClean="0"/>
              <a:t>9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053962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4F08E-9182-DAF0-8836-FC1BAB0E7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4B4A40-32FD-6BCB-7C47-F6688D9C3E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6AE1C2-B1F9-C22E-DA15-4CF02E496C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Diagram: </a:t>
            </a:r>
            <a:r>
              <a:rPr lang="en-US" dirty="0"/>
              <a:t>Live data flow with arrows and event icons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7459EE-F7BB-E6F1-7006-FFC832462E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B25AA-5A0B-7648-B33A-37E9A013F97A}" type="slidenum">
              <a:rPr lang="hu-HU" smtClean="0"/>
              <a:t>10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716913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93209-6AAD-E433-B207-BEEF4BEF9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8E2370-6AEC-974A-531B-DF7B653826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BA357C-C742-80A1-8448-BF995976C4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Diagram: </a:t>
            </a:r>
            <a:r>
              <a:rPr lang="en-US" dirty="0"/>
              <a:t>Split diagram showing batch and stream paths converging</a:t>
            </a:r>
            <a:endParaRPr lang="hu-HU" dirty="0"/>
          </a:p>
          <a:p>
            <a:endParaRPr lang="hu-HU" dirty="0"/>
          </a:p>
          <a:p>
            <a:r>
              <a:rPr lang="en-US" dirty="0"/>
              <a:t>Emphasize that the choice of ingestion type depends on:</a:t>
            </a:r>
          </a:p>
          <a:p>
            <a:r>
              <a:rPr lang="en-US" b="1" dirty="0"/>
              <a:t>Business requirements</a:t>
            </a:r>
            <a:r>
              <a:rPr lang="en-US" dirty="0"/>
              <a:t> (e.g., real-time alerts vs historical analysis)</a:t>
            </a:r>
          </a:p>
          <a:p>
            <a:r>
              <a:rPr lang="en-US" b="1" dirty="0"/>
              <a:t>Data velocity and volume</a:t>
            </a:r>
            <a:endParaRPr lang="en-US" dirty="0"/>
          </a:p>
          <a:p>
            <a:r>
              <a:rPr lang="en-US" b="1" dirty="0"/>
              <a:t>Tooling and infrastructure</a:t>
            </a:r>
            <a:endParaRPr lang="en-US" dirty="0"/>
          </a:p>
          <a:p>
            <a:r>
              <a:rPr lang="en-US" b="1" dirty="0"/>
              <a:t>Cost and complexity trade-offs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0A8972-2E4C-7467-FD1E-24650EAE4D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B25AA-5A0B-7648-B33A-37E9A013F97A}" type="slidenum">
              <a:rPr lang="hu-HU" smtClean="0"/>
              <a:t>11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078849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12E5F-83A8-0D9C-1465-99BFA25B5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0BC243-00B5-7FF8-1D40-CD7D4BAB11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CE2AA3-2DD8-C034-8660-739C027EEF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1192F1-E8AE-7CF0-C7A1-E93153D93E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B25AA-5A0B-7648-B33A-37E9A013F97A}" type="slidenum">
              <a:rPr lang="hu-HU" smtClean="0"/>
              <a:t>12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520734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172AD-8A37-7499-4730-BD56939A9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8486C6-8BB8-8FEA-6144-15CD58626F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A96B5F-09F9-9CA2-F75E-D176C5BF6D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949EAE-868E-25A0-17EB-5F6DF7AA7B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B25AA-5A0B-7648-B33A-37E9A013F97A}" type="slidenum">
              <a:rPr lang="hu-HU" smtClean="0"/>
              <a:t>13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437002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1B5C4-FFB5-7445-B695-32732DC60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6F4404-6EF5-6A91-EB2B-03FEB2F8F8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CF36C4-EF97-8973-CCDD-3339A69099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568B15-1E6C-A6CB-1068-54862FFEA8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B25AA-5A0B-7648-B33A-37E9A013F97A}" type="slidenum">
              <a:rPr lang="hu-HU" smtClean="0"/>
              <a:t>14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711805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B25AA-5A0B-7648-B33A-37E9A013F97A}" type="slidenum">
              <a:rPr lang="hu-HU" smtClean="0"/>
              <a:t>15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793897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B25AA-5A0B-7648-B33A-37E9A013F97A}" type="slidenum">
              <a:rPr lang="hu-HU" smtClean="0"/>
              <a:t>17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819723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Clarify that schema registries are one implementation of schema governance — but the need to manage schemas exists across all platforms. Encourage students to think about </a:t>
            </a:r>
            <a:r>
              <a:rPr lang="en-US" b="1" dirty="0"/>
              <a:t>where</a:t>
            </a:r>
            <a:r>
              <a:rPr lang="en-US" dirty="0"/>
              <a:t> schema is enforced in their pipeline: at ingestion, processing, or storage.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B25AA-5A0B-7648-B33A-37E9A013F97A}" type="slidenum">
              <a:rPr lang="hu-HU" smtClean="0"/>
              <a:t>18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197095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 staging area is the first place data lands after ingestion. It’s not meant for analytics — it’s meant for safety, traceability, and flexibility.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B25AA-5A0B-7648-B33A-37E9A013F97A}" type="slidenum">
              <a:rPr lang="hu-HU" smtClean="0"/>
              <a:t>20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464472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 staging area is the first place data lands after ingestion. It’s not meant for analytics — it’s meant for safety, traceability, and flexibility.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B25AA-5A0B-7648-B33A-37E9A013F97A}" type="slidenum">
              <a:rPr lang="hu-HU" smtClean="0"/>
              <a:t>21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1651862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 real-world analogy: staging is like a warehouse receiving dock — goods arrive, get tagged, and wait to be sorted.</a:t>
            </a:r>
            <a:endParaRPr lang="hu-HU" dirty="0"/>
          </a:p>
          <a:p>
            <a:endParaRPr lang="hu-HU" dirty="0"/>
          </a:p>
          <a:p>
            <a:r>
              <a:rPr lang="en-US" b="1" dirty="0"/>
              <a:t>Diagram</a:t>
            </a:r>
            <a:r>
              <a:rPr lang="en-US" dirty="0"/>
              <a:t>: Show ingestion → staging → processing flow with metadata tagging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B25AA-5A0B-7648-B33A-37E9A013F97A}" type="slidenum">
              <a:rPr lang="hu-HU" smtClean="0"/>
              <a:t>22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147313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D41A8-D5A9-76E6-0877-846D00BCB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2F2A6D-12C7-C9B6-095B-35ABD6C9A5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4E71CF-A392-1348-B464-77321EDA3E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a folder structure like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/staging/sales/2025/08/31/source=POS/</a:t>
            </a:r>
            <a:r>
              <a:rPr lang="en-US" dirty="0"/>
              <a:t> and explain how it supports traceability and scalability.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BEC7C2-1D5E-D9CC-C5DE-0A94D51A82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B25AA-5A0B-7648-B33A-37E9A013F97A}" type="slidenum">
              <a:rPr lang="hu-HU" smtClean="0"/>
              <a:t>23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262239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D41A8-D5A9-76E6-0877-846D00BCB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2F2A6D-12C7-C9B6-095B-35ABD6C9A5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4E71CF-A392-1348-B464-77321EDA3E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a folder structure like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/staging/sales/2025/08/31/source=POS/</a:t>
            </a:r>
            <a:r>
              <a:rPr lang="en-US" dirty="0"/>
              <a:t> and explain how it supports traceability and scalability.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BEC7C2-1D5E-D9CC-C5DE-0A94D51A82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B25AA-5A0B-7648-B33A-37E9A013F97A}" type="slidenum">
              <a:rPr lang="hu-HU" smtClean="0"/>
              <a:t>24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3707114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D41A8-D5A9-76E6-0877-846D00BCB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2F2A6D-12C7-C9B6-095B-35ABD6C9A5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4E71CF-A392-1348-B464-77321EDA3E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a folder structure like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/staging/sales/2025/08/31/source=POS/</a:t>
            </a:r>
            <a:r>
              <a:rPr lang="en-US" dirty="0"/>
              <a:t> and explain how it supports traceability and scalability.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BEC7C2-1D5E-D9CC-C5DE-0A94D51A82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B25AA-5A0B-7648-B33A-37E9A013F97A}" type="slidenum">
              <a:rPr lang="hu-HU" smtClean="0"/>
              <a:t>25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2229882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D41A8-D5A9-76E6-0877-846D00BCB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2F2A6D-12C7-C9B6-095B-35ABD6C9A5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4E71CF-A392-1348-B464-77321EDA3E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a folder structure like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/staging/sales/2025/08/31/source=POS/</a:t>
            </a:r>
            <a:r>
              <a:rPr lang="en-US" dirty="0"/>
              <a:t> and explain how it supports traceability and scalability.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BEC7C2-1D5E-D9CC-C5DE-0A94D51A82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B25AA-5A0B-7648-B33A-37E9A013F97A}" type="slidenum">
              <a:rPr lang="hu-HU" smtClean="0"/>
              <a:t>26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7265633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https://blog.bismart.com/en/medallion-architecture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B25AA-5A0B-7648-B33A-37E9A013F97A}" type="slidenum">
              <a:rPr lang="hu-HU" smtClean="0"/>
              <a:t>27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7153630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661A2-1066-11D0-D550-76641F6BB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39B698-329F-3C12-2E7C-1DF5712712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670F35-A1D8-1EDD-CB56-3F86A3BEFB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164036-0CAC-5F57-D148-39930D0778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B25AA-5A0B-7648-B33A-37E9A013F97A}" type="slidenum">
              <a:rPr lang="hu-HU" smtClean="0"/>
              <a:t>28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1103694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655D6-AE79-87CD-4828-9C4106216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2FBD7D-D986-1F8B-B307-756CB83A69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0E6E61-ADCB-EE06-A644-3A256D7A1F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0ACF90-6DA0-22BD-D781-2546F150DA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B25AA-5A0B-7648-B33A-37E9A013F97A}" type="slidenum">
              <a:rPr lang="hu-HU" smtClean="0"/>
              <a:t>29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2208597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88CAD-4C63-F166-A23A-277955B12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B087BF-6B9B-4DCB-8EE4-3395F002F1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05AB45-4054-C158-6D38-A7E66FE954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11BBB8-621A-E411-8595-7BB1AF015F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B25AA-5A0B-7648-B33A-37E9A013F97A}" type="slidenum">
              <a:rPr lang="hu-HU" smtClean="0"/>
              <a:t>30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194266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ép 1">
            <a:extLst>
              <a:ext uri="{FF2B5EF4-FFF2-40B4-BE49-F238E27FC236}">
                <a16:creationId xmlns:a16="http://schemas.microsoft.com/office/drawing/2014/main" id="{7576A917-C803-4400-FBEE-6B791AEA9A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sp>
        <p:nvSpPr>
          <p:cNvPr id="4" name="Szöveg helye 10">
            <a:extLst>
              <a:ext uri="{FF2B5EF4-FFF2-40B4-BE49-F238E27FC236}">
                <a16:creationId xmlns:a16="http://schemas.microsoft.com/office/drawing/2014/main" id="{831FA102-844C-755E-D247-CB3718711D4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723900" y="2029968"/>
            <a:ext cx="10744200" cy="8911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500" baseline="0">
                <a:solidFill>
                  <a:schemeClr val="bg1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PREZENTÁCIÓ CÍME</a:t>
            </a:r>
          </a:p>
        </p:txBody>
      </p:sp>
      <p:sp>
        <p:nvSpPr>
          <p:cNvPr id="6" name="Szöveg helye 10">
            <a:extLst>
              <a:ext uri="{FF2B5EF4-FFF2-40B4-BE49-F238E27FC236}">
                <a16:creationId xmlns:a16="http://schemas.microsoft.com/office/drawing/2014/main" id="{DF9D8FEB-E57B-5F73-ADA2-8D7B7485DFAF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723900" y="2980944"/>
            <a:ext cx="10744200" cy="8911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aseline="0">
                <a:solidFill>
                  <a:schemeClr val="bg1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Prezentáció alcíme</a:t>
            </a:r>
          </a:p>
        </p:txBody>
      </p:sp>
      <p:sp>
        <p:nvSpPr>
          <p:cNvPr id="7" name="Szöveg helye 10">
            <a:extLst>
              <a:ext uri="{FF2B5EF4-FFF2-40B4-BE49-F238E27FC236}">
                <a16:creationId xmlns:a16="http://schemas.microsoft.com/office/drawing/2014/main" id="{605BC215-EB6B-138C-D66F-E7064E16F28F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723900" y="4301824"/>
            <a:ext cx="10744200" cy="64922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aseline="0">
                <a:solidFill>
                  <a:schemeClr val="bg1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Előadó neve</a:t>
            </a:r>
          </a:p>
        </p:txBody>
      </p:sp>
      <p:sp>
        <p:nvSpPr>
          <p:cNvPr id="8" name="Szöveg helye 10">
            <a:extLst>
              <a:ext uri="{FF2B5EF4-FFF2-40B4-BE49-F238E27FC236}">
                <a16:creationId xmlns:a16="http://schemas.microsoft.com/office/drawing/2014/main" id="{2A598985-FDB3-7140-588C-68FBF5A82B23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723900" y="5005912"/>
            <a:ext cx="10744200" cy="64922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Előadó titulusa</a:t>
            </a:r>
          </a:p>
        </p:txBody>
      </p:sp>
      <p:sp>
        <p:nvSpPr>
          <p:cNvPr id="9" name="Szöveg helye 10">
            <a:extLst>
              <a:ext uri="{FF2B5EF4-FFF2-40B4-BE49-F238E27FC236}">
                <a16:creationId xmlns:a16="http://schemas.microsoft.com/office/drawing/2014/main" id="{91323EAC-BA77-33AC-53B7-F24EA909AB24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723900" y="5705856"/>
            <a:ext cx="10744200" cy="64922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Rendezvény, dátum</a:t>
            </a:r>
          </a:p>
        </p:txBody>
      </p:sp>
    </p:spTree>
    <p:extLst>
      <p:ext uri="{BB962C8B-B14F-4D97-AF65-F5344CB8AC3E}">
        <p14:creationId xmlns:p14="http://schemas.microsoft.com/office/powerpoint/2010/main" val="1320683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zövege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>
            <a:extLst>
              <a:ext uri="{FF2B5EF4-FFF2-40B4-BE49-F238E27FC236}">
                <a16:creationId xmlns:a16="http://schemas.microsoft.com/office/drawing/2014/main" id="{765AB793-C3EE-75F8-4E4A-2E20E9E0935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001196"/>
            <a:ext cx="12192000" cy="856804"/>
          </a:xfrm>
          <a:prstGeom prst="rect">
            <a:avLst/>
          </a:prstGeom>
        </p:spPr>
      </p:pic>
      <p:cxnSp>
        <p:nvCxnSpPr>
          <p:cNvPr id="16" name="Egyenes összekötő 15">
            <a:extLst>
              <a:ext uri="{FF2B5EF4-FFF2-40B4-BE49-F238E27FC236}">
                <a16:creationId xmlns:a16="http://schemas.microsoft.com/office/drawing/2014/main" id="{A933D47C-7F86-9A48-A1AD-EEBD81F9A6A8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74462"/>
            <a:ext cx="10515600" cy="0"/>
          </a:xfrm>
          <a:prstGeom prst="line">
            <a:avLst/>
          </a:prstGeom>
          <a:ln>
            <a:solidFill>
              <a:srgbClr val="0128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zöveg helye 10">
            <a:extLst>
              <a:ext uri="{FF2B5EF4-FFF2-40B4-BE49-F238E27FC236}">
                <a16:creationId xmlns:a16="http://schemas.microsoft.com/office/drawing/2014/main" id="{3940BA6A-A9B7-7219-4D85-FAE0F7D5ABF8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38200" y="723315"/>
            <a:ext cx="10515600" cy="5294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aseline="0">
                <a:solidFill>
                  <a:srgbClr val="012850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DIA CÍME</a:t>
            </a:r>
          </a:p>
        </p:txBody>
      </p:sp>
      <p:sp>
        <p:nvSpPr>
          <p:cNvPr id="3" name="Szöveg helye 10">
            <a:extLst>
              <a:ext uri="{FF2B5EF4-FFF2-40B4-BE49-F238E27FC236}">
                <a16:creationId xmlns:a16="http://schemas.microsoft.com/office/drawing/2014/main" id="{55729B78-CCC8-F712-B7DB-176E91D2D65F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838200" y="1607437"/>
            <a:ext cx="10515600" cy="18460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Mintaszöveg szerkesztése</a:t>
            </a:r>
          </a:p>
        </p:txBody>
      </p:sp>
      <p:sp>
        <p:nvSpPr>
          <p:cNvPr id="5" name="Szöveg helye 10">
            <a:extLst>
              <a:ext uri="{FF2B5EF4-FFF2-40B4-BE49-F238E27FC236}">
                <a16:creationId xmlns:a16="http://schemas.microsoft.com/office/drawing/2014/main" id="{ED6C24E1-FC98-931B-668F-1A2663E54988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6282280" y="3786425"/>
            <a:ext cx="5125629" cy="184601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Open Sans" panose="020B0606030504020204" pitchFamily="34" charset="0"/>
              </a:defRPr>
            </a:lvl1pPr>
          </a:lstStyle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Mintaszöveg szerkesztése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Első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Második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Harmadik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Negyedik szint</a:t>
            </a:r>
          </a:p>
        </p:txBody>
      </p:sp>
      <p:sp>
        <p:nvSpPr>
          <p:cNvPr id="6" name="Szöveg helye 10">
            <a:extLst>
              <a:ext uri="{FF2B5EF4-FFF2-40B4-BE49-F238E27FC236}">
                <a16:creationId xmlns:a16="http://schemas.microsoft.com/office/drawing/2014/main" id="{BA10B23C-BC2C-AA33-C513-FD8B9D46C292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838201" y="3786425"/>
            <a:ext cx="5125629" cy="184601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Open Sans" panose="020B0606030504020204" pitchFamily="34" charset="0"/>
              </a:defRPr>
            </a:lvl1pPr>
          </a:lstStyle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Mintaszöveg szerkesztése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Első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Második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Harmadik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Negyedik szint</a:t>
            </a:r>
          </a:p>
        </p:txBody>
      </p:sp>
      <p:sp>
        <p:nvSpPr>
          <p:cNvPr id="9" name="Szöveg helye 10">
            <a:extLst>
              <a:ext uri="{FF2B5EF4-FFF2-40B4-BE49-F238E27FC236}">
                <a16:creationId xmlns:a16="http://schemas.microsoft.com/office/drawing/2014/main" id="{5098D7CE-AAE8-B095-44BC-D69C66D1F5BE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2925371" y="6300874"/>
            <a:ext cx="7985760" cy="3376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cap="all" spc="0" baseline="0">
                <a:solidFill>
                  <a:schemeClr val="bg1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Rendezvény, dátum</a:t>
            </a:r>
          </a:p>
        </p:txBody>
      </p:sp>
    </p:spTree>
    <p:extLst>
      <p:ext uri="{BB962C8B-B14F-4D97-AF65-F5344CB8AC3E}">
        <p14:creationId xmlns:p14="http://schemas.microsoft.com/office/powerpoint/2010/main" val="2131341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szövegblokk - 1 ké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Egyenes összekötő 9">
            <a:extLst>
              <a:ext uri="{FF2B5EF4-FFF2-40B4-BE49-F238E27FC236}">
                <a16:creationId xmlns:a16="http://schemas.microsoft.com/office/drawing/2014/main" id="{934CE5A9-19D5-B7FF-F605-96F82FA4FB0B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74462"/>
            <a:ext cx="10515600" cy="0"/>
          </a:xfrm>
          <a:prstGeom prst="line">
            <a:avLst/>
          </a:prstGeom>
          <a:ln>
            <a:solidFill>
              <a:srgbClr val="0128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Kép helye 2">
            <a:extLst>
              <a:ext uri="{FF2B5EF4-FFF2-40B4-BE49-F238E27FC236}">
                <a16:creationId xmlns:a16="http://schemas.microsoft.com/office/drawing/2014/main" id="{23D20630-BBCE-AC6F-5896-1CEEB00154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27089" y="1579457"/>
            <a:ext cx="5326711" cy="40040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 dirty="0"/>
          </a:p>
        </p:txBody>
      </p:sp>
      <p:sp>
        <p:nvSpPr>
          <p:cNvPr id="2" name="Szöveg helye 10">
            <a:extLst>
              <a:ext uri="{FF2B5EF4-FFF2-40B4-BE49-F238E27FC236}">
                <a16:creationId xmlns:a16="http://schemas.microsoft.com/office/drawing/2014/main" id="{BC05F114-74F4-CAB6-3497-7C63660FE88E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38200" y="723315"/>
            <a:ext cx="10515600" cy="5294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aseline="0">
                <a:solidFill>
                  <a:srgbClr val="012850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DIA CÍME</a:t>
            </a:r>
          </a:p>
        </p:txBody>
      </p:sp>
      <p:sp>
        <p:nvSpPr>
          <p:cNvPr id="3" name="Szöveg helye 10">
            <a:extLst>
              <a:ext uri="{FF2B5EF4-FFF2-40B4-BE49-F238E27FC236}">
                <a16:creationId xmlns:a16="http://schemas.microsoft.com/office/drawing/2014/main" id="{C43265EB-5A74-13B8-25EF-C234D04EBA7E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838201" y="1582985"/>
            <a:ext cx="4287982" cy="37579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Open Sans" panose="020B0606030504020204" pitchFamily="34" charset="0"/>
              </a:defRPr>
            </a:lvl1pPr>
          </a:lstStyle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Mintaszöveg szerkesztése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Első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Második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Harmadik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Negyedik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Ötödik szint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F69FC214-A8DF-2334-7247-2170A8AA17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001196"/>
            <a:ext cx="12192000" cy="856804"/>
          </a:xfrm>
          <a:prstGeom prst="rect">
            <a:avLst/>
          </a:prstGeom>
        </p:spPr>
      </p:pic>
      <p:sp>
        <p:nvSpPr>
          <p:cNvPr id="6" name="Szöveg helye 10">
            <a:extLst>
              <a:ext uri="{FF2B5EF4-FFF2-40B4-BE49-F238E27FC236}">
                <a16:creationId xmlns:a16="http://schemas.microsoft.com/office/drawing/2014/main" id="{E4F210FC-1016-425F-02B2-E3EE645E1BB4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2925371" y="6300874"/>
            <a:ext cx="7985760" cy="3376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cap="all" spc="0" baseline="0">
                <a:solidFill>
                  <a:schemeClr val="bg1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Rendezvény, dátum</a:t>
            </a:r>
          </a:p>
        </p:txBody>
      </p:sp>
    </p:spTree>
    <p:extLst>
      <p:ext uri="{BB962C8B-B14F-4D97-AF65-F5344CB8AC3E}">
        <p14:creationId xmlns:p14="http://schemas.microsoft.com/office/powerpoint/2010/main" val="2073395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szövegblok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Egyenes összekötő 16">
            <a:extLst>
              <a:ext uri="{FF2B5EF4-FFF2-40B4-BE49-F238E27FC236}">
                <a16:creationId xmlns:a16="http://schemas.microsoft.com/office/drawing/2014/main" id="{CE5C7C62-306F-C568-AC87-137E9C578BFC}"/>
              </a:ext>
            </a:extLst>
          </p:cNvPr>
          <p:cNvCxnSpPr>
            <a:cxnSpLocks/>
          </p:cNvCxnSpPr>
          <p:nvPr userDrawn="1"/>
        </p:nvCxnSpPr>
        <p:spPr>
          <a:xfrm>
            <a:off x="161924" y="748860"/>
            <a:ext cx="11877675" cy="0"/>
          </a:xfrm>
          <a:prstGeom prst="line">
            <a:avLst/>
          </a:prstGeom>
          <a:ln>
            <a:solidFill>
              <a:srgbClr val="0128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zöveg helye 10">
            <a:extLst>
              <a:ext uri="{FF2B5EF4-FFF2-40B4-BE49-F238E27FC236}">
                <a16:creationId xmlns:a16="http://schemas.microsoft.com/office/drawing/2014/main" id="{32B9E13B-D4C6-DDBF-DA2A-ED8F1AEADB59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161924" y="219456"/>
            <a:ext cx="11877675" cy="5294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aseline="0">
                <a:solidFill>
                  <a:srgbClr val="012850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DIA CÍME</a:t>
            </a:r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FA96FDED-1213-82EC-1A9D-4FC90A80FA7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001196"/>
            <a:ext cx="12192000" cy="856804"/>
          </a:xfrm>
          <a:prstGeom prst="rect">
            <a:avLst/>
          </a:prstGeom>
        </p:spPr>
      </p:pic>
      <p:sp>
        <p:nvSpPr>
          <p:cNvPr id="5" name="Szöveg helye 10">
            <a:extLst>
              <a:ext uri="{FF2B5EF4-FFF2-40B4-BE49-F238E27FC236}">
                <a16:creationId xmlns:a16="http://schemas.microsoft.com/office/drawing/2014/main" id="{0AF073EC-750D-2DFB-C11E-4C39CA8DC2E4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2925371" y="6300874"/>
            <a:ext cx="7985760" cy="3376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cap="all" spc="0" baseline="0">
                <a:solidFill>
                  <a:schemeClr val="bg1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Rendezvény, dátum</a:t>
            </a:r>
          </a:p>
        </p:txBody>
      </p:sp>
      <p:sp>
        <p:nvSpPr>
          <p:cNvPr id="9" name="Tartalom helye 2">
            <a:extLst>
              <a:ext uri="{FF2B5EF4-FFF2-40B4-BE49-F238E27FC236}">
                <a16:creationId xmlns:a16="http://schemas.microsoft.com/office/drawing/2014/main" id="{ACB07BB1-AB18-FE6A-D774-B35AB40BA59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61924" y="847421"/>
            <a:ext cx="11877675" cy="5010454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85800" indent="-228600">
              <a:buSzPct val="75000"/>
              <a:buFont typeface="Wingdings" panose="05000000000000000000" pitchFamily="2" charset="2"/>
              <a:buChar char="q"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>
              <a:buFont typeface="Arial" panose="020B0604020202020204" pitchFamily="34" charset="0"/>
              <a:buChar char="•"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>
              <a:buFont typeface="Courier New" panose="02070309020205020404" pitchFamily="49" charset="0"/>
              <a:buChar char="o"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</p:txBody>
      </p:sp>
    </p:spTree>
    <p:extLst>
      <p:ext uri="{BB962C8B-B14F-4D97-AF65-F5344CB8AC3E}">
        <p14:creationId xmlns:p14="http://schemas.microsoft.com/office/powerpoint/2010/main" val="3236759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szövegblok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Egyenes összekötő 15">
            <a:extLst>
              <a:ext uri="{FF2B5EF4-FFF2-40B4-BE49-F238E27FC236}">
                <a16:creationId xmlns:a16="http://schemas.microsoft.com/office/drawing/2014/main" id="{E4CEC806-06F8-0A8E-802F-451103EBAC0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74462"/>
            <a:ext cx="10515600" cy="0"/>
          </a:xfrm>
          <a:prstGeom prst="line">
            <a:avLst/>
          </a:prstGeom>
          <a:ln>
            <a:solidFill>
              <a:srgbClr val="0128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zöveg helye 10">
            <a:extLst>
              <a:ext uri="{FF2B5EF4-FFF2-40B4-BE49-F238E27FC236}">
                <a16:creationId xmlns:a16="http://schemas.microsoft.com/office/drawing/2014/main" id="{737F6A48-F38F-FC31-62D0-11C22537C648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38200" y="723315"/>
            <a:ext cx="10515600" cy="5294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aseline="0">
                <a:solidFill>
                  <a:srgbClr val="012850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DIA CÍME</a:t>
            </a:r>
          </a:p>
        </p:txBody>
      </p:sp>
      <p:sp>
        <p:nvSpPr>
          <p:cNvPr id="3" name="Szöveg helye 10">
            <a:extLst>
              <a:ext uri="{FF2B5EF4-FFF2-40B4-BE49-F238E27FC236}">
                <a16:creationId xmlns:a16="http://schemas.microsoft.com/office/drawing/2014/main" id="{1E6D20BC-2EF9-211F-E045-74EB3321F442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838201" y="1579456"/>
            <a:ext cx="3212591" cy="40687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Open Sans" panose="020B0606030504020204" pitchFamily="34" charset="0"/>
              </a:defRPr>
            </a:lvl1pPr>
          </a:lstStyle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Mintaszöveg szerkesztése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Első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Második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Harmadik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Negyedik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Ötödik szint</a:t>
            </a:r>
          </a:p>
        </p:txBody>
      </p:sp>
      <p:sp>
        <p:nvSpPr>
          <p:cNvPr id="10" name="Szöveg helye 10">
            <a:extLst>
              <a:ext uri="{FF2B5EF4-FFF2-40B4-BE49-F238E27FC236}">
                <a16:creationId xmlns:a16="http://schemas.microsoft.com/office/drawing/2014/main" id="{0AB37620-467A-3358-9635-1AE991B29903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4489704" y="1579456"/>
            <a:ext cx="3212591" cy="40687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Open Sans" panose="020B0606030504020204" pitchFamily="34" charset="0"/>
              </a:defRPr>
            </a:lvl1pPr>
          </a:lstStyle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Mintaszöveg szerkesztése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Első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Második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Harmadik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Negyedik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Ötödik szint</a:t>
            </a:r>
          </a:p>
        </p:txBody>
      </p:sp>
      <p:sp>
        <p:nvSpPr>
          <p:cNvPr id="11" name="Szöveg helye 10">
            <a:extLst>
              <a:ext uri="{FF2B5EF4-FFF2-40B4-BE49-F238E27FC236}">
                <a16:creationId xmlns:a16="http://schemas.microsoft.com/office/drawing/2014/main" id="{44317DED-74F7-596D-46E5-4EFCB5B1B45F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8141207" y="1579456"/>
            <a:ext cx="3212591" cy="40687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Open Sans" panose="020B0606030504020204" pitchFamily="34" charset="0"/>
              </a:defRPr>
            </a:lvl1pPr>
          </a:lstStyle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Mintaszöveg szerkesztése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Első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Második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Harmadik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Negyedik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Ötödik szint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936141E3-2650-7309-36C7-ECD2E619BF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001196"/>
            <a:ext cx="12192000" cy="856804"/>
          </a:xfrm>
          <a:prstGeom prst="rect">
            <a:avLst/>
          </a:prstGeom>
        </p:spPr>
      </p:pic>
      <p:sp>
        <p:nvSpPr>
          <p:cNvPr id="5" name="Szöveg helye 10">
            <a:extLst>
              <a:ext uri="{FF2B5EF4-FFF2-40B4-BE49-F238E27FC236}">
                <a16:creationId xmlns:a16="http://schemas.microsoft.com/office/drawing/2014/main" id="{0614727D-5F43-1091-F059-56358E383047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2925371" y="6300874"/>
            <a:ext cx="7985760" cy="3376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cap="all" spc="0" baseline="0">
                <a:solidFill>
                  <a:schemeClr val="bg1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Rendezvény, dátum</a:t>
            </a:r>
          </a:p>
        </p:txBody>
      </p:sp>
    </p:spTree>
    <p:extLst>
      <p:ext uri="{BB962C8B-B14F-4D97-AF65-F5344CB8AC3E}">
        <p14:creationId xmlns:p14="http://schemas.microsoft.com/office/powerpoint/2010/main" val="1253035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képe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Egyenes összekötő 11">
            <a:extLst>
              <a:ext uri="{FF2B5EF4-FFF2-40B4-BE49-F238E27FC236}">
                <a16:creationId xmlns:a16="http://schemas.microsoft.com/office/drawing/2014/main" id="{FDFD7BA7-C2A9-595B-15D6-EDE5F7DAE2D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74462"/>
            <a:ext cx="10515600" cy="0"/>
          </a:xfrm>
          <a:prstGeom prst="line">
            <a:avLst/>
          </a:prstGeom>
          <a:ln>
            <a:solidFill>
              <a:srgbClr val="0128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Kép helye 2">
            <a:extLst>
              <a:ext uri="{FF2B5EF4-FFF2-40B4-BE49-F238E27FC236}">
                <a16:creationId xmlns:a16="http://schemas.microsoft.com/office/drawing/2014/main" id="{9E45454F-C86C-2D65-C04B-55E626DA88AE}"/>
              </a:ext>
            </a:extLst>
          </p:cNvPr>
          <p:cNvSpPr>
            <a:spLocks noGrp="1"/>
          </p:cNvSpPr>
          <p:nvPr>
            <p:ph type="pic" idx="11"/>
          </p:nvPr>
        </p:nvSpPr>
        <p:spPr>
          <a:xfrm>
            <a:off x="6265629" y="1579456"/>
            <a:ext cx="5067632" cy="40687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 dirty="0"/>
          </a:p>
        </p:txBody>
      </p:sp>
      <p:sp>
        <p:nvSpPr>
          <p:cNvPr id="20" name="Kép helye 2">
            <a:extLst>
              <a:ext uri="{FF2B5EF4-FFF2-40B4-BE49-F238E27FC236}">
                <a16:creationId xmlns:a16="http://schemas.microsoft.com/office/drawing/2014/main" id="{176350A7-3ED8-9325-46CB-CA499869403F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838200" y="1579456"/>
            <a:ext cx="5011973" cy="40687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 dirty="0"/>
          </a:p>
        </p:txBody>
      </p:sp>
      <p:sp>
        <p:nvSpPr>
          <p:cNvPr id="2" name="Szöveg helye 10">
            <a:extLst>
              <a:ext uri="{FF2B5EF4-FFF2-40B4-BE49-F238E27FC236}">
                <a16:creationId xmlns:a16="http://schemas.microsoft.com/office/drawing/2014/main" id="{1BFA0AC3-D5FA-244D-2DF5-5874C6467C5D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38200" y="723315"/>
            <a:ext cx="10515600" cy="5294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aseline="0">
                <a:solidFill>
                  <a:srgbClr val="012850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DIA CÍME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245C0CEC-C383-42CB-7D7B-C253C37D1EF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001196"/>
            <a:ext cx="12192000" cy="856804"/>
          </a:xfrm>
          <a:prstGeom prst="rect">
            <a:avLst/>
          </a:prstGeom>
        </p:spPr>
      </p:pic>
      <p:sp>
        <p:nvSpPr>
          <p:cNvPr id="5" name="Szöveg helye 10">
            <a:extLst>
              <a:ext uri="{FF2B5EF4-FFF2-40B4-BE49-F238E27FC236}">
                <a16:creationId xmlns:a16="http://schemas.microsoft.com/office/drawing/2014/main" id="{6D82DBE0-A887-D830-B4E0-50498F0CA4C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2925371" y="6300874"/>
            <a:ext cx="7985760" cy="3376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cap="all" spc="0" baseline="0">
                <a:solidFill>
                  <a:schemeClr val="bg1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Rendezvény, dátum</a:t>
            </a:r>
          </a:p>
        </p:txBody>
      </p:sp>
    </p:spTree>
    <p:extLst>
      <p:ext uri="{BB962C8B-B14F-4D97-AF65-F5344CB8AC3E}">
        <p14:creationId xmlns:p14="http://schemas.microsoft.com/office/powerpoint/2010/main" val="4151485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képe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Egyenes összekötő 5">
            <a:extLst>
              <a:ext uri="{FF2B5EF4-FFF2-40B4-BE49-F238E27FC236}">
                <a16:creationId xmlns:a16="http://schemas.microsoft.com/office/drawing/2014/main" id="{A371C297-1CA5-94ED-2895-3B1AF69D27B3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74462"/>
            <a:ext cx="10515600" cy="0"/>
          </a:xfrm>
          <a:prstGeom prst="line">
            <a:avLst/>
          </a:prstGeom>
          <a:ln>
            <a:solidFill>
              <a:srgbClr val="0128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Kép helye 2">
            <a:extLst>
              <a:ext uri="{FF2B5EF4-FFF2-40B4-BE49-F238E27FC236}">
                <a16:creationId xmlns:a16="http://schemas.microsoft.com/office/drawing/2014/main" id="{B4B0655C-B169-D423-90AB-F5CB238B3C4B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838199" y="1579456"/>
            <a:ext cx="2564928" cy="41254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 dirty="0"/>
          </a:p>
        </p:txBody>
      </p:sp>
      <p:sp>
        <p:nvSpPr>
          <p:cNvPr id="10" name="Kép helye 2">
            <a:extLst>
              <a:ext uri="{FF2B5EF4-FFF2-40B4-BE49-F238E27FC236}">
                <a16:creationId xmlns:a16="http://schemas.microsoft.com/office/drawing/2014/main" id="{88B1D7E9-B3E8-D3A3-7C3B-46B669E00D44}"/>
              </a:ext>
            </a:extLst>
          </p:cNvPr>
          <p:cNvSpPr>
            <a:spLocks noGrp="1"/>
          </p:cNvSpPr>
          <p:nvPr>
            <p:ph type="pic" idx="11"/>
          </p:nvPr>
        </p:nvSpPr>
        <p:spPr>
          <a:xfrm>
            <a:off x="6639338" y="1579457"/>
            <a:ext cx="4693921" cy="41254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 dirty="0"/>
          </a:p>
        </p:txBody>
      </p:sp>
      <p:sp>
        <p:nvSpPr>
          <p:cNvPr id="13" name="Kép helye 2">
            <a:extLst>
              <a:ext uri="{FF2B5EF4-FFF2-40B4-BE49-F238E27FC236}">
                <a16:creationId xmlns:a16="http://schemas.microsoft.com/office/drawing/2014/main" id="{DE50A8AD-DAA0-C470-251A-FB13BCEC03F1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3738768" y="1579456"/>
            <a:ext cx="2564928" cy="41254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 dirty="0"/>
          </a:p>
        </p:txBody>
      </p:sp>
      <p:sp>
        <p:nvSpPr>
          <p:cNvPr id="2" name="Szöveg helye 10">
            <a:extLst>
              <a:ext uri="{FF2B5EF4-FFF2-40B4-BE49-F238E27FC236}">
                <a16:creationId xmlns:a16="http://schemas.microsoft.com/office/drawing/2014/main" id="{8A66C65D-5136-21C7-C4AA-39F449F6F4A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38200" y="723315"/>
            <a:ext cx="10515600" cy="5294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aseline="0">
                <a:solidFill>
                  <a:srgbClr val="012850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DIA CÍME</a:t>
            </a:r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8DC4FBAE-8E6D-4D61-C7ED-3B8AA103C9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001196"/>
            <a:ext cx="12192000" cy="856804"/>
          </a:xfrm>
          <a:prstGeom prst="rect">
            <a:avLst/>
          </a:prstGeom>
        </p:spPr>
      </p:pic>
      <p:sp>
        <p:nvSpPr>
          <p:cNvPr id="5" name="Szöveg helye 10">
            <a:extLst>
              <a:ext uri="{FF2B5EF4-FFF2-40B4-BE49-F238E27FC236}">
                <a16:creationId xmlns:a16="http://schemas.microsoft.com/office/drawing/2014/main" id="{765D96AD-EB0E-433E-7DD3-3FEB95FE9F4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2925371" y="6300874"/>
            <a:ext cx="7985760" cy="3376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cap="all" spc="0" baseline="0">
                <a:solidFill>
                  <a:schemeClr val="bg1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Rendezvény, dátum</a:t>
            </a:r>
          </a:p>
        </p:txBody>
      </p:sp>
    </p:spTree>
    <p:extLst>
      <p:ext uri="{BB962C8B-B14F-4D97-AF65-F5344CB8AC3E}">
        <p14:creationId xmlns:p14="http://schemas.microsoft.com/office/powerpoint/2010/main" val="411759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kép címm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Egyenes összekötő 13">
            <a:extLst>
              <a:ext uri="{FF2B5EF4-FFF2-40B4-BE49-F238E27FC236}">
                <a16:creationId xmlns:a16="http://schemas.microsoft.com/office/drawing/2014/main" id="{D3B63919-F8C0-E45C-09D0-60059DD85486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74462"/>
            <a:ext cx="10515600" cy="0"/>
          </a:xfrm>
          <a:prstGeom prst="line">
            <a:avLst/>
          </a:prstGeom>
          <a:ln>
            <a:solidFill>
              <a:srgbClr val="0128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Kép helye 2">
            <a:extLst>
              <a:ext uri="{FF2B5EF4-FFF2-40B4-BE49-F238E27FC236}">
                <a16:creationId xmlns:a16="http://schemas.microsoft.com/office/drawing/2014/main" id="{885801D2-AD3D-65D3-7B5C-D11229926A42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838200" y="1557713"/>
            <a:ext cx="5021911" cy="32856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 dirty="0"/>
          </a:p>
        </p:txBody>
      </p:sp>
      <p:sp>
        <p:nvSpPr>
          <p:cNvPr id="31" name="Kép helye 2">
            <a:extLst>
              <a:ext uri="{FF2B5EF4-FFF2-40B4-BE49-F238E27FC236}">
                <a16:creationId xmlns:a16="http://schemas.microsoft.com/office/drawing/2014/main" id="{BA351229-7C81-1BF9-C349-D053BA83B114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6331888" y="1557713"/>
            <a:ext cx="5021911" cy="32856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 dirty="0"/>
          </a:p>
        </p:txBody>
      </p:sp>
      <p:sp>
        <p:nvSpPr>
          <p:cNvPr id="2" name="Szöveg helye 10">
            <a:extLst>
              <a:ext uri="{FF2B5EF4-FFF2-40B4-BE49-F238E27FC236}">
                <a16:creationId xmlns:a16="http://schemas.microsoft.com/office/drawing/2014/main" id="{567F4794-7128-84D5-187A-87B98CBB4B75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38200" y="723315"/>
            <a:ext cx="10515600" cy="5294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aseline="0">
                <a:solidFill>
                  <a:srgbClr val="012850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DIA CÍME</a:t>
            </a:r>
          </a:p>
        </p:txBody>
      </p:sp>
      <p:sp>
        <p:nvSpPr>
          <p:cNvPr id="10" name="Szöveg helye 10">
            <a:extLst>
              <a:ext uri="{FF2B5EF4-FFF2-40B4-BE49-F238E27FC236}">
                <a16:creationId xmlns:a16="http://schemas.microsoft.com/office/drawing/2014/main" id="{12964550-01B5-19AF-9500-49E3DD0D5A13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838200" y="5118900"/>
            <a:ext cx="5021911" cy="5294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aseline="0">
                <a:solidFill>
                  <a:schemeClr val="tx1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Kép címe</a:t>
            </a:r>
          </a:p>
        </p:txBody>
      </p:sp>
      <p:sp>
        <p:nvSpPr>
          <p:cNvPr id="12" name="Szöveg helye 10">
            <a:extLst>
              <a:ext uri="{FF2B5EF4-FFF2-40B4-BE49-F238E27FC236}">
                <a16:creationId xmlns:a16="http://schemas.microsoft.com/office/drawing/2014/main" id="{9BE9CAC6-C1B1-88DE-E91F-5DF606EBF5F2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332692" y="5118900"/>
            <a:ext cx="5021911" cy="5294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aseline="0">
                <a:solidFill>
                  <a:schemeClr val="tx1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Kép címe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36C96EAD-3920-32E6-9EF2-4122439611E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001196"/>
            <a:ext cx="12192000" cy="856804"/>
          </a:xfrm>
          <a:prstGeom prst="rect">
            <a:avLst/>
          </a:prstGeom>
        </p:spPr>
      </p:pic>
      <p:sp>
        <p:nvSpPr>
          <p:cNvPr id="5" name="Szöveg helye 10">
            <a:extLst>
              <a:ext uri="{FF2B5EF4-FFF2-40B4-BE49-F238E27FC236}">
                <a16:creationId xmlns:a16="http://schemas.microsoft.com/office/drawing/2014/main" id="{728694AA-87CB-BD28-118C-72EAD9263FD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2925371" y="6300874"/>
            <a:ext cx="7985760" cy="3376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cap="all" spc="0" baseline="0">
                <a:solidFill>
                  <a:schemeClr val="bg1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Rendezvény, dátum</a:t>
            </a:r>
          </a:p>
        </p:txBody>
      </p:sp>
    </p:spTree>
    <p:extLst>
      <p:ext uri="{BB962C8B-B14F-4D97-AF65-F5344CB8AC3E}">
        <p14:creationId xmlns:p14="http://schemas.microsoft.com/office/powerpoint/2010/main" val="1640834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zöveg és dia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Egyenes összekötő 11">
            <a:extLst>
              <a:ext uri="{FF2B5EF4-FFF2-40B4-BE49-F238E27FC236}">
                <a16:creationId xmlns:a16="http://schemas.microsoft.com/office/drawing/2014/main" id="{0CA8BCE7-0004-CA11-4864-2FBA560C6C6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74462"/>
            <a:ext cx="10515600" cy="0"/>
          </a:xfrm>
          <a:prstGeom prst="line">
            <a:avLst/>
          </a:prstGeom>
          <a:ln>
            <a:solidFill>
              <a:srgbClr val="0128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zöveg helye 10">
            <a:extLst>
              <a:ext uri="{FF2B5EF4-FFF2-40B4-BE49-F238E27FC236}">
                <a16:creationId xmlns:a16="http://schemas.microsoft.com/office/drawing/2014/main" id="{30FAA482-BFF6-CAB1-8393-9DB2C3435DC2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38200" y="723315"/>
            <a:ext cx="10515600" cy="5294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aseline="0">
                <a:solidFill>
                  <a:srgbClr val="012850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DIA CÍME</a:t>
            </a:r>
          </a:p>
        </p:txBody>
      </p:sp>
      <p:sp>
        <p:nvSpPr>
          <p:cNvPr id="4" name="Szöveg helye 10">
            <a:extLst>
              <a:ext uri="{FF2B5EF4-FFF2-40B4-BE49-F238E27FC236}">
                <a16:creationId xmlns:a16="http://schemas.microsoft.com/office/drawing/2014/main" id="{ACFC1F6F-F293-C843-538C-5B5685FD46B2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838201" y="1579456"/>
            <a:ext cx="3212591" cy="40606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Open Sans" panose="020B0606030504020204" pitchFamily="34" charset="0"/>
              </a:defRPr>
            </a:lvl1pPr>
          </a:lstStyle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Mintaszöveg szerkesztése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Első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Második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Harmadik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Negyedik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Ötödik szint</a:t>
            </a:r>
          </a:p>
        </p:txBody>
      </p:sp>
      <p:sp>
        <p:nvSpPr>
          <p:cNvPr id="11" name="Diagram helye 10">
            <a:extLst>
              <a:ext uri="{FF2B5EF4-FFF2-40B4-BE49-F238E27FC236}">
                <a16:creationId xmlns:a16="http://schemas.microsoft.com/office/drawing/2014/main" id="{B11D781D-DBC5-AFF1-5464-03EB686EDB38}"/>
              </a:ext>
            </a:extLst>
          </p:cNvPr>
          <p:cNvSpPr>
            <a:spLocks noGrp="1"/>
          </p:cNvSpPr>
          <p:nvPr>
            <p:ph type="chart" sz="quarter" idx="21"/>
          </p:nvPr>
        </p:nvSpPr>
        <p:spPr>
          <a:xfrm>
            <a:off x="4426343" y="1579563"/>
            <a:ext cx="6927457" cy="4060579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Open Sans" panose="020B0606030504020204" pitchFamily="34" charset="0"/>
              </a:defRPr>
            </a:lvl1pPr>
          </a:lstStyle>
          <a:p>
            <a:endParaRPr lang="hu-HU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441EA52C-1E9D-EA5E-B2CC-17EFCB175F2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001196"/>
            <a:ext cx="12192000" cy="856804"/>
          </a:xfrm>
          <a:prstGeom prst="rect">
            <a:avLst/>
          </a:prstGeom>
        </p:spPr>
      </p:pic>
      <p:sp>
        <p:nvSpPr>
          <p:cNvPr id="6" name="Szöveg helye 10">
            <a:extLst>
              <a:ext uri="{FF2B5EF4-FFF2-40B4-BE49-F238E27FC236}">
                <a16:creationId xmlns:a16="http://schemas.microsoft.com/office/drawing/2014/main" id="{D9D13E09-0F82-5456-63BF-CA3E8480C879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2925371" y="6300874"/>
            <a:ext cx="7985760" cy="3376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cap="all" spc="0" baseline="0">
                <a:solidFill>
                  <a:schemeClr val="bg1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Rendezvény, dátum</a:t>
            </a:r>
          </a:p>
        </p:txBody>
      </p:sp>
    </p:spTree>
    <p:extLst>
      <p:ext uri="{BB962C8B-B14F-4D97-AF65-F5344CB8AC3E}">
        <p14:creationId xmlns:p14="http://schemas.microsoft.com/office/powerpoint/2010/main" val="569136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jléc nélküli 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zöveg helye 10">
            <a:extLst>
              <a:ext uri="{FF2B5EF4-FFF2-40B4-BE49-F238E27FC236}">
                <a16:creationId xmlns:a16="http://schemas.microsoft.com/office/drawing/2014/main" id="{ACFC1F6F-F293-C843-538C-5B5685FD46B2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838201" y="824948"/>
            <a:ext cx="3212591" cy="48151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Open Sans" panose="020B0606030504020204" pitchFamily="34" charset="0"/>
              </a:defRPr>
            </a:lvl1pPr>
          </a:lstStyle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Mintaszöveg szerkesztése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Első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Második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Harmadik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Negyedik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Ötödik szint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441EA52C-1E9D-EA5E-B2CC-17EFCB175F2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001196"/>
            <a:ext cx="12192000" cy="856804"/>
          </a:xfrm>
          <a:prstGeom prst="rect">
            <a:avLst/>
          </a:prstGeom>
        </p:spPr>
      </p:pic>
      <p:sp>
        <p:nvSpPr>
          <p:cNvPr id="6" name="Szöveg helye 10">
            <a:extLst>
              <a:ext uri="{FF2B5EF4-FFF2-40B4-BE49-F238E27FC236}">
                <a16:creationId xmlns:a16="http://schemas.microsoft.com/office/drawing/2014/main" id="{D9D13E09-0F82-5456-63BF-CA3E8480C879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2925371" y="6300874"/>
            <a:ext cx="7985760" cy="3376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cap="all" spc="0" baseline="0">
                <a:solidFill>
                  <a:schemeClr val="bg1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Rendezvény, dátum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8B18A01D-AB8A-1A1D-4805-AABE921EF4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522305" y="824949"/>
            <a:ext cx="6831496" cy="47585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984417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ábláz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áblázat helye 5">
            <a:extLst>
              <a:ext uri="{FF2B5EF4-FFF2-40B4-BE49-F238E27FC236}">
                <a16:creationId xmlns:a16="http://schemas.microsoft.com/office/drawing/2014/main" id="{A3ADE164-0269-1AA2-004B-8C8A82051E1B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838200" y="1579457"/>
            <a:ext cx="10515598" cy="38558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latin typeface="Open Sans" panose="020B0606030504020204" pitchFamily="34" charset="0"/>
              </a:defRPr>
            </a:lvl1pPr>
          </a:lstStyle>
          <a:p>
            <a:endParaRPr lang="hu-HU" dirty="0"/>
          </a:p>
        </p:txBody>
      </p:sp>
      <p:cxnSp>
        <p:nvCxnSpPr>
          <p:cNvPr id="8" name="Egyenes összekötő 7">
            <a:extLst>
              <a:ext uri="{FF2B5EF4-FFF2-40B4-BE49-F238E27FC236}">
                <a16:creationId xmlns:a16="http://schemas.microsoft.com/office/drawing/2014/main" id="{BF8F6AA8-C013-1657-CB5A-D3067FF15D45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74462"/>
            <a:ext cx="10515600" cy="0"/>
          </a:xfrm>
          <a:prstGeom prst="line">
            <a:avLst/>
          </a:prstGeom>
          <a:ln>
            <a:solidFill>
              <a:srgbClr val="0128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zöveg helye 10">
            <a:extLst>
              <a:ext uri="{FF2B5EF4-FFF2-40B4-BE49-F238E27FC236}">
                <a16:creationId xmlns:a16="http://schemas.microsoft.com/office/drawing/2014/main" id="{D8E6700D-6881-9CCD-3252-E02F5676557B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38200" y="723315"/>
            <a:ext cx="10515598" cy="5294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aseline="0">
                <a:solidFill>
                  <a:srgbClr val="012850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DIA CÍME</a:t>
            </a:r>
          </a:p>
        </p:txBody>
      </p:sp>
      <p:pic>
        <p:nvPicPr>
          <p:cNvPr id="2" name="Kép 1">
            <a:extLst>
              <a:ext uri="{FF2B5EF4-FFF2-40B4-BE49-F238E27FC236}">
                <a16:creationId xmlns:a16="http://schemas.microsoft.com/office/drawing/2014/main" id="{2DEAFE30-1B1B-962C-732B-E5BEF7917E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001196"/>
            <a:ext cx="12192000" cy="856804"/>
          </a:xfrm>
          <a:prstGeom prst="rect">
            <a:avLst/>
          </a:prstGeom>
        </p:spPr>
      </p:pic>
      <p:sp>
        <p:nvSpPr>
          <p:cNvPr id="3" name="Szöveg helye 10">
            <a:extLst>
              <a:ext uri="{FF2B5EF4-FFF2-40B4-BE49-F238E27FC236}">
                <a16:creationId xmlns:a16="http://schemas.microsoft.com/office/drawing/2014/main" id="{11CE3FB9-7112-50B3-73CE-4614F7CA6107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2925371" y="6300874"/>
            <a:ext cx="7985760" cy="3376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cap="all" spc="0" baseline="0">
                <a:solidFill>
                  <a:schemeClr val="bg1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Rendezvény, dátum</a:t>
            </a:r>
          </a:p>
        </p:txBody>
      </p:sp>
    </p:spTree>
    <p:extLst>
      <p:ext uri="{BB962C8B-B14F-4D97-AF65-F5344CB8AC3E}">
        <p14:creationId xmlns:p14="http://schemas.microsoft.com/office/powerpoint/2010/main" val="25092713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áró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ép 1">
            <a:extLst>
              <a:ext uri="{FF2B5EF4-FFF2-40B4-BE49-F238E27FC236}">
                <a16:creationId xmlns:a16="http://schemas.microsoft.com/office/drawing/2014/main" id="{71AF9BE7-CB87-3DFD-D2D3-1899D1D30D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sp>
        <p:nvSpPr>
          <p:cNvPr id="11" name="Szöveg helye 10">
            <a:extLst>
              <a:ext uri="{FF2B5EF4-FFF2-40B4-BE49-F238E27FC236}">
                <a16:creationId xmlns:a16="http://schemas.microsoft.com/office/drawing/2014/main" id="{27654B00-1ACA-72E8-4C79-A237BB0FAEA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723900" y="2191523"/>
            <a:ext cx="10744200" cy="1710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5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hu-HU" dirty="0"/>
              <a:t>Köszönjük a figyelmet!</a:t>
            </a:r>
          </a:p>
        </p:txBody>
      </p:sp>
      <p:sp>
        <p:nvSpPr>
          <p:cNvPr id="12" name="Szöveg helye 10">
            <a:extLst>
              <a:ext uri="{FF2B5EF4-FFF2-40B4-BE49-F238E27FC236}">
                <a16:creationId xmlns:a16="http://schemas.microsoft.com/office/drawing/2014/main" id="{1B1DEF9F-AC4A-3457-057F-560795FA384B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723900" y="4301824"/>
            <a:ext cx="10744200" cy="64922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aseline="0">
                <a:solidFill>
                  <a:schemeClr val="bg1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Előadó neve</a:t>
            </a:r>
          </a:p>
        </p:txBody>
      </p:sp>
      <p:sp>
        <p:nvSpPr>
          <p:cNvPr id="13" name="Szöveg helye 10">
            <a:extLst>
              <a:ext uri="{FF2B5EF4-FFF2-40B4-BE49-F238E27FC236}">
                <a16:creationId xmlns:a16="http://schemas.microsoft.com/office/drawing/2014/main" id="{D2769BC2-6B1C-E731-CB6F-BC48B5D77D55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723900" y="5005912"/>
            <a:ext cx="10744200" cy="64922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Előadó titulusa</a:t>
            </a:r>
          </a:p>
        </p:txBody>
      </p:sp>
      <p:sp>
        <p:nvSpPr>
          <p:cNvPr id="14" name="Szöveg helye 10">
            <a:extLst>
              <a:ext uri="{FF2B5EF4-FFF2-40B4-BE49-F238E27FC236}">
                <a16:creationId xmlns:a16="http://schemas.microsoft.com/office/drawing/2014/main" id="{A35D0690-9E41-0FD7-2C21-CAE7926EAC53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723900" y="5705856"/>
            <a:ext cx="10744200" cy="64922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Rendezvény, dátum</a:t>
            </a:r>
          </a:p>
        </p:txBody>
      </p:sp>
    </p:spTree>
    <p:extLst>
      <p:ext uri="{BB962C8B-B14F-4D97-AF65-F5344CB8AC3E}">
        <p14:creationId xmlns:p14="http://schemas.microsoft.com/office/powerpoint/2010/main" val="15294803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2 szövegblok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Egyenes összekötő 16">
            <a:extLst>
              <a:ext uri="{FF2B5EF4-FFF2-40B4-BE49-F238E27FC236}">
                <a16:creationId xmlns:a16="http://schemas.microsoft.com/office/drawing/2014/main" id="{CE5C7C62-306F-C568-AC87-137E9C578BFC}"/>
              </a:ext>
            </a:extLst>
          </p:cNvPr>
          <p:cNvCxnSpPr>
            <a:cxnSpLocks/>
          </p:cNvCxnSpPr>
          <p:nvPr userDrawn="1"/>
        </p:nvCxnSpPr>
        <p:spPr>
          <a:xfrm>
            <a:off x="161924" y="748860"/>
            <a:ext cx="11877675" cy="0"/>
          </a:xfrm>
          <a:prstGeom prst="line">
            <a:avLst/>
          </a:prstGeom>
          <a:ln>
            <a:solidFill>
              <a:srgbClr val="0128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zöveg helye 10">
            <a:extLst>
              <a:ext uri="{FF2B5EF4-FFF2-40B4-BE49-F238E27FC236}">
                <a16:creationId xmlns:a16="http://schemas.microsoft.com/office/drawing/2014/main" id="{32B9E13B-D4C6-DDBF-DA2A-ED8F1AEADB59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161924" y="219456"/>
            <a:ext cx="11877675" cy="5294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aseline="0">
                <a:solidFill>
                  <a:srgbClr val="012850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DIA CÍME</a:t>
            </a:r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FA96FDED-1213-82EC-1A9D-4FC90A80FA7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001196"/>
            <a:ext cx="12192000" cy="856804"/>
          </a:xfrm>
          <a:prstGeom prst="rect">
            <a:avLst/>
          </a:prstGeom>
        </p:spPr>
      </p:pic>
      <p:sp>
        <p:nvSpPr>
          <p:cNvPr id="5" name="Szöveg helye 10">
            <a:extLst>
              <a:ext uri="{FF2B5EF4-FFF2-40B4-BE49-F238E27FC236}">
                <a16:creationId xmlns:a16="http://schemas.microsoft.com/office/drawing/2014/main" id="{0AF073EC-750D-2DFB-C11E-4C39CA8DC2E4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2925371" y="6300874"/>
            <a:ext cx="7985760" cy="3376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cap="all" spc="0" baseline="0">
                <a:ln>
                  <a:noFill/>
                </a:ln>
                <a:solidFill>
                  <a:schemeClr val="bg1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en-GB" dirty="0"/>
              <a:t>Introduction to Cloud Native Architectures</a:t>
            </a:r>
            <a:r>
              <a:rPr lang="hu-HU" dirty="0"/>
              <a:t> (IPM-24ATICNAEG)</a:t>
            </a:r>
          </a:p>
        </p:txBody>
      </p:sp>
    </p:spTree>
    <p:extLst>
      <p:ext uri="{BB962C8B-B14F-4D97-AF65-F5344CB8AC3E}">
        <p14:creationId xmlns:p14="http://schemas.microsoft.com/office/powerpoint/2010/main" val="2404219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229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3" r:id="rId6"/>
    <p:sldLayoutId id="2147483655" r:id="rId7"/>
    <p:sldLayoutId id="2147483656" r:id="rId8"/>
    <p:sldLayoutId id="2147483657" r:id="rId9"/>
    <p:sldLayoutId id="2147483660" r:id="rId10"/>
    <p:sldLayoutId id="2147483659" r:id="rId11"/>
    <p:sldLayoutId id="2147483658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4" Type="http://schemas.microsoft.com/office/2007/relationships/hdphoto" Target="../media/hdphoto1.wdp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 helye 1">
            <a:extLst>
              <a:ext uri="{FF2B5EF4-FFF2-40B4-BE49-F238E27FC236}">
                <a16:creationId xmlns:a16="http://schemas.microsoft.com/office/drawing/2014/main" id="{2A7E8302-AC9C-A66D-07A6-1A5B9DE4A499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hu-HU" sz="5400" dirty="0"/>
              <a:t>Introduction to Data Engineering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AC3FF51C-1377-99D6-D639-C9342D916796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rPr lang="hu-HU" dirty="0"/>
              <a:t>  – Data Ingestion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2A0576B3-4A8D-B0CB-EE63-AE28551463E8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hu-HU" dirty="0"/>
              <a:t>Dávid Szabó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8B3461CE-3807-2ADD-A4F6-83F5C4B6A2F8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6" name="Szöveg helye 5">
            <a:extLst>
              <a:ext uri="{FF2B5EF4-FFF2-40B4-BE49-F238E27FC236}">
                <a16:creationId xmlns:a16="http://schemas.microsoft.com/office/drawing/2014/main" id="{AD8B80AF-C083-C9ED-7D4F-EC1393814896}"/>
              </a:ext>
            </a:extLst>
          </p:cNvPr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0202869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C49909D-B534-25E3-29D4-C4FF018A9B57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hu-HU" noProof="0" dirty="0" err="1"/>
              <a:t>About</a:t>
            </a:r>
            <a:r>
              <a:rPr lang="hu-HU" noProof="0" dirty="0"/>
              <a:t> </a:t>
            </a:r>
            <a:r>
              <a:rPr lang="hu-HU" noProof="0" dirty="0" err="1"/>
              <a:t>the</a:t>
            </a:r>
            <a:r>
              <a:rPr lang="hu-HU" noProof="0" dirty="0"/>
              <a:t> </a:t>
            </a:r>
            <a:r>
              <a:rPr lang="hu-HU" noProof="0" dirty="0" err="1"/>
              <a:t>Lecturers</a:t>
            </a:r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627061-95BE-3A8C-3E79-D03128F183C7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2" descr="Attila Papp">
            <a:extLst>
              <a:ext uri="{FF2B5EF4-FFF2-40B4-BE49-F238E27FC236}">
                <a16:creationId xmlns:a16="http://schemas.microsoft.com/office/drawing/2014/main" id="{14EF725E-C4A8-054C-BF96-D53B7F36E0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6293" y="1178530"/>
            <a:ext cx="1998520" cy="1998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Image result for mail icon">
            <a:extLst>
              <a:ext uri="{FF2B5EF4-FFF2-40B4-BE49-F238E27FC236}">
                <a16:creationId xmlns:a16="http://schemas.microsoft.com/office/drawing/2014/main" id="{B94D6AFF-51FB-C32F-F961-621C0FE9EF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3243" y="4387813"/>
            <a:ext cx="508715" cy="508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http://leannet.eu/img/linkedin.png">
            <a:extLst>
              <a:ext uri="{FF2B5EF4-FFF2-40B4-BE49-F238E27FC236}">
                <a16:creationId xmlns:a16="http://schemas.microsoft.com/office/drawing/2014/main" id="{5509D353-8E90-6A0D-FE6E-5A64C93EC6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8162" y="4988530"/>
            <a:ext cx="441809" cy="441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Szövegdoboz 7">
            <a:extLst>
              <a:ext uri="{FF2B5EF4-FFF2-40B4-BE49-F238E27FC236}">
                <a16:creationId xmlns:a16="http://schemas.microsoft.com/office/drawing/2014/main" id="{A28E7599-7389-47F8-0844-721165E9D3A5}"/>
              </a:ext>
            </a:extLst>
          </p:cNvPr>
          <p:cNvSpPr txBox="1"/>
          <p:nvPr/>
        </p:nvSpPr>
        <p:spPr>
          <a:xfrm>
            <a:off x="1885964" y="4495824"/>
            <a:ext cx="161294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petermegyesi@inf.elte.hu</a:t>
            </a:r>
            <a:endParaRPr lang="hu-HU" sz="1050" dirty="0"/>
          </a:p>
        </p:txBody>
      </p:sp>
      <p:sp>
        <p:nvSpPr>
          <p:cNvPr id="13" name="Téglalap 8">
            <a:extLst>
              <a:ext uri="{FF2B5EF4-FFF2-40B4-BE49-F238E27FC236}">
                <a16:creationId xmlns:a16="http://schemas.microsoft.com/office/drawing/2014/main" id="{49389C2A-8026-36C3-04AB-C40641A648C3}"/>
              </a:ext>
            </a:extLst>
          </p:cNvPr>
          <p:cNvSpPr/>
          <p:nvPr/>
        </p:nvSpPr>
        <p:spPr>
          <a:xfrm>
            <a:off x="1859287" y="5055950"/>
            <a:ext cx="1521570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u-HU" sz="1050" dirty="0" err="1"/>
              <a:t>linkedin.com</a:t>
            </a:r>
            <a:r>
              <a:rPr lang="hu-HU" sz="1050" dirty="0"/>
              <a:t>/</a:t>
            </a:r>
            <a:r>
              <a:rPr lang="hu-HU" sz="1050" dirty="0" err="1"/>
              <a:t>in</a:t>
            </a:r>
            <a:r>
              <a:rPr lang="hu-HU" sz="1050" dirty="0"/>
              <a:t>/M3gy0</a:t>
            </a:r>
          </a:p>
        </p:txBody>
      </p:sp>
      <p:pic>
        <p:nvPicPr>
          <p:cNvPr id="14" name="Kép 12">
            <a:extLst>
              <a:ext uri="{FF2B5EF4-FFF2-40B4-BE49-F238E27FC236}">
                <a16:creationId xmlns:a16="http://schemas.microsoft.com/office/drawing/2014/main" id="{53995285-B1D0-08E8-A338-34C107CB64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3243" y="1178828"/>
            <a:ext cx="1929362" cy="2004354"/>
          </a:xfrm>
          <a:prstGeom prst="rect">
            <a:avLst/>
          </a:prstGeom>
        </p:spPr>
      </p:pic>
      <p:pic>
        <p:nvPicPr>
          <p:cNvPr id="15" name="Picture 2" descr="Image result for mail icon">
            <a:extLst>
              <a:ext uri="{FF2B5EF4-FFF2-40B4-BE49-F238E27FC236}">
                <a16:creationId xmlns:a16="http://schemas.microsoft.com/office/drawing/2014/main" id="{61D25CAF-170E-F824-23A3-BEA068A91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6293" y="4387813"/>
            <a:ext cx="508715" cy="508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6" descr="http://leannet.eu/img/linkedin.png">
            <a:extLst>
              <a:ext uri="{FF2B5EF4-FFF2-40B4-BE49-F238E27FC236}">
                <a16:creationId xmlns:a16="http://schemas.microsoft.com/office/drawing/2014/main" id="{80C10740-E828-F5D4-2D37-5DDF89DC0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1212" y="4988530"/>
            <a:ext cx="441809" cy="441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Szövegdoboz 17">
            <a:extLst>
              <a:ext uri="{FF2B5EF4-FFF2-40B4-BE49-F238E27FC236}">
                <a16:creationId xmlns:a16="http://schemas.microsoft.com/office/drawing/2014/main" id="{BA3E2F5E-C091-BB81-1D50-D0FF89E27017}"/>
              </a:ext>
            </a:extLst>
          </p:cNvPr>
          <p:cNvSpPr txBox="1"/>
          <p:nvPr/>
        </p:nvSpPr>
        <p:spPr>
          <a:xfrm>
            <a:off x="9639459" y="4487353"/>
            <a:ext cx="178170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050" dirty="0"/>
              <a:t>attila.papp@inf.elte.hu</a:t>
            </a:r>
          </a:p>
        </p:txBody>
      </p:sp>
      <p:sp>
        <p:nvSpPr>
          <p:cNvPr id="20" name="Téglalap 19">
            <a:extLst>
              <a:ext uri="{FF2B5EF4-FFF2-40B4-BE49-F238E27FC236}">
                <a16:creationId xmlns:a16="http://schemas.microsoft.com/office/drawing/2014/main" id="{F7DD999B-62D0-EAA1-E0DB-376EBA75CC2E}"/>
              </a:ext>
            </a:extLst>
          </p:cNvPr>
          <p:cNvSpPr/>
          <p:nvPr/>
        </p:nvSpPr>
        <p:spPr>
          <a:xfrm>
            <a:off x="9612782" y="5047479"/>
            <a:ext cx="1866041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u-HU" sz="1050" dirty="0"/>
              <a:t>linkedin.com/in/</a:t>
            </a:r>
            <a:r>
              <a:rPr lang="hu-HU" sz="1050" dirty="0" err="1"/>
              <a:t>atipapp</a:t>
            </a:r>
            <a:endParaRPr lang="hu-HU" sz="1050" dirty="0"/>
          </a:p>
        </p:txBody>
      </p:sp>
      <p:sp>
        <p:nvSpPr>
          <p:cNvPr id="21" name="Szövegdoboz 1">
            <a:extLst>
              <a:ext uri="{FF2B5EF4-FFF2-40B4-BE49-F238E27FC236}">
                <a16:creationId xmlns:a16="http://schemas.microsoft.com/office/drawing/2014/main" id="{5DB6AF05-6720-5356-B65E-7CBCBB8B348F}"/>
              </a:ext>
            </a:extLst>
          </p:cNvPr>
          <p:cNvSpPr txBox="1"/>
          <p:nvPr/>
        </p:nvSpPr>
        <p:spPr>
          <a:xfrm>
            <a:off x="1323243" y="3216093"/>
            <a:ext cx="19293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/>
              <a:t>Péter Megyesi</a:t>
            </a:r>
            <a:endParaRPr lang="hu-HU" sz="1500" dirty="0"/>
          </a:p>
          <a:p>
            <a:pPr algn="ctr"/>
            <a:r>
              <a:rPr lang="hu-HU" sz="1500" dirty="0" err="1"/>
              <a:t>Assistant</a:t>
            </a:r>
            <a:r>
              <a:rPr lang="hu-HU" sz="1500" dirty="0"/>
              <a:t> Professor</a:t>
            </a:r>
            <a:br>
              <a:rPr lang="hu-HU" sz="1500" dirty="0"/>
            </a:br>
            <a:endParaRPr lang="hu-HU" sz="1500" dirty="0"/>
          </a:p>
          <a:p>
            <a:pPr algn="ctr"/>
            <a:endParaRPr lang="hu-HU" sz="1500" dirty="0"/>
          </a:p>
        </p:txBody>
      </p:sp>
      <p:sp>
        <p:nvSpPr>
          <p:cNvPr id="22" name="Szövegdoboz 20">
            <a:extLst>
              <a:ext uri="{FF2B5EF4-FFF2-40B4-BE49-F238E27FC236}">
                <a16:creationId xmlns:a16="http://schemas.microsoft.com/office/drawing/2014/main" id="{6CA56B85-AA29-1E4A-220E-A977CD366B4B}"/>
              </a:ext>
            </a:extLst>
          </p:cNvPr>
          <p:cNvSpPr txBox="1"/>
          <p:nvPr/>
        </p:nvSpPr>
        <p:spPr>
          <a:xfrm>
            <a:off x="9036293" y="3216093"/>
            <a:ext cx="199852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/>
              <a:t>Attila Papp</a:t>
            </a:r>
            <a:br>
              <a:rPr lang="en-US" sz="1500" dirty="0"/>
            </a:br>
            <a:r>
              <a:rPr lang="hu-HU" sz="1500" dirty="0" err="1"/>
              <a:t>Phd</a:t>
            </a:r>
            <a:r>
              <a:rPr lang="hu-HU" sz="1500" dirty="0"/>
              <a:t> </a:t>
            </a:r>
            <a:r>
              <a:rPr lang="hu-HU" sz="1500" dirty="0" err="1"/>
              <a:t>Student</a:t>
            </a:r>
            <a:endParaRPr lang="hu-HU" sz="1500" dirty="0"/>
          </a:p>
          <a:p>
            <a:pPr algn="ctr"/>
            <a:endParaRPr lang="en-US" sz="1500" dirty="0"/>
          </a:p>
        </p:txBody>
      </p:sp>
      <p:pic>
        <p:nvPicPr>
          <p:cNvPr id="23" name="Google Shape;102;p2">
            <a:extLst>
              <a:ext uri="{FF2B5EF4-FFF2-40B4-BE49-F238E27FC236}">
                <a16:creationId xmlns:a16="http://schemas.microsoft.com/office/drawing/2014/main" id="{853DE25E-9F75-06AA-B2E5-288B66967E47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t="4969" b="9748"/>
          <a:stretch/>
        </p:blipFill>
        <p:spPr>
          <a:xfrm>
            <a:off x="5131319" y="1151029"/>
            <a:ext cx="1929362" cy="20043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Picture 2" descr="Image result for mail icon">
            <a:extLst>
              <a:ext uri="{FF2B5EF4-FFF2-40B4-BE49-F238E27FC236}">
                <a16:creationId xmlns:a16="http://schemas.microsoft.com/office/drawing/2014/main" id="{27E6ADD6-AF3D-2271-994B-B853737ED8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1319" y="4383160"/>
            <a:ext cx="508715" cy="508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6" descr="http://leannet.eu/img/linkedin.png">
            <a:extLst>
              <a:ext uri="{FF2B5EF4-FFF2-40B4-BE49-F238E27FC236}">
                <a16:creationId xmlns:a16="http://schemas.microsoft.com/office/drawing/2014/main" id="{E408EB06-C16B-3634-42D2-EA39B8254F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6238" y="4983877"/>
            <a:ext cx="441809" cy="441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Szövegdoboz 25">
            <a:extLst>
              <a:ext uri="{FF2B5EF4-FFF2-40B4-BE49-F238E27FC236}">
                <a16:creationId xmlns:a16="http://schemas.microsoft.com/office/drawing/2014/main" id="{E6793D72-054A-940B-8D3F-70FFFFECC945}"/>
              </a:ext>
            </a:extLst>
          </p:cNvPr>
          <p:cNvSpPr txBox="1"/>
          <p:nvPr/>
        </p:nvSpPr>
        <p:spPr>
          <a:xfrm>
            <a:off x="5734485" y="4482700"/>
            <a:ext cx="178170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050" dirty="0"/>
              <a:t>davidszabo@inf.elte.hu</a:t>
            </a:r>
          </a:p>
        </p:txBody>
      </p:sp>
      <p:sp>
        <p:nvSpPr>
          <p:cNvPr id="27" name="Téglalap 26">
            <a:extLst>
              <a:ext uri="{FF2B5EF4-FFF2-40B4-BE49-F238E27FC236}">
                <a16:creationId xmlns:a16="http://schemas.microsoft.com/office/drawing/2014/main" id="{3A9FEFDC-000C-CC0C-ACFE-21E9275FFF99}"/>
              </a:ext>
            </a:extLst>
          </p:cNvPr>
          <p:cNvSpPr/>
          <p:nvPr/>
        </p:nvSpPr>
        <p:spPr>
          <a:xfrm>
            <a:off x="5707808" y="5042826"/>
            <a:ext cx="1866041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u-HU" sz="1050" dirty="0"/>
              <a:t>linkedin.com/in/</a:t>
            </a:r>
            <a:r>
              <a:rPr lang="en-US" sz="10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szabvid</a:t>
            </a:r>
            <a:endParaRPr lang="hu-HU" sz="1050" dirty="0"/>
          </a:p>
        </p:txBody>
      </p:sp>
      <p:sp>
        <p:nvSpPr>
          <p:cNvPr id="28" name="Szövegdoboz 1">
            <a:extLst>
              <a:ext uri="{FF2B5EF4-FFF2-40B4-BE49-F238E27FC236}">
                <a16:creationId xmlns:a16="http://schemas.microsoft.com/office/drawing/2014/main" id="{5BE844D9-6B2D-754F-7860-CE7F37F71D93}"/>
              </a:ext>
            </a:extLst>
          </p:cNvPr>
          <p:cNvSpPr txBox="1"/>
          <p:nvPr/>
        </p:nvSpPr>
        <p:spPr>
          <a:xfrm>
            <a:off x="5131318" y="3246744"/>
            <a:ext cx="192936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1500" dirty="0"/>
              <a:t>Dávid Szabó</a:t>
            </a:r>
          </a:p>
          <a:p>
            <a:pPr algn="ctr"/>
            <a:r>
              <a:rPr lang="hu-HU" sz="1500" dirty="0" err="1"/>
              <a:t>Assistant</a:t>
            </a:r>
            <a:r>
              <a:rPr lang="hu-HU" sz="1500" dirty="0"/>
              <a:t> Professor</a:t>
            </a:r>
          </a:p>
        </p:txBody>
      </p:sp>
    </p:spTree>
    <p:extLst>
      <p:ext uri="{BB962C8B-B14F-4D97-AF65-F5344CB8AC3E}">
        <p14:creationId xmlns:p14="http://schemas.microsoft.com/office/powerpoint/2010/main" val="39191317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46649D1-6F99-7E30-A621-EFBDCB433FE4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en-US" dirty="0"/>
              <a:t>Data Pipeline</a:t>
            </a:r>
            <a:r>
              <a:rPr lang="hu-HU" dirty="0"/>
              <a:t>s</a:t>
            </a:r>
            <a:r>
              <a:rPr lang="en-US" dirty="0"/>
              <a:t> </a:t>
            </a:r>
            <a:r>
              <a:rPr lang="hu-HU" dirty="0"/>
              <a:t>– 3 Stage Model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7CAF34-C3E5-39FE-DDE8-956D029D0B18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AA0C39-06EA-517A-8EFE-DB6CC7FEBA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data pipeline</a:t>
            </a:r>
            <a:r>
              <a:rPr lang="en-US" dirty="0"/>
              <a:t> is a series of tools and processes that move data from one or more sources to a destination.</a:t>
            </a:r>
          </a:p>
          <a:p>
            <a:r>
              <a:rPr lang="en-US" dirty="0"/>
              <a:t>It includes </a:t>
            </a:r>
            <a:r>
              <a:rPr lang="hu-HU" b="1" dirty="0"/>
              <a:t>ingestion</a:t>
            </a:r>
            <a:r>
              <a:rPr lang="en-US" b="1" dirty="0"/>
              <a:t>, transformation, and delivery</a:t>
            </a:r>
            <a:r>
              <a:rPr lang="en-US" dirty="0"/>
              <a:t> of data.</a:t>
            </a:r>
            <a:endParaRPr lang="hu-HU" dirty="0"/>
          </a:p>
          <a:p>
            <a:endParaRPr lang="hu-HU" dirty="0"/>
          </a:p>
          <a:p>
            <a:endParaRPr lang="hu-HU" dirty="0"/>
          </a:p>
          <a:p>
            <a:endParaRPr lang="hu-HU" dirty="0"/>
          </a:p>
          <a:p>
            <a:endParaRPr lang="hu-HU" dirty="0"/>
          </a:p>
          <a:p>
            <a:endParaRPr lang="hu-HU" dirty="0"/>
          </a:p>
          <a:p>
            <a:endParaRPr lang="hu-HU" dirty="0"/>
          </a:p>
          <a:p>
            <a:pPr marL="0" indent="0">
              <a:buNone/>
            </a:pPr>
            <a:endParaRPr lang="hu-HU" dirty="0"/>
          </a:p>
          <a:p>
            <a:r>
              <a:rPr lang="en-US" dirty="0"/>
              <a:t>These pipelines are essential for enabling </a:t>
            </a:r>
            <a:r>
              <a:rPr lang="en-US" b="1" dirty="0"/>
              <a:t>analytics, reporting, machine learning</a:t>
            </a:r>
            <a:r>
              <a:rPr lang="en-US" dirty="0"/>
              <a:t>, and other data-driven operations.</a:t>
            </a:r>
          </a:p>
        </p:txBody>
      </p:sp>
      <p:pic>
        <p:nvPicPr>
          <p:cNvPr id="6" name="Picture 3" descr="an image of a data pipeline showing each stage: ingestion, transformation, and storage">
            <a:extLst>
              <a:ext uri="{FF2B5EF4-FFF2-40B4-BE49-F238E27FC236}">
                <a16:creationId xmlns:a16="http://schemas.microsoft.com/office/drawing/2014/main" id="{68CA07F7-A55B-EBF0-26FE-1D7FF5F0704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7" t="21800" r="5013" b="29725"/>
          <a:stretch>
            <a:fillRect/>
          </a:stretch>
        </p:blipFill>
        <p:spPr bwMode="auto">
          <a:xfrm>
            <a:off x="3997869" y="2394724"/>
            <a:ext cx="4196261" cy="1466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46292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90715-51E5-9893-6075-0303748B3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32EB681-78F9-4B79-35BF-F91F2E8D4666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en-US" dirty="0"/>
              <a:t>Data Pipeline</a:t>
            </a:r>
            <a:r>
              <a:rPr lang="hu-HU" dirty="0"/>
              <a:t>s</a:t>
            </a:r>
            <a:r>
              <a:rPr lang="en-US" dirty="0"/>
              <a:t> </a:t>
            </a:r>
            <a:r>
              <a:rPr lang="hu-HU" dirty="0"/>
              <a:t>– 5 Stage Model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A870A5-281B-C855-65DB-458E246F30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architecture of a data pipeline is </a:t>
            </a:r>
            <a:r>
              <a:rPr lang="en-US" b="1" dirty="0"/>
              <a:t>not rigid or universal</a:t>
            </a:r>
            <a:r>
              <a:rPr lang="en-US" dirty="0"/>
              <a:t>. </a:t>
            </a:r>
            <a:endParaRPr lang="hu-HU" dirty="0"/>
          </a:p>
          <a:p>
            <a:r>
              <a:rPr lang="en-US" dirty="0"/>
              <a:t>It’s a </a:t>
            </a:r>
            <a:r>
              <a:rPr lang="en-US" b="1" dirty="0"/>
              <a:t>flexible framework</a:t>
            </a:r>
            <a:r>
              <a:rPr lang="en-US" dirty="0"/>
              <a:t> that should be tailored to the specific needs of your system, your data sources, and your business goals.</a:t>
            </a:r>
          </a:p>
          <a:p>
            <a:pPr lvl="1"/>
            <a:endParaRPr lang="hu-HU" b="1" dirty="0"/>
          </a:p>
          <a:p>
            <a:pPr lvl="1"/>
            <a:endParaRPr lang="hu-HU" b="1" dirty="0"/>
          </a:p>
          <a:p>
            <a:pPr lvl="1"/>
            <a:endParaRPr lang="hu-HU" b="1" dirty="0"/>
          </a:p>
          <a:p>
            <a:pPr lvl="1"/>
            <a:endParaRPr lang="hu-HU" b="1" dirty="0"/>
          </a:p>
          <a:p>
            <a:pPr marL="457200" lvl="1" indent="0">
              <a:buNone/>
            </a:pPr>
            <a:endParaRPr lang="hu-HU" b="1" dirty="0"/>
          </a:p>
          <a:p>
            <a:pPr lvl="1"/>
            <a:endParaRPr lang="hu-HU" sz="3200" b="1" dirty="0"/>
          </a:p>
          <a:p>
            <a:r>
              <a:rPr lang="hu-HU" dirty="0"/>
              <a:t>Key takeaways:</a:t>
            </a:r>
          </a:p>
          <a:p>
            <a:pPr lvl="1"/>
            <a:r>
              <a:rPr lang="en-US" b="1" dirty="0"/>
              <a:t>No one-size-fits-all</a:t>
            </a:r>
            <a:r>
              <a:rPr lang="en-US" dirty="0"/>
              <a:t>: A pipeline for real-time fraud detection will look very different from one built for monthly financial reporting.</a:t>
            </a:r>
          </a:p>
          <a:p>
            <a:pPr lvl="1"/>
            <a:r>
              <a:rPr lang="en-US" b="1" dirty="0"/>
              <a:t>Stages can blur</a:t>
            </a:r>
            <a:r>
              <a:rPr lang="en-US" dirty="0"/>
              <a:t>: Ingestion might include light transformation; ETL might include pre-processing; monitoring might be embedded across all layers.</a:t>
            </a:r>
          </a:p>
          <a:p>
            <a:pPr lvl="1"/>
            <a:r>
              <a:rPr lang="en-US" b="1" dirty="0"/>
              <a:t>Tools influence structure</a:t>
            </a:r>
            <a:r>
              <a:rPr lang="en-US" dirty="0"/>
              <a:t>: Using cloud-native tools like </a:t>
            </a:r>
            <a:r>
              <a:rPr lang="en-US" dirty="0" err="1"/>
              <a:t>dbt</a:t>
            </a:r>
            <a:r>
              <a:rPr lang="hu-HU" dirty="0"/>
              <a:t> (</a:t>
            </a:r>
            <a:r>
              <a:rPr lang="en-US" dirty="0"/>
              <a:t>Data Build Tool</a:t>
            </a:r>
            <a:r>
              <a:rPr lang="hu-HU" dirty="0"/>
              <a:t>)</a:t>
            </a:r>
            <a:r>
              <a:rPr lang="en-US" dirty="0"/>
              <a:t> or Airflow may collapse or expand stages depending on orchestration and modularity</a:t>
            </a:r>
            <a:r>
              <a:rPr lang="hu-HU" dirty="0"/>
              <a:t>.</a:t>
            </a:r>
            <a:endParaRPr lang="en-US" dirty="0"/>
          </a:p>
          <a:p>
            <a:pPr lvl="1"/>
            <a:r>
              <a:rPr lang="en-US" b="1" dirty="0"/>
              <a:t>What matters is who owns each boundary and what it guarantees.</a:t>
            </a:r>
          </a:p>
          <a:p>
            <a:pPr marL="457200" lvl="1" indent="0">
              <a:buNone/>
            </a:pPr>
            <a:endParaRPr lang="en-US" dirty="0"/>
          </a:p>
          <a:p>
            <a:pPr lvl="2"/>
            <a:endParaRPr lang="hu-HU" dirty="0"/>
          </a:p>
          <a:p>
            <a:endParaRPr lang="hu-HU" dirty="0"/>
          </a:p>
          <a:p>
            <a:endParaRPr lang="hu-HU" dirty="0"/>
          </a:p>
          <a:p>
            <a:endParaRPr lang="hu-HU" dirty="0"/>
          </a:p>
          <a:p>
            <a:endParaRPr lang="hu-HU" dirty="0"/>
          </a:p>
          <a:p>
            <a:endParaRPr lang="hu-HU" dirty="0"/>
          </a:p>
          <a:p>
            <a:endParaRPr lang="hu-HU" dirty="0"/>
          </a:p>
          <a:p>
            <a:r>
              <a:rPr lang="en-US" dirty="0"/>
              <a:t>These pipelines are essential for enabling </a:t>
            </a:r>
            <a:r>
              <a:rPr lang="en-US" b="1" dirty="0"/>
              <a:t>analytics, reporting, machine learning</a:t>
            </a:r>
            <a:r>
              <a:rPr lang="en-US" dirty="0"/>
              <a:t>, and other data-driven operations.</a:t>
            </a:r>
          </a:p>
          <a:p>
            <a:endParaRPr lang="hu-HU" dirty="0"/>
          </a:p>
        </p:txBody>
      </p:sp>
      <p:pic>
        <p:nvPicPr>
          <p:cNvPr id="2065" name="Picture 2064">
            <a:extLst>
              <a:ext uri="{FF2B5EF4-FFF2-40B4-BE49-F238E27FC236}">
                <a16:creationId xmlns:a16="http://schemas.microsoft.com/office/drawing/2014/main" id="{566C2D4A-FD32-0735-1E77-5565298619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5650" y="1881533"/>
            <a:ext cx="5600700" cy="1779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930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91D61-1DC4-AE5E-8958-1E904B90E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F8FC5D8-5243-EB7A-3AC2-8187A5DF50EB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 lvl="0"/>
            <a:r>
              <a:rPr lang="en-US" sz="2900" dirty="0"/>
              <a:t>Where Does Ingestion Begin? — Data Collection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64D519-E71E-4BBA-0928-655F5B9DABBA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BE8B05-7D33-0645-F59E-DD8C2A23CC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Generation</a:t>
            </a:r>
            <a:r>
              <a:rPr lang="en-US" dirty="0"/>
              <a:t> or </a:t>
            </a:r>
            <a:r>
              <a:rPr lang="en-US" i="1" dirty="0"/>
              <a:t>capture</a:t>
            </a:r>
            <a:r>
              <a:rPr lang="en-US" dirty="0"/>
              <a:t> of data at its source</a:t>
            </a:r>
          </a:p>
          <a:p>
            <a:r>
              <a:rPr lang="en-US" dirty="0"/>
              <a:t>Typically occurs inside </a:t>
            </a:r>
            <a:r>
              <a:rPr lang="en-US" b="1" dirty="0"/>
              <a:t>applications</a:t>
            </a:r>
            <a:r>
              <a:rPr lang="en-US" dirty="0"/>
              <a:t>, </a:t>
            </a:r>
            <a:r>
              <a:rPr lang="en-US" b="1" dirty="0"/>
              <a:t>devices</a:t>
            </a:r>
            <a:r>
              <a:rPr lang="en-US" dirty="0"/>
              <a:t>, or </a:t>
            </a:r>
            <a:r>
              <a:rPr lang="en-US" b="1" dirty="0"/>
              <a:t>operational systems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A CRM records a customer update</a:t>
            </a:r>
          </a:p>
          <a:p>
            <a:pPr lvl="1"/>
            <a:r>
              <a:rPr lang="en-US" dirty="0"/>
              <a:t>A mobile application records a user interaction</a:t>
            </a:r>
          </a:p>
          <a:p>
            <a:pPr lvl="1"/>
            <a:r>
              <a:rPr lang="en-US" dirty="0"/>
              <a:t>A sensor emits a temperature reading</a:t>
            </a:r>
          </a:p>
          <a:p>
            <a:r>
              <a:rPr lang="en-US" dirty="0"/>
              <a:t>May be </a:t>
            </a:r>
            <a:r>
              <a:rPr lang="en-US" b="1" dirty="0"/>
              <a:t>passive</a:t>
            </a:r>
            <a:r>
              <a:rPr lang="en-US" dirty="0"/>
              <a:t> (logs, telemetry) or </a:t>
            </a:r>
            <a:r>
              <a:rPr lang="en-US" b="1" dirty="0"/>
              <a:t>active</a:t>
            </a:r>
            <a:r>
              <a:rPr lang="en-US" dirty="0"/>
              <a:t> (forms, transactions)</a:t>
            </a:r>
          </a:p>
          <a:p>
            <a:r>
              <a:rPr lang="en-US" dirty="0"/>
              <a:t>Often owned by </a:t>
            </a:r>
            <a:r>
              <a:rPr lang="en-US" b="1" dirty="0"/>
              <a:t>product teams</a:t>
            </a:r>
            <a:r>
              <a:rPr lang="en-US" dirty="0"/>
              <a:t> or app teams </a:t>
            </a:r>
            <a:r>
              <a:rPr lang="en-US" b="1" dirty="0"/>
              <a:t>not by data engineers</a:t>
            </a:r>
            <a:r>
              <a:rPr lang="en-US" dirty="0"/>
              <a:t>; ownership varies by organization</a:t>
            </a:r>
          </a:p>
        </p:txBody>
      </p:sp>
      <p:pic>
        <p:nvPicPr>
          <p:cNvPr id="2072" name="Picture 2071">
            <a:extLst>
              <a:ext uri="{FF2B5EF4-FFF2-40B4-BE49-F238E27FC236}">
                <a16:creationId xmlns:a16="http://schemas.microsoft.com/office/drawing/2014/main" id="{7442435B-8137-B0E3-B449-5C10304515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932"/>
          <a:stretch>
            <a:fillRect/>
          </a:stretch>
        </p:blipFill>
        <p:spPr>
          <a:xfrm>
            <a:off x="1686957" y="4000500"/>
            <a:ext cx="8818085" cy="1781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717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7D391-F0A7-AA31-6A0F-ABFF9131E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42A6FD8-2677-2D33-2BAA-35303273BBD3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 lvl="0"/>
            <a:r>
              <a:rPr lang="en-US" sz="2900" dirty="0"/>
              <a:t>Where Does Ingestion Begin? — Data Transportation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9BE62F-F9AC-1780-DEE1-A6A3886D0E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Moves collected data </a:t>
            </a:r>
            <a:r>
              <a:rPr lang="en-US" b="1" dirty="0"/>
              <a:t>toward the data platform</a:t>
            </a:r>
          </a:p>
          <a:p>
            <a:r>
              <a:rPr lang="en-US" dirty="0"/>
              <a:t>Data may be transferred </a:t>
            </a:r>
            <a:r>
              <a:rPr lang="en-US" b="1" dirty="0"/>
              <a:t>continuously</a:t>
            </a:r>
            <a:r>
              <a:rPr lang="en-US" dirty="0"/>
              <a:t> as it arrives (Kafka, MQTT), or </a:t>
            </a:r>
            <a:r>
              <a:rPr lang="en-US" b="1" dirty="0"/>
              <a:t>periodically</a:t>
            </a:r>
            <a:r>
              <a:rPr lang="en-US" dirty="0"/>
              <a:t> in batches (SFTP)</a:t>
            </a:r>
          </a:p>
          <a:p>
            <a:r>
              <a:rPr lang="en-US" dirty="0"/>
              <a:t>Uses protocols, queues, event logs, connectors, or file transfer</a:t>
            </a:r>
          </a:p>
          <a:p>
            <a:r>
              <a:rPr lang="en-US" b="1" dirty="0"/>
              <a:t>Maybe owned by infra teams or shared with data engineers</a:t>
            </a:r>
          </a:p>
          <a:p>
            <a:pPr lvl="0"/>
            <a:r>
              <a:rPr lang="hu-HU" b="1" dirty="0"/>
              <a:t>Examples:</a:t>
            </a:r>
            <a:endParaRPr lang="hu-HU" dirty="0"/>
          </a:p>
          <a:p>
            <a:pPr lvl="1"/>
            <a:r>
              <a:rPr lang="en-US" i="1" dirty="0"/>
              <a:t>Kafka</a:t>
            </a:r>
            <a:r>
              <a:rPr lang="en-US" dirty="0"/>
              <a:t> carries events from applications to a durable topic</a:t>
            </a:r>
          </a:p>
          <a:p>
            <a:pPr lvl="1"/>
            <a:r>
              <a:rPr lang="en-US" i="1" dirty="0"/>
              <a:t>Azure Data Factory</a:t>
            </a:r>
            <a:r>
              <a:rPr lang="en-US" dirty="0"/>
              <a:t> copies files from SFTP to Blob Storage</a:t>
            </a:r>
          </a:p>
          <a:p>
            <a:pPr lvl="1"/>
            <a:r>
              <a:rPr lang="en-US" dirty="0"/>
              <a:t>MQTT transports IoT telemetry using a lightweight publish/subscribe protocol</a:t>
            </a:r>
          </a:p>
        </p:txBody>
      </p:sp>
      <p:pic>
        <p:nvPicPr>
          <p:cNvPr id="2072" name="Picture 2071">
            <a:extLst>
              <a:ext uri="{FF2B5EF4-FFF2-40B4-BE49-F238E27FC236}">
                <a16:creationId xmlns:a16="http://schemas.microsoft.com/office/drawing/2014/main" id="{C70FDB08-8D59-189E-7583-B162D0DF776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932"/>
          <a:stretch>
            <a:fillRect/>
          </a:stretch>
        </p:blipFill>
        <p:spPr>
          <a:xfrm>
            <a:off x="1686957" y="4000500"/>
            <a:ext cx="8818085" cy="1781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633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6AAA8-9588-E08A-5973-627863DFD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3186EDE-347C-4FFC-3793-7E19B50D45B4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 lvl="0"/>
            <a:r>
              <a:rPr lang="en-US" sz="2900" dirty="0"/>
              <a:t>Where Does Ingestion Begin? — Data Ingestion (Platform Entry)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367B3A-9C03-4512-B1A5-7D8456E011FE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0E110C-6227-1E2F-64F3-80252BB3A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Often forms the </a:t>
            </a:r>
            <a:r>
              <a:rPr lang="en-US" b="1" dirty="0"/>
              <a:t>first boundary owned by a data platform team</a:t>
            </a:r>
          </a:p>
          <a:p>
            <a:r>
              <a:rPr lang="en-US" i="1" dirty="0"/>
              <a:t>Collection</a:t>
            </a:r>
            <a:r>
              <a:rPr lang="en-US" dirty="0"/>
              <a:t> is </a:t>
            </a:r>
            <a:r>
              <a:rPr lang="en-US" b="1" dirty="0"/>
              <a:t>external dependency</a:t>
            </a:r>
          </a:p>
          <a:p>
            <a:r>
              <a:rPr lang="en-US" i="1" dirty="0"/>
              <a:t>Transportation</a:t>
            </a:r>
            <a:r>
              <a:rPr lang="en-US" dirty="0"/>
              <a:t> is a </a:t>
            </a:r>
            <a:r>
              <a:rPr lang="en-US" b="1" dirty="0"/>
              <a:t>gray zone</a:t>
            </a:r>
            <a:r>
              <a:rPr lang="en-US" dirty="0"/>
              <a:t> — sometimes tightly coupled with ingestion</a:t>
            </a:r>
          </a:p>
          <a:p>
            <a:r>
              <a:rPr lang="en-US" dirty="0"/>
              <a:t>Creates an explicit hand-off with defined guarantees:</a:t>
            </a:r>
          </a:p>
          <a:p>
            <a:pPr lvl="1"/>
            <a:r>
              <a:rPr lang="en-US" dirty="0"/>
              <a:t>Performs </a:t>
            </a:r>
            <a:r>
              <a:rPr lang="en-US" b="1" dirty="0"/>
              <a:t>the technical validation </a:t>
            </a:r>
            <a:r>
              <a:rPr lang="en-US" dirty="0"/>
              <a:t>required for safe landing</a:t>
            </a:r>
          </a:p>
          <a:p>
            <a:pPr lvl="1"/>
            <a:r>
              <a:rPr lang="en-US" dirty="0"/>
              <a:t>Adds </a:t>
            </a:r>
            <a:r>
              <a:rPr lang="en-US" b="1" dirty="0"/>
              <a:t>ingestion</a:t>
            </a:r>
            <a:r>
              <a:rPr lang="en-US" dirty="0"/>
              <a:t> </a:t>
            </a:r>
            <a:r>
              <a:rPr lang="en-US" b="1" dirty="0"/>
              <a:t>metadata</a:t>
            </a:r>
            <a:r>
              <a:rPr lang="en-US" dirty="0"/>
              <a:t> and operational telemetry</a:t>
            </a:r>
          </a:p>
          <a:p>
            <a:pPr lvl="1"/>
            <a:r>
              <a:rPr lang="en-US" dirty="0"/>
              <a:t>Persists </a:t>
            </a:r>
            <a:r>
              <a:rPr lang="en-US" b="1" dirty="0"/>
              <a:t>source-faithful data </a:t>
            </a:r>
            <a:r>
              <a:rPr lang="en-US" dirty="0"/>
              <a:t>in a raw landing or Bronze area</a:t>
            </a:r>
          </a:p>
          <a:p>
            <a:r>
              <a:rPr lang="en-US" dirty="0"/>
              <a:t>Exact responsibilities vary, but business transformation is usually deferred</a:t>
            </a:r>
          </a:p>
        </p:txBody>
      </p:sp>
      <p:pic>
        <p:nvPicPr>
          <p:cNvPr id="2072" name="Picture 2071">
            <a:extLst>
              <a:ext uri="{FF2B5EF4-FFF2-40B4-BE49-F238E27FC236}">
                <a16:creationId xmlns:a16="http://schemas.microsoft.com/office/drawing/2014/main" id="{64D0692E-2751-BC4E-F347-BE81262FDF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932"/>
          <a:stretch>
            <a:fillRect/>
          </a:stretch>
        </p:blipFill>
        <p:spPr>
          <a:xfrm>
            <a:off x="1686957" y="4000500"/>
            <a:ext cx="8818085" cy="1781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238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5B2D104-86E9-FC3D-C8AF-E72BB5B80158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fr-FR" dirty="0"/>
              <a:t>Collection vs Transportation vs Ingestion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89CE02-FD38-7F23-4E2F-D25CD96C2303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214DFB6-AFFD-780B-20CF-DC391A8AB7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4171837"/>
              </p:ext>
            </p:extLst>
          </p:nvPr>
        </p:nvGraphicFramePr>
        <p:xfrm>
          <a:off x="161924" y="1075690"/>
          <a:ext cx="11877675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5675">
                  <a:extLst>
                    <a:ext uri="{9D8B030D-6E8A-4147-A177-3AD203B41FA5}">
                      <a16:colId xmlns:a16="http://schemas.microsoft.com/office/drawing/2014/main" val="1707839653"/>
                    </a:ext>
                  </a:extLst>
                </a:gridCol>
                <a:gridCol w="3873500">
                  <a:extLst>
                    <a:ext uri="{9D8B030D-6E8A-4147-A177-3AD203B41FA5}">
                      <a16:colId xmlns:a16="http://schemas.microsoft.com/office/drawing/2014/main" val="305947295"/>
                    </a:ext>
                  </a:extLst>
                </a:gridCol>
                <a:gridCol w="5778500">
                  <a:extLst>
                    <a:ext uri="{9D8B030D-6E8A-4147-A177-3AD203B41FA5}">
                      <a16:colId xmlns:a16="http://schemas.microsoft.com/office/drawing/2014/main" val="123104334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Step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Primary responsibility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Temperature-reading 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655145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Collection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Capture data at the source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A sensor measures 22.4 °C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6677315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Transportation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Move data toward the platform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The reading is sent over the network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0461006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Ingestion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Accept, identify, and persist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The platform stores the reading with its sensor ID and time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4507053"/>
                  </a:ext>
                </a:extLst>
              </a:tr>
            </a:tbl>
          </a:graphicData>
        </a:graphic>
      </p:graphicFrame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462A0A30-337D-1D82-DBBC-D5355C0251AD}"/>
              </a:ext>
            </a:extLst>
          </p:cNvPr>
          <p:cNvSpPr txBox="1">
            <a:spLocks/>
          </p:cNvSpPr>
          <p:nvPr/>
        </p:nvSpPr>
        <p:spPr>
          <a:xfrm>
            <a:off x="161924" y="3139880"/>
            <a:ext cx="11877675" cy="271799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Wingdings" panose="05000000000000000000" pitchFamily="2" charset="2"/>
              <a:buChar char="q"/>
              <a:defRPr sz="16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4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Another example:</a:t>
            </a:r>
          </a:p>
          <a:p>
            <a:r>
              <a:rPr lang="en-US" dirty="0"/>
              <a:t>Collection = taking a photo</a:t>
            </a:r>
          </a:p>
          <a:p>
            <a:r>
              <a:rPr lang="en-US" dirty="0"/>
              <a:t>Transportation = uploading it to cloud</a:t>
            </a:r>
          </a:p>
          <a:p>
            <a:r>
              <a:rPr lang="en-US" dirty="0"/>
              <a:t>Ingestion = saving it in your photo library with metadata (e.g. </a:t>
            </a:r>
            <a:r>
              <a:rPr lang="hu-HU" dirty="0"/>
              <a:t>identity, time</a:t>
            </a:r>
            <a:r>
              <a:rPr lang="en-US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467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FD21012-6323-27A6-1BE4-8C42E1E2007E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hu-HU" dirty="0"/>
              <a:t>Types of Data Ingestion („When”) – Batch Ingestion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925419-ECAA-61AD-0113-F10DBE4EBF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is collected and ingested at </a:t>
            </a:r>
            <a:r>
              <a:rPr lang="en-US" b="1" dirty="0"/>
              <a:t>scheduled intervals </a:t>
            </a:r>
            <a:r>
              <a:rPr lang="en-US" dirty="0"/>
              <a:t>(e.g., hourly, daily)</a:t>
            </a:r>
            <a:endParaRPr lang="hu-HU" dirty="0"/>
          </a:p>
          <a:p>
            <a:endParaRPr lang="hu-HU" dirty="0"/>
          </a:p>
          <a:p>
            <a:r>
              <a:rPr lang="en-US" b="1" dirty="0"/>
              <a:t>Characteristics</a:t>
            </a:r>
            <a:r>
              <a:rPr lang="en-US" dirty="0"/>
              <a:t>: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Simpler to implement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Higher latency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Often used for historical or slowly changing data</a:t>
            </a:r>
            <a:endParaRPr lang="hu-HU" dirty="0"/>
          </a:p>
          <a:p>
            <a:endParaRPr lang="hu-HU" dirty="0"/>
          </a:p>
          <a:p>
            <a:r>
              <a:rPr lang="en-US" b="1" dirty="0"/>
              <a:t>Examples</a:t>
            </a:r>
            <a:r>
              <a:rPr lang="en-US" dirty="0"/>
              <a:t>: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🏦 Banking</a:t>
            </a:r>
            <a:r>
              <a:rPr lang="hu-HU" dirty="0"/>
              <a:t> –</a:t>
            </a:r>
            <a:r>
              <a:rPr lang="en-US" dirty="0"/>
              <a:t> Daily transaction logs exported from core banking systems to a data warehouse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🛒 Retail</a:t>
            </a:r>
            <a:r>
              <a:rPr lang="hu-HU" dirty="0"/>
              <a:t> –</a:t>
            </a:r>
            <a:r>
              <a:rPr lang="en-US" dirty="0"/>
              <a:t> Nightly sales data from POS systems uploaded as CSVs to Azure Blob Storage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🧾 Finance</a:t>
            </a:r>
            <a:r>
              <a:rPr lang="hu-HU" dirty="0"/>
              <a:t> –</a:t>
            </a:r>
            <a:r>
              <a:rPr lang="en-US" dirty="0"/>
              <a:t> Monthly financial reports ingested from Excel files into Power BI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🧬 Healthcare</a:t>
            </a:r>
            <a:r>
              <a:rPr lang="hu-HU" dirty="0"/>
              <a:t> –</a:t>
            </a:r>
            <a:r>
              <a:rPr lang="en-US" dirty="0"/>
              <a:t> Weekly patient records exported from EMR systems for compliance reporting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📊 Marketing</a:t>
            </a:r>
            <a:r>
              <a:rPr lang="hu-HU" dirty="0"/>
              <a:t> –</a:t>
            </a:r>
            <a:r>
              <a:rPr lang="en-US" dirty="0"/>
              <a:t> Scheduled pulls of campaign performance data from Google Ads API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442415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A7FC3-EB1A-1C99-5FE0-DE0D7E729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B80C2DE-79E3-423E-F8B5-C2AA918C3940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hu-HU" dirty="0"/>
              <a:t>Types of Data Ingestion („When”) – Streaming Ingestion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75A040-7245-475F-004B-C422175E61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is ingested </a:t>
            </a:r>
            <a:r>
              <a:rPr lang="en-US" b="1" dirty="0"/>
              <a:t>continuously as it is generated</a:t>
            </a:r>
            <a:r>
              <a:rPr lang="en-US" dirty="0"/>
              <a:t>, often in near real-time.</a:t>
            </a:r>
            <a:endParaRPr lang="hu-HU" dirty="0"/>
          </a:p>
          <a:p>
            <a:endParaRPr lang="hu-HU" dirty="0"/>
          </a:p>
          <a:p>
            <a:r>
              <a:rPr lang="en-US" b="1" dirty="0"/>
              <a:t>Characteristics</a:t>
            </a:r>
            <a:r>
              <a:rPr lang="en-US" dirty="0"/>
              <a:t>: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Low latency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Requires event-driven architecture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Enables real-time analytics and alerting</a:t>
            </a:r>
          </a:p>
          <a:p>
            <a:endParaRPr lang="hu-HU" dirty="0"/>
          </a:p>
          <a:p>
            <a:r>
              <a:rPr lang="en-US" b="1" dirty="0"/>
              <a:t>Examples</a:t>
            </a:r>
            <a:r>
              <a:rPr lang="en-US" dirty="0"/>
              <a:t>: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🚗 Io</a:t>
            </a:r>
            <a:r>
              <a:rPr lang="hu-HU" dirty="0"/>
              <a:t>T –</a:t>
            </a:r>
            <a:r>
              <a:rPr lang="en-US" dirty="0"/>
              <a:t> Vehicle telemetry streamed via MQTT into Azure Event Hubs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🕵️‍♂️ Fraud Detection</a:t>
            </a:r>
            <a:r>
              <a:rPr lang="hu-HU" dirty="0"/>
              <a:t> –</a:t>
            </a:r>
            <a:r>
              <a:rPr lang="en-US" dirty="0"/>
              <a:t> Credit card transactions streamed into Flink for anomaly detection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📰 News Aggregation</a:t>
            </a:r>
            <a:r>
              <a:rPr lang="hu-HU" dirty="0"/>
              <a:t> –</a:t>
            </a:r>
            <a:r>
              <a:rPr lang="en-US" dirty="0"/>
              <a:t> RSS feeds ingested in real time to update dashboards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🎮 Gaming</a:t>
            </a:r>
            <a:r>
              <a:rPr lang="hu-HU" dirty="0"/>
              <a:t> –</a:t>
            </a:r>
            <a:r>
              <a:rPr lang="en-US" dirty="0"/>
              <a:t> Player actions streamed from game servers into Kafka for live leaderboards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🏥 Healthcare</a:t>
            </a:r>
            <a:r>
              <a:rPr lang="hu-HU" dirty="0"/>
              <a:t> –</a:t>
            </a:r>
            <a:r>
              <a:rPr lang="en-US" dirty="0"/>
              <a:t> Real-time monitoring of ICU vitals streamed to alerting systems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294255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8DF88-D173-E181-FF8E-E6687B13E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1ED0D0A-CBED-D815-11A2-A3003D5449A0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hu-HU" dirty="0"/>
              <a:t>Types of Data Ingestion („When”) – Hybrid Ingestion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9086C1-7C36-CAFC-30C7-3FA11B696BAA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1F540C-0127-03E3-B2F1-D0E4FD7F9B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Combines batch and streaming to </a:t>
            </a:r>
            <a:r>
              <a:rPr lang="en-US" b="1" dirty="0"/>
              <a:t>balance latency, complexity, and cost</a:t>
            </a:r>
            <a:r>
              <a:rPr lang="en-US" dirty="0"/>
              <a:t>.</a:t>
            </a:r>
            <a:endParaRPr lang="hu-HU" dirty="0"/>
          </a:p>
          <a:p>
            <a:endParaRPr lang="hu-HU" dirty="0"/>
          </a:p>
          <a:p>
            <a:r>
              <a:rPr lang="en-US" b="1" dirty="0"/>
              <a:t>Characteristics</a:t>
            </a:r>
            <a:r>
              <a:rPr lang="en-US" dirty="0"/>
              <a:t>: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Maintains both low-latency and complete historical paths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Combines different ingestion modes for different source and consumer needs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Costs more to build and operate than a single ingestion mode</a:t>
            </a:r>
          </a:p>
          <a:p>
            <a:endParaRPr lang="hu-HU" dirty="0"/>
          </a:p>
          <a:p>
            <a:r>
              <a:rPr lang="en-US" b="1" dirty="0"/>
              <a:t>Examples</a:t>
            </a:r>
            <a:r>
              <a:rPr lang="en-US" dirty="0"/>
              <a:t>: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🏢 Smart Buildings</a:t>
            </a:r>
            <a:r>
              <a:rPr lang="hu-HU" dirty="0"/>
              <a:t> –</a:t>
            </a:r>
            <a:r>
              <a:rPr lang="en-US" dirty="0"/>
              <a:t> Real-time sensor alerts + hourly environmental summaries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🛍️ E-commerce</a:t>
            </a:r>
            <a:r>
              <a:rPr lang="hu-HU" dirty="0"/>
              <a:t> –</a:t>
            </a:r>
            <a:r>
              <a:rPr lang="en-US" dirty="0"/>
              <a:t> Live clickstream data + daily product catalog updates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📦 Logistics</a:t>
            </a:r>
            <a:r>
              <a:rPr lang="hu-HU" dirty="0"/>
              <a:t> –</a:t>
            </a:r>
            <a:r>
              <a:rPr lang="en-US" dirty="0"/>
              <a:t> Real-time package tracking + nightly route optimization reports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📱 Social Media</a:t>
            </a:r>
            <a:r>
              <a:rPr lang="hu-HU" dirty="0"/>
              <a:t> –</a:t>
            </a:r>
            <a:r>
              <a:rPr lang="en-US" dirty="0"/>
              <a:t> Live post ingestion + nightly sentiment analysis on aggregated data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654176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9670B-682A-9967-A49B-763CB788E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CAE3E23-8BC2-C716-81F5-2065A9F77B66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hu-HU" dirty="0"/>
              <a:t>Methods of Data Ingestion („How”) 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27FAC1-3C40-63FB-16B4-1235FC37BD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Ingestion methods define </a:t>
            </a:r>
            <a:r>
              <a:rPr lang="en-US" b="1" dirty="0"/>
              <a:t>how</a:t>
            </a:r>
            <a:r>
              <a:rPr lang="en-US" dirty="0"/>
              <a:t> data is delivered to the platform</a:t>
            </a:r>
          </a:p>
          <a:p>
            <a:r>
              <a:rPr lang="en-US" dirty="0"/>
              <a:t>Can be used in </a:t>
            </a:r>
            <a:r>
              <a:rPr lang="en-US" b="1" dirty="0"/>
              <a:t>batch</a:t>
            </a:r>
            <a:r>
              <a:rPr lang="en-US" dirty="0"/>
              <a:t>, </a:t>
            </a:r>
            <a:r>
              <a:rPr lang="en-US" b="1" dirty="0"/>
              <a:t>streaming</a:t>
            </a:r>
            <a:r>
              <a:rPr lang="en-US" dirty="0"/>
              <a:t>, or </a:t>
            </a:r>
            <a:r>
              <a:rPr lang="en-US" b="1" dirty="0"/>
              <a:t>hybrid</a:t>
            </a:r>
            <a:r>
              <a:rPr lang="en-US" dirty="0"/>
              <a:t> contexts</a:t>
            </a:r>
          </a:p>
          <a:p>
            <a:r>
              <a:rPr lang="en-US" dirty="0"/>
              <a:t>Choice depends on </a:t>
            </a:r>
            <a:r>
              <a:rPr lang="en-US" b="1" dirty="0"/>
              <a:t>source system</a:t>
            </a:r>
            <a:r>
              <a:rPr lang="en-US" dirty="0"/>
              <a:t>, </a:t>
            </a:r>
            <a:r>
              <a:rPr lang="en-US" b="1" dirty="0"/>
              <a:t>latency needs</a:t>
            </a:r>
            <a:r>
              <a:rPr lang="en-US" dirty="0"/>
              <a:t>, and </a:t>
            </a:r>
            <a:r>
              <a:rPr lang="en-US" b="1" dirty="0"/>
              <a:t>tooling</a:t>
            </a:r>
            <a:endParaRPr lang="en-US" dirty="0"/>
          </a:p>
          <a:p>
            <a:endParaRPr lang="hu-HU" dirty="0"/>
          </a:p>
          <a:p>
            <a:pPr lvl="1">
              <a:lnSpc>
                <a:spcPct val="120000"/>
              </a:lnSpc>
            </a:pPr>
            <a:r>
              <a:rPr lang="en-US" dirty="0"/>
              <a:t>🧩 </a:t>
            </a:r>
            <a:r>
              <a:rPr lang="en-US" b="1" dirty="0"/>
              <a:t>File-based ingestion</a:t>
            </a:r>
            <a:r>
              <a:rPr lang="en-US" dirty="0"/>
              <a:t>: </a:t>
            </a:r>
            <a:endParaRPr lang="hu-HU" dirty="0"/>
          </a:p>
          <a:p>
            <a:pPr lvl="2">
              <a:lnSpc>
                <a:spcPct val="120000"/>
              </a:lnSpc>
            </a:pPr>
            <a:r>
              <a:rPr lang="en-US" dirty="0"/>
              <a:t>Common formats include CSV, JSON, Parquet, and spreadsheets</a:t>
            </a:r>
            <a:endParaRPr lang="hu-HU" dirty="0"/>
          </a:p>
          <a:p>
            <a:pPr lvl="2">
              <a:lnSpc>
                <a:spcPct val="120000"/>
              </a:lnSpc>
            </a:pPr>
            <a:r>
              <a:rPr lang="en-US" dirty="0"/>
              <a:t>Files may be delivered through SFTP or object storage</a:t>
            </a:r>
            <a:endParaRPr lang="hu-HU" dirty="0"/>
          </a:p>
          <a:p>
            <a:pPr lvl="2">
              <a:lnSpc>
                <a:spcPct val="120000"/>
              </a:lnSpc>
            </a:pPr>
            <a:r>
              <a:rPr lang="en-US" dirty="0"/>
              <a:t>Common for scheduled </a:t>
            </a:r>
            <a:r>
              <a:rPr lang="en-US" i="1" dirty="0"/>
              <a:t>batch</a:t>
            </a:r>
            <a:r>
              <a:rPr lang="en-US" dirty="0"/>
              <a:t> ingestion</a:t>
            </a:r>
            <a:endParaRPr lang="hu-HU" dirty="0"/>
          </a:p>
          <a:p>
            <a:pPr lvl="2">
              <a:lnSpc>
                <a:spcPct val="120000"/>
              </a:lnSpc>
            </a:pPr>
            <a:r>
              <a:rPr lang="hu-HU" b="1" dirty="0"/>
              <a:t>Example</a:t>
            </a:r>
            <a:r>
              <a:rPr lang="hu-HU" dirty="0"/>
              <a:t>: </a:t>
            </a:r>
            <a:r>
              <a:rPr lang="en-US" dirty="0"/>
              <a:t>monthly HR data delivered as an Excel file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🌐 </a:t>
            </a:r>
            <a:r>
              <a:rPr lang="en-US" b="1" dirty="0"/>
              <a:t>API-based ingestion</a:t>
            </a:r>
            <a:r>
              <a:rPr lang="en-US" dirty="0"/>
              <a:t>: </a:t>
            </a:r>
            <a:endParaRPr lang="hu-HU" dirty="0"/>
          </a:p>
          <a:p>
            <a:pPr lvl="2">
              <a:lnSpc>
                <a:spcPct val="120000"/>
              </a:lnSpc>
            </a:pPr>
            <a:r>
              <a:rPr lang="en-US" dirty="0"/>
              <a:t>REST or </a:t>
            </a:r>
            <a:r>
              <a:rPr lang="en-US" dirty="0" err="1"/>
              <a:t>GraphQL</a:t>
            </a:r>
            <a:r>
              <a:rPr lang="en-US" dirty="0"/>
              <a:t> APIs are typically pulled by the data platform</a:t>
            </a:r>
            <a:endParaRPr lang="hu-HU" dirty="0"/>
          </a:p>
          <a:p>
            <a:pPr lvl="2">
              <a:lnSpc>
                <a:spcPct val="120000"/>
              </a:lnSpc>
            </a:pPr>
            <a:r>
              <a:rPr lang="en-US" dirty="0"/>
              <a:t>Webhooks push event notifications to a receiving endpoint</a:t>
            </a:r>
            <a:endParaRPr lang="hu-HU" dirty="0"/>
          </a:p>
          <a:p>
            <a:pPr lvl="2">
              <a:lnSpc>
                <a:spcPct val="120000"/>
              </a:lnSpc>
            </a:pPr>
            <a:r>
              <a:rPr lang="en-US" dirty="0"/>
              <a:t>Can support </a:t>
            </a:r>
            <a:r>
              <a:rPr lang="en-US" i="1" dirty="0"/>
              <a:t>batch (pull) or event-driven (push)</a:t>
            </a:r>
            <a:endParaRPr lang="hu-HU" i="1" dirty="0"/>
          </a:p>
          <a:p>
            <a:pPr lvl="2">
              <a:lnSpc>
                <a:spcPct val="120000"/>
              </a:lnSpc>
            </a:pPr>
            <a:r>
              <a:rPr lang="hu-HU" b="1" dirty="0"/>
              <a:t>Example</a:t>
            </a:r>
            <a:r>
              <a:rPr lang="hu-HU" dirty="0"/>
              <a:t>: </a:t>
            </a:r>
            <a:r>
              <a:rPr lang="en-US" dirty="0"/>
              <a:t>receiving payment events through a Stripe webhook</a:t>
            </a:r>
          </a:p>
        </p:txBody>
      </p:sp>
    </p:spTree>
    <p:extLst>
      <p:ext uri="{BB962C8B-B14F-4D97-AF65-F5344CB8AC3E}">
        <p14:creationId xmlns:p14="http://schemas.microsoft.com/office/powerpoint/2010/main" val="1211988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B970D-DA45-B947-1E1E-CF9B4B073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558E3E8-9509-6275-B9AD-CE45A6B4D48D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hu-HU" dirty="0"/>
              <a:t>Methods of Data Ingestion („How”) 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0971FE-E631-5FF7-27B8-2079EFB61101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DBD8A1-489E-A698-0954-EE521DDC62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Ingestion methods define </a:t>
            </a:r>
            <a:r>
              <a:rPr lang="en-US" b="1" dirty="0"/>
              <a:t>how</a:t>
            </a:r>
            <a:r>
              <a:rPr lang="en-US" dirty="0"/>
              <a:t> data is delivered to the platform</a:t>
            </a:r>
          </a:p>
          <a:p>
            <a:r>
              <a:rPr lang="en-US" dirty="0"/>
              <a:t>Can be used in </a:t>
            </a:r>
            <a:r>
              <a:rPr lang="en-US" b="1" dirty="0"/>
              <a:t>batch</a:t>
            </a:r>
            <a:r>
              <a:rPr lang="en-US" dirty="0"/>
              <a:t>, </a:t>
            </a:r>
            <a:r>
              <a:rPr lang="en-US" b="1" dirty="0"/>
              <a:t>streaming</a:t>
            </a:r>
            <a:r>
              <a:rPr lang="en-US" dirty="0"/>
              <a:t>, or </a:t>
            </a:r>
            <a:r>
              <a:rPr lang="en-US" b="1" dirty="0"/>
              <a:t>hybrid</a:t>
            </a:r>
            <a:r>
              <a:rPr lang="en-US" dirty="0"/>
              <a:t> contexts</a:t>
            </a:r>
          </a:p>
          <a:p>
            <a:r>
              <a:rPr lang="en-US" dirty="0"/>
              <a:t>Choice depends on </a:t>
            </a:r>
            <a:r>
              <a:rPr lang="en-US" b="1" dirty="0"/>
              <a:t>source system</a:t>
            </a:r>
            <a:r>
              <a:rPr lang="en-US" dirty="0"/>
              <a:t>, </a:t>
            </a:r>
            <a:r>
              <a:rPr lang="en-US" b="1" dirty="0"/>
              <a:t>latency needs</a:t>
            </a:r>
            <a:r>
              <a:rPr lang="en-US" dirty="0"/>
              <a:t>, and </a:t>
            </a:r>
            <a:r>
              <a:rPr lang="en-US" b="1" dirty="0"/>
              <a:t>tooling</a:t>
            </a:r>
            <a:endParaRPr lang="en-US" dirty="0"/>
          </a:p>
          <a:p>
            <a:endParaRPr lang="hu-HU" dirty="0"/>
          </a:p>
          <a:p>
            <a:pPr lvl="1">
              <a:lnSpc>
                <a:spcPct val="120000"/>
              </a:lnSpc>
            </a:pPr>
            <a:r>
              <a:rPr lang="en-US" dirty="0"/>
              <a:t>🔄 </a:t>
            </a:r>
            <a:r>
              <a:rPr lang="en-US" b="1" dirty="0"/>
              <a:t>Database connectors</a:t>
            </a:r>
            <a:r>
              <a:rPr lang="en-US" dirty="0"/>
              <a:t>: </a:t>
            </a:r>
            <a:endParaRPr lang="hu-HU" dirty="0"/>
          </a:p>
          <a:p>
            <a:pPr lvl="2">
              <a:lnSpc>
                <a:spcPct val="120000"/>
              </a:lnSpc>
            </a:pPr>
            <a:r>
              <a:rPr lang="en-US" dirty="0"/>
              <a:t>Queries read snapshots or incremental ranges from database tables</a:t>
            </a:r>
            <a:endParaRPr lang="hu-HU" dirty="0"/>
          </a:p>
          <a:p>
            <a:pPr lvl="2">
              <a:lnSpc>
                <a:spcPct val="120000"/>
              </a:lnSpc>
            </a:pPr>
            <a:r>
              <a:rPr lang="en-US" dirty="0"/>
              <a:t>Change Data Capture (CDC) captures inserts, updates, and deletes from a database change log</a:t>
            </a:r>
            <a:endParaRPr lang="hu-HU" dirty="0"/>
          </a:p>
          <a:p>
            <a:pPr lvl="2">
              <a:lnSpc>
                <a:spcPct val="120000"/>
              </a:lnSpc>
            </a:pPr>
            <a:r>
              <a:rPr lang="en-US" dirty="0"/>
              <a:t>Supports </a:t>
            </a:r>
            <a:r>
              <a:rPr lang="en-US" i="1" dirty="0"/>
              <a:t>batch and continuous ingestion</a:t>
            </a:r>
            <a:endParaRPr lang="hu-HU" i="1" dirty="0"/>
          </a:p>
          <a:p>
            <a:pPr lvl="2"/>
            <a:r>
              <a:rPr lang="hu-HU" b="1" dirty="0"/>
              <a:t>Example</a:t>
            </a:r>
            <a:r>
              <a:rPr lang="hu-HU" dirty="0"/>
              <a:t>: </a:t>
            </a:r>
            <a:r>
              <a:rPr lang="en-US" dirty="0"/>
              <a:t>replicating order changes from an operational database to a data lake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🔊 </a:t>
            </a:r>
            <a:r>
              <a:rPr lang="en-US" b="1" dirty="0"/>
              <a:t>Message queues</a:t>
            </a:r>
            <a:r>
              <a:rPr lang="en-US" dirty="0"/>
              <a:t>: </a:t>
            </a:r>
            <a:endParaRPr lang="hu-HU" dirty="0"/>
          </a:p>
          <a:p>
            <a:pPr lvl="2">
              <a:lnSpc>
                <a:spcPct val="120000"/>
              </a:lnSpc>
            </a:pPr>
            <a:r>
              <a:rPr lang="en-US" dirty="0"/>
              <a:t>Applications and devices publish messages or events for downstream consumers</a:t>
            </a:r>
            <a:endParaRPr lang="hu-HU" dirty="0"/>
          </a:p>
          <a:p>
            <a:pPr lvl="2">
              <a:lnSpc>
                <a:spcPct val="120000"/>
              </a:lnSpc>
            </a:pPr>
            <a:r>
              <a:rPr lang="en-US" dirty="0"/>
              <a:t>Queues distribute messages among consumers</a:t>
            </a:r>
            <a:endParaRPr lang="hu-HU" dirty="0"/>
          </a:p>
          <a:p>
            <a:pPr lvl="2">
              <a:lnSpc>
                <a:spcPct val="120000"/>
              </a:lnSpc>
            </a:pPr>
            <a:r>
              <a:rPr lang="en-US" dirty="0"/>
              <a:t>Common for </a:t>
            </a:r>
            <a:r>
              <a:rPr lang="en-US" i="1" dirty="0"/>
              <a:t>streaming ingestion</a:t>
            </a:r>
            <a:endParaRPr lang="hu-HU" i="1" dirty="0"/>
          </a:p>
          <a:p>
            <a:pPr lvl="2">
              <a:lnSpc>
                <a:spcPct val="120000"/>
              </a:lnSpc>
            </a:pPr>
            <a:r>
              <a:rPr lang="en-US" b="1" dirty="0"/>
              <a:t>Example</a:t>
            </a:r>
            <a:r>
              <a:rPr lang="en-US" dirty="0"/>
              <a:t>: sensors publish temperature readings to an MQTT broker</a:t>
            </a:r>
            <a:endParaRPr lang="hu-HU" dirty="0"/>
          </a:p>
          <a:p>
            <a:pPr lvl="1">
              <a:lnSpc>
                <a:spcPct val="120000"/>
              </a:lnSpc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5747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7A8B1-8FEF-8C04-7421-26A1C8BDC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41B0456-5A59-9017-024E-39D0A0BB613D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hu-HU" dirty="0"/>
              <a:t>Methods of Data Ingestion („How”) 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E44B37-5C5D-C040-B4AD-33E364C0EF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Ingestion methods define </a:t>
            </a:r>
            <a:r>
              <a:rPr lang="en-US" b="1" dirty="0"/>
              <a:t>how</a:t>
            </a:r>
            <a:r>
              <a:rPr lang="en-US" dirty="0"/>
              <a:t> data is delivered to the platform</a:t>
            </a:r>
          </a:p>
          <a:p>
            <a:r>
              <a:rPr lang="en-US" dirty="0"/>
              <a:t>Can be used in </a:t>
            </a:r>
            <a:r>
              <a:rPr lang="en-US" b="1" dirty="0"/>
              <a:t>batch</a:t>
            </a:r>
            <a:r>
              <a:rPr lang="en-US" dirty="0"/>
              <a:t>, </a:t>
            </a:r>
            <a:r>
              <a:rPr lang="en-US" b="1" dirty="0"/>
              <a:t>streaming</a:t>
            </a:r>
            <a:r>
              <a:rPr lang="en-US" dirty="0"/>
              <a:t>, or </a:t>
            </a:r>
            <a:r>
              <a:rPr lang="en-US" b="1" dirty="0"/>
              <a:t>hybrid</a:t>
            </a:r>
            <a:r>
              <a:rPr lang="en-US" dirty="0"/>
              <a:t> contexts</a:t>
            </a:r>
          </a:p>
          <a:p>
            <a:r>
              <a:rPr lang="en-US" dirty="0"/>
              <a:t>Choice depends on </a:t>
            </a:r>
            <a:r>
              <a:rPr lang="en-US" b="1" dirty="0"/>
              <a:t>source system</a:t>
            </a:r>
            <a:r>
              <a:rPr lang="en-US" dirty="0"/>
              <a:t>, </a:t>
            </a:r>
            <a:r>
              <a:rPr lang="en-US" b="1" dirty="0"/>
              <a:t>latency needs</a:t>
            </a:r>
            <a:r>
              <a:rPr lang="en-US" dirty="0"/>
              <a:t>, and </a:t>
            </a:r>
            <a:r>
              <a:rPr lang="en-US" b="1" dirty="0"/>
              <a:t>tooling</a:t>
            </a:r>
            <a:endParaRPr lang="en-US" dirty="0"/>
          </a:p>
          <a:p>
            <a:endParaRPr lang="hu-HU" dirty="0"/>
          </a:p>
          <a:p>
            <a:pPr lvl="1">
              <a:lnSpc>
                <a:spcPct val="120000"/>
              </a:lnSpc>
            </a:pPr>
            <a:r>
              <a:rPr lang="en-US" dirty="0"/>
              <a:t>🧪 </a:t>
            </a:r>
            <a:r>
              <a:rPr lang="en-US" b="1" dirty="0"/>
              <a:t>ETL/ELT</a:t>
            </a:r>
            <a:r>
              <a:rPr lang="en-US" dirty="0"/>
              <a:t>: </a:t>
            </a:r>
            <a:endParaRPr lang="hu-HU" dirty="0"/>
          </a:p>
          <a:p>
            <a:pPr lvl="2">
              <a:lnSpc>
                <a:spcPct val="120000"/>
              </a:lnSpc>
            </a:pPr>
            <a:r>
              <a:rPr lang="en-US" dirty="0" err="1"/>
              <a:t>Airbyte</a:t>
            </a:r>
            <a:r>
              <a:rPr lang="en-US" dirty="0"/>
              <a:t>, </a:t>
            </a:r>
            <a:r>
              <a:rPr lang="en-US" dirty="0" err="1"/>
              <a:t>Fivetran</a:t>
            </a:r>
            <a:r>
              <a:rPr lang="en-US" dirty="0"/>
              <a:t>, Azure Data Factor</a:t>
            </a:r>
            <a:r>
              <a:rPr lang="hu-HU" dirty="0"/>
              <a:t>y</a:t>
            </a:r>
          </a:p>
          <a:p>
            <a:pPr lvl="2">
              <a:lnSpc>
                <a:spcPct val="120000"/>
              </a:lnSpc>
            </a:pPr>
            <a:r>
              <a:rPr lang="hu-HU" dirty="0"/>
              <a:t>T</a:t>
            </a:r>
            <a:r>
              <a:rPr lang="en-US" dirty="0" err="1"/>
              <a:t>hese</a:t>
            </a:r>
            <a:r>
              <a:rPr lang="en-US" dirty="0"/>
              <a:t> tools often span multiple stages of the pipeline</a:t>
            </a:r>
            <a:endParaRPr lang="hu-HU" dirty="0"/>
          </a:p>
          <a:p>
            <a:pPr lvl="2">
              <a:lnSpc>
                <a:spcPct val="120000"/>
              </a:lnSpc>
            </a:pPr>
            <a:r>
              <a:rPr lang="en-US" dirty="0"/>
              <a:t>Often used for </a:t>
            </a:r>
            <a:r>
              <a:rPr lang="en-US" i="1" dirty="0"/>
              <a:t>batch ingestion</a:t>
            </a:r>
            <a:r>
              <a:rPr lang="en-US" dirty="0"/>
              <a:t>, but some support </a:t>
            </a:r>
            <a:r>
              <a:rPr lang="en-US" i="1" dirty="0"/>
              <a:t>streaming or micro-batch</a:t>
            </a:r>
            <a:endParaRPr lang="hu-HU" i="1" dirty="0"/>
          </a:p>
          <a:p>
            <a:pPr lvl="2">
              <a:lnSpc>
                <a:spcPct val="120000"/>
              </a:lnSpc>
            </a:pPr>
            <a:r>
              <a:rPr lang="hu-HU" b="1" dirty="0"/>
              <a:t>Example</a:t>
            </a:r>
            <a:r>
              <a:rPr lang="hu-HU" dirty="0"/>
              <a:t>:</a:t>
            </a:r>
            <a:r>
              <a:rPr lang="hu-HU" b="1" dirty="0"/>
              <a:t> </a:t>
            </a:r>
            <a:r>
              <a:rPr lang="en-US" dirty="0"/>
              <a:t>Azure Data Factory</a:t>
            </a:r>
            <a:r>
              <a:rPr lang="hu-HU" dirty="0"/>
              <a:t> c</a:t>
            </a:r>
            <a:r>
              <a:rPr lang="en-US" dirty="0" err="1"/>
              <a:t>opies</a:t>
            </a:r>
            <a:r>
              <a:rPr lang="en-US" dirty="0"/>
              <a:t> data from FTP, REST APIs, or SQL into Blob Storage or Synapse</a:t>
            </a:r>
          </a:p>
          <a:p>
            <a:pPr lvl="1">
              <a:lnSpc>
                <a:spcPct val="120000"/>
              </a:lnSpc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625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B4C2D32-2836-6901-B4AF-71F29E443D49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en-US" dirty="0"/>
              <a:t>Mapping Ingestion Methods</a:t>
            </a:r>
            <a:r>
              <a:rPr lang="hu-HU" dirty="0"/>
              <a:t> („How”)</a:t>
            </a:r>
            <a:r>
              <a:rPr lang="en-US" dirty="0"/>
              <a:t> to Ingestion Types</a:t>
            </a:r>
            <a:r>
              <a:rPr lang="hu-HU" dirty="0"/>
              <a:t> („When”)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C1ACEC-3FBC-7464-1B91-BD66ED5F52FB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EE33B8E-C9FF-5A10-FDF0-A30E3956FB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7975259"/>
              </p:ext>
            </p:extLst>
          </p:nvPr>
        </p:nvGraphicFramePr>
        <p:xfrm>
          <a:off x="161924" y="1030587"/>
          <a:ext cx="11868151" cy="243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3762">
                  <a:extLst>
                    <a:ext uri="{9D8B030D-6E8A-4147-A177-3AD203B41FA5}">
                      <a16:colId xmlns:a16="http://schemas.microsoft.com/office/drawing/2014/main" val="3586329491"/>
                    </a:ext>
                  </a:extLst>
                </a:gridCol>
                <a:gridCol w="2199503">
                  <a:extLst>
                    <a:ext uri="{9D8B030D-6E8A-4147-A177-3AD203B41FA5}">
                      <a16:colId xmlns:a16="http://schemas.microsoft.com/office/drawing/2014/main" val="2278314059"/>
                    </a:ext>
                  </a:extLst>
                </a:gridCol>
                <a:gridCol w="1791730">
                  <a:extLst>
                    <a:ext uri="{9D8B030D-6E8A-4147-A177-3AD203B41FA5}">
                      <a16:colId xmlns:a16="http://schemas.microsoft.com/office/drawing/2014/main" val="973838536"/>
                    </a:ext>
                  </a:extLst>
                </a:gridCol>
                <a:gridCol w="4863156">
                  <a:extLst>
                    <a:ext uri="{9D8B030D-6E8A-4147-A177-3AD203B41FA5}">
                      <a16:colId xmlns:a16="http://schemas.microsoft.com/office/drawing/2014/main" val="15949575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Ingestion 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Batch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Streaming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Typical role in a hybrid design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84774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File-based (CSV, JSON)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Typical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Uncommon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Historical loads and large backfills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2563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REST API (pull)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Typical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Possible via polling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Periodic reconciliation and recovery of missed records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6683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Webhooks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Possible after buffering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Typical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Real-time notifications, paired with periodic reconciliation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68667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Messaging and event streams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Possible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Typical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Continuous event delivery, paired with batch backfills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94972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ETL/ELT and data integration tools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Tool dependent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Tool dependent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May coordinate both paths, depending on the tool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97324"/>
                  </a:ext>
                </a:extLst>
              </a:tr>
            </a:tbl>
          </a:graphicData>
        </a:graphic>
      </p:graphicFrame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995F2F16-41F6-4853-9CFA-591E67ECC68E}"/>
              </a:ext>
            </a:extLst>
          </p:cNvPr>
          <p:cNvSpPr txBox="1">
            <a:spLocks/>
          </p:cNvSpPr>
          <p:nvPr/>
        </p:nvSpPr>
        <p:spPr>
          <a:xfrm>
            <a:off x="161924" y="3704994"/>
            <a:ext cx="11877675" cy="215288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Wingdings" panose="05000000000000000000" pitchFamily="2" charset="2"/>
              <a:buChar char="q"/>
              <a:defRPr sz="16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4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b="1" dirty="0"/>
              <a:t>Choosing the Right Ingestion Method</a:t>
            </a:r>
            <a:endParaRPr lang="hu-HU" b="1" dirty="0"/>
          </a:p>
          <a:p>
            <a:pPr lvl="1">
              <a:lnSpc>
                <a:spcPct val="120000"/>
              </a:lnSpc>
            </a:pPr>
            <a:r>
              <a:rPr lang="en-US" dirty="0"/>
              <a:t>🔍 </a:t>
            </a:r>
            <a:r>
              <a:rPr lang="en-US" b="1" dirty="0"/>
              <a:t>Source system capabilities</a:t>
            </a:r>
            <a:r>
              <a:rPr lang="en-US" dirty="0"/>
              <a:t>: Does it support push or only pull?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⏱️ </a:t>
            </a:r>
            <a:r>
              <a:rPr lang="en-US" b="1" dirty="0"/>
              <a:t>Latency requirements</a:t>
            </a:r>
            <a:r>
              <a:rPr lang="en-US" dirty="0"/>
              <a:t>: Real-time vs daily updates?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🧰 </a:t>
            </a:r>
            <a:r>
              <a:rPr lang="en-US" b="1" dirty="0"/>
              <a:t>Tooling and infrastructure</a:t>
            </a:r>
            <a:r>
              <a:rPr lang="en-US" dirty="0"/>
              <a:t>: What connectors or platforms are available?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📊 </a:t>
            </a:r>
            <a:r>
              <a:rPr lang="en-US" b="1" dirty="0"/>
              <a:t>Data format and volume</a:t>
            </a:r>
            <a:r>
              <a:rPr lang="en-US" dirty="0"/>
              <a:t>: Structured vs semi-structured, small vs large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🔐 </a:t>
            </a:r>
            <a:r>
              <a:rPr lang="en-US" b="1" dirty="0"/>
              <a:t>Security and governance</a:t>
            </a:r>
            <a:r>
              <a:rPr lang="en-US" dirty="0"/>
              <a:t>: Authentication, encryption, auditability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128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D4552BF-50D4-2F6E-7C5F-B81D721BB80E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en-US" dirty="0"/>
              <a:t>What Ingestion Does and Doesn’t Do? – Boundaries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31ECEF-96F5-50EB-F393-5008C17C32EC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E3D0E8-E151-10AF-1AE1-57EA2306A8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20000"/>
              </a:lnSpc>
            </a:pPr>
            <a:r>
              <a:rPr lang="en-US" b="1" dirty="0"/>
              <a:t>Always expected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Receive and technically parse the payload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Identify source, schema, and ingestion time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Persist data durably and emit operational telemetry</a:t>
            </a:r>
          </a:p>
          <a:p>
            <a:pPr lvl="0">
              <a:lnSpc>
                <a:spcPct val="120000"/>
              </a:lnSpc>
            </a:pPr>
            <a:r>
              <a:rPr lang="en-US" b="1" dirty="0"/>
              <a:t>Sometimes required</a:t>
            </a:r>
            <a:r>
              <a:rPr lang="en-US" dirty="0"/>
              <a:t> for safe landing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Decrypt, decompress, validate an envelope, or mask prohibited sensitive data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Perform technical deduplication when the transport contract requires it</a:t>
            </a:r>
          </a:p>
          <a:p>
            <a:pPr lvl="0">
              <a:lnSpc>
                <a:spcPct val="120000"/>
              </a:lnSpc>
            </a:pPr>
            <a:r>
              <a:rPr lang="en-US" b="1" dirty="0"/>
              <a:t>Usually deferred </a:t>
            </a:r>
            <a:r>
              <a:rPr lang="en-US" dirty="0"/>
              <a:t>to processing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Null imputation, outlier treatment, joins, enrichment, and business calculations</a:t>
            </a:r>
          </a:p>
          <a:p>
            <a:pPr lvl="0">
              <a:lnSpc>
                <a:spcPct val="120000"/>
              </a:lnSpc>
            </a:pPr>
            <a:r>
              <a:rPr lang="en-US" dirty="0"/>
              <a:t>The boundary may vary; document it as part of the </a:t>
            </a:r>
            <a:r>
              <a:rPr lang="en-US" b="1" dirty="0"/>
              <a:t>producer–consumer contract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15658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CECF0-D989-7DCA-1F1C-707F3BCF8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5C5D82E-6777-E61E-B00C-347CFAE0CD8E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hu-HU" dirty="0"/>
              <a:t>Common Ingestion Challenges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423156-E8D5-3CA9-B317-5DA9056B9BCC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360E56-8541-5197-92B5-F1652CF1F9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dirty="0"/>
              <a:t>Latency:</a:t>
            </a:r>
            <a:r>
              <a:rPr lang="en-US" dirty="0"/>
              <a:t> How long until source data becomes usable?</a:t>
            </a:r>
          </a:p>
          <a:p>
            <a:pPr lvl="0"/>
            <a:r>
              <a:rPr lang="en-US" b="1" dirty="0"/>
              <a:t>Throughput and source limits:</a:t>
            </a:r>
            <a:r>
              <a:rPr lang="en-US" dirty="0"/>
              <a:t> Can both ends sustain the required rate?</a:t>
            </a:r>
          </a:p>
          <a:p>
            <a:pPr lvl="0"/>
            <a:r>
              <a:rPr lang="en-US" b="1" dirty="0"/>
              <a:t>Schema drift:</a:t>
            </a:r>
            <a:r>
              <a:rPr lang="en-US" dirty="0"/>
              <a:t> What happens when fields or types change?</a:t>
            </a:r>
          </a:p>
          <a:p>
            <a:pPr lvl="0"/>
            <a:r>
              <a:rPr lang="en-US" b="1" dirty="0"/>
              <a:t>Delivery failures and retries:</a:t>
            </a:r>
            <a:r>
              <a:rPr lang="en-US" dirty="0"/>
              <a:t> What happens if an ingestion run stops halfway?</a:t>
            </a:r>
          </a:p>
          <a:p>
            <a:pPr lvl="0"/>
            <a:r>
              <a:rPr lang="en-US" b="1" dirty="0"/>
              <a:t>Duplicates and ordering:</a:t>
            </a:r>
            <a:r>
              <a:rPr lang="en-US" dirty="0"/>
              <a:t> Can retries create duplicates, or parallel delivery change record order?</a:t>
            </a:r>
          </a:p>
          <a:p>
            <a:pPr lvl="0"/>
            <a:r>
              <a:rPr lang="en-US" b="1" dirty="0"/>
              <a:t>Observability:</a:t>
            </a:r>
            <a:r>
              <a:rPr lang="en-US" dirty="0"/>
              <a:t> Can we prove what arrived, what failed, and what is missing?</a:t>
            </a:r>
          </a:p>
          <a:p>
            <a:pPr lvl="0"/>
            <a:endParaRPr lang="en-US" b="1" dirty="0"/>
          </a:p>
          <a:p>
            <a:pPr lvl="0"/>
            <a:r>
              <a:rPr lang="en-US" b="1" dirty="0"/>
              <a:t>Examples:</a:t>
            </a:r>
          </a:p>
          <a:p>
            <a:pPr lvl="1"/>
            <a:r>
              <a:rPr lang="en-US" dirty="0"/>
              <a:t>An ingestion job fails after writing only some records returned by an API</a:t>
            </a:r>
          </a:p>
          <a:p>
            <a:pPr lvl="1"/>
            <a:r>
              <a:rPr lang="en-US" dirty="0"/>
              <a:t>A file is uploaded twice under different names</a:t>
            </a:r>
          </a:p>
          <a:p>
            <a:pPr lvl="1"/>
            <a:r>
              <a:rPr lang="en-US" dirty="0"/>
              <a:t>A producer changes temperature from number to string</a:t>
            </a:r>
          </a:p>
          <a:p>
            <a:pPr lvl="0"/>
            <a:endParaRPr lang="en-US" b="1" dirty="0"/>
          </a:p>
          <a:p>
            <a:pPr lvl="0"/>
            <a:r>
              <a:rPr lang="en-US" b="1" dirty="0"/>
              <a:t>Design goal: make failures visible and reruns safe.</a:t>
            </a:r>
          </a:p>
        </p:txBody>
      </p:sp>
    </p:spTree>
    <p:extLst>
      <p:ext uri="{BB962C8B-B14F-4D97-AF65-F5344CB8AC3E}">
        <p14:creationId xmlns:p14="http://schemas.microsoft.com/office/powerpoint/2010/main" val="3448646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0677992-BF53-1492-4553-DD5B2A6EF255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 lvl="0"/>
            <a:r>
              <a:rPr lang="en-US" dirty="0"/>
              <a:t>Schema Drift: Compatible Change or Broken Contract?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0E0201-06AE-A6F2-D3DD-3683B47337C5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71C3D9-6351-D6A3-AEA1-225E85B8AA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 dirty="0"/>
              <a:t>Schema drift is a change in fields, types, nullability, or structure. </a:t>
            </a:r>
            <a:endParaRPr lang="en-US" dirty="0"/>
          </a:p>
          <a:p>
            <a:r>
              <a:rPr lang="hu-HU" dirty="0"/>
              <a:t>Schema </a:t>
            </a:r>
            <a:r>
              <a:rPr lang="hu-HU" b="1" dirty="0"/>
              <a:t>drift is quite natural </a:t>
            </a:r>
            <a:r>
              <a:rPr lang="hu-HU" dirty="0"/>
              <a:t>in real-world systems</a:t>
            </a:r>
            <a:r>
              <a:rPr lang="en-US" dirty="0"/>
              <a:t> and not </a:t>
            </a:r>
            <a:r>
              <a:rPr lang="hu-HU" dirty="0"/>
              <a:t>every change has the same risk.</a:t>
            </a:r>
            <a:endParaRPr lang="en-US" dirty="0"/>
          </a:p>
          <a:p>
            <a:pPr lvl="0"/>
            <a:r>
              <a:rPr lang="hu-HU" dirty="0"/>
              <a:t>Usually compatible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Add an optional field; widen a numeric type when consumers support it</a:t>
            </a:r>
          </a:p>
          <a:p>
            <a:pPr lvl="0"/>
            <a:r>
              <a:rPr lang="hu-HU" dirty="0"/>
              <a:t>Potentially breaking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Rename or remove a field; add a required field; change string to integer</a:t>
            </a:r>
          </a:p>
          <a:p>
            <a:pPr lvl="0"/>
            <a:r>
              <a:rPr lang="hu-HU" dirty="0"/>
              <a:t>Possible responses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Accept and version, transform through an adapter, quarantine, or fail fast</a:t>
            </a:r>
          </a:p>
          <a:p>
            <a:pPr>
              <a:lnSpc>
                <a:spcPct val="150000"/>
              </a:lnSpc>
            </a:pPr>
            <a:r>
              <a:rPr lang="en-US" dirty="0"/>
              <a:t>Schema drift can be managed through: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versioning,  compatibility rules, and validation during ingestion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schema-on-read adds flexibility but shifts validation to read time.</a:t>
            </a:r>
          </a:p>
        </p:txBody>
      </p:sp>
    </p:spTree>
    <p:extLst>
      <p:ext uri="{BB962C8B-B14F-4D97-AF65-F5344CB8AC3E}">
        <p14:creationId xmlns:p14="http://schemas.microsoft.com/office/powerpoint/2010/main" val="450736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A0D772F-DED1-FF80-5B4D-B9AA9D88F5A9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 lvl="0"/>
            <a:r>
              <a:rPr lang="hu-HU" dirty="0"/>
              <a:t>Managing Schema Evolution — Data Contract Example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8DCECA-9509-2F3C-726B-8E8996C0E29D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D42DBF-5CC4-9F3A-2683-0DFF5EC2DD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 sz="1700" dirty="0"/>
              <a:t>A data contract </a:t>
            </a:r>
            <a:r>
              <a:rPr lang="hu-HU" sz="1700" b="1" dirty="0"/>
              <a:t>makes the producer–consumer agreement explicit before data arrives</a:t>
            </a:r>
            <a:r>
              <a:rPr lang="hu-HU" sz="1700" dirty="0"/>
              <a:t>.</a:t>
            </a:r>
          </a:p>
          <a:p>
            <a:pPr lvl="0"/>
            <a:r>
              <a:rPr lang="hu-HU" sz="1700" dirty="0"/>
              <a:t>Example event:</a:t>
            </a:r>
          </a:p>
          <a:p>
            <a:pPr lvl="1"/>
            <a:r>
              <a:rPr lang="hu-HU" sz="1500" dirty="0"/>
              <a:t>{"sensor_id":"S-17", "event_time":"2026-09-10T08:15:00Z", "temperature_c":22.4}</a:t>
            </a:r>
          </a:p>
          <a:p>
            <a:pPr lvl="0"/>
            <a:endParaRPr lang="en-US" sz="1700" dirty="0"/>
          </a:p>
          <a:p>
            <a:pPr lvl="0"/>
            <a:r>
              <a:rPr lang="hu-HU" sz="1700" dirty="0"/>
              <a:t>The agreement defines:</a:t>
            </a:r>
          </a:p>
          <a:p>
            <a:pPr lvl="1"/>
            <a:r>
              <a:rPr lang="hu-HU" sz="1500" dirty="0"/>
              <a:t>Schema — sensor_id is a required string; temperature_c is a number</a:t>
            </a:r>
          </a:p>
          <a:p>
            <a:pPr lvl="1"/>
            <a:r>
              <a:rPr lang="hu-HU" sz="1500" dirty="0"/>
              <a:t>Semantics — temperature is Celsius; event_time is the measurement time in UTC</a:t>
            </a:r>
          </a:p>
          <a:p>
            <a:pPr lvl="1"/>
            <a:r>
              <a:rPr lang="hu-HU" sz="1500" dirty="0"/>
              <a:t>Operations — one event per minute; events may arrive up to five minutes late</a:t>
            </a:r>
          </a:p>
          <a:p>
            <a:pPr lvl="1"/>
            <a:r>
              <a:rPr lang="hu-HU" sz="1500" dirty="0"/>
              <a:t>Evolution — optional fields are compatible; renaming a field requires version 2</a:t>
            </a:r>
          </a:p>
          <a:p>
            <a:pPr lvl="1"/>
            <a:r>
              <a:rPr lang="hu-HU" sz="1500" dirty="0"/>
              <a:t>Ownership — the IoT team produces the event; the data platform owns ingestion</a:t>
            </a:r>
          </a:p>
          <a:p>
            <a:pPr lvl="0"/>
            <a:endParaRPr lang="en-US" sz="1700" dirty="0"/>
          </a:p>
          <a:p>
            <a:pPr lvl="0"/>
            <a:r>
              <a:rPr lang="hu-HU" sz="1700" dirty="0"/>
              <a:t>A </a:t>
            </a:r>
            <a:r>
              <a:rPr lang="hu-HU" sz="1700" b="1" dirty="0"/>
              <a:t>contract does not prevent change</a:t>
            </a:r>
            <a:r>
              <a:rPr lang="hu-HU" sz="1700" dirty="0"/>
              <a:t>; it </a:t>
            </a:r>
            <a:r>
              <a:rPr lang="hu-HU" sz="1700" b="1" dirty="0"/>
              <a:t>makes change intentional and observable</a:t>
            </a:r>
            <a:r>
              <a:rPr lang="hu-HU" sz="17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427519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214B440-D692-D5DF-D590-986FC2BC072F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hu-HU" dirty="0"/>
              <a:t>What is a </a:t>
            </a:r>
            <a:r>
              <a:rPr lang="en-US" dirty="0"/>
              <a:t>Staging Area</a:t>
            </a:r>
            <a:r>
              <a:rPr lang="hu-HU" dirty="0"/>
              <a:t>?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36DE55-65BB-7784-60D2-096DB7CB9F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sz="1600" dirty="0"/>
              <a:t>A </a:t>
            </a:r>
            <a:r>
              <a:rPr lang="en-US" sz="1600" b="1" dirty="0"/>
              <a:t>durable landing zone</a:t>
            </a:r>
            <a:r>
              <a:rPr lang="en-US" sz="1600" dirty="0"/>
              <a:t> for ingested data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Stores data in its </a:t>
            </a:r>
            <a:r>
              <a:rPr lang="en-US" sz="1600" b="1" dirty="0"/>
              <a:t>raw or minimally processed</a:t>
            </a:r>
            <a:r>
              <a:rPr lang="en-US" sz="1600" dirty="0"/>
              <a:t> form (plus ingestion metadata)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Decouples source availability from downstream processing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Enables </a:t>
            </a:r>
            <a:r>
              <a:rPr lang="en-US" sz="1600" b="1" dirty="0"/>
              <a:t>replay</a:t>
            </a:r>
            <a:r>
              <a:rPr lang="en-US" sz="1600" dirty="0"/>
              <a:t>, </a:t>
            </a:r>
            <a:r>
              <a:rPr lang="en-US" sz="1600" b="1" dirty="0"/>
              <a:t>schema-on-read</a:t>
            </a:r>
            <a:r>
              <a:rPr lang="en-US" sz="1600" dirty="0"/>
              <a:t>, </a:t>
            </a:r>
            <a:r>
              <a:rPr lang="en-US" sz="1600" b="1" dirty="0"/>
              <a:t>reprocessing</a:t>
            </a:r>
            <a:r>
              <a:rPr lang="en-US" sz="1600" dirty="0"/>
              <a:t>, and </a:t>
            </a:r>
            <a:r>
              <a:rPr lang="en-US" sz="1600" b="1" dirty="0"/>
              <a:t>lineage tracking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600" dirty="0"/>
              <a:t>Often implemented using </a:t>
            </a:r>
            <a:r>
              <a:rPr lang="en-US" sz="1600" b="1" dirty="0"/>
              <a:t>cloud storage</a:t>
            </a:r>
            <a:r>
              <a:rPr lang="en-US" sz="1600" dirty="0"/>
              <a:t> (e.g., Azure Blob, S3, HDFS)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“Staging” describes its role; it does not necessarily mean short-lived.</a:t>
            </a:r>
          </a:p>
          <a:p>
            <a:endParaRPr lang="en-US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341CB0-C476-8B8F-0A16-AD072845FF6B}"/>
              </a:ext>
            </a:extLst>
          </p:cNvPr>
          <p:cNvSpPr txBox="1"/>
          <p:nvPr/>
        </p:nvSpPr>
        <p:spPr>
          <a:xfrm>
            <a:off x="4898571" y="6021751"/>
            <a:ext cx="71410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hu-HU" sz="1600" dirty="0">
                <a:solidFill>
                  <a:schemeClr val="bg1"/>
                </a:solidFill>
              </a:rPr>
              <a:t>* </a:t>
            </a:r>
            <a:r>
              <a:rPr lang="en-US" sz="1600" dirty="0">
                <a:solidFill>
                  <a:schemeClr val="bg1"/>
                </a:solidFill>
              </a:rPr>
              <a:t>HDFS (Hadoop Distributed File System)</a:t>
            </a:r>
            <a:r>
              <a:rPr lang="hu-HU" sz="1600" dirty="0">
                <a:solidFill>
                  <a:schemeClr val="bg1"/>
                </a:solidFill>
              </a:rPr>
              <a:t>:</a:t>
            </a:r>
            <a:r>
              <a:rPr lang="en-US" sz="1600" dirty="0">
                <a:solidFill>
                  <a:schemeClr val="bg1"/>
                </a:solidFill>
              </a:rPr>
              <a:t> scalable, fault-tolerant file system designed to store and manage large volumes of data across multiple machines</a:t>
            </a:r>
            <a:endParaRPr lang="hu-HU" sz="1600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0414178-F62F-4633-A825-008C305661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932"/>
          <a:stretch>
            <a:fillRect/>
          </a:stretch>
        </p:blipFill>
        <p:spPr>
          <a:xfrm>
            <a:off x="1686957" y="3785795"/>
            <a:ext cx="8818085" cy="1781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289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214B440-D692-D5DF-D590-986FC2BC072F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hu-HU" dirty="0"/>
              <a:t>What is a </a:t>
            </a:r>
            <a:r>
              <a:rPr lang="en-US" dirty="0"/>
              <a:t>Staging Area</a:t>
            </a:r>
            <a:r>
              <a:rPr lang="hu-HU" dirty="0"/>
              <a:t>?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36DE55-65BB-7784-60D2-096DB7CB9F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sz="1600" b="1" dirty="0"/>
              <a:t>Examples</a:t>
            </a:r>
            <a:r>
              <a:rPr lang="en-US" sz="1600" dirty="0"/>
              <a:t>:</a:t>
            </a:r>
          </a:p>
          <a:p>
            <a:pPr lvl="1">
              <a:lnSpc>
                <a:spcPct val="100000"/>
              </a:lnSpc>
            </a:pPr>
            <a:r>
              <a:rPr lang="en-US" sz="1400" dirty="0"/>
              <a:t>Azure Blob container for raw JSON files</a:t>
            </a:r>
            <a:r>
              <a:rPr lang="hu-HU" sz="1400" dirty="0"/>
              <a:t>:</a:t>
            </a:r>
          </a:p>
          <a:p>
            <a:pPr lvl="2">
              <a:lnSpc>
                <a:spcPct val="100000"/>
              </a:lnSpc>
            </a:pPr>
            <a:r>
              <a:rPr lang="en-US" sz="1200" dirty="0"/>
              <a:t>A Kafka Connect job writes raw JSON logs to Azure Blob Storage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/bronze/logs/2025/08/31/</a:t>
            </a:r>
          </a:p>
          <a:p>
            <a:pPr lvl="1">
              <a:lnSpc>
                <a:spcPct val="100000"/>
              </a:lnSpc>
            </a:pPr>
            <a:r>
              <a:rPr lang="en-US" sz="1400" dirty="0"/>
              <a:t>HDFS directory with timestamped CSV dumps</a:t>
            </a:r>
          </a:p>
          <a:p>
            <a:pPr lvl="1">
              <a:lnSpc>
                <a:spcPct val="100000"/>
              </a:lnSpc>
            </a:pPr>
            <a:r>
              <a:rPr lang="en-US" sz="1400" dirty="0"/>
              <a:t>S3 bucket with partitioned folders by date/source</a:t>
            </a:r>
          </a:p>
          <a:p>
            <a:endParaRPr lang="en-US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7053D9-A93A-4731-857D-AE4EA5561C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932"/>
          <a:stretch>
            <a:fillRect/>
          </a:stretch>
        </p:blipFill>
        <p:spPr>
          <a:xfrm>
            <a:off x="1686957" y="3785795"/>
            <a:ext cx="8818085" cy="17811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6341CB0-C476-8B8F-0A16-AD072845FF6B}"/>
              </a:ext>
            </a:extLst>
          </p:cNvPr>
          <p:cNvSpPr txBox="1"/>
          <p:nvPr/>
        </p:nvSpPr>
        <p:spPr>
          <a:xfrm>
            <a:off x="4898571" y="6021751"/>
            <a:ext cx="71410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hu-HU" sz="1600" dirty="0">
                <a:solidFill>
                  <a:schemeClr val="bg1"/>
                </a:solidFill>
              </a:rPr>
              <a:t>* </a:t>
            </a:r>
            <a:r>
              <a:rPr lang="en-US" sz="1600" dirty="0">
                <a:solidFill>
                  <a:schemeClr val="bg1"/>
                </a:solidFill>
              </a:rPr>
              <a:t>HDFS (Hadoop Distributed File System)</a:t>
            </a:r>
            <a:r>
              <a:rPr lang="hu-HU" sz="1600" dirty="0">
                <a:solidFill>
                  <a:schemeClr val="bg1"/>
                </a:solidFill>
              </a:rPr>
              <a:t>:</a:t>
            </a:r>
            <a:r>
              <a:rPr lang="en-US" sz="1600" dirty="0">
                <a:solidFill>
                  <a:schemeClr val="bg1"/>
                </a:solidFill>
              </a:rPr>
              <a:t> scalable, fault-tolerant file system designed to store and manage large volumes of data across multiple machines</a:t>
            </a:r>
            <a:endParaRPr lang="hu-HU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54961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E57AE86-5C46-40C8-D163-8C10D47EC207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 lvl="0"/>
            <a:r>
              <a:rPr lang="en-US" dirty="0"/>
              <a:t>Why Use a Staging Area?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FBE03E-9B04-153E-5AA3-7B06AB9BE563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E2B149-6846-3DC1-122B-8314FF51C7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Decouples ingestion from processing</a:t>
            </a:r>
          </a:p>
          <a:p>
            <a:pPr lvl="0"/>
            <a:r>
              <a:rPr lang="en-US" b="1" dirty="0"/>
              <a:t>Reprocess</a:t>
            </a:r>
            <a:r>
              <a:rPr lang="en-US" dirty="0"/>
              <a:t> data when transformation logic changes</a:t>
            </a:r>
          </a:p>
          <a:p>
            <a:pPr lvl="0"/>
            <a:r>
              <a:rPr lang="en-US" b="1" dirty="0"/>
              <a:t>Backfill</a:t>
            </a:r>
            <a:r>
              <a:rPr lang="en-US" dirty="0"/>
              <a:t> downstream products without querying the source again</a:t>
            </a:r>
          </a:p>
          <a:p>
            <a:pPr lvl="0"/>
            <a:r>
              <a:rPr lang="en-US" b="1" dirty="0"/>
              <a:t>Reconcile</a:t>
            </a:r>
            <a:r>
              <a:rPr lang="en-US" dirty="0"/>
              <a:t> what the source sent with what the platform produced</a:t>
            </a:r>
          </a:p>
          <a:p>
            <a:pPr lvl="0"/>
            <a:r>
              <a:rPr lang="en-US" b="1" dirty="0"/>
              <a:t>Isolate</a:t>
            </a:r>
            <a:r>
              <a:rPr lang="en-US" dirty="0"/>
              <a:t> ingestion failures from processing failures</a:t>
            </a:r>
          </a:p>
          <a:p>
            <a:pPr lvl="0"/>
            <a:r>
              <a:rPr lang="en-US" b="1" dirty="0"/>
              <a:t>Support</a:t>
            </a:r>
            <a:r>
              <a:rPr lang="en-US" dirty="0"/>
              <a:t> audit, lineage, retention, and incident </a:t>
            </a:r>
            <a:r>
              <a:rPr lang="en-US" b="1" dirty="0"/>
              <a:t>investigation</a:t>
            </a:r>
          </a:p>
          <a:p>
            <a:pPr lvl="0"/>
            <a:r>
              <a:rPr lang="en-US" b="1" dirty="0"/>
              <a:t>Trade-off: </a:t>
            </a:r>
            <a:r>
              <a:rPr lang="en-US" dirty="0"/>
              <a:t>raw retention consumes storage and increases governance responsibility.</a:t>
            </a:r>
          </a:p>
        </p:txBody>
      </p:sp>
    </p:spTree>
    <p:extLst>
      <p:ext uri="{BB962C8B-B14F-4D97-AF65-F5344CB8AC3E}">
        <p14:creationId xmlns:p14="http://schemas.microsoft.com/office/powerpoint/2010/main" val="4164719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26103-E0AC-EF35-556C-E45F68C79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C7A33DD-56FC-F7C8-3529-B7EEABD3DD85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 lvl="0"/>
            <a:r>
              <a:rPr lang="en-US" dirty="0"/>
              <a:t>Designing a Staging Area — Six Principles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1FC38-A2DD-443B-7EBB-0FA41B7FB864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80963C-1C0C-F0CB-14E8-16AD54BADC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925" y="847421"/>
            <a:ext cx="8863542" cy="5010454"/>
          </a:xfrm>
        </p:spPr>
        <p:txBody>
          <a:bodyPr/>
          <a:lstStyle/>
          <a:p>
            <a:pPr lvl="0"/>
            <a:r>
              <a:rPr lang="en-US" dirty="0"/>
              <a:t>Preserve and replay</a:t>
            </a:r>
          </a:p>
          <a:p>
            <a:pPr lvl="1"/>
            <a:r>
              <a:rPr lang="en-US" dirty="0"/>
              <a:t>1. Keep landed objects append-only; store corrections as new versions</a:t>
            </a:r>
          </a:p>
          <a:p>
            <a:pPr lvl="1"/>
            <a:r>
              <a:rPr lang="en-US" dirty="0"/>
              <a:t>2. Preserve the source representation or use a documented lossless envelope</a:t>
            </a:r>
          </a:p>
          <a:p>
            <a:pPr lvl="0"/>
            <a:r>
              <a:rPr lang="en-US" dirty="0"/>
              <a:t>Organize and explain</a:t>
            </a:r>
          </a:p>
          <a:p>
            <a:pPr lvl="1"/>
            <a:r>
              <a:rPr lang="en-US" dirty="0"/>
              <a:t>3. Partition by stable, useful dimensions such as source and ingestion date</a:t>
            </a:r>
          </a:p>
          <a:p>
            <a:pPr lvl="1"/>
            <a:r>
              <a:rPr lang="en-US" dirty="0"/>
              <a:t>4. Record technical metadata for every object and ingestion run</a:t>
            </a:r>
          </a:p>
          <a:p>
            <a:pPr lvl="0"/>
            <a:r>
              <a:rPr lang="en-US" dirty="0"/>
              <a:t>Govern and scale</a:t>
            </a:r>
          </a:p>
          <a:p>
            <a:pPr lvl="1"/>
            <a:r>
              <a:rPr lang="en-US" dirty="0"/>
              <a:t>5. Define access control, encryption, retention, and deletion policies</a:t>
            </a:r>
          </a:p>
          <a:p>
            <a:pPr lvl="1"/>
            <a:r>
              <a:rPr lang="en-US" dirty="0"/>
              <a:t>6. Avoid tiny files and high-cardinality directory structures</a:t>
            </a:r>
          </a:p>
        </p:txBody>
      </p:sp>
    </p:spTree>
    <p:extLst>
      <p:ext uri="{BB962C8B-B14F-4D97-AF65-F5344CB8AC3E}">
        <p14:creationId xmlns:p14="http://schemas.microsoft.com/office/powerpoint/2010/main" val="12227347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26103-E0AC-EF35-556C-E45F68C79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C7A33DD-56FC-F7C8-3529-B7EEABD3DD85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 lvl="0"/>
            <a:r>
              <a:rPr lang="en-US" dirty="0"/>
              <a:t>Designing a Staging Area — Six Principles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1FC38-A2DD-443B-7EBB-0FA41B7FB864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80963C-1C0C-F0CB-14E8-16AD54BADC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925" y="847421"/>
            <a:ext cx="8863542" cy="5010454"/>
          </a:xfrm>
        </p:spPr>
        <p:txBody>
          <a:bodyPr/>
          <a:lstStyle/>
          <a:p>
            <a:pPr lvl="0"/>
            <a:r>
              <a:rPr lang="en-US" dirty="0"/>
              <a:t>Preserve and replay</a:t>
            </a:r>
          </a:p>
          <a:p>
            <a:pPr lvl="1"/>
            <a:r>
              <a:rPr lang="en-US" dirty="0"/>
              <a:t>1. Keep landed objects append-only; store corrections as new versions</a:t>
            </a:r>
          </a:p>
          <a:p>
            <a:pPr lvl="2"/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run_id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=001/orders.csv  →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run_id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=002/orders_correction.csv</a:t>
            </a:r>
          </a:p>
          <a:p>
            <a:pPr lvl="2"/>
            <a:r>
              <a:rPr lang="en-US" sz="1600" dirty="0"/>
              <a:t>Never silently overwrite evidence needed for audit or replay.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2. Preserve the source representation or use a documented lossless envelope</a:t>
            </a:r>
          </a:p>
          <a:p>
            <a:pPr lvl="2"/>
            <a:r>
              <a:rPr lang="en-US" sz="1600" dirty="0"/>
              <a:t>Add ingestion metadata around an unchanged payload.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37F401-8BD1-44A5-AC6F-502E3B9657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473" y="3578491"/>
            <a:ext cx="3291840" cy="1143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8332A6D-6FA3-4698-A958-1FB5B1D8A0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159" y="3669931"/>
            <a:ext cx="2926080" cy="8046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BED01C6-CAD4-419E-8BD3-B7B30A2AF2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685" y="3395611"/>
            <a:ext cx="3429000" cy="2350008"/>
          </a:xfrm>
          <a:prstGeom prst="rect">
            <a:avLst/>
          </a:prstGeom>
        </p:spPr>
      </p:pic>
      <p:sp>
        <p:nvSpPr>
          <p:cNvPr id="9" name="Original label">
            <a:extLst>
              <a:ext uri="{FF2B5EF4-FFF2-40B4-BE49-F238E27FC236}">
                <a16:creationId xmlns:a16="http://schemas.microsoft.com/office/drawing/2014/main" id="{A01E4938-0A9A-41CF-9DD9-9C6F31D35225}"/>
              </a:ext>
            </a:extLst>
          </p:cNvPr>
          <p:cNvSpPr txBox="1"/>
          <p:nvPr/>
        </p:nvSpPr>
        <p:spPr>
          <a:xfrm>
            <a:off x="1114473" y="3029851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2A. Original source payload</a:t>
            </a:r>
          </a:p>
        </p:txBody>
      </p:sp>
      <p:sp>
        <p:nvSpPr>
          <p:cNvPr id="10" name="Lossy label">
            <a:extLst>
              <a:ext uri="{FF2B5EF4-FFF2-40B4-BE49-F238E27FC236}">
                <a16:creationId xmlns:a16="http://schemas.microsoft.com/office/drawing/2014/main" id="{6E2A544C-F157-45E7-B823-92F7E2345001}"/>
              </a:ext>
            </a:extLst>
          </p:cNvPr>
          <p:cNvSpPr txBox="1"/>
          <p:nvPr/>
        </p:nvSpPr>
        <p:spPr>
          <a:xfrm>
            <a:off x="4690159" y="3029851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2B. Potentially lossy simplification</a:t>
            </a:r>
          </a:p>
        </p:txBody>
      </p:sp>
      <p:sp>
        <p:nvSpPr>
          <p:cNvPr id="11" name="Envelope label">
            <a:extLst>
              <a:ext uri="{FF2B5EF4-FFF2-40B4-BE49-F238E27FC236}">
                <a16:creationId xmlns:a16="http://schemas.microsoft.com/office/drawing/2014/main" id="{9179B00B-9BD1-4B14-B53C-227DF97745E2}"/>
              </a:ext>
            </a:extLst>
          </p:cNvPr>
          <p:cNvSpPr txBox="1"/>
          <p:nvPr/>
        </p:nvSpPr>
        <p:spPr>
          <a:xfrm>
            <a:off x="8128685" y="3029851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2C. Lossless envelope</a:t>
            </a:r>
          </a:p>
        </p:txBody>
      </p:sp>
      <p:sp>
        <p:nvSpPr>
          <p:cNvPr id="12" name="Loss note">
            <a:extLst>
              <a:ext uri="{FF2B5EF4-FFF2-40B4-BE49-F238E27FC236}">
                <a16:creationId xmlns:a16="http://schemas.microsoft.com/office/drawing/2014/main" id="{1DAF1828-97CB-4CD2-A7C7-FD511F66D2FC}"/>
              </a:ext>
            </a:extLst>
          </p:cNvPr>
          <p:cNvSpPr txBox="1"/>
          <p:nvPr/>
        </p:nvSpPr>
        <p:spPr>
          <a:xfrm>
            <a:off x="4690159" y="4584331"/>
            <a:ext cx="3154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Leading zero, numeric scale, and timezone representation are lost.</a:t>
            </a:r>
          </a:p>
        </p:txBody>
      </p:sp>
    </p:spTree>
    <p:extLst>
      <p:ext uri="{BB962C8B-B14F-4D97-AF65-F5344CB8AC3E}">
        <p14:creationId xmlns:p14="http://schemas.microsoft.com/office/powerpoint/2010/main" val="2620469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26103-E0AC-EF35-556C-E45F68C79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C7A33DD-56FC-F7C8-3529-B7EEABD3DD85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 lvl="0"/>
            <a:r>
              <a:rPr lang="en-US" dirty="0"/>
              <a:t>Designing a Staging Area — Six Principles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1FC38-A2DD-443B-7EBB-0FA41B7FB864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80963C-1C0C-F0CB-14E8-16AD54BADC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925" y="847421"/>
            <a:ext cx="11877674" cy="5010454"/>
          </a:xfrm>
        </p:spPr>
        <p:txBody>
          <a:bodyPr/>
          <a:lstStyle/>
          <a:p>
            <a:pPr lvl="0"/>
            <a:r>
              <a:rPr lang="en-US" dirty="0"/>
              <a:t>Organize and explain</a:t>
            </a:r>
          </a:p>
          <a:p>
            <a:pPr lvl="1"/>
            <a:r>
              <a:rPr lang="en-US" dirty="0"/>
              <a:t>3. Partition by stable, useful dimensions such as source and ingestion date</a:t>
            </a:r>
          </a:p>
          <a:p>
            <a:pPr lvl="2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/bronze/sales/source=pos/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ingestion_date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=2026-09-10/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run_id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=042/part-0001.json</a:t>
            </a:r>
          </a:p>
          <a:p>
            <a:pPr lvl="2"/>
            <a:r>
              <a:rPr lang="en-US" sz="1600" dirty="0"/>
              <a:t>source identifies the </a:t>
            </a:r>
            <a:r>
              <a:rPr lang="en-US" sz="1600" i="1" dirty="0"/>
              <a:t>producer</a:t>
            </a:r>
            <a:r>
              <a:rPr lang="en-US" sz="1600" dirty="0"/>
              <a:t>; </a:t>
            </a:r>
            <a:r>
              <a:rPr lang="en-US" sz="1600" i="1" dirty="0" err="1"/>
              <a:t>ingestion_date</a:t>
            </a:r>
            <a:r>
              <a:rPr lang="en-US" sz="1600" dirty="0"/>
              <a:t> narrows time-based reads; </a:t>
            </a:r>
            <a:r>
              <a:rPr lang="en-US" sz="1600" i="1" dirty="0" err="1"/>
              <a:t>run_id</a:t>
            </a:r>
            <a:r>
              <a:rPr lang="en-US" sz="1600" dirty="0"/>
              <a:t> isolates one load</a:t>
            </a:r>
          </a:p>
          <a:p>
            <a:pPr lvl="2"/>
            <a:r>
              <a:rPr lang="en-US" sz="1600" dirty="0"/>
              <a:t>Avoid high-cardinality directory keys such as </a:t>
            </a:r>
            <a:r>
              <a:rPr lang="en-US" sz="1600" dirty="0" err="1"/>
              <a:t>customer_id</a:t>
            </a:r>
            <a:r>
              <a:rPr lang="en-US" sz="1600" dirty="0"/>
              <a:t> or </a:t>
            </a:r>
            <a:r>
              <a:rPr lang="en-US" sz="1600" dirty="0" err="1"/>
              <a:t>transaction_id</a:t>
            </a:r>
            <a:endParaRPr lang="en-US" sz="1600" dirty="0"/>
          </a:p>
          <a:p>
            <a:pPr lvl="1"/>
            <a:endParaRPr lang="en-US" dirty="0"/>
          </a:p>
          <a:p>
            <a:pPr lvl="1"/>
            <a:r>
              <a:rPr lang="en-US" dirty="0"/>
              <a:t>4. Record technical metadata for every object and ingestion run</a:t>
            </a:r>
          </a:p>
          <a:p>
            <a:pPr lvl="2">
              <a:lnSpc>
                <a:spcPct val="120000"/>
              </a:lnSpc>
            </a:pPr>
            <a:r>
              <a:rPr lang="en-US" sz="1600" i="1" dirty="0" err="1"/>
              <a:t>run_id</a:t>
            </a:r>
            <a:r>
              <a:rPr lang="en-US" sz="1600" i="1" dirty="0"/>
              <a:t>, source, </a:t>
            </a:r>
            <a:r>
              <a:rPr lang="en-US" sz="1600" i="1" dirty="0" err="1"/>
              <a:t>ingested_at</a:t>
            </a:r>
            <a:r>
              <a:rPr lang="en-US" sz="1600" i="1" dirty="0"/>
              <a:t>, </a:t>
            </a:r>
            <a:r>
              <a:rPr lang="en-US" sz="1600" i="1" dirty="0" err="1"/>
              <a:t>schema_version</a:t>
            </a:r>
            <a:r>
              <a:rPr lang="en-US" sz="1600" i="1" dirty="0"/>
              <a:t>, checksum, </a:t>
            </a:r>
            <a:r>
              <a:rPr lang="en-US" sz="1600" i="1" dirty="0" err="1"/>
              <a:t>byte_size</a:t>
            </a:r>
            <a:r>
              <a:rPr lang="en-US" sz="1600" i="1" dirty="0"/>
              <a:t>, </a:t>
            </a:r>
            <a:r>
              <a:rPr lang="en-US" sz="1600" i="1" dirty="0" err="1"/>
              <a:t>record_count</a:t>
            </a:r>
            <a:r>
              <a:rPr lang="en-US" sz="1600" i="1" dirty="0"/>
              <a:t>, status</a:t>
            </a:r>
            <a:endParaRPr lang="hu-HU" sz="1600" i="1" dirty="0"/>
          </a:p>
          <a:p>
            <a:pPr lvl="2">
              <a:lnSpc>
                <a:spcPct val="120000"/>
              </a:lnSpc>
            </a:pPr>
            <a:r>
              <a:rPr lang="en-US" sz="1600" dirty="0"/>
              <a:t>A manifest explains how a load happened; folders help navigation but are not authoritative metadata</a:t>
            </a:r>
            <a:endParaRPr lang="hu-HU" sz="1600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5365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26103-E0AC-EF35-556C-E45F68C79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C7A33DD-56FC-F7C8-3529-B7EEABD3DD85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 lvl="0"/>
            <a:r>
              <a:rPr lang="en-US" dirty="0"/>
              <a:t>Designing a Staging Area — Six Principles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1FC38-A2DD-443B-7EBB-0FA41B7FB864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80963C-1C0C-F0CB-14E8-16AD54BADC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924" y="847421"/>
            <a:ext cx="10971513" cy="5010454"/>
          </a:xfrm>
        </p:spPr>
        <p:txBody>
          <a:bodyPr/>
          <a:lstStyle/>
          <a:p>
            <a:pPr lvl="0"/>
            <a:r>
              <a:rPr lang="en-US" dirty="0"/>
              <a:t>Govern and scale</a:t>
            </a:r>
          </a:p>
          <a:p>
            <a:pPr lvl="1"/>
            <a:r>
              <a:rPr lang="en-US" dirty="0"/>
              <a:t>5. Define access control, encryption, retention, and deletion policies</a:t>
            </a:r>
          </a:p>
          <a:p>
            <a:pPr lvl="2"/>
            <a:r>
              <a:rPr lang="hu-HU" sz="1600" dirty="0"/>
              <a:t>Example: only the ingestion identity can write to Bronze; analysts use curated layers</a:t>
            </a:r>
          </a:p>
          <a:p>
            <a:pPr lvl="2"/>
            <a:r>
              <a:rPr lang="hu-HU" sz="1600" dirty="0"/>
              <a:t>Encrypt data and define when sensitive raw exports must be archived or deleted</a:t>
            </a:r>
          </a:p>
          <a:p>
            <a:pPr lvl="2"/>
            <a:r>
              <a:rPr lang="hu-HU" sz="1600" dirty="0"/>
              <a:t>Azure examples: ADLS access control and Blob Storage lifecycle policies</a:t>
            </a:r>
            <a:endParaRPr lang="en-US" sz="1600" dirty="0"/>
          </a:p>
          <a:p>
            <a:pPr lvl="1"/>
            <a:r>
              <a:rPr lang="en-US" dirty="0"/>
              <a:t>6. Avoid tiny files and high-cardinality directory structures</a:t>
            </a:r>
          </a:p>
          <a:p>
            <a:pPr lvl="2"/>
            <a:r>
              <a:rPr lang="hu-HU" sz="1600" dirty="0"/>
              <a:t>Bad: one 2 KB file and one directory for every customer event</a:t>
            </a:r>
          </a:p>
          <a:p>
            <a:pPr lvl="2"/>
            <a:r>
              <a:rPr lang="hu-HU" sz="1600" dirty="0"/>
              <a:t>Better: group records into larger objects under stable source/date partitions</a:t>
            </a:r>
          </a:p>
          <a:p>
            <a:pPr lvl="2"/>
            <a:r>
              <a:rPr lang="hu-HU" sz="1600" dirty="0"/>
              <a:t>If compaction is needed, create a derived optimized copy instead of overwriting raw evidence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9351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3491F25-B1ED-3C89-EC2D-E27BE512DEFB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en-US" dirty="0"/>
              <a:t>What Is Medallion Architecture?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D709EA-BA53-1153-D6A8-FDF0B7B4B3FA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487AC4-CE9F-542C-539A-3EF378F861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dirty="0"/>
              <a:t>A logical pattern</a:t>
            </a:r>
            <a:r>
              <a:rPr lang="en-US" dirty="0"/>
              <a:t> for refining data through </a:t>
            </a:r>
            <a:r>
              <a:rPr lang="en-US" b="1" dirty="0"/>
              <a:t>layers with different guarantees</a:t>
            </a:r>
          </a:p>
          <a:p>
            <a:pPr lvl="0"/>
            <a:r>
              <a:rPr lang="en-US" dirty="0"/>
              <a:t>Common names are </a:t>
            </a:r>
            <a:r>
              <a:rPr lang="en-US" b="1" dirty="0"/>
              <a:t>Bronze</a:t>
            </a:r>
            <a:r>
              <a:rPr lang="en-US" dirty="0"/>
              <a:t>, </a:t>
            </a:r>
            <a:r>
              <a:rPr lang="en-US" b="1" dirty="0"/>
              <a:t>Silver</a:t>
            </a:r>
            <a:r>
              <a:rPr lang="en-US" dirty="0"/>
              <a:t>, and </a:t>
            </a:r>
            <a:r>
              <a:rPr lang="en-US" b="1" dirty="0"/>
              <a:t>Gold</a:t>
            </a:r>
          </a:p>
          <a:p>
            <a:pPr lvl="0"/>
            <a:r>
              <a:rPr lang="en-US" dirty="0"/>
              <a:t>Separates </a:t>
            </a:r>
            <a:r>
              <a:rPr lang="en-US" b="1" dirty="0"/>
              <a:t>source-faithful</a:t>
            </a:r>
            <a:r>
              <a:rPr lang="en-US" dirty="0"/>
              <a:t> data, </a:t>
            </a:r>
            <a:r>
              <a:rPr lang="en-US" b="1" dirty="0"/>
              <a:t>validated</a:t>
            </a:r>
            <a:r>
              <a:rPr lang="en-US" dirty="0"/>
              <a:t> data, and </a:t>
            </a:r>
            <a:r>
              <a:rPr lang="en-US" b="1" dirty="0"/>
              <a:t>consumer-oriented</a:t>
            </a:r>
            <a:r>
              <a:rPr lang="en-US" dirty="0"/>
              <a:t> models</a:t>
            </a:r>
          </a:p>
          <a:p>
            <a:pPr lvl="0"/>
            <a:r>
              <a:rPr lang="en-US" dirty="0"/>
              <a:t>Does not prescribe one cloud, processing engine, file format, or directory structure</a:t>
            </a:r>
          </a:p>
          <a:p>
            <a:pPr lvl="0"/>
            <a:r>
              <a:rPr lang="en-US" b="1" dirty="0"/>
              <a:t>The layer names are conventions</a:t>
            </a:r>
            <a:r>
              <a:rPr lang="en-US" dirty="0"/>
              <a:t>; their contracts and quality guarantees matter more.</a:t>
            </a:r>
          </a:p>
        </p:txBody>
      </p:sp>
      <p:pic>
        <p:nvPicPr>
          <p:cNvPr id="21507" name="Picture 3" descr="Arquitectura_Medallion_Pasos">
            <a:extLst>
              <a:ext uri="{FF2B5EF4-FFF2-40B4-BE49-F238E27FC236}">
                <a16:creationId xmlns:a16="http://schemas.microsoft.com/office/drawing/2014/main" id="{32486B54-ED61-9D93-CB0E-507270332D4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1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215" t="6437" r="2539" b="10096"/>
          <a:stretch>
            <a:fillRect/>
          </a:stretch>
        </p:blipFill>
        <p:spPr bwMode="auto">
          <a:xfrm>
            <a:off x="2103120" y="3213100"/>
            <a:ext cx="7985760" cy="264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8878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F7472-B614-64DE-AC46-9675FCE97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B8E630A-D0CF-9C73-D996-7A5E14A9EC19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en-US" dirty="0"/>
              <a:t>What Is Medallion Architecture?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700191-F960-2DA5-5D71-65923897405A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8077FC-A23C-35ED-17AF-22A9EE453F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10000"/>
              </a:lnSpc>
            </a:pPr>
            <a:r>
              <a:rPr lang="en-US" b="1" dirty="0"/>
              <a:t>Bronze Layer – Source-Faithful Data: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Directly </a:t>
            </a:r>
            <a:r>
              <a:rPr lang="en-US" b="1" dirty="0"/>
              <a:t>ingested from source </a:t>
            </a:r>
            <a:r>
              <a:rPr lang="en-US" dirty="0"/>
              <a:t>systems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Preserves the </a:t>
            </a:r>
            <a:r>
              <a:rPr lang="en-US" b="1" dirty="0"/>
              <a:t>original payload </a:t>
            </a:r>
            <a:r>
              <a:rPr lang="en-US" dirty="0"/>
              <a:t>or a documented lossless envelope (e.g. in JSON, CSV format)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Adds technical </a:t>
            </a:r>
            <a:r>
              <a:rPr lang="en-US" b="1" dirty="0"/>
              <a:t>metadata and only the validation </a:t>
            </a:r>
            <a:r>
              <a:rPr lang="en-US" dirty="0"/>
              <a:t>needed for safe landing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Supports </a:t>
            </a:r>
            <a:r>
              <a:rPr lang="en-US" b="1" dirty="0"/>
              <a:t>replay</a:t>
            </a:r>
            <a:r>
              <a:rPr lang="en-US" dirty="0"/>
              <a:t>, </a:t>
            </a:r>
            <a:r>
              <a:rPr lang="en-US" b="1" dirty="0"/>
              <a:t>audit</a:t>
            </a:r>
            <a:r>
              <a:rPr lang="en-US" dirty="0"/>
              <a:t>, and </a:t>
            </a:r>
            <a:r>
              <a:rPr lang="en-US" b="1" dirty="0"/>
              <a:t>future interpretation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Often—but not always—the </a:t>
            </a:r>
            <a:r>
              <a:rPr lang="en-US" b="1" dirty="0"/>
              <a:t>raw landing or staging area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Example:</a:t>
            </a:r>
          </a:p>
          <a:p>
            <a:pPr lvl="2">
              <a:lnSpc>
                <a:spcPct val="110000"/>
              </a:lnSpc>
            </a:pPr>
            <a:r>
              <a:rPr lang="en-US" dirty="0"/>
              <a:t>IoT sensor events under /bronze/sensor_events/ingestion_date=.../</a:t>
            </a:r>
          </a:p>
        </p:txBody>
      </p:sp>
    </p:spTree>
    <p:extLst>
      <p:ext uri="{BB962C8B-B14F-4D97-AF65-F5344CB8AC3E}">
        <p14:creationId xmlns:p14="http://schemas.microsoft.com/office/powerpoint/2010/main" val="2758440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22920-2256-B698-5745-6F9E4D6A3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F11A28D-307B-D4C8-C77A-B53D080768DD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en-US" dirty="0"/>
              <a:t>What Is Medallion Architecture?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CE3968-57C8-FE22-DFB7-7373269B8FE3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9FC6F2-01C1-7F10-779B-9AB2B6F4BB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10000"/>
              </a:lnSpc>
            </a:pPr>
            <a:r>
              <a:rPr lang="en-US" b="1" dirty="0"/>
              <a:t>Silver Layer – Validated and Conformed Data: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Deduplicated, typed, validated, and standardized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Applies </a:t>
            </a:r>
            <a:r>
              <a:rPr lang="en-US" b="1" dirty="0"/>
              <a:t>schema</a:t>
            </a:r>
            <a:r>
              <a:rPr lang="en-US" dirty="0"/>
              <a:t> and </a:t>
            </a:r>
            <a:r>
              <a:rPr lang="en-US" b="1" dirty="0"/>
              <a:t>data-quality policies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May </a:t>
            </a:r>
            <a:r>
              <a:rPr lang="en-US" b="1" dirty="0"/>
              <a:t>reconcile</a:t>
            </a:r>
            <a:r>
              <a:rPr lang="en-US" dirty="0"/>
              <a:t> sources or </a:t>
            </a:r>
            <a:r>
              <a:rPr lang="en-US" b="1" dirty="0"/>
              <a:t>enrich</a:t>
            </a:r>
            <a:r>
              <a:rPr lang="en-US" dirty="0"/>
              <a:t> with reference data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Provides </a:t>
            </a:r>
            <a:r>
              <a:rPr lang="en-US" b="1" dirty="0"/>
              <a:t>reusable</a:t>
            </a:r>
            <a:r>
              <a:rPr lang="en-US" dirty="0"/>
              <a:t>, </a:t>
            </a:r>
            <a:r>
              <a:rPr lang="en-US" b="1" dirty="0"/>
              <a:t>stable</a:t>
            </a:r>
            <a:r>
              <a:rPr lang="en-US" dirty="0"/>
              <a:t> </a:t>
            </a:r>
            <a:r>
              <a:rPr lang="en-US" b="1" dirty="0"/>
              <a:t>inputs</a:t>
            </a:r>
            <a:r>
              <a:rPr lang="en-US" dirty="0"/>
              <a:t> </a:t>
            </a:r>
            <a:r>
              <a:rPr lang="en-US" b="1" dirty="0"/>
              <a:t>for downstream processing</a:t>
            </a:r>
          </a:p>
          <a:p>
            <a:pPr lvl="1">
              <a:lnSpc>
                <a:spcPct val="110000"/>
              </a:lnSpc>
            </a:pPr>
            <a:r>
              <a:rPr lang="en-US" b="1" dirty="0"/>
              <a:t>Business-sensitive cleansing </a:t>
            </a:r>
            <a:r>
              <a:rPr lang="en-US" dirty="0"/>
              <a:t>typically begins here, although boundaries vary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Example:</a:t>
            </a:r>
          </a:p>
          <a:p>
            <a:pPr lvl="2">
              <a:lnSpc>
                <a:spcPct val="110000"/>
              </a:lnSpc>
            </a:pPr>
            <a:r>
              <a:rPr lang="en-US" dirty="0"/>
              <a:t>Valid sensor events with UTC timestamps and standardized units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65060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156A8-C194-09D5-73C4-DAF6121DF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86B2416-A6BC-7577-9A73-AAF57B19FC95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en-US" dirty="0"/>
              <a:t>What Is Medallion Architecture?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B658CD-D2D9-F26B-7BF8-8FFEB6826D12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BA4862-7540-CBEF-466D-03C28A0327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10000"/>
              </a:lnSpc>
            </a:pPr>
            <a:r>
              <a:rPr lang="en-US" b="1" dirty="0"/>
              <a:t>Gold Layer – Consumer-Oriented Data:</a:t>
            </a:r>
          </a:p>
          <a:p>
            <a:pPr lvl="1">
              <a:lnSpc>
                <a:spcPct val="110000"/>
              </a:lnSpc>
            </a:pPr>
            <a:r>
              <a:rPr lang="en-US" b="1" dirty="0"/>
              <a:t>Aggregated</a:t>
            </a:r>
            <a:r>
              <a:rPr lang="en-US" dirty="0"/>
              <a:t> or modeled </a:t>
            </a:r>
            <a:r>
              <a:rPr lang="en-US" b="1" dirty="0"/>
              <a:t>for</a:t>
            </a:r>
            <a:r>
              <a:rPr lang="en-US" dirty="0"/>
              <a:t> a defined </a:t>
            </a:r>
            <a:r>
              <a:rPr lang="en-US" b="1" dirty="0"/>
              <a:t>analytical or operational use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May use dimensional, wide-table, feature, or API-oriented models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Carries </a:t>
            </a:r>
            <a:r>
              <a:rPr lang="en-US" b="1" dirty="0"/>
              <a:t>clear business semantics </a:t>
            </a:r>
            <a:r>
              <a:rPr lang="en-US" dirty="0"/>
              <a:t>and service expectations</a:t>
            </a:r>
          </a:p>
          <a:p>
            <a:pPr lvl="1">
              <a:lnSpc>
                <a:spcPct val="110000"/>
              </a:lnSpc>
            </a:pPr>
            <a:r>
              <a:rPr lang="en-US" b="1" dirty="0"/>
              <a:t>Optimized</a:t>
            </a:r>
            <a:r>
              <a:rPr lang="en-US" dirty="0"/>
              <a:t> for consumer usability and access patterns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Not every pipeline needs a Gold layer or exactly three layers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Example:</a:t>
            </a:r>
          </a:p>
          <a:p>
            <a:pPr lvl="2">
              <a:lnSpc>
                <a:spcPct val="110000"/>
              </a:lnSpc>
            </a:pPr>
            <a:r>
              <a:rPr lang="en-US" dirty="0"/>
              <a:t>Hourly sensor health metrics by location and device type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31864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1EDD4-24A2-D222-1124-8E0F01CAF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5804D06-630D-1CA0-8BF7-F453967307DF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 lvl="0"/>
            <a:r>
              <a:rPr lang="hu-HU" dirty="0"/>
              <a:t>Lab Preview: Two Sources, One Bronze Contract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16D00D-7FC4-E4D1-9415-F1E85E73919E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1F4FA4-B73D-3E5C-7888-C6CEB63A79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 dirty="0"/>
              <a:t>The lab deliberately uses two simple ingestion paths:</a:t>
            </a:r>
          </a:p>
          <a:p>
            <a:pPr lvl="1"/>
            <a:r>
              <a:rPr lang="hu-HU" dirty="0"/>
              <a:t>A bounded CSV file drop</a:t>
            </a:r>
          </a:p>
          <a:p>
            <a:pPr lvl="1"/>
            <a:r>
              <a:rPr lang="hu-HU" dirty="0"/>
              <a:t>A pull from a REST API returning JSON</a:t>
            </a:r>
          </a:p>
          <a:p>
            <a:pPr lvl="0"/>
            <a:r>
              <a:rPr lang="hu-HU" dirty="0"/>
              <a:t>Both land under a consistent Bronze layout with source and date metadata.</a:t>
            </a:r>
          </a:p>
          <a:p>
            <a:pPr lvl="0"/>
            <a:r>
              <a:rPr lang="hu-HU" dirty="0"/>
              <a:t>You will introduce a schema change and inspect what should be accepted or rejected.</a:t>
            </a:r>
          </a:p>
          <a:p>
            <a:pPr lvl="0"/>
            <a:r>
              <a:rPr lang="hu-HU" dirty="0"/>
              <a:t>Outputs include a raw object, run manifest, and validation report.</a:t>
            </a:r>
          </a:p>
          <a:p>
            <a:pPr lvl="0"/>
            <a:r>
              <a:rPr lang="hu-HU" dirty="0"/>
              <a:t>Azure Blob Storage is the implementation; the design principles are cloud-agnostic.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C16A6E4-97DD-BB3B-53D5-2F03822A9B03}"/>
              </a:ext>
            </a:extLst>
          </p:cNvPr>
          <p:cNvGrpSpPr/>
          <p:nvPr/>
        </p:nvGrpSpPr>
        <p:grpSpPr>
          <a:xfrm>
            <a:off x="6332552" y="3459746"/>
            <a:ext cx="5697524" cy="2275892"/>
            <a:chOff x="6184125" y="4088579"/>
            <a:chExt cx="5697524" cy="227589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2F08E14-A170-219C-9757-92B5ABFD73B0}"/>
                </a:ext>
              </a:extLst>
            </p:cNvPr>
            <p:cNvSpPr/>
            <p:nvPr/>
          </p:nvSpPr>
          <p:spPr>
            <a:xfrm>
              <a:off x="6184125" y="4088581"/>
              <a:ext cx="1446028" cy="47314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CSV Export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C12EE9C-DC73-979C-0ECF-C2E285F1F34D}"/>
                </a:ext>
              </a:extLst>
            </p:cNvPr>
            <p:cNvSpPr/>
            <p:nvPr/>
          </p:nvSpPr>
          <p:spPr>
            <a:xfrm>
              <a:off x="7963307" y="4088580"/>
              <a:ext cx="1446028" cy="47314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REST API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2B5D960-4024-ACCC-1322-7385E0B67A0D}"/>
                </a:ext>
              </a:extLst>
            </p:cNvPr>
            <p:cNvSpPr/>
            <p:nvPr/>
          </p:nvSpPr>
          <p:spPr>
            <a:xfrm>
              <a:off x="9742489" y="4088579"/>
              <a:ext cx="1446028" cy="47314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Schema v2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959EC68-51E6-E6D3-A781-F0086B938E8F}"/>
                </a:ext>
              </a:extLst>
            </p:cNvPr>
            <p:cNvSpPr txBox="1"/>
            <p:nvPr/>
          </p:nvSpPr>
          <p:spPr>
            <a:xfrm>
              <a:off x="11396587" y="4094952"/>
              <a:ext cx="48506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hu-HU" dirty="0"/>
                <a:t>. . .</a:t>
              </a:r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DA68504-3FE4-892D-DCEF-9E48A4B12AA2}"/>
                </a:ext>
              </a:extLst>
            </p:cNvPr>
            <p:cNvSpPr/>
            <p:nvPr/>
          </p:nvSpPr>
          <p:spPr>
            <a:xfrm>
              <a:off x="6184125" y="5891322"/>
              <a:ext cx="1446028" cy="47314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Bronze Storage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643EB6E-15F1-D28B-24CF-280B3F1642B0}"/>
                </a:ext>
              </a:extLst>
            </p:cNvPr>
            <p:cNvSpPr/>
            <p:nvPr/>
          </p:nvSpPr>
          <p:spPr>
            <a:xfrm>
              <a:off x="7963307" y="5891321"/>
              <a:ext cx="1446028" cy="47314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Run Manifest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C72EF9D-93B6-B2FB-1601-AD14AE994751}"/>
                </a:ext>
              </a:extLst>
            </p:cNvPr>
            <p:cNvSpPr/>
            <p:nvPr/>
          </p:nvSpPr>
          <p:spPr>
            <a:xfrm>
              <a:off x="9742489" y="5891320"/>
              <a:ext cx="1446028" cy="47314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Validation Report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14C1754-3BE6-DADF-0FE8-187B18F2F6DB}"/>
                </a:ext>
              </a:extLst>
            </p:cNvPr>
            <p:cNvSpPr txBox="1"/>
            <p:nvPr/>
          </p:nvSpPr>
          <p:spPr>
            <a:xfrm>
              <a:off x="11396587" y="5897693"/>
              <a:ext cx="48506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hu-HU" dirty="0"/>
                <a:t>. . .</a:t>
              </a:r>
              <a:endParaRPr lang="en-US" dirty="0"/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75A625FC-51C1-B0E4-1A2F-B5644A4AF86F}"/>
                </a:ext>
              </a:extLst>
            </p:cNvPr>
            <p:cNvCxnSpPr>
              <a:stCxn id="7" idx="2"/>
              <a:endCxn id="11" idx="0"/>
            </p:cNvCxnSpPr>
            <p:nvPr/>
          </p:nvCxnSpPr>
          <p:spPr>
            <a:xfrm>
              <a:off x="6907139" y="4561730"/>
              <a:ext cx="0" cy="1329592"/>
            </a:xfrm>
            <a:prstGeom prst="straightConnector1">
              <a:avLst/>
            </a:prstGeom>
            <a:ln>
              <a:solidFill>
                <a:srgbClr val="012863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9A2FF60B-D706-D00D-FC33-6C09DB8254F9}"/>
                </a:ext>
              </a:extLst>
            </p:cNvPr>
            <p:cNvCxnSpPr>
              <a:cxnSpLocks/>
              <a:stCxn id="7" idx="2"/>
              <a:endCxn id="12" idx="0"/>
            </p:cNvCxnSpPr>
            <p:nvPr/>
          </p:nvCxnSpPr>
          <p:spPr>
            <a:xfrm>
              <a:off x="6907139" y="4561730"/>
              <a:ext cx="1779182" cy="1329591"/>
            </a:xfrm>
            <a:prstGeom prst="straightConnector1">
              <a:avLst/>
            </a:prstGeom>
            <a:ln>
              <a:solidFill>
                <a:srgbClr val="012863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A193682F-1FFB-99DC-F335-E9827839EEC6}"/>
                </a:ext>
              </a:extLst>
            </p:cNvPr>
            <p:cNvCxnSpPr>
              <a:cxnSpLocks/>
              <a:stCxn id="7" idx="2"/>
              <a:endCxn id="13" idx="0"/>
            </p:cNvCxnSpPr>
            <p:nvPr/>
          </p:nvCxnSpPr>
          <p:spPr>
            <a:xfrm>
              <a:off x="6907139" y="4561730"/>
              <a:ext cx="3558364" cy="1329590"/>
            </a:xfrm>
            <a:prstGeom prst="straightConnector1">
              <a:avLst/>
            </a:prstGeom>
            <a:ln>
              <a:solidFill>
                <a:srgbClr val="012863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063F3E96-22E3-0088-F16D-2214563E7A71}"/>
                </a:ext>
              </a:extLst>
            </p:cNvPr>
            <p:cNvCxnSpPr>
              <a:cxnSpLocks/>
              <a:stCxn id="8" idx="2"/>
              <a:endCxn id="11" idx="0"/>
            </p:cNvCxnSpPr>
            <p:nvPr/>
          </p:nvCxnSpPr>
          <p:spPr>
            <a:xfrm flipH="1">
              <a:off x="6907139" y="4561729"/>
              <a:ext cx="1779182" cy="1329593"/>
            </a:xfrm>
            <a:prstGeom prst="straightConnector1">
              <a:avLst/>
            </a:prstGeom>
            <a:ln>
              <a:solidFill>
                <a:srgbClr val="012863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098E1C4F-0DF8-4C59-41F5-E2ABED130C4B}"/>
                </a:ext>
              </a:extLst>
            </p:cNvPr>
            <p:cNvCxnSpPr>
              <a:cxnSpLocks/>
              <a:stCxn id="8" idx="2"/>
              <a:endCxn id="13" idx="0"/>
            </p:cNvCxnSpPr>
            <p:nvPr/>
          </p:nvCxnSpPr>
          <p:spPr>
            <a:xfrm>
              <a:off x="8686321" y="4561729"/>
              <a:ext cx="1779182" cy="1329591"/>
            </a:xfrm>
            <a:prstGeom prst="straightConnector1">
              <a:avLst/>
            </a:prstGeom>
            <a:ln>
              <a:solidFill>
                <a:srgbClr val="012863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3783C1FB-6A5A-2649-E73C-990FC87971AC}"/>
                </a:ext>
              </a:extLst>
            </p:cNvPr>
            <p:cNvCxnSpPr>
              <a:cxnSpLocks/>
              <a:stCxn id="9" idx="2"/>
              <a:endCxn id="12" idx="0"/>
            </p:cNvCxnSpPr>
            <p:nvPr/>
          </p:nvCxnSpPr>
          <p:spPr>
            <a:xfrm flipH="1">
              <a:off x="8686321" y="4561728"/>
              <a:ext cx="1779182" cy="1329593"/>
            </a:xfrm>
            <a:prstGeom prst="straightConnector1">
              <a:avLst/>
            </a:prstGeom>
            <a:ln>
              <a:solidFill>
                <a:srgbClr val="012863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030D53D5-6C6D-3DBC-5A01-3101C4BC8B74}"/>
                </a:ext>
              </a:extLst>
            </p:cNvPr>
            <p:cNvCxnSpPr>
              <a:cxnSpLocks/>
              <a:stCxn id="9" idx="2"/>
              <a:endCxn id="13" idx="0"/>
            </p:cNvCxnSpPr>
            <p:nvPr/>
          </p:nvCxnSpPr>
          <p:spPr>
            <a:xfrm>
              <a:off x="10465503" y="4561728"/>
              <a:ext cx="0" cy="1329592"/>
            </a:xfrm>
            <a:prstGeom prst="straightConnector1">
              <a:avLst/>
            </a:prstGeom>
            <a:ln>
              <a:solidFill>
                <a:srgbClr val="012863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4DDFDD90-C7BA-1181-5724-990071ACCD91}"/>
                </a:ext>
              </a:extLst>
            </p:cNvPr>
            <p:cNvSpPr/>
            <p:nvPr/>
          </p:nvSpPr>
          <p:spPr>
            <a:xfrm>
              <a:off x="6532543" y="5134583"/>
              <a:ext cx="736595" cy="210473"/>
            </a:xfrm>
            <a:prstGeom prst="round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lvl="0" algn="ctr"/>
              <a:r>
                <a:rPr lang="hu-HU" sz="16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file</a:t>
              </a:r>
              <a:endPara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B0A2CB0E-6DA5-D832-16B3-EE8AC445B4C4}"/>
                </a:ext>
              </a:extLst>
            </p:cNvPr>
            <p:cNvSpPr/>
            <p:nvPr/>
          </p:nvSpPr>
          <p:spPr>
            <a:xfrm>
              <a:off x="8304935" y="5134583"/>
              <a:ext cx="736595" cy="210473"/>
            </a:xfrm>
            <a:prstGeom prst="round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lvl="0" algn="ctr"/>
              <a:r>
                <a:rPr lang="hu-HU" sz="16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JSON</a:t>
              </a:r>
              <a:endPara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DCE7B0CD-0902-579A-0DDF-29C0EB3E1685}"/>
                </a:ext>
              </a:extLst>
            </p:cNvPr>
            <p:cNvSpPr/>
            <p:nvPr/>
          </p:nvSpPr>
          <p:spPr>
            <a:xfrm>
              <a:off x="10097700" y="5161148"/>
              <a:ext cx="899665" cy="210473"/>
            </a:xfrm>
            <a:prstGeom prst="round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lvl="0" algn="ctr"/>
              <a:r>
                <a:rPr lang="hu-HU" sz="16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change</a:t>
              </a:r>
              <a:endPara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97486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ímdi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22084</TotalTime>
  <Words>3398</Words>
  <Application>Microsoft Office PowerPoint</Application>
  <PresentationFormat>Widescreen</PresentationFormat>
  <Paragraphs>426</Paragraphs>
  <Slides>31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Arial</vt:lpstr>
      <vt:lpstr>Calibri</vt:lpstr>
      <vt:lpstr>Courier New</vt:lpstr>
      <vt:lpstr>Open Sans</vt:lpstr>
      <vt:lpstr>Wingdings</vt:lpstr>
      <vt:lpstr>címdia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PREZENTÁCIÓ CÍME prezentáció alcíme</dc:title>
  <dc:creator>Microsoft Office User</dc:creator>
  <cp:lastModifiedBy>Szabó Dávid</cp:lastModifiedBy>
  <cp:revision>1038</cp:revision>
  <dcterms:created xsi:type="dcterms:W3CDTF">2021-07-01T15:39:11Z</dcterms:created>
  <dcterms:modified xsi:type="dcterms:W3CDTF">2026-09-29T13:50:13Z</dcterms:modified>
</cp:coreProperties>
</file>