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72" r:id="rId2"/>
    <p:sldId id="401" r:id="rId3"/>
    <p:sldId id="419" r:id="rId4"/>
    <p:sldId id="665" r:id="rId5"/>
    <p:sldId id="666" r:id="rId6"/>
    <p:sldId id="667" r:id="rId7"/>
    <p:sldId id="668" r:id="rId8"/>
    <p:sldId id="477" r:id="rId9"/>
    <p:sldId id="479" r:id="rId10"/>
    <p:sldId id="478" r:id="rId11"/>
    <p:sldId id="481" r:id="rId12"/>
    <p:sldId id="483" r:id="rId13"/>
    <p:sldId id="485" r:id="rId14"/>
    <p:sldId id="486" r:id="rId15"/>
    <p:sldId id="487" r:id="rId16"/>
    <p:sldId id="489" r:id="rId17"/>
    <p:sldId id="484" r:id="rId18"/>
    <p:sldId id="490" r:id="rId19"/>
    <p:sldId id="492" r:id="rId20"/>
    <p:sldId id="491" r:id="rId21"/>
    <p:sldId id="493" r:id="rId22"/>
    <p:sldId id="669" r:id="rId23"/>
    <p:sldId id="495" r:id="rId24"/>
    <p:sldId id="496" r:id="rId25"/>
    <p:sldId id="498" r:id="rId26"/>
    <p:sldId id="499" r:id="rId27"/>
    <p:sldId id="502" r:id="rId28"/>
    <p:sldId id="503" r:id="rId29"/>
    <p:sldId id="504" r:id="rId30"/>
    <p:sldId id="505" r:id="rId31"/>
    <p:sldId id="506" r:id="rId32"/>
    <p:sldId id="507" r:id="rId33"/>
    <p:sldId id="508" r:id="rId34"/>
    <p:sldId id="670" r:id="rId35"/>
    <p:sldId id="672" r:id="rId36"/>
    <p:sldId id="624" r:id="rId37"/>
    <p:sldId id="549" r:id="rId38"/>
    <p:sldId id="586" r:id="rId39"/>
    <p:sldId id="626" r:id="rId40"/>
    <p:sldId id="673" r:id="rId41"/>
    <p:sldId id="550" r:id="rId42"/>
    <p:sldId id="551" r:id="rId43"/>
    <p:sldId id="552" r:id="rId44"/>
    <p:sldId id="553" r:id="rId4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-felhasználó" initials="W" lastIdx="2" clrIdx="0">
    <p:extLst>
      <p:ext uri="{19B8F6BF-5375-455C-9EA6-DF929625EA0E}">
        <p15:presenceInfo xmlns:p15="http://schemas.microsoft.com/office/powerpoint/2012/main" userId="8e497090a0d7aaa3" providerId="Windows Live"/>
      </p:ext>
    </p:extLst>
  </p:cmAuthor>
  <p:cmAuthor id="2" name="Dávid Szabó" initials="DS" lastIdx="1" clrIdx="1">
    <p:extLst>
      <p:ext uri="{19B8F6BF-5375-455C-9EA6-DF929625EA0E}">
        <p15:presenceInfo xmlns:p15="http://schemas.microsoft.com/office/powerpoint/2012/main" userId="Dávid Szabó" providerId="None"/>
      </p:ext>
    </p:extLst>
  </p:cmAuthor>
  <p:cmAuthor id="3" name="Szabó, Dávid" initials="SD" lastIdx="1" clrIdx="2">
    <p:extLst>
      <p:ext uri="{19B8F6BF-5375-455C-9EA6-DF929625EA0E}">
        <p15:presenceInfo xmlns:p15="http://schemas.microsoft.com/office/powerpoint/2012/main" userId="Szabó, Dáv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3D2"/>
    <a:srgbClr val="6CA6DA"/>
    <a:srgbClr val="012863"/>
    <a:srgbClr val="000000"/>
    <a:srgbClr val="012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3741" autoAdjust="0"/>
  </p:normalViewPr>
  <p:slideViewPr>
    <p:cSldViewPr snapToGrid="0" snapToObjects="1">
      <p:cViewPr varScale="1">
        <p:scale>
          <a:sx n="66" d="100"/>
          <a:sy n="66" d="100"/>
        </p:scale>
        <p:origin x="544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04" d="100"/>
          <a:sy n="104" d="100"/>
        </p:scale>
        <p:origin x="55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12C39806-BB1D-8F56-1BD4-E8FD84A886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C5BF43A-04E9-CC17-BD51-B26CC338B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E59-BB6D-9C41-A61C-2D524682E1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8E5719-5CA3-B83A-6AB2-CC9AF2C948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441738D-8521-5BCA-A098-BEAAADEBC9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E7E85-FAC5-AA44-BBE8-3A2E745EC5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843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A393B-998D-3C45-ACA4-5C51E3A83922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hu-HU"/>
              <a:t>Mintaszöveg szerkesztése
Második szint
Harmadik szint
Negyedik szint
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B25AA-5A0B-7648-B33A-37E9A013F9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887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4D25-269B-1A73-68D2-DAD809A4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EFFC4-9379-4B3C-843A-5C67F3352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D229E-2ED5-4DCE-1935-C5049FAC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1AB37-5239-76B6-46D6-4662F04BF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504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6839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2131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6771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6221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5842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7958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347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Logical (message sending perspective) Architecture -&gt; partitions and so</a:t>
            </a:r>
          </a:p>
          <a:p>
            <a:r>
              <a:rPr lang="hu-HU" dirty="0"/>
              <a:t>Physicyal: Zookeeper and so -&gt;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352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8891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6690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7449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B849-30C2-19B1-2F92-76AAD31CC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9CA3B-49FD-29EA-7DFB-DAF4BE747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F5609-F7E4-BDA3-238B-4C2B62471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set of consumers from the same application that work together to consume and process messages from one or more topics.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D63CD-3961-A971-6360-6E537AC00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1526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0917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2239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2571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2684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0921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4028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8521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8663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Minimal consumer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set string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deserializers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set group id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set read from the earliest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8B25AA-5A0B-7648-B33A-37E9A013F97A}" type="slidenum">
              <a:rPr lang="hu-HU" smtClean="0"/>
              <a:t>35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247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7576A917-C803-4400-FBEE-6B791AEA9A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Szöveg helye 10">
            <a:extLst>
              <a:ext uri="{FF2B5EF4-FFF2-40B4-BE49-F238E27FC236}">
                <a16:creationId xmlns:a16="http://schemas.microsoft.com/office/drawing/2014/main" id="{831FA102-844C-755E-D247-CB3718711D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900" y="2029968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CÍME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DF9D8FEB-E57B-5F73-ADA2-8D7B7485DFA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900" y="2980944"/>
            <a:ext cx="10744200" cy="891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Prezentáció alcíme</a:t>
            </a:r>
          </a:p>
        </p:txBody>
      </p:sp>
      <p:sp>
        <p:nvSpPr>
          <p:cNvPr id="7" name="Szöveg helye 10">
            <a:extLst>
              <a:ext uri="{FF2B5EF4-FFF2-40B4-BE49-F238E27FC236}">
                <a16:creationId xmlns:a16="http://schemas.microsoft.com/office/drawing/2014/main" id="{605BC215-EB6B-138C-D66F-E7064E16F28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8" name="Szöveg helye 10">
            <a:extLst>
              <a:ext uri="{FF2B5EF4-FFF2-40B4-BE49-F238E27FC236}">
                <a16:creationId xmlns:a16="http://schemas.microsoft.com/office/drawing/2014/main" id="{2A598985-FDB3-7140-588C-68FBF5A82B2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91323EAC-BA77-33AC-53B7-F24EA909AB2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32068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765AB793-C3EE-75F8-4E4A-2E20E9E093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A933D47C-7F86-9A48-A1AD-EEBD81F9A6A8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940BA6A-A9B7-7219-4D85-FAE0F7D5ABF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55729B78-CCC8-F712-B7DB-176E91D2D6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1607437"/>
            <a:ext cx="10515600" cy="1846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5" name="Szöveg helye 10">
            <a:extLst>
              <a:ext uri="{FF2B5EF4-FFF2-40B4-BE49-F238E27FC236}">
                <a16:creationId xmlns:a16="http://schemas.microsoft.com/office/drawing/2014/main" id="{ED6C24E1-FC98-931B-668F-1A2663E5498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82280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6" name="Szöveg helye 10">
            <a:extLst>
              <a:ext uri="{FF2B5EF4-FFF2-40B4-BE49-F238E27FC236}">
                <a16:creationId xmlns:a16="http://schemas.microsoft.com/office/drawing/2014/main" id="{BA10B23C-BC2C-AA33-C513-FD8B9D46C29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3786425"/>
            <a:ext cx="5125629" cy="1846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</p:txBody>
      </p: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5098D7CE-AAE8-B095-44BC-D69C66D1F5B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131341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zövegblokk - 1 ké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34CE5A9-19D5-B7FF-F605-96F82FA4FB0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Kép helye 2">
            <a:extLst>
              <a:ext uri="{FF2B5EF4-FFF2-40B4-BE49-F238E27FC236}">
                <a16:creationId xmlns:a16="http://schemas.microsoft.com/office/drawing/2014/main" id="{23D20630-BBCE-AC6F-5896-1CEEB0015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27089" y="1579457"/>
            <a:ext cx="5326711" cy="40040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BC05F114-74F4-CAB6-3497-7C63660FE88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C43265EB-5A74-13B8-25EF-C234D04EBA7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82985"/>
            <a:ext cx="4287982" cy="3757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69FC214-A8DF-2334-7247-2170A8AA17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E4F210FC-1016-425F-02B2-E3EE645E1BB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0733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CE5C7C62-306F-C568-AC87-137E9C578BFC}"/>
              </a:ext>
            </a:extLst>
          </p:cNvPr>
          <p:cNvCxnSpPr>
            <a:cxnSpLocks/>
          </p:cNvCxnSpPr>
          <p:nvPr userDrawn="1"/>
        </p:nvCxnSpPr>
        <p:spPr>
          <a:xfrm>
            <a:off x="161924" y="748860"/>
            <a:ext cx="11877675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2B9E13B-D4C6-DDBF-DA2A-ED8F1AEADB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61924" y="219456"/>
            <a:ext cx="11877675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A96FDED-1213-82EC-1A9D-4FC90A80F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AF073EC-750D-2DFB-C11E-4C39CA8DC2E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ACB07BB1-AB18-FE6A-D774-B35AB40BA5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24" y="847421"/>
            <a:ext cx="11877675" cy="5010454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SzPct val="75000"/>
              <a:buFont typeface="Wingdings" panose="05000000000000000000" pitchFamily="2" charset="2"/>
              <a:buChar char="q"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</p:txBody>
      </p:sp>
    </p:spTree>
    <p:extLst>
      <p:ext uri="{BB962C8B-B14F-4D97-AF65-F5344CB8AC3E}">
        <p14:creationId xmlns:p14="http://schemas.microsoft.com/office/powerpoint/2010/main" val="323675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Egyenes összekötő 15">
            <a:extLst>
              <a:ext uri="{FF2B5EF4-FFF2-40B4-BE49-F238E27FC236}">
                <a16:creationId xmlns:a16="http://schemas.microsoft.com/office/drawing/2014/main" id="{E4CEC806-06F8-0A8E-802F-451103EBAC0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737F6A48-F38F-FC31-62D0-11C22537C64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3" name="Szöveg helye 10">
            <a:extLst>
              <a:ext uri="{FF2B5EF4-FFF2-40B4-BE49-F238E27FC236}">
                <a16:creationId xmlns:a16="http://schemas.microsoft.com/office/drawing/2014/main" id="{1E6D20BC-2EF9-211F-E045-74EB3321F44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0AB37620-467A-3358-9635-1AE991B2990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489704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4317DED-74F7-596D-46E5-4EFCB5B1B45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141207" y="1579456"/>
            <a:ext cx="3212591" cy="4068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36141E3-2650-7309-36C7-ECD2E619BF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0614727D-5F43-1091-F059-56358E38304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25303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FDFD7BA7-C2A9-595B-15D6-EDE5F7DAE2D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Kép helye 2">
            <a:extLst>
              <a:ext uri="{FF2B5EF4-FFF2-40B4-BE49-F238E27FC236}">
                <a16:creationId xmlns:a16="http://schemas.microsoft.com/office/drawing/2014/main" id="{9E45454F-C86C-2D65-C04B-55E626DA88A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265629" y="1579456"/>
            <a:ext cx="5067632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0" name="Kép helye 2">
            <a:extLst>
              <a:ext uri="{FF2B5EF4-FFF2-40B4-BE49-F238E27FC236}">
                <a16:creationId xmlns:a16="http://schemas.microsoft.com/office/drawing/2014/main" id="{176350A7-3ED8-9325-46CB-CA499869403F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38200" y="1579456"/>
            <a:ext cx="5011973" cy="4068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1BFA0AC3-D5FA-244D-2DF5-5874C6467C5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45C0CEC-C383-42CB-7D7B-C253C37D1E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6D82DBE0-A887-D830-B4E0-50498F0CA4C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5148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épe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371C297-1CA5-94ED-2895-3B1AF69D27B3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Kép helye 2">
            <a:extLst>
              <a:ext uri="{FF2B5EF4-FFF2-40B4-BE49-F238E27FC236}">
                <a16:creationId xmlns:a16="http://schemas.microsoft.com/office/drawing/2014/main" id="{B4B0655C-B169-D423-90AB-F5CB238B3C4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38199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0" name="Kép helye 2">
            <a:extLst>
              <a:ext uri="{FF2B5EF4-FFF2-40B4-BE49-F238E27FC236}">
                <a16:creationId xmlns:a16="http://schemas.microsoft.com/office/drawing/2014/main" id="{88B1D7E9-B3E8-D3A3-7C3B-46B669E00D4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639338" y="1579457"/>
            <a:ext cx="4693921" cy="4125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13" name="Kép helye 2">
            <a:extLst>
              <a:ext uri="{FF2B5EF4-FFF2-40B4-BE49-F238E27FC236}">
                <a16:creationId xmlns:a16="http://schemas.microsoft.com/office/drawing/2014/main" id="{DE50A8AD-DAA0-C470-251A-FB13BCEC03F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738768" y="1579456"/>
            <a:ext cx="2564928" cy="41254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8A66C65D-5136-21C7-C4AA-39F449F6F4A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8DC4FBAE-8E6D-4D61-C7ED-3B8AA103C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765D96AD-EB0E-433E-7DD3-3FEB95FE9F4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41175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ép címm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D3B63919-F8C0-E45C-09D0-60059DD85486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Kép helye 2">
            <a:extLst>
              <a:ext uri="{FF2B5EF4-FFF2-40B4-BE49-F238E27FC236}">
                <a16:creationId xmlns:a16="http://schemas.microsoft.com/office/drawing/2014/main" id="{885801D2-AD3D-65D3-7B5C-D11229926A4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8200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31" name="Kép helye 2">
            <a:extLst>
              <a:ext uri="{FF2B5EF4-FFF2-40B4-BE49-F238E27FC236}">
                <a16:creationId xmlns:a16="http://schemas.microsoft.com/office/drawing/2014/main" id="{BA351229-7C81-1BF9-C349-D053BA83B11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31888" y="1557713"/>
            <a:ext cx="5021911" cy="328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567F4794-7128-84D5-187A-87B98CBB4B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10" name="Szöveg helye 10">
            <a:extLst>
              <a:ext uri="{FF2B5EF4-FFF2-40B4-BE49-F238E27FC236}">
                <a16:creationId xmlns:a16="http://schemas.microsoft.com/office/drawing/2014/main" id="{12964550-01B5-19AF-9500-49E3DD0D5A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9BE9CAC6-C1B1-88DE-E91F-5DF606EBF5F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32692" y="5118900"/>
            <a:ext cx="5021911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Kép címe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6C96EAD-3920-32E6-9EF2-4122439611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5" name="Szöveg helye 10">
            <a:extLst>
              <a:ext uri="{FF2B5EF4-FFF2-40B4-BE49-F238E27FC236}">
                <a16:creationId xmlns:a16="http://schemas.microsoft.com/office/drawing/2014/main" id="{728694AA-87CB-BD28-118C-72EAD9263FD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64083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0CA8BCE7-0004-CA11-4864-2FBA560C6C6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0FAA482-BFF6-CAB1-8393-9DB2C3435DC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600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1579456"/>
            <a:ext cx="3212591" cy="4060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sp>
        <p:nvSpPr>
          <p:cNvPr id="11" name="Diagram helye 10">
            <a:extLst>
              <a:ext uri="{FF2B5EF4-FFF2-40B4-BE49-F238E27FC236}">
                <a16:creationId xmlns:a16="http://schemas.microsoft.com/office/drawing/2014/main" id="{B11D781D-DBC5-AFF1-5464-03EB686EDB38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4426343" y="1579563"/>
            <a:ext cx="6927457" cy="4060579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1EA52C-1E9D-EA5E-B2CC-17EFCB175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56913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jléc nélküli 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10">
            <a:extLst>
              <a:ext uri="{FF2B5EF4-FFF2-40B4-BE49-F238E27FC236}">
                <a16:creationId xmlns:a16="http://schemas.microsoft.com/office/drawing/2014/main" id="{ACFC1F6F-F293-C843-538C-5B5685FD46B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8201" y="824948"/>
            <a:ext cx="3212591" cy="4815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Open Sans" panose="020B0606030504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Mintaszöveg szerkesztése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Első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Második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Harmadik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Negyedik szint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128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Ötödik szint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41EA52C-1E9D-EA5E-B2CC-17EFCB175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6" name="Szöveg helye 10">
            <a:extLst>
              <a:ext uri="{FF2B5EF4-FFF2-40B4-BE49-F238E27FC236}">
                <a16:creationId xmlns:a16="http://schemas.microsoft.com/office/drawing/2014/main" id="{D9D13E09-0F82-5456-63BF-CA3E8480C87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B18A01D-AB8A-1A1D-4805-AABE921EF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22305" y="824949"/>
            <a:ext cx="6831496" cy="4758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8441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ábláz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áblázat helye 5">
            <a:extLst>
              <a:ext uri="{FF2B5EF4-FFF2-40B4-BE49-F238E27FC236}">
                <a16:creationId xmlns:a16="http://schemas.microsoft.com/office/drawing/2014/main" id="{A3ADE164-0269-1AA2-004B-8C8A82051E1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579457"/>
            <a:ext cx="10515598" cy="38558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Open Sans" panose="020B0606030504020204" pitchFamily="34" charset="0"/>
              </a:defRPr>
            </a:lvl1pPr>
          </a:lstStyle>
          <a:p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F8F6AA8-C013-1657-CB5A-D3067FF15D45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74462"/>
            <a:ext cx="10515600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 helye 10">
            <a:extLst>
              <a:ext uri="{FF2B5EF4-FFF2-40B4-BE49-F238E27FC236}">
                <a16:creationId xmlns:a16="http://schemas.microsoft.com/office/drawing/2014/main" id="{D8E6700D-6881-9CCD-3252-E02F5676557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8200" y="723315"/>
            <a:ext cx="10515598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2DEAFE30-1B1B-962C-732B-E5BEF7917E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1196"/>
            <a:ext cx="12192000" cy="856804"/>
          </a:xfrm>
          <a:prstGeom prst="rect">
            <a:avLst/>
          </a:prstGeom>
        </p:spPr>
      </p:pic>
      <p:sp>
        <p:nvSpPr>
          <p:cNvPr id="3" name="Szöveg helye 10">
            <a:extLst>
              <a:ext uri="{FF2B5EF4-FFF2-40B4-BE49-F238E27FC236}">
                <a16:creationId xmlns:a16="http://schemas.microsoft.com/office/drawing/2014/main" id="{11CE3FB9-7112-50B3-73CE-4614F7CA610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925371" y="6300874"/>
            <a:ext cx="7985760" cy="33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spc="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250927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ró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71AF9BE7-CB87-3DFD-D2D3-1899D1D30D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1" name="Szöveg helye 10">
            <a:extLst>
              <a:ext uri="{FF2B5EF4-FFF2-40B4-BE49-F238E27FC236}">
                <a16:creationId xmlns:a16="http://schemas.microsoft.com/office/drawing/2014/main" id="{27654B00-1ACA-72E8-4C79-A237BB0FAEA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3900" y="2191523"/>
            <a:ext cx="10744200" cy="1710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5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hu-HU" dirty="0"/>
              <a:t>Köszönjük a figyelmet!</a:t>
            </a:r>
          </a:p>
        </p:txBody>
      </p:sp>
      <p:sp>
        <p:nvSpPr>
          <p:cNvPr id="12" name="Szöveg helye 10">
            <a:extLst>
              <a:ext uri="{FF2B5EF4-FFF2-40B4-BE49-F238E27FC236}">
                <a16:creationId xmlns:a16="http://schemas.microsoft.com/office/drawing/2014/main" id="{1B1DEF9F-AC4A-3457-057F-560795FA38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3900" y="4301824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neve</a:t>
            </a:r>
          </a:p>
        </p:txBody>
      </p:sp>
      <p:sp>
        <p:nvSpPr>
          <p:cNvPr id="13" name="Szöveg helye 10">
            <a:extLst>
              <a:ext uri="{FF2B5EF4-FFF2-40B4-BE49-F238E27FC236}">
                <a16:creationId xmlns:a16="http://schemas.microsoft.com/office/drawing/2014/main" id="{D2769BC2-6B1C-E731-CB6F-BC48B5D77D5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900" y="5005912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Előadó titulusa</a:t>
            </a:r>
          </a:p>
        </p:txBody>
      </p:sp>
      <p:sp>
        <p:nvSpPr>
          <p:cNvPr id="14" name="Szöveg helye 10">
            <a:extLst>
              <a:ext uri="{FF2B5EF4-FFF2-40B4-BE49-F238E27FC236}">
                <a16:creationId xmlns:a16="http://schemas.microsoft.com/office/drawing/2014/main" id="{A35D0690-9E41-0FD7-2C21-CAE7926EAC5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3900" y="5705856"/>
            <a:ext cx="10744200" cy="649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Rendezvény, dátum</a:t>
            </a:r>
          </a:p>
        </p:txBody>
      </p:sp>
    </p:spTree>
    <p:extLst>
      <p:ext uri="{BB962C8B-B14F-4D97-AF65-F5344CB8AC3E}">
        <p14:creationId xmlns:p14="http://schemas.microsoft.com/office/powerpoint/2010/main" val="1529480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szöveg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CE5C7C62-306F-C568-AC87-137E9C578BFC}"/>
              </a:ext>
            </a:extLst>
          </p:cNvPr>
          <p:cNvCxnSpPr>
            <a:cxnSpLocks/>
          </p:cNvCxnSpPr>
          <p:nvPr userDrawn="1"/>
        </p:nvCxnSpPr>
        <p:spPr>
          <a:xfrm>
            <a:off x="161924" y="748860"/>
            <a:ext cx="11877675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zöveg helye 10">
            <a:extLst>
              <a:ext uri="{FF2B5EF4-FFF2-40B4-BE49-F238E27FC236}">
                <a16:creationId xmlns:a16="http://schemas.microsoft.com/office/drawing/2014/main" id="{32B9E13B-D4C6-DDBF-DA2A-ED8F1AEADB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61924" y="219456"/>
            <a:ext cx="11877675" cy="5294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aseline="0">
                <a:solidFill>
                  <a:srgbClr val="012850"/>
                </a:solidFill>
                <a:latin typeface="Open Sans" panose="020B0606030504020204" pitchFamily="34" charset="0"/>
              </a:defRPr>
            </a:lvl1pPr>
          </a:lstStyle>
          <a:p>
            <a:pPr lvl="0"/>
            <a:r>
              <a:rPr lang="hu-HU" dirty="0"/>
              <a:t>DIA CÍME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ACB07BB1-AB18-FE6A-D774-B35AB40BA5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924" y="847420"/>
            <a:ext cx="11877675" cy="5791119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>
              <a:buSzPct val="75000"/>
              <a:buFont typeface="Wingdings" panose="05000000000000000000" pitchFamily="2" charset="2"/>
              <a:buChar char="q"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</p:txBody>
      </p:sp>
    </p:spTree>
    <p:extLst>
      <p:ext uri="{BB962C8B-B14F-4D97-AF65-F5344CB8AC3E}">
        <p14:creationId xmlns:p14="http://schemas.microsoft.com/office/powerpoint/2010/main" val="195584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2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3" r:id="rId6"/>
    <p:sldLayoutId id="2147483655" r:id="rId7"/>
    <p:sldLayoutId id="2147483656" r:id="rId8"/>
    <p:sldLayoutId id="2147483657" r:id="rId9"/>
    <p:sldLayoutId id="2147483660" r:id="rId10"/>
    <p:sldLayoutId id="2147483659" r:id="rId11"/>
    <p:sldLayoutId id="2147483658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fluent.io/hub/" TargetMode="External"/><Relationship Id="rId2" Type="http://schemas.openxmlformats.org/officeDocument/2006/relationships/hyperlink" Target="https://docs.confluent.io/cloud/current/connectors/index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confluent.io/platform/current/connect/devguide.htm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2A7E8302-AC9C-A66D-07A6-1A5B9DE4A49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hu-HU" sz="5400" dirty="0"/>
              <a:t>Introduction to Data Engineering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3FF51C-1377-99D6-D639-C9342D91679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hu-HU" dirty="0"/>
              <a:t>  – Kafka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A0576B3-4A8D-B0CB-EE63-AE28551463E8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hu-HU" dirty="0"/>
              <a:t>Dávid Szabó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B3461CE-3807-2ADD-A4F6-83F5C4B6A2F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AD8B80AF-C083-C9ED-7D4F-EC1393814896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028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AAA8-9588-E08A-5973-627863DF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186EDE-347C-4FFC-3793-7E19B50D45B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sz="2900" dirty="0"/>
              <a:t>Data Pipeline</a:t>
            </a:r>
            <a:r>
              <a:rPr lang="hu-HU" sz="2900" dirty="0"/>
              <a:t>s</a:t>
            </a:r>
            <a:r>
              <a:rPr lang="en-US" sz="2900" dirty="0"/>
              <a:t> </a:t>
            </a:r>
            <a:r>
              <a:rPr lang="hu-HU" sz="2900" dirty="0"/>
              <a:t>– Where Data Ingestion Starts? </a:t>
            </a:r>
            <a:endParaRPr lang="en-US" sz="29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67B3A-9C03-4512-B1A5-7D8456E011F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E110C-6227-1E2F-64F3-80252BB3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Data Ingestion:</a:t>
            </a:r>
            <a:endParaRPr lang="hu-HU" dirty="0"/>
          </a:p>
          <a:p>
            <a:pPr lvl="1"/>
            <a:r>
              <a:rPr lang="en-US" dirty="0"/>
              <a:t>Ingestion is the </a:t>
            </a:r>
            <a:r>
              <a:rPr lang="en-US" b="1" dirty="0"/>
              <a:t>first step owned by data engineers</a:t>
            </a:r>
            <a:endParaRPr lang="en-US" dirty="0"/>
          </a:p>
          <a:p>
            <a:pPr lvl="1"/>
            <a:r>
              <a:rPr lang="en-US" dirty="0"/>
              <a:t>Collection and transportation are </a:t>
            </a:r>
            <a:r>
              <a:rPr lang="en-US" b="1" dirty="0"/>
              <a:t>external dependencies</a:t>
            </a:r>
            <a:endParaRPr lang="hu-HU" b="1" dirty="0"/>
          </a:p>
          <a:p>
            <a:pPr lvl="2"/>
            <a:r>
              <a:rPr lang="en-US" b="1" dirty="0"/>
              <a:t>Transportation is a gray zone</a:t>
            </a:r>
            <a:r>
              <a:rPr lang="en-US" dirty="0"/>
              <a:t> — sometimes tightly coupled with ingestion</a:t>
            </a:r>
            <a:r>
              <a:rPr lang="hu-HU" b="1" dirty="0"/>
              <a:t> </a:t>
            </a:r>
            <a:endParaRPr lang="en-US" dirty="0"/>
          </a:p>
          <a:p>
            <a:pPr lvl="1"/>
            <a:r>
              <a:rPr lang="hu-HU" dirty="0"/>
              <a:t>I</a:t>
            </a:r>
            <a:r>
              <a:rPr lang="en-US" dirty="0" err="1"/>
              <a:t>ngestion</a:t>
            </a:r>
            <a:r>
              <a:rPr lang="en-US" dirty="0"/>
              <a:t> is the </a:t>
            </a:r>
            <a:r>
              <a:rPr lang="en-US" b="1" dirty="0"/>
              <a:t>formal entry</a:t>
            </a:r>
            <a:r>
              <a:rPr lang="en-US" dirty="0"/>
              <a:t> of data into the data platform</a:t>
            </a:r>
          </a:p>
          <a:p>
            <a:pPr lvl="1"/>
            <a:r>
              <a:rPr lang="en-US" dirty="0"/>
              <a:t>Accepts data from transportation layer</a:t>
            </a:r>
          </a:p>
          <a:p>
            <a:pPr lvl="2"/>
            <a:r>
              <a:rPr lang="en-US" dirty="0"/>
              <a:t>Performs </a:t>
            </a:r>
            <a:r>
              <a:rPr lang="en-US" b="1" dirty="0"/>
              <a:t>basic validation</a:t>
            </a:r>
            <a:r>
              <a:rPr lang="en-US" dirty="0"/>
              <a:t>, </a:t>
            </a:r>
            <a:r>
              <a:rPr lang="en-US" b="1" dirty="0"/>
              <a:t>metadata tagging</a:t>
            </a:r>
            <a:r>
              <a:rPr lang="en-US" dirty="0"/>
              <a:t>, and </a:t>
            </a:r>
            <a:r>
              <a:rPr lang="en-US" b="1" dirty="0"/>
              <a:t>raw persistence</a:t>
            </a:r>
            <a:endParaRPr lang="en-US" dirty="0"/>
          </a:p>
          <a:p>
            <a:pPr lvl="2"/>
            <a:r>
              <a:rPr lang="en-US" dirty="0"/>
              <a:t>Writes to </a:t>
            </a:r>
            <a:r>
              <a:rPr lang="en-US" b="1" dirty="0"/>
              <a:t>staging area</a:t>
            </a:r>
            <a:r>
              <a:rPr lang="en-US" dirty="0"/>
              <a:t> (e.g., Bronze layer)</a:t>
            </a:r>
          </a:p>
          <a:p>
            <a:pPr lvl="1"/>
            <a:endParaRPr lang="hu-HU" dirty="0"/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64D0692E-2751-BC4E-F347-BE81262FD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32"/>
          <a:stretch>
            <a:fillRect/>
          </a:stretch>
        </p:blipFill>
        <p:spPr>
          <a:xfrm>
            <a:off x="1686957" y="4000500"/>
            <a:ext cx="881808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38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0D772F-DED1-FF80-5B4D-B9AA9D88F5A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DCECA-9509-2F3C-726B-8E8996C0E29D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42DBF-5CC4-9F3A-2683-0DFF5EC2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700" dirty="0"/>
              <a:t>In Big Data is a common pattern to have Kafka as an „ingestion buffer”</a:t>
            </a:r>
          </a:p>
          <a:p>
            <a:r>
              <a:rPr lang="hu-HU" sz="1700" dirty="0"/>
              <a:t>It’s also common to have Kafka serve both:</a:t>
            </a:r>
          </a:p>
          <a:p>
            <a:pPr lvl="1"/>
            <a:r>
              <a:rPr lang="hu-HU" sz="1500" dirty="0"/>
              <a:t>a „speed layer” for real-time applications</a:t>
            </a:r>
          </a:p>
          <a:p>
            <a:pPr lvl="1"/>
            <a:r>
              <a:rPr lang="hu-HU" sz="1500" dirty="0"/>
              <a:t>a „slow layer” for data ingestion into stores for later analytics</a:t>
            </a:r>
          </a:p>
          <a:p>
            <a:pPr lvl="1"/>
            <a:endParaRPr lang="hu-HU" sz="15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73710-A539-DE7A-981E-214507059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2325296"/>
            <a:ext cx="7594600" cy="353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5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D120-0307-E533-A2AF-0D237B9F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5423F5-547A-EE21-7722-471EF591214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Apache Kafka?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E480E-4223-5911-F47D-23E3E7A4761B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DC260-F8A7-87B6-1DDE-86AF48E8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hu-HU" sz="2000" dirty="0"/>
              <a:t>An open-source distributed </a:t>
            </a:r>
            <a:r>
              <a:rPr lang="hu-HU" sz="2000" b="1" dirty="0"/>
              <a:t>event streaming platform </a:t>
            </a:r>
            <a:r>
              <a:rPr lang="hu-HU" sz="2000" dirty="0"/>
              <a:t>for 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data integration,</a:t>
            </a:r>
            <a:endParaRPr lang="hu-HU" sz="1800" dirty="0"/>
          </a:p>
          <a:p>
            <a:pPr lvl="1">
              <a:spcBef>
                <a:spcPts val="1200"/>
              </a:spcBef>
            </a:pPr>
            <a:r>
              <a:rPr lang="en-US" sz="1800" dirty="0"/>
              <a:t>mission-critical applications</a:t>
            </a:r>
            <a:r>
              <a:rPr lang="hu-HU" sz="1800" dirty="0"/>
              <a:t>,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streaming analytics</a:t>
            </a:r>
            <a:r>
              <a:rPr lang="hu-HU" sz="1800" dirty="0"/>
              <a:t> and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high-performance data pipelines</a:t>
            </a:r>
            <a:endParaRPr lang="hu-HU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A590B-A28F-25DD-F719-D376DD318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0804" t="25801" r="7927" b="22078"/>
          <a:stretch>
            <a:fillRect/>
          </a:stretch>
        </p:blipFill>
        <p:spPr>
          <a:xfrm>
            <a:off x="7940677" y="847420"/>
            <a:ext cx="4089399" cy="198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6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EDD4-24A2-D222-1124-8E0F01CA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804D06-630D-1CA0-8BF7-F453967307DF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Event Streaming?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6D00D-7FC4-E4D1-9415-F1E85E73919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F4FA4-B73D-3E5C-7888-C6CEB63A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It is</a:t>
            </a:r>
            <a:r>
              <a:rPr lang="en-US" sz="2000" dirty="0"/>
              <a:t> the practice of capturing data in</a:t>
            </a:r>
            <a:r>
              <a:rPr lang="hu-HU" sz="2000" dirty="0"/>
              <a:t> </a:t>
            </a:r>
          </a:p>
          <a:p>
            <a:pPr lvl="1"/>
            <a:r>
              <a:rPr lang="hu-HU" sz="1800" dirty="0"/>
              <a:t>i)</a:t>
            </a:r>
            <a:r>
              <a:rPr lang="en-US" sz="1800" dirty="0"/>
              <a:t> real-time from event sources </a:t>
            </a:r>
            <a:r>
              <a:rPr lang="hu-HU" sz="1800" dirty="0"/>
              <a:t>(e.g. </a:t>
            </a:r>
            <a:r>
              <a:rPr lang="en-US" sz="1800" dirty="0"/>
              <a:t>databases, sensors,</a:t>
            </a:r>
            <a:r>
              <a:rPr lang="hu-HU" sz="1800" dirty="0"/>
              <a:t> applications) </a:t>
            </a:r>
            <a:r>
              <a:rPr lang="en-US" sz="1800" dirty="0"/>
              <a:t>in the form of streams of events; </a:t>
            </a:r>
            <a:endParaRPr lang="hu-HU" sz="1800" dirty="0"/>
          </a:p>
          <a:p>
            <a:pPr lvl="1"/>
            <a:r>
              <a:rPr lang="hu-HU" sz="1800" dirty="0"/>
              <a:t>ii) </a:t>
            </a:r>
            <a:r>
              <a:rPr lang="en-US" sz="1800" dirty="0"/>
              <a:t>storing these event streams durably for later retrieval; </a:t>
            </a:r>
            <a:endParaRPr lang="hu-HU" sz="1800" dirty="0"/>
          </a:p>
          <a:p>
            <a:pPr lvl="1"/>
            <a:r>
              <a:rPr lang="hu-HU" sz="1800" dirty="0"/>
              <a:t>iii) </a:t>
            </a:r>
            <a:r>
              <a:rPr lang="en-US" sz="1800" dirty="0"/>
              <a:t>manipulating, processing, and reacting to the event streams in real-time as well as retrospectively;</a:t>
            </a:r>
            <a:endParaRPr lang="hu-HU" sz="1800" dirty="0"/>
          </a:p>
          <a:p>
            <a:pPr lvl="1"/>
            <a:r>
              <a:rPr lang="hu-HU" sz="1800" dirty="0"/>
              <a:t>iv)</a:t>
            </a:r>
            <a:r>
              <a:rPr lang="en-US" sz="1800" dirty="0"/>
              <a:t> and routing the event streams to different destination technologies as needed.</a:t>
            </a:r>
          </a:p>
          <a:p>
            <a:pPr marL="0" indent="0">
              <a:buNone/>
            </a:pPr>
            <a:endParaRPr lang="hu-HU" sz="2000" dirty="0"/>
          </a:p>
          <a:p>
            <a:r>
              <a:rPr lang="hu-HU" sz="2000" dirty="0"/>
              <a:t>A typical challenge is data integration:</a:t>
            </a:r>
          </a:p>
          <a:p>
            <a:pPr lvl="1"/>
            <a:r>
              <a:rPr lang="en-US" sz="1800" b="1" dirty="0"/>
              <a:t>Protocol</a:t>
            </a:r>
            <a:r>
              <a:rPr lang="en-US" sz="1800" dirty="0"/>
              <a:t> – </a:t>
            </a:r>
            <a:endParaRPr lang="hu-HU" sz="1800" dirty="0"/>
          </a:p>
          <a:p>
            <a:pPr lvl="2"/>
            <a:r>
              <a:rPr lang="en-US" sz="1600" dirty="0"/>
              <a:t>how the data is transported</a:t>
            </a:r>
            <a:r>
              <a:rPr lang="hu-HU" sz="1600" dirty="0"/>
              <a:t>?</a:t>
            </a:r>
          </a:p>
          <a:p>
            <a:pPr lvl="2"/>
            <a:r>
              <a:rPr lang="en-US" sz="1600" dirty="0"/>
              <a:t>TCP, HTTP, REST, FTP, JDBC…</a:t>
            </a:r>
            <a:endParaRPr lang="en-US" sz="1800" dirty="0"/>
          </a:p>
          <a:p>
            <a:pPr lvl="1"/>
            <a:r>
              <a:rPr lang="en-US" sz="1800" b="1" dirty="0"/>
              <a:t>Data format </a:t>
            </a:r>
            <a:r>
              <a:rPr lang="en-US" sz="1800" dirty="0"/>
              <a:t>– </a:t>
            </a:r>
            <a:endParaRPr lang="hu-HU" sz="1800" dirty="0"/>
          </a:p>
          <a:p>
            <a:pPr lvl="2"/>
            <a:r>
              <a:rPr lang="en-US" sz="1600" dirty="0"/>
              <a:t>how the data is parsed</a:t>
            </a:r>
            <a:r>
              <a:rPr lang="hu-HU" sz="1600" dirty="0"/>
              <a:t>?</a:t>
            </a:r>
          </a:p>
          <a:p>
            <a:pPr lvl="2"/>
            <a:r>
              <a:rPr lang="en-US" sz="1600" dirty="0"/>
              <a:t>Binary, CSV, JSON, Avro…</a:t>
            </a:r>
            <a:endParaRPr lang="en-US" sz="1800" dirty="0"/>
          </a:p>
          <a:p>
            <a:pPr lvl="1"/>
            <a:r>
              <a:rPr lang="en-US" sz="1800" b="1" dirty="0"/>
              <a:t>Data schema &amp; evolution </a:t>
            </a:r>
            <a:r>
              <a:rPr lang="en-US" sz="1800" dirty="0"/>
              <a:t>– </a:t>
            </a:r>
            <a:endParaRPr lang="hu-HU" sz="1800" dirty="0"/>
          </a:p>
          <a:p>
            <a:pPr lvl="2"/>
            <a:r>
              <a:rPr lang="en-US" sz="1600" dirty="0"/>
              <a:t>how the data is shaped and may change</a:t>
            </a:r>
            <a:r>
              <a:rPr lang="hu-HU" sz="1600" dirty="0"/>
              <a:t>?</a:t>
            </a:r>
            <a:endParaRPr lang="en-US" sz="16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16A6E4-97DD-BB3B-53D5-2F03822A9B03}"/>
              </a:ext>
            </a:extLst>
          </p:cNvPr>
          <p:cNvGrpSpPr/>
          <p:nvPr/>
        </p:nvGrpSpPr>
        <p:grpSpPr>
          <a:xfrm>
            <a:off x="6332552" y="3459746"/>
            <a:ext cx="5697524" cy="2275892"/>
            <a:chOff x="6184125" y="4088579"/>
            <a:chExt cx="5697524" cy="22758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F08E14-A170-219C-9757-92B5ABFD73B0}"/>
                </a:ext>
              </a:extLst>
            </p:cNvPr>
            <p:cNvSpPr/>
            <p:nvPr/>
          </p:nvSpPr>
          <p:spPr>
            <a:xfrm>
              <a:off x="6184125" y="4088581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12EE9C-DC73-979C-0ECF-C2E285F1F34D}"/>
                </a:ext>
              </a:extLst>
            </p:cNvPr>
            <p:cNvSpPr/>
            <p:nvPr/>
          </p:nvSpPr>
          <p:spPr>
            <a:xfrm>
              <a:off x="7963307" y="4088580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B5D960-4024-ACCC-1322-7385E0B67A0D}"/>
                </a:ext>
              </a:extLst>
            </p:cNvPr>
            <p:cNvSpPr/>
            <p:nvPr/>
          </p:nvSpPr>
          <p:spPr>
            <a:xfrm>
              <a:off x="9742489" y="4088579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Source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59EC68-51E6-E6D3-A781-F0086B938E8F}"/>
                </a:ext>
              </a:extLst>
            </p:cNvPr>
            <p:cNvSpPr txBox="1"/>
            <p:nvPr/>
          </p:nvSpPr>
          <p:spPr>
            <a:xfrm>
              <a:off x="11396587" y="4094952"/>
              <a:ext cx="4850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dirty="0"/>
                <a:t>. . .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A68504-3FE4-892D-DCEF-9E48A4B12AA2}"/>
                </a:ext>
              </a:extLst>
            </p:cNvPr>
            <p:cNvSpPr/>
            <p:nvPr/>
          </p:nvSpPr>
          <p:spPr>
            <a:xfrm>
              <a:off x="6184125" y="5891322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Target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43EB6E-15F1-D28B-24CF-280B3F1642B0}"/>
                </a:ext>
              </a:extLst>
            </p:cNvPr>
            <p:cNvSpPr/>
            <p:nvPr/>
          </p:nvSpPr>
          <p:spPr>
            <a:xfrm>
              <a:off x="7963307" y="5891321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Target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72EF9D-93B6-B2FB-1601-AD14AE994751}"/>
                </a:ext>
              </a:extLst>
            </p:cNvPr>
            <p:cNvSpPr/>
            <p:nvPr/>
          </p:nvSpPr>
          <p:spPr>
            <a:xfrm>
              <a:off x="9742489" y="5891320"/>
              <a:ext cx="1446028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Target System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4C1754-3BE6-DADF-0FE8-187B18F2F6DB}"/>
                </a:ext>
              </a:extLst>
            </p:cNvPr>
            <p:cNvSpPr txBox="1"/>
            <p:nvPr/>
          </p:nvSpPr>
          <p:spPr>
            <a:xfrm>
              <a:off x="11396587" y="5897693"/>
              <a:ext cx="48506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dirty="0"/>
                <a:t>. . .</a:t>
              </a:r>
              <a:endParaRPr lang="en-US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5A625FC-51C1-B0E4-1A2F-B5644A4AF86F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>
              <a:off x="6907139" y="4561730"/>
              <a:ext cx="0" cy="1329592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A2FF60B-D706-D00D-FC33-6C09DB8254F9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>
              <a:off x="6907139" y="4561730"/>
              <a:ext cx="1779182" cy="13295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193682F-1FFB-99DC-F335-E9827839EEC6}"/>
                </a:ext>
              </a:extLst>
            </p:cNvPr>
            <p:cNvCxnSpPr>
              <a:cxnSpLocks/>
              <a:stCxn id="7" idx="2"/>
              <a:endCxn id="13" idx="0"/>
            </p:cNvCxnSpPr>
            <p:nvPr/>
          </p:nvCxnSpPr>
          <p:spPr>
            <a:xfrm>
              <a:off x="6907139" y="4561730"/>
              <a:ext cx="3558364" cy="132959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63F3E96-22E3-0088-F16D-2214563E7A71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907139" y="4561729"/>
              <a:ext cx="1779182" cy="132959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98E1C4F-0DF8-4C59-41F5-E2ABED130C4B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>
              <a:off x="8686321" y="4561729"/>
              <a:ext cx="1779182" cy="13295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783C1FB-6A5A-2649-E73C-990FC87971AC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 flipH="1">
              <a:off x="8686321" y="4561728"/>
              <a:ext cx="1779182" cy="132959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30D53D5-6C6D-3DBC-5A01-3101C4BC8B74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>
              <a:off x="10465503" y="4561728"/>
              <a:ext cx="0" cy="1329592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DDFDD90-C7BA-1181-5724-990071ACCD91}"/>
                </a:ext>
              </a:extLst>
            </p:cNvPr>
            <p:cNvSpPr/>
            <p:nvPr/>
          </p:nvSpPr>
          <p:spPr>
            <a:xfrm>
              <a:off x="6532543" y="5134583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0A2CB0E-6DA5-D832-16B3-EE8AC445B4C4}"/>
                </a:ext>
              </a:extLst>
            </p:cNvPr>
            <p:cNvSpPr/>
            <p:nvPr/>
          </p:nvSpPr>
          <p:spPr>
            <a:xfrm>
              <a:off x="8304935" y="5134583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CE7B0CD-0902-579A-0DDF-29C0EB3E1685}"/>
                </a:ext>
              </a:extLst>
            </p:cNvPr>
            <p:cNvSpPr/>
            <p:nvPr/>
          </p:nvSpPr>
          <p:spPr>
            <a:xfrm>
              <a:off x="10097700" y="5161148"/>
              <a:ext cx="736595" cy="21047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</a:t>
              </a:r>
              <a:endPara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748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DE789-C1A9-87CC-3D98-4D0E09C4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4850A8-AD45-CC33-3478-2D3F5211480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What is Event Streaming?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48E7F-0C44-09CC-6F11-0E57E54F0DC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DCA4B-1E37-A679-3203-5A3D2493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It is</a:t>
            </a:r>
            <a:r>
              <a:rPr lang="en-US" sz="2000" dirty="0"/>
              <a:t> the practice of capturing data in</a:t>
            </a:r>
            <a:r>
              <a:rPr lang="hu-HU" sz="2000" dirty="0"/>
              <a:t> </a:t>
            </a:r>
          </a:p>
          <a:p>
            <a:pPr lvl="1"/>
            <a:r>
              <a:rPr lang="hu-HU" sz="1800" dirty="0"/>
              <a:t>i)</a:t>
            </a:r>
            <a:r>
              <a:rPr lang="en-US" sz="1800" dirty="0"/>
              <a:t> real-time from event sources </a:t>
            </a:r>
            <a:r>
              <a:rPr lang="hu-HU" sz="1800" dirty="0"/>
              <a:t>(e.g. </a:t>
            </a:r>
            <a:r>
              <a:rPr lang="en-US" sz="1800" dirty="0"/>
              <a:t>databases, sensors,</a:t>
            </a:r>
            <a:r>
              <a:rPr lang="hu-HU" sz="1800" dirty="0"/>
              <a:t> applications) </a:t>
            </a:r>
            <a:r>
              <a:rPr lang="en-US" sz="1800" dirty="0"/>
              <a:t>in the form of streams of events; </a:t>
            </a:r>
            <a:endParaRPr lang="hu-HU" sz="1800" dirty="0"/>
          </a:p>
          <a:p>
            <a:pPr lvl="1"/>
            <a:r>
              <a:rPr lang="hu-HU" sz="1800" dirty="0"/>
              <a:t>ii) </a:t>
            </a:r>
            <a:r>
              <a:rPr lang="en-US" sz="1800" dirty="0"/>
              <a:t>storing these event streams durably for later retrieval; </a:t>
            </a:r>
            <a:endParaRPr lang="hu-HU" sz="1800" dirty="0"/>
          </a:p>
          <a:p>
            <a:pPr lvl="1"/>
            <a:r>
              <a:rPr lang="hu-HU" sz="1800" dirty="0"/>
              <a:t>iii) </a:t>
            </a:r>
            <a:r>
              <a:rPr lang="en-US" sz="1800" dirty="0"/>
              <a:t>manipulating, processing, and reacting to the event streams in real-time as well as retrospectively;</a:t>
            </a:r>
            <a:endParaRPr lang="hu-HU" sz="1800" dirty="0"/>
          </a:p>
          <a:p>
            <a:pPr lvl="1"/>
            <a:r>
              <a:rPr lang="hu-HU" sz="1800" dirty="0"/>
              <a:t>iv)</a:t>
            </a:r>
            <a:r>
              <a:rPr lang="en-US" sz="1800" dirty="0"/>
              <a:t> and routing the event streams to different destination technologies as needed.</a:t>
            </a:r>
          </a:p>
          <a:p>
            <a:pPr marL="0" indent="0">
              <a:buNone/>
            </a:pPr>
            <a:endParaRPr lang="hu-HU" sz="2000" dirty="0"/>
          </a:p>
          <a:p>
            <a:r>
              <a:rPr lang="hu-HU" sz="2000" dirty="0"/>
              <a:t>A typical challenge is data integration:</a:t>
            </a:r>
          </a:p>
          <a:p>
            <a:pPr lvl="1"/>
            <a:r>
              <a:rPr lang="en-US" sz="1800" b="1" dirty="0"/>
              <a:t>Protocol</a:t>
            </a:r>
            <a:r>
              <a:rPr lang="en-US" sz="1800" dirty="0"/>
              <a:t> – </a:t>
            </a:r>
            <a:endParaRPr lang="hu-HU" sz="1800" dirty="0"/>
          </a:p>
          <a:p>
            <a:pPr lvl="2"/>
            <a:r>
              <a:rPr lang="en-US" sz="1600" dirty="0"/>
              <a:t>how the data is transported</a:t>
            </a:r>
            <a:r>
              <a:rPr lang="hu-HU" sz="1600" dirty="0"/>
              <a:t>?</a:t>
            </a:r>
          </a:p>
          <a:p>
            <a:pPr lvl="2"/>
            <a:r>
              <a:rPr lang="en-US" sz="1600" dirty="0"/>
              <a:t>TCP, HTTP, REST, FTP, JDBC…</a:t>
            </a:r>
            <a:endParaRPr lang="en-US" sz="1800" dirty="0"/>
          </a:p>
          <a:p>
            <a:pPr lvl="1"/>
            <a:r>
              <a:rPr lang="en-US" sz="1800" b="1" dirty="0"/>
              <a:t>Data format </a:t>
            </a:r>
            <a:r>
              <a:rPr lang="en-US" sz="1800" dirty="0"/>
              <a:t>– </a:t>
            </a:r>
            <a:endParaRPr lang="hu-HU" sz="1800" dirty="0"/>
          </a:p>
          <a:p>
            <a:pPr lvl="2"/>
            <a:r>
              <a:rPr lang="en-US" sz="1600" dirty="0"/>
              <a:t>how the data is parsed</a:t>
            </a:r>
            <a:r>
              <a:rPr lang="hu-HU" sz="1600" dirty="0"/>
              <a:t>?</a:t>
            </a:r>
          </a:p>
          <a:p>
            <a:pPr lvl="2"/>
            <a:r>
              <a:rPr lang="en-US" sz="1600" dirty="0"/>
              <a:t>Binary, CSV, JSON, Avro…</a:t>
            </a:r>
            <a:endParaRPr lang="en-US" sz="1800" dirty="0"/>
          </a:p>
          <a:p>
            <a:pPr lvl="1"/>
            <a:r>
              <a:rPr lang="en-US" sz="1800" b="1" dirty="0"/>
              <a:t>Data schema &amp; evolution </a:t>
            </a:r>
            <a:r>
              <a:rPr lang="en-US" sz="1800" dirty="0"/>
              <a:t>– </a:t>
            </a:r>
            <a:endParaRPr lang="hu-HU" sz="1800" dirty="0"/>
          </a:p>
          <a:p>
            <a:pPr lvl="2"/>
            <a:r>
              <a:rPr lang="en-US" sz="1600" dirty="0"/>
              <a:t>how the data is shaped and may change</a:t>
            </a:r>
            <a:r>
              <a:rPr lang="hu-HU" sz="1600" dirty="0"/>
              <a:t>?</a:t>
            </a:r>
            <a:endParaRPr lang="en-US" sz="16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00F397-F5B0-BEC8-3DCE-C8C861977BB5}"/>
              </a:ext>
            </a:extLst>
          </p:cNvPr>
          <p:cNvSpPr/>
          <p:nvPr/>
        </p:nvSpPr>
        <p:spPr>
          <a:xfrm>
            <a:off x="6342075" y="3462051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Events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DEC9DE-CD3E-60D8-6902-08141480EE50}"/>
              </a:ext>
            </a:extLst>
          </p:cNvPr>
          <p:cNvSpPr/>
          <p:nvPr/>
        </p:nvSpPr>
        <p:spPr>
          <a:xfrm>
            <a:off x="8121257" y="346205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Pricing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96AB9A-D2D6-FFAD-4479-8F12509EB60D}"/>
              </a:ext>
            </a:extLst>
          </p:cNvPr>
          <p:cNvSpPr/>
          <p:nvPr/>
        </p:nvSpPr>
        <p:spPr>
          <a:xfrm>
            <a:off x="9900439" y="3462049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D560DC-50D4-7B0E-0F87-DC2AB46680B3}"/>
              </a:ext>
            </a:extLst>
          </p:cNvPr>
          <p:cNvSpPr txBox="1"/>
          <p:nvPr/>
        </p:nvSpPr>
        <p:spPr>
          <a:xfrm>
            <a:off x="11554537" y="3468422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D2D619-389C-8A45-18E8-ABB474B7422E}"/>
              </a:ext>
            </a:extLst>
          </p:cNvPr>
          <p:cNvSpPr/>
          <p:nvPr/>
        </p:nvSpPr>
        <p:spPr>
          <a:xfrm>
            <a:off x="6342075" y="5264792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FC7CFF8-FF1B-2134-6192-E256435DBFB9}"/>
              </a:ext>
            </a:extLst>
          </p:cNvPr>
          <p:cNvSpPr/>
          <p:nvPr/>
        </p:nvSpPr>
        <p:spPr>
          <a:xfrm>
            <a:off x="8121257" y="5264791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BE4E446-1658-3869-09B4-E4E830763B43}"/>
              </a:ext>
            </a:extLst>
          </p:cNvPr>
          <p:cNvSpPr/>
          <p:nvPr/>
        </p:nvSpPr>
        <p:spPr>
          <a:xfrm>
            <a:off x="9900439" y="526479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D5C821-4B36-A8A4-5F6E-A279313448DE}"/>
              </a:ext>
            </a:extLst>
          </p:cNvPr>
          <p:cNvSpPr txBox="1"/>
          <p:nvPr/>
        </p:nvSpPr>
        <p:spPr>
          <a:xfrm>
            <a:off x="11554537" y="5271163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1B5128-A04D-F10C-71A5-CE8F19EFAA92}"/>
              </a:ext>
            </a:extLst>
          </p:cNvPr>
          <p:cNvCxnSpPr>
            <a:stCxn id="42" idx="2"/>
            <a:endCxn id="46" idx="0"/>
          </p:cNvCxnSpPr>
          <p:nvPr/>
        </p:nvCxnSpPr>
        <p:spPr>
          <a:xfrm>
            <a:off x="7065089" y="3935200"/>
            <a:ext cx="0" cy="132959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AFFC75-78E0-F2D0-D63E-8CB3C31D6DE4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>
            <a:off x="7065089" y="3935200"/>
            <a:ext cx="1779182" cy="132959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6FF3B5-EAFC-2904-56F1-9E2D451AB000}"/>
              </a:ext>
            </a:extLst>
          </p:cNvPr>
          <p:cNvCxnSpPr>
            <a:cxnSpLocks/>
            <a:stCxn id="42" idx="2"/>
            <a:endCxn id="48" idx="0"/>
          </p:cNvCxnSpPr>
          <p:nvPr/>
        </p:nvCxnSpPr>
        <p:spPr>
          <a:xfrm>
            <a:off x="7065089" y="3935200"/>
            <a:ext cx="3558364" cy="132959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BA2F7EF-0412-8E79-FE82-93868B9B3A4C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 flipH="1">
            <a:off x="7065089" y="3935199"/>
            <a:ext cx="1779182" cy="132959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7658F5D-7817-52D2-D4D2-0B12ACBC9FD4}"/>
              </a:ext>
            </a:extLst>
          </p:cNvPr>
          <p:cNvCxnSpPr>
            <a:cxnSpLocks/>
            <a:stCxn id="43" idx="2"/>
            <a:endCxn id="48" idx="0"/>
          </p:cNvCxnSpPr>
          <p:nvPr/>
        </p:nvCxnSpPr>
        <p:spPr>
          <a:xfrm>
            <a:off x="8844271" y="3935199"/>
            <a:ext cx="1779182" cy="132959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5E0E8F2-ECD3-EAA8-B2E3-382400B819A0}"/>
              </a:ext>
            </a:extLst>
          </p:cNvPr>
          <p:cNvCxnSpPr>
            <a:cxnSpLocks/>
            <a:stCxn id="44" idx="2"/>
            <a:endCxn id="47" idx="0"/>
          </p:cNvCxnSpPr>
          <p:nvPr/>
        </p:nvCxnSpPr>
        <p:spPr>
          <a:xfrm flipH="1">
            <a:off x="8844271" y="3935198"/>
            <a:ext cx="1779182" cy="132959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5D55143-06D6-1E93-E178-074494273E9E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>
            <a:off x="10623453" y="3935198"/>
            <a:ext cx="0" cy="132959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967E507-7026-8F98-5C00-E901FBCD3159}"/>
              </a:ext>
            </a:extLst>
          </p:cNvPr>
          <p:cNvSpPr/>
          <p:nvPr/>
        </p:nvSpPr>
        <p:spPr>
          <a:xfrm>
            <a:off x="6690493" y="4508053"/>
            <a:ext cx="736595" cy="2104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C43C8F3-5E5A-5AEB-8BE2-1B9EA900C4A3}"/>
              </a:ext>
            </a:extLst>
          </p:cNvPr>
          <p:cNvSpPr/>
          <p:nvPr/>
        </p:nvSpPr>
        <p:spPr>
          <a:xfrm>
            <a:off x="8462885" y="4508053"/>
            <a:ext cx="736595" cy="2104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7B1D6C6-AE40-9E9F-942D-3F5016CA25D9}"/>
              </a:ext>
            </a:extLst>
          </p:cNvPr>
          <p:cNvSpPr/>
          <p:nvPr/>
        </p:nvSpPr>
        <p:spPr>
          <a:xfrm>
            <a:off x="10255650" y="4534618"/>
            <a:ext cx="736595" cy="21047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B533-4A93-5F23-8A49-754591AA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38288D-4F60-EBD4-E68D-74F6F13CB1A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to the Rescue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A45A5-1514-B844-9559-E1F186344EA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EA038-2D8A-8D23-F03B-CF89EB097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Kafka was created at LinkedIn </a:t>
            </a:r>
            <a:r>
              <a:rPr lang="hu-HU" dirty="0"/>
              <a:t>at 2011 to service internal stream processing</a:t>
            </a:r>
          </a:p>
          <a:p>
            <a:r>
              <a:rPr lang="hu-HU" dirty="0"/>
              <a:t>Written in </a:t>
            </a:r>
            <a:r>
              <a:rPr lang="hu-HU" b="1" dirty="0"/>
              <a:t>Java</a:t>
            </a:r>
          </a:p>
          <a:p>
            <a:r>
              <a:rPr lang="hu-HU" dirty="0"/>
              <a:t>Quickly gained popularity and became an Apache Foundation project</a:t>
            </a:r>
          </a:p>
          <a:p>
            <a:r>
              <a:rPr lang="hu-HU" dirty="0"/>
              <a:t>Nowadays mainly maintained by Confluent, IBM, Yelp, Netflix, ...</a:t>
            </a:r>
          </a:p>
          <a:p>
            <a:r>
              <a:rPr lang="hu-HU" dirty="0"/>
              <a:t>Typical use-cases: 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Messaging systems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Activity Tracking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Gather metrics from many different locations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Application logs analysis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De-coupling of system dependencies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Integration with Big Data technologies like Spark,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hu-HU" dirty="0"/>
              <a:t>    Flink, Storm, Hadoop.</a:t>
            </a:r>
          </a:p>
          <a:p>
            <a:pPr lvl="1">
              <a:spcBef>
                <a:spcPts val="1200"/>
              </a:spcBef>
            </a:pPr>
            <a:r>
              <a:rPr lang="hu-HU" dirty="0"/>
              <a:t>Event-sourcing store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DCE435-BD36-7CE5-7CBF-F2C1267BE67C}"/>
              </a:ext>
            </a:extLst>
          </p:cNvPr>
          <p:cNvSpPr/>
          <p:nvPr/>
        </p:nvSpPr>
        <p:spPr>
          <a:xfrm>
            <a:off x="6332552" y="346710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Events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AC5E45-8E76-0BDF-EAA2-04ABD9D7C3AB}"/>
              </a:ext>
            </a:extLst>
          </p:cNvPr>
          <p:cNvSpPr/>
          <p:nvPr/>
        </p:nvSpPr>
        <p:spPr>
          <a:xfrm>
            <a:off x="8111734" y="3467099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Pricing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BA4730-AB20-B5D6-C83A-E38DB81A4479}"/>
              </a:ext>
            </a:extLst>
          </p:cNvPr>
          <p:cNvSpPr/>
          <p:nvPr/>
        </p:nvSpPr>
        <p:spPr>
          <a:xfrm>
            <a:off x="9890916" y="3467098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Sensor Data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C0B06-92FD-DA15-9611-EC5C98F9E691}"/>
              </a:ext>
            </a:extLst>
          </p:cNvPr>
          <p:cNvSpPr txBox="1"/>
          <p:nvPr/>
        </p:nvSpPr>
        <p:spPr>
          <a:xfrm>
            <a:off x="11545014" y="3473471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C7C8F-BEB2-B6BB-3256-17A2312D2E6A}"/>
              </a:ext>
            </a:extLst>
          </p:cNvPr>
          <p:cNvSpPr/>
          <p:nvPr/>
        </p:nvSpPr>
        <p:spPr>
          <a:xfrm>
            <a:off x="6332552" y="5269841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5E6D8B-1273-9BA3-EF59-D5DC6AB29446}"/>
              </a:ext>
            </a:extLst>
          </p:cNvPr>
          <p:cNvSpPr/>
          <p:nvPr/>
        </p:nvSpPr>
        <p:spPr>
          <a:xfrm>
            <a:off x="8111734" y="526984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Analytics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F6FB3-3BBB-E7CD-DCDE-E9B32DD0035A}"/>
              </a:ext>
            </a:extLst>
          </p:cNvPr>
          <p:cNvSpPr/>
          <p:nvPr/>
        </p:nvSpPr>
        <p:spPr>
          <a:xfrm>
            <a:off x="9890916" y="5269839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D3B19-8F54-2412-43AA-958355FC8A88}"/>
              </a:ext>
            </a:extLst>
          </p:cNvPr>
          <p:cNvSpPr txBox="1"/>
          <p:nvPr/>
        </p:nvSpPr>
        <p:spPr>
          <a:xfrm>
            <a:off x="11545014" y="5276212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0D4A36-7967-B70F-03C5-2816AB543F68}"/>
              </a:ext>
            </a:extLst>
          </p:cNvPr>
          <p:cNvSpPr/>
          <p:nvPr/>
        </p:nvSpPr>
        <p:spPr>
          <a:xfrm>
            <a:off x="6587008" y="4251037"/>
            <a:ext cx="4495479" cy="734237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70F13C-4445-6AAE-01EA-80D0B9B3AE82}"/>
              </a:ext>
            </a:extLst>
          </p:cNvPr>
          <p:cNvCxnSpPr>
            <a:cxnSpLocks/>
          </p:cNvCxnSpPr>
          <p:nvPr/>
        </p:nvCxnSpPr>
        <p:spPr>
          <a:xfrm>
            <a:off x="7055566" y="3947516"/>
            <a:ext cx="1056168" cy="30352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49B53D-1179-3C92-96EF-05566CB82017}"/>
              </a:ext>
            </a:extLst>
          </p:cNvPr>
          <p:cNvCxnSpPr>
            <a:cxnSpLocks/>
          </p:cNvCxnSpPr>
          <p:nvPr/>
        </p:nvCxnSpPr>
        <p:spPr>
          <a:xfrm>
            <a:off x="8834748" y="3947515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2490A7-8B8A-21A1-8BAA-C5B21988395B}"/>
              </a:ext>
            </a:extLst>
          </p:cNvPr>
          <p:cNvCxnSpPr>
            <a:cxnSpLocks/>
          </p:cNvCxnSpPr>
          <p:nvPr/>
        </p:nvCxnSpPr>
        <p:spPr>
          <a:xfrm flipH="1">
            <a:off x="9557762" y="3947516"/>
            <a:ext cx="1038532" cy="30352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D3DE9E-6683-C42E-0B31-73D90D49AC20}"/>
              </a:ext>
            </a:extLst>
          </p:cNvPr>
          <p:cNvCxnSpPr>
            <a:cxnSpLocks/>
          </p:cNvCxnSpPr>
          <p:nvPr/>
        </p:nvCxnSpPr>
        <p:spPr>
          <a:xfrm flipH="1">
            <a:off x="7055566" y="4985274"/>
            <a:ext cx="1056168" cy="29183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67F80D2-B0AB-EBC7-2844-191E49A680E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8834748" y="4985274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848FDD-D440-5B2C-FF2F-941EA76F830A}"/>
              </a:ext>
            </a:extLst>
          </p:cNvPr>
          <p:cNvCxnSpPr>
            <a:cxnSpLocks/>
          </p:cNvCxnSpPr>
          <p:nvPr/>
        </p:nvCxnSpPr>
        <p:spPr>
          <a:xfrm>
            <a:off x="9557762" y="4985274"/>
            <a:ext cx="1056168" cy="29183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Apache Kafka">
            <a:extLst>
              <a:ext uri="{FF2B5EF4-FFF2-40B4-BE49-F238E27FC236}">
                <a16:creationId xmlns:a16="http://schemas.microsoft.com/office/drawing/2014/main" id="{567CAF36-0D56-4836-C28A-7FB054BEA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906" y="4323758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3E2496-60B9-DFAE-1C98-F020B593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10804" t="25801" r="7927" b="22078"/>
          <a:stretch>
            <a:fillRect/>
          </a:stretch>
        </p:blipFill>
        <p:spPr>
          <a:xfrm>
            <a:off x="9702451" y="4337417"/>
            <a:ext cx="1158174" cy="56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0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Overview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471CA-BE6D-1D4B-E824-38DACF042447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Topics</a:t>
            </a:r>
            <a:r>
              <a:rPr lang="hu-HU" sz="1600" dirty="0"/>
              <a:t> organize </a:t>
            </a:r>
            <a:r>
              <a:rPr lang="hu-HU" sz="1600" b="1" dirty="0"/>
              <a:t>related</a:t>
            </a:r>
            <a:r>
              <a:rPr lang="hu-HU" sz="1600" dirty="0"/>
              <a:t> </a:t>
            </a:r>
            <a:r>
              <a:rPr lang="hu-HU" sz="1600" b="1" dirty="0"/>
              <a:t>events</a:t>
            </a:r>
            <a:r>
              <a:rPr lang="hu-HU" sz="1600" dirty="0"/>
              <a:t>:</a:t>
            </a:r>
          </a:p>
          <a:p>
            <a:pPr lvl="1"/>
            <a:r>
              <a:rPr lang="hu-HU" sz="1400" dirty="0"/>
              <a:t>E.g. logs of a specific application</a:t>
            </a:r>
          </a:p>
          <a:p>
            <a:pPr lvl="1"/>
            <a:r>
              <a:rPr lang="hu-HU" sz="1400" dirty="0"/>
              <a:t>Rougly analogous to </a:t>
            </a:r>
            <a:r>
              <a:rPr lang="hu-HU" sz="1400" b="1" dirty="0"/>
              <a:t>SQL tables</a:t>
            </a:r>
          </a:p>
          <a:p>
            <a:pPr lvl="1"/>
            <a:endParaRPr lang="hu-HU" sz="1400" b="1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Producers</a:t>
            </a:r>
            <a:r>
              <a:rPr lang="hu-HU" sz="1600" dirty="0"/>
              <a:t> are applications that send data into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Consumers</a:t>
            </a:r>
            <a:r>
              <a:rPr lang="hu-HU" sz="1600" dirty="0"/>
              <a:t> are applications that pull data from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9021399" y="873547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9021399" y="2676288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DC05DC-FB55-58E3-E878-50D2A0C7DB12}"/>
              </a:ext>
            </a:extLst>
          </p:cNvPr>
          <p:cNvSpPr/>
          <p:nvPr/>
        </p:nvSpPr>
        <p:spPr>
          <a:xfrm>
            <a:off x="7496673" y="1657485"/>
            <a:ext cx="4495479" cy="734237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" descr="Apache Kafka">
            <a:extLst>
              <a:ext uri="{FF2B5EF4-FFF2-40B4-BE49-F238E27FC236}">
                <a16:creationId xmlns:a16="http://schemas.microsoft.com/office/drawing/2014/main" id="{D39148AD-1325-F8EC-08D9-BB1583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951" y="1730206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9744413" y="1353963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744413" y="2391722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9172912" y="1860879"/>
            <a:ext cx="1143000" cy="327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topic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Overview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85B3860-0400-98B0-DDAB-7B9965199A5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Topics</a:t>
            </a:r>
            <a:r>
              <a:rPr lang="hu-HU" sz="1600" dirty="0"/>
              <a:t> oragnize </a:t>
            </a:r>
            <a:r>
              <a:rPr lang="hu-HU" sz="1600" b="1" dirty="0"/>
              <a:t>related</a:t>
            </a:r>
            <a:r>
              <a:rPr lang="hu-HU" sz="1600" dirty="0"/>
              <a:t> </a:t>
            </a:r>
            <a:r>
              <a:rPr lang="hu-HU" sz="1600" b="1" dirty="0"/>
              <a:t>events</a:t>
            </a:r>
            <a:r>
              <a:rPr lang="hu-HU" sz="1600" dirty="0"/>
              <a:t>:</a:t>
            </a:r>
          </a:p>
          <a:p>
            <a:pPr lvl="1"/>
            <a:r>
              <a:rPr lang="hu-HU" sz="1400" dirty="0"/>
              <a:t>E.g. logs of a specific application</a:t>
            </a:r>
          </a:p>
          <a:p>
            <a:pPr lvl="1"/>
            <a:r>
              <a:rPr lang="hu-HU" sz="1400" dirty="0"/>
              <a:t>Rougly analogous to </a:t>
            </a:r>
            <a:r>
              <a:rPr lang="hu-HU" sz="1400" b="1" dirty="0"/>
              <a:t>SQL tables</a:t>
            </a:r>
          </a:p>
          <a:p>
            <a:pPr lvl="1"/>
            <a:endParaRPr lang="hu-HU" sz="1400" b="1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Producers</a:t>
            </a:r>
            <a:r>
              <a:rPr lang="hu-HU" sz="1600" dirty="0"/>
              <a:t> are applications that send data into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>
                <a:solidFill>
                  <a:schemeClr val="accent1">
                    <a:lumMod val="75000"/>
                  </a:schemeClr>
                </a:solidFill>
              </a:rPr>
              <a:t>Consumers</a:t>
            </a:r>
            <a:r>
              <a:rPr lang="hu-HU" sz="1600" dirty="0"/>
              <a:t> are applications that pull data from topics:</a:t>
            </a:r>
          </a:p>
          <a:p>
            <a:pPr lvl="1"/>
            <a:r>
              <a:rPr lang="hu-HU" sz="1400" dirty="0"/>
              <a:t>They</a:t>
            </a:r>
            <a:r>
              <a:rPr lang="en-US" sz="1400" dirty="0"/>
              <a:t> are deployed outside Kafka and only interact with</a:t>
            </a:r>
            <a:r>
              <a:rPr lang="hu-HU" sz="1400" dirty="0"/>
              <a:t> it</a:t>
            </a:r>
          </a:p>
          <a:p>
            <a:pPr lvl="1"/>
            <a:r>
              <a:rPr lang="hu-HU" sz="1400" dirty="0"/>
              <a:t>At code level they integrate with Kafka client libraries (Java, Python, Go, etc.)</a:t>
            </a:r>
          </a:p>
          <a:p>
            <a:pPr lvl="1"/>
            <a:endParaRPr lang="hu-HU" sz="1400" dirty="0"/>
          </a:p>
          <a:p>
            <a:r>
              <a:rPr lang="hu-HU" sz="1600" b="1" dirty="0"/>
              <a:t>Client-server </a:t>
            </a:r>
            <a:r>
              <a:rPr lang="hu-HU" sz="1600" dirty="0"/>
              <a:t>architecture:</a:t>
            </a:r>
          </a:p>
          <a:p>
            <a:pPr lvl="1"/>
            <a:r>
              <a:rPr lang="hu-HU" sz="1400" dirty="0"/>
              <a:t>Topics are stored on servers, called </a:t>
            </a:r>
            <a:r>
              <a:rPr lang="hu-HU" sz="1400" b="1" dirty="0">
                <a:solidFill>
                  <a:schemeClr val="accent1">
                    <a:lumMod val="75000"/>
                  </a:schemeClr>
                </a:solidFill>
              </a:rPr>
              <a:t>Kafka brokers</a:t>
            </a:r>
          </a:p>
          <a:p>
            <a:pPr lvl="1"/>
            <a:r>
              <a:rPr lang="hu-HU" sz="1400" dirty="0"/>
              <a:t>Producers and consumers are the clients</a:t>
            </a:r>
          </a:p>
          <a:p>
            <a:pPr lvl="1"/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9011244" y="868735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9011244" y="3724278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3EF817-2751-E427-7227-AFD7480D74D2}"/>
              </a:ext>
            </a:extLst>
          </p:cNvPr>
          <p:cNvSpPr txBox="1"/>
          <p:nvPr/>
        </p:nvSpPr>
        <p:spPr>
          <a:xfrm>
            <a:off x="11396587" y="6214325"/>
            <a:ext cx="48506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u-HU" dirty="0"/>
              <a:t>. . .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DC05DC-FB55-58E3-E878-50D2A0C7DB12}"/>
              </a:ext>
            </a:extLst>
          </p:cNvPr>
          <p:cNvSpPr/>
          <p:nvPr/>
        </p:nvSpPr>
        <p:spPr>
          <a:xfrm>
            <a:off x="7486518" y="1659941"/>
            <a:ext cx="4495479" cy="1779772"/>
          </a:xfrm>
          <a:prstGeom prst="roundRect">
            <a:avLst/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                     ...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9734258" y="1349151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</p:cNvCxnSpPr>
          <p:nvPr/>
        </p:nvCxnSpPr>
        <p:spPr>
          <a:xfrm>
            <a:off x="9734258" y="3439712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67840F6-E521-6126-E985-DF7DFA1796C2}"/>
              </a:ext>
            </a:extLst>
          </p:cNvPr>
          <p:cNvSpPr/>
          <p:nvPr/>
        </p:nvSpPr>
        <p:spPr>
          <a:xfrm>
            <a:off x="8821475" y="1869008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8991901" y="2272137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4D9085-C9CF-C4FE-AC6D-EAC02F8A2BF7}"/>
              </a:ext>
            </a:extLst>
          </p:cNvPr>
          <p:cNvSpPr/>
          <p:nvPr/>
        </p:nvSpPr>
        <p:spPr>
          <a:xfrm>
            <a:off x="8991901" y="2861117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87962-ED6E-F7EA-FCF4-306FCEE06B1A}"/>
              </a:ext>
            </a:extLst>
          </p:cNvPr>
          <p:cNvSpPr txBox="1"/>
          <p:nvPr/>
        </p:nvSpPr>
        <p:spPr>
          <a:xfrm>
            <a:off x="8821475" y="1865726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62CED-1931-B0D8-B026-D8FB5F5295A7}"/>
              </a:ext>
            </a:extLst>
          </p:cNvPr>
          <p:cNvSpPr/>
          <p:nvPr/>
        </p:nvSpPr>
        <p:spPr>
          <a:xfrm>
            <a:off x="10631722" y="1869008"/>
            <a:ext cx="1063256" cy="1427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endParaRPr lang="hu-HU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400"/>
              </a:lnSpc>
            </a:pPr>
            <a:r>
              <a: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DCCD81-C791-DB75-9255-774C84A96548}"/>
              </a:ext>
            </a:extLst>
          </p:cNvPr>
          <p:cNvSpPr/>
          <p:nvPr/>
        </p:nvSpPr>
        <p:spPr>
          <a:xfrm>
            <a:off x="10802148" y="2272137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C8B5E9-ADB0-0321-241B-92BC89530879}"/>
              </a:ext>
            </a:extLst>
          </p:cNvPr>
          <p:cNvSpPr/>
          <p:nvPr/>
        </p:nvSpPr>
        <p:spPr>
          <a:xfrm>
            <a:off x="10802148" y="2861117"/>
            <a:ext cx="722404" cy="27092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E2A26F-CD16-D4E6-B543-176FA279C54D}"/>
              </a:ext>
            </a:extLst>
          </p:cNvPr>
          <p:cNvSpPr txBox="1"/>
          <p:nvPr/>
        </p:nvSpPr>
        <p:spPr>
          <a:xfrm>
            <a:off x="10631722" y="1865726"/>
            <a:ext cx="106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broker</a:t>
            </a:r>
            <a:endParaRPr lang="en-US" dirty="0"/>
          </a:p>
        </p:txBody>
      </p:sp>
      <p:pic>
        <p:nvPicPr>
          <p:cNvPr id="10" name="Picture 2" descr="Apache Kafka">
            <a:extLst>
              <a:ext uri="{FF2B5EF4-FFF2-40B4-BE49-F238E27FC236}">
                <a16:creationId xmlns:a16="http://schemas.microsoft.com/office/drawing/2014/main" id="{818F931D-A22E-CA98-D6FB-DAC5F3994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96" y="2344803"/>
            <a:ext cx="899556" cy="41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Topics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14247-F01C-D2CB-1E45-C18DD89C84A9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A topic is a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particular stream of data</a:t>
            </a:r>
          </a:p>
          <a:p>
            <a:pPr lvl="1"/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Stream: sequence of messages</a:t>
            </a: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Similar to </a:t>
            </a:r>
            <a:r>
              <a:rPr lang="hu-HU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a table in a</a:t>
            </a:r>
            <a:r>
              <a:rPr lang="en-US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 database</a:t>
            </a:r>
            <a:endParaRPr lang="hu-HU" b="0" i="0" dirty="0">
              <a:solidFill>
                <a:srgbClr val="1A1523"/>
              </a:solidFill>
              <a:effectLst/>
              <a:highlight>
                <a:srgbClr val="FFFFFF"/>
              </a:highlight>
            </a:endParaRPr>
          </a:p>
          <a:p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Identified by its name</a:t>
            </a:r>
          </a:p>
          <a:p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Any kind of message format (JSON, Avro, binary, ...)</a:t>
            </a:r>
          </a:p>
          <a:p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You can have as many as you want</a:t>
            </a: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b="1" dirty="0">
                <a:solidFill>
                  <a:srgbClr val="1A1523"/>
                </a:solidFill>
                <a:highlight>
                  <a:srgbClr val="FFFFFF"/>
                </a:highlight>
              </a:rPr>
              <a:t>Its not queryable, use producers to write them and consumers to read them</a:t>
            </a:r>
            <a:endParaRPr lang="hu-HU" b="1" i="0" dirty="0">
              <a:solidFill>
                <a:srgbClr val="1A1523"/>
              </a:solidFill>
              <a:effectLst/>
              <a:highlight>
                <a:srgbClr val="FFFFFF"/>
              </a:highlight>
            </a:endParaRP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8C08C-1443-31B3-D844-947A90161772}"/>
              </a:ext>
            </a:extLst>
          </p:cNvPr>
          <p:cNvSpPr/>
          <p:nvPr/>
        </p:nvSpPr>
        <p:spPr>
          <a:xfrm>
            <a:off x="9960610" y="916660"/>
            <a:ext cx="1446028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27D20-065C-EE2E-03E4-3649B07C2C7B}"/>
              </a:ext>
            </a:extLst>
          </p:cNvPr>
          <p:cNvSpPr/>
          <p:nvPr/>
        </p:nvSpPr>
        <p:spPr>
          <a:xfrm>
            <a:off x="9940963" y="4168370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9" name="Picture 2" descr="Apache Kafka">
            <a:extLst>
              <a:ext uri="{FF2B5EF4-FFF2-40B4-BE49-F238E27FC236}">
                <a16:creationId xmlns:a16="http://schemas.microsoft.com/office/drawing/2014/main" id="{D39148AD-1325-F8EC-08D9-BB15831C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10" y="2654633"/>
            <a:ext cx="650400" cy="29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792060-F653-3587-5807-70A42CFF9EF3}"/>
              </a:ext>
            </a:extLst>
          </p:cNvPr>
          <p:cNvCxnSpPr>
            <a:cxnSpLocks/>
          </p:cNvCxnSpPr>
          <p:nvPr/>
        </p:nvCxnSpPr>
        <p:spPr>
          <a:xfrm>
            <a:off x="10683624" y="1397076"/>
            <a:ext cx="0" cy="30352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A33CBC-31AF-0FAB-A315-D479C49088AD}"/>
              </a:ext>
            </a:extLst>
          </p:cNvPr>
          <p:cNvCxnSpPr>
            <a:cxnSpLocks/>
          </p:cNvCxnSpPr>
          <p:nvPr/>
        </p:nvCxnSpPr>
        <p:spPr>
          <a:xfrm>
            <a:off x="10663977" y="3883804"/>
            <a:ext cx="0" cy="29183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F9B221-A434-609F-1834-F04D36ECEBA9}"/>
              </a:ext>
            </a:extLst>
          </p:cNvPr>
          <p:cNvGrpSpPr/>
          <p:nvPr/>
        </p:nvGrpSpPr>
        <p:grpSpPr>
          <a:xfrm>
            <a:off x="10132349" y="1818719"/>
            <a:ext cx="1093536" cy="1965020"/>
            <a:chOff x="5831764" y="4342133"/>
            <a:chExt cx="1093536" cy="196502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4305DA-12EC-995D-8052-C34539E512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4547" y="5916119"/>
              <a:ext cx="0" cy="29183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C2832E-852C-B5C8-E3BE-C5FB80C3EE15}"/>
                </a:ext>
              </a:extLst>
            </p:cNvPr>
            <p:cNvSpPr/>
            <p:nvPr/>
          </p:nvSpPr>
          <p:spPr>
            <a:xfrm>
              <a:off x="5831764" y="4345415"/>
              <a:ext cx="1093536" cy="19617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hu-HU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>
                <a:lnSpc>
                  <a:spcPts val="400"/>
                </a:lnSpc>
              </a:pPr>
              <a:endParaRPr lang="en-US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785100-DBBA-E530-37F1-965EC86C64CD}"/>
                </a:ext>
              </a:extLst>
            </p:cNvPr>
            <p:cNvSpPr txBox="1"/>
            <p:nvPr/>
          </p:nvSpPr>
          <p:spPr>
            <a:xfrm>
              <a:off x="5831764" y="4342133"/>
              <a:ext cx="1063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/>
                <a:t>broker</a:t>
              </a:r>
              <a:endParaRPr lang="en-US" dirty="0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5949096" y="4747794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traffic</a:t>
              </a:r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0F2EA6D-8BCE-86C0-497A-C526DBFF6CB5}"/>
                </a:ext>
              </a:extLst>
            </p:cNvPr>
            <p:cNvSpPr/>
            <p:nvPr/>
          </p:nvSpPr>
          <p:spPr>
            <a:xfrm>
              <a:off x="5949095" y="5224894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logs</a:t>
              </a:r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9E12EE6-A80E-4571-C00A-37088C93A3B2}"/>
                </a:ext>
              </a:extLst>
            </p:cNvPr>
            <p:cNvSpPr/>
            <p:nvPr/>
          </p:nvSpPr>
          <p:spPr>
            <a:xfrm>
              <a:off x="5952601" y="5701994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orders</a:t>
              </a:r>
              <a:endParaRPr lang="en-US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73BA5E-B50C-825F-3922-A089E4154B2D}"/>
              </a:ext>
            </a:extLst>
          </p:cNvPr>
          <p:cNvSpPr/>
          <p:nvPr/>
        </p:nvSpPr>
        <p:spPr>
          <a:xfrm>
            <a:off x="9080206" y="1701209"/>
            <a:ext cx="2647506" cy="2190307"/>
          </a:xfrm>
          <a:prstGeom prst="roundRect">
            <a:avLst/>
          </a:prstGeom>
          <a:noFill/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0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Partitions and Offsets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8061A-1932-B995-33A4-D8A55FE30C4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b="0" i="0" dirty="0">
                <a:solidFill>
                  <a:srgbClr val="1A1523"/>
                </a:solidFill>
                <a:effectLst/>
                <a:highlight>
                  <a:srgbClr val="FFFFFF"/>
                </a:highlight>
              </a:rPr>
              <a:t>Topics are broken down into a number of partitions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single topic may have multiple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partitions: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no hard limit on how many (up to 100 its quite common)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The number is specified at topic creation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Messages within each partition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ordered</a:t>
            </a:r>
          </a:p>
          <a:p>
            <a:pPr lvl="1"/>
            <a:r>
              <a:rPr lang="hu-HU" sz="1400" b="1" dirty="0">
                <a:solidFill>
                  <a:srgbClr val="1A1523"/>
                </a:solidFill>
                <a:highlight>
                  <a:srgbClr val="FFFFFF"/>
                </a:highlight>
              </a:rPr>
              <a:t>but not accross partitions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Each message within a partition gets incremental id,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called offset:</a:t>
            </a:r>
          </a:p>
          <a:p>
            <a:pPr lvl="1"/>
            <a:r>
              <a:rPr lang="hu-HU" sz="1400" b="1" dirty="0">
                <a:solidFill>
                  <a:srgbClr val="1A1523"/>
                </a:solidFill>
                <a:highlight>
                  <a:srgbClr val="FFFFFF"/>
                </a:highlight>
              </a:rPr>
              <a:t>an offset only have meaning for a specific partition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same offset for another partition does not guarantee the same message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Kafka topics are immutable: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once message is written it cannot be modified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Message is assigned randomly to a partition if no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message key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is provided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176365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58F60F3-E731-93DD-9ADF-F042DFF51AF1}"/>
                </a:ext>
              </a:extLst>
            </p:cNvPr>
            <p:cNvCxnSpPr>
              <a:cxnSpLocks/>
            </p:cNvCxnSpPr>
            <p:nvPr/>
          </p:nvCxnSpPr>
          <p:spPr>
            <a:xfrm>
              <a:off x="3459630" y="3221112"/>
              <a:ext cx="753914" cy="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05003" y="2923924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write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334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D6CBE-50E3-B8C2-2403-8F728D8850D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4006634" y="2754581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write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52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E86EA-4EA3-B106-EC56-0556334D034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the message: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endParaRPr lang="hu-HU" sz="14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844383" y="2653505"/>
              <a:ext cx="1358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key: null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6"/>
            <a:ext cx="2645439" cy="327449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81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757973-E0A1-1823-6D15-6274F064A1E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inside the topic: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!=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same partition is assigned to the same key</a:t>
            </a: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11845" y="3564499"/>
              <a:ext cx="23634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key (person_id): 6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5"/>
            <a:ext cx="2504875" cy="677758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E898C7E-7E86-F12F-FD27-720DC72C3E41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270BF-07B1-D3B3-185A-CF8E34BAC316}"/>
              </a:ext>
            </a:extLst>
          </p:cNvPr>
          <p:cNvSpPr txBox="1"/>
          <p:nvPr/>
        </p:nvSpPr>
        <p:spPr>
          <a:xfrm>
            <a:off x="4823011" y="2674655"/>
            <a:ext cx="2363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key (person_id): 1</a:t>
            </a:r>
            <a:endParaRPr lang="en-US" sz="1400" dirty="0"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684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Keys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3D76F-F40E-1CEF-47F5-D5CFBDBA617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Producer can send key with the message (number, string, ...)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Based on the key the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producer decides to which partition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it sends inside the topic: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==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partition is selected at random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If 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 != null</a:t>
            </a:r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 same partition is assigned to the same key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Use key if order is important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3705731" y="2218760"/>
            <a:ext cx="8212046" cy="2718529"/>
            <a:chOff x="2194565" y="2158203"/>
            <a:chExt cx="8212046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656B9AC-9CE4-86D8-7E97-7268A65830BC}"/>
                </a:ext>
              </a:extLst>
            </p:cNvPr>
            <p:cNvSpPr/>
            <p:nvPr/>
          </p:nvSpPr>
          <p:spPr>
            <a:xfrm>
              <a:off x="2194565" y="2990924"/>
              <a:ext cx="1026854" cy="4731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Producer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DBEC50-4E0D-B35B-E2F8-0D65C115F9D8}"/>
                </a:ext>
              </a:extLst>
            </p:cNvPr>
            <p:cNvSpPr txBox="1"/>
            <p:nvPr/>
          </p:nvSpPr>
          <p:spPr>
            <a:xfrm>
              <a:off x="3311845" y="3564499"/>
              <a:ext cx="23634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person_id_6</a:t>
              </a:r>
            </a:p>
            <a:p>
              <a:pPr algn="ctr"/>
              <a:r>
                <a:rPr lang="hu-HU" sz="1400" dirty="0">
                  <a:latin typeface="Courier New" panose="02070309020205020404" pitchFamily="49" charset="0"/>
                  <a:ea typeface="Open Sans" panose="020B0606030504020204" pitchFamily="34" charset="0"/>
                  <a:cs typeface="Courier New" panose="02070309020205020404" pitchFamily="49" charset="0"/>
                </a:rPr>
                <a:t>person_id_7</a:t>
              </a:r>
              <a:endParaRPr lang="en-US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32D3E3-BCCD-FDA5-8B9E-DC955A7BFE85}"/>
              </a:ext>
            </a:extLst>
          </p:cNvPr>
          <p:cNvSpPr/>
          <p:nvPr/>
        </p:nvSpPr>
        <p:spPr>
          <a:xfrm flipV="1">
            <a:off x="4920018" y="3297475"/>
            <a:ext cx="2504875" cy="677758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E898C7E-7E86-F12F-FD27-720DC72C3E41}"/>
              </a:ext>
            </a:extLst>
          </p:cNvPr>
          <p:cNvSpPr/>
          <p:nvPr/>
        </p:nvSpPr>
        <p:spPr>
          <a:xfrm>
            <a:off x="4908884" y="2541069"/>
            <a:ext cx="2502569" cy="770022"/>
          </a:xfrm>
          <a:custGeom>
            <a:avLst/>
            <a:gdLst>
              <a:gd name="connsiteX0" fmla="*/ 0 w 2502569"/>
              <a:gd name="connsiteY0" fmla="*/ 770022 h 770022"/>
              <a:gd name="connsiteX1" fmla="*/ 1636295 w 2502569"/>
              <a:gd name="connsiteY1" fmla="*/ 558266 h 770022"/>
              <a:gd name="connsiteX2" fmla="*/ 2502569 w 2502569"/>
              <a:gd name="connsiteY2" fmla="*/ 0 h 77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2569" h="770022">
                <a:moveTo>
                  <a:pt x="0" y="770022"/>
                </a:moveTo>
                <a:cubicBezTo>
                  <a:pt x="609600" y="728312"/>
                  <a:pt x="1219200" y="686603"/>
                  <a:pt x="1636295" y="558266"/>
                </a:cubicBezTo>
                <a:cubicBezTo>
                  <a:pt x="2053390" y="429929"/>
                  <a:pt x="2277979" y="214964"/>
                  <a:pt x="2502569" y="0"/>
                </a:cubicBezTo>
              </a:path>
            </a:pathLst>
          </a:custGeom>
          <a:noFill/>
          <a:ln w="1905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270BF-07B1-D3B3-185A-CF8E34BAC316}"/>
              </a:ext>
            </a:extLst>
          </p:cNvPr>
          <p:cNvSpPr txBox="1"/>
          <p:nvPr/>
        </p:nvSpPr>
        <p:spPr>
          <a:xfrm>
            <a:off x="4817699" y="2387180"/>
            <a:ext cx="2363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person_id_1</a:t>
            </a:r>
          </a:p>
          <a:p>
            <a:pPr algn="ctr"/>
            <a:r>
              <a:rPr lang="hu-HU" sz="14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person_id_2</a:t>
            </a:r>
            <a:endParaRPr lang="en-US" sz="1400" dirty="0"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38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AC4C71-C978-6C4A-DC55-C07D81848C2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Message Anatomy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A1083-E501-4F83-A79B-49082680A32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B1C7FC8-E372-A731-532D-4FD367C0C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So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Kafka only accepts bytes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Clients obviously uses higher-level objects (Integer, String, etc.) for Key and Value </a:t>
            </a:r>
          </a:p>
          <a:p>
            <a:pPr lvl="1"/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To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transform these objects into binaries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a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Producer </a:t>
            </a:r>
            <a:r>
              <a:rPr lang="en-US" b="1" dirty="0">
                <a:solidFill>
                  <a:srgbClr val="1A1523"/>
                </a:solidFill>
                <a:highlight>
                  <a:srgbClr val="FFFFFF"/>
                </a:highlight>
              </a:rPr>
              <a:t>Serializer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 is needed</a:t>
            </a:r>
          </a:p>
          <a:p>
            <a:pPr lvl="1"/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To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transform the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binaries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 into objects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a Consumer</a:t>
            </a:r>
            <a:r>
              <a:rPr lang="en-US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b="1" dirty="0">
                <a:solidFill>
                  <a:srgbClr val="1A1523"/>
                </a:solidFill>
                <a:highlight>
                  <a:srgbClr val="FFFFFF"/>
                </a:highlight>
              </a:rPr>
              <a:t>Des</a:t>
            </a:r>
            <a:r>
              <a:rPr lang="en-US" b="1" dirty="0" err="1">
                <a:solidFill>
                  <a:srgbClr val="1A1523"/>
                </a:solidFill>
                <a:highlight>
                  <a:srgbClr val="FFFFFF"/>
                </a:highlight>
              </a:rPr>
              <a:t>erializer</a:t>
            </a:r>
            <a:r>
              <a:rPr lang="hu-HU" b="1" dirty="0">
                <a:solidFill>
                  <a:srgbClr val="1A1523"/>
                </a:solidFill>
                <a:highlight>
                  <a:srgbClr val="FFFFFF"/>
                </a:highlight>
              </a:rPr>
              <a:t> </a:t>
            </a:r>
            <a:r>
              <a:rPr lang="hu-HU" dirty="0">
                <a:solidFill>
                  <a:srgbClr val="1A1523"/>
                </a:solidFill>
                <a:highlight>
                  <a:srgbClr val="FFFFFF"/>
                </a:highlight>
              </a:rPr>
              <a:t>is needed</a:t>
            </a:r>
          </a:p>
          <a:p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E5C2D2-BCDD-3A0C-EDB8-954598070911}"/>
              </a:ext>
            </a:extLst>
          </p:cNvPr>
          <p:cNvSpPr/>
          <p:nvPr/>
        </p:nvSpPr>
        <p:spPr>
          <a:xfrm>
            <a:off x="4026896" y="919695"/>
            <a:ext cx="1650889" cy="9574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Key-binary</a:t>
            </a:r>
          </a:p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(can be null)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61C35-DE51-7F65-BB97-99A57558933D}"/>
              </a:ext>
            </a:extLst>
          </p:cNvPr>
          <p:cNvSpPr/>
          <p:nvPr/>
        </p:nvSpPr>
        <p:spPr>
          <a:xfrm>
            <a:off x="5677785" y="919694"/>
            <a:ext cx="2860159" cy="9574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Value-binary</a:t>
            </a:r>
          </a:p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(can be null)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EADBC-8462-E09C-A23A-8618478F29DA}"/>
              </a:ext>
            </a:extLst>
          </p:cNvPr>
          <p:cNvSpPr/>
          <p:nvPr/>
        </p:nvSpPr>
        <p:spPr>
          <a:xfrm>
            <a:off x="4026896" y="1877097"/>
            <a:ext cx="4511048" cy="5759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Compression Type</a:t>
            </a:r>
          </a:p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(none, gzip, snappy, lz4, zstd)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D3A3D-064F-259B-77CC-093286441187}"/>
              </a:ext>
            </a:extLst>
          </p:cNvPr>
          <p:cNvSpPr/>
          <p:nvPr/>
        </p:nvSpPr>
        <p:spPr>
          <a:xfrm>
            <a:off x="4026896" y="2457400"/>
            <a:ext cx="4511048" cy="137514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342BE-B3ED-44B1-C96E-D6AC5BAE28E4}"/>
              </a:ext>
            </a:extLst>
          </p:cNvPr>
          <p:cNvSpPr txBox="1"/>
          <p:nvPr/>
        </p:nvSpPr>
        <p:spPr>
          <a:xfrm>
            <a:off x="4026896" y="2573531"/>
            <a:ext cx="4511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Headers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(optional)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7E5C2-DAF8-5C19-BD38-0A5B2BFE5B42}"/>
              </a:ext>
            </a:extLst>
          </p:cNvPr>
          <p:cNvSpPr/>
          <p:nvPr/>
        </p:nvSpPr>
        <p:spPr>
          <a:xfrm>
            <a:off x="4179296" y="3001811"/>
            <a:ext cx="1650889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D8037-2666-B951-034B-F1D8521E35C1}"/>
              </a:ext>
            </a:extLst>
          </p:cNvPr>
          <p:cNvSpPr/>
          <p:nvPr/>
        </p:nvSpPr>
        <p:spPr>
          <a:xfrm>
            <a:off x="4179295" y="3310795"/>
            <a:ext cx="1650889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C10E8-D70C-E09E-2711-7E691DF53B89}"/>
              </a:ext>
            </a:extLst>
          </p:cNvPr>
          <p:cNvSpPr/>
          <p:nvPr/>
        </p:nvSpPr>
        <p:spPr>
          <a:xfrm>
            <a:off x="5830185" y="3003017"/>
            <a:ext cx="2556068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40C46B-7F38-087B-FB3F-E5E19939000E}"/>
              </a:ext>
            </a:extLst>
          </p:cNvPr>
          <p:cNvSpPr/>
          <p:nvPr/>
        </p:nvSpPr>
        <p:spPr>
          <a:xfrm>
            <a:off x="5830185" y="3310795"/>
            <a:ext cx="2556068" cy="307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23B90-93EB-ED9D-7D88-46445096541C}"/>
              </a:ext>
            </a:extLst>
          </p:cNvPr>
          <p:cNvSpPr/>
          <p:nvPr/>
        </p:nvSpPr>
        <p:spPr>
          <a:xfrm>
            <a:off x="4026896" y="3832544"/>
            <a:ext cx="4511048" cy="4294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+ Offset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54AC7-2B14-F19A-38A8-CF923D21A0D2}"/>
              </a:ext>
            </a:extLst>
          </p:cNvPr>
          <p:cNvSpPr/>
          <p:nvPr/>
        </p:nvSpPr>
        <p:spPr>
          <a:xfrm>
            <a:off x="4026896" y="4265034"/>
            <a:ext cx="4511048" cy="4294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Timestamp</a:t>
            </a: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(system or user set)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AB1F9B-85FD-7F22-D0D0-1ABC36A94231}"/>
              </a:ext>
            </a:extLst>
          </p:cNvPr>
          <p:cNvSpPr/>
          <p:nvPr/>
        </p:nvSpPr>
        <p:spPr>
          <a:xfrm>
            <a:off x="1623228" y="2573531"/>
            <a:ext cx="1026854" cy="473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FCEED9-1821-5A65-18AE-36004FAC60FA}"/>
              </a:ext>
            </a:extLst>
          </p:cNvPr>
          <p:cNvCxnSpPr>
            <a:cxnSpLocks/>
          </p:cNvCxnSpPr>
          <p:nvPr/>
        </p:nvCxnSpPr>
        <p:spPr>
          <a:xfrm>
            <a:off x="2925951" y="2866230"/>
            <a:ext cx="753914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508A1DE-BCE7-4B5A-39C6-2B41BF1E4445}"/>
              </a:ext>
            </a:extLst>
          </p:cNvPr>
          <p:cNvSpPr txBox="1"/>
          <p:nvPr/>
        </p:nvSpPr>
        <p:spPr>
          <a:xfrm>
            <a:off x="2771324" y="2569042"/>
            <a:ext cx="1070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8" name="Picture 2" descr="Apache Kafka">
            <a:extLst>
              <a:ext uri="{FF2B5EF4-FFF2-40B4-BE49-F238E27FC236}">
                <a16:creationId xmlns:a16="http://schemas.microsoft.com/office/drawing/2014/main" id="{09BD2E0D-0EBC-B968-EFF3-1717209CF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991" y="2428533"/>
            <a:ext cx="1291684" cy="588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C717A4C3-2F5E-6184-A585-FF390B0A68EE}"/>
              </a:ext>
            </a:extLst>
          </p:cNvPr>
          <p:cNvSpPr/>
          <p:nvPr/>
        </p:nvSpPr>
        <p:spPr>
          <a:xfrm>
            <a:off x="8697433" y="2639984"/>
            <a:ext cx="659218" cy="170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3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Serialization / Deserialization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311E8-33C4-0303-3E84-0FE319EA9BC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75" name="Content Placeholder 2074">
            <a:extLst>
              <a:ext uri="{FF2B5EF4-FFF2-40B4-BE49-F238E27FC236}">
                <a16:creationId xmlns:a16="http://schemas.microsoft.com/office/drawing/2014/main" id="{98DF36CE-E5B4-6BFD-374D-0A9DF70D4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The serialization/deserialization is an important implementation choice</a:t>
            </a:r>
          </a:p>
          <a:p>
            <a:r>
              <a:rPr lang="hu-HU" b="1" dirty="0"/>
              <a:t>Changing the serialization</a:t>
            </a:r>
            <a:r>
              <a:rPr lang="hu-HU" dirty="0"/>
              <a:t> type for the topic </a:t>
            </a:r>
            <a:r>
              <a:rPr lang="hu-HU" b="1" dirty="0"/>
              <a:t>breaks the client</a:t>
            </a:r>
            <a:r>
              <a:rPr lang="hu-HU" dirty="0"/>
              <a:t> at code level (better to create a new topic)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255E72-E68E-6ED6-AA03-9ADB069D90E2}"/>
              </a:ext>
            </a:extLst>
          </p:cNvPr>
          <p:cNvGrpSpPr/>
          <p:nvPr/>
        </p:nvGrpSpPr>
        <p:grpSpPr>
          <a:xfrm>
            <a:off x="787169" y="1587294"/>
            <a:ext cx="4464653" cy="3999786"/>
            <a:chOff x="787169" y="1019747"/>
            <a:chExt cx="4840157" cy="456733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FE3F59-69BA-1876-BBD8-F0E9BE0DC674}"/>
                </a:ext>
              </a:extLst>
            </p:cNvPr>
            <p:cNvSpPr/>
            <p:nvPr/>
          </p:nvSpPr>
          <p:spPr>
            <a:xfrm>
              <a:off x="787169" y="1684059"/>
              <a:ext cx="1785363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123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B12472-0C4A-900A-E074-1A18E10B4D63}"/>
                </a:ext>
              </a:extLst>
            </p:cNvPr>
            <p:cNvSpPr/>
            <p:nvPr/>
          </p:nvSpPr>
          <p:spPr>
            <a:xfrm>
              <a:off x="3114426" y="1679096"/>
              <a:ext cx="2046364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„hello world”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CC0DCD-510E-AFF6-9C12-9F2DF168EF66}"/>
                </a:ext>
              </a:extLst>
            </p:cNvPr>
            <p:cNvSpPr/>
            <p:nvPr/>
          </p:nvSpPr>
          <p:spPr>
            <a:xfrm>
              <a:off x="787169" y="3152024"/>
              <a:ext cx="1785363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 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Integer 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2CCFE4-0960-5C69-C3D6-E36C9624A952}"/>
                </a:ext>
              </a:extLst>
            </p:cNvPr>
            <p:cNvSpPr/>
            <p:nvPr/>
          </p:nvSpPr>
          <p:spPr>
            <a:xfrm>
              <a:off x="3114426" y="3145203"/>
              <a:ext cx="2046364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 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 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F25945-A258-00FB-1B3F-6F082D7FF74B}"/>
                </a:ext>
              </a:extLst>
            </p:cNvPr>
            <p:cNvSpPr/>
            <p:nvPr/>
          </p:nvSpPr>
          <p:spPr>
            <a:xfrm>
              <a:off x="787169" y="4629677"/>
              <a:ext cx="1785363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01110011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0EBA5A-1F4F-A9BF-19DB-F83FB9CF8C12}"/>
                </a:ext>
              </a:extLst>
            </p:cNvPr>
            <p:cNvSpPr/>
            <p:nvPr/>
          </p:nvSpPr>
          <p:spPr>
            <a:xfrm>
              <a:off x="2572531" y="4629676"/>
              <a:ext cx="3054795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101011101110000001010110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0B0536F-62C2-1848-63EA-9EDA9928B747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1679851" y="2641462"/>
              <a:ext cx="0" cy="5105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1D3EF68-D626-D2F9-8B0A-BDE648DFE8B2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>
              <a:off x="1679851" y="4109427"/>
              <a:ext cx="0" cy="520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17DB0FC-FD87-5CC1-F92F-1E56C7507D8E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4137608" y="2636499"/>
              <a:ext cx="0" cy="5087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27096EA-17B2-0A11-E30D-E5EDC43B3E84}"/>
                </a:ext>
              </a:extLst>
            </p:cNvPr>
            <p:cNvSpPr txBox="1"/>
            <p:nvPr/>
          </p:nvSpPr>
          <p:spPr>
            <a:xfrm>
              <a:off x="1693937" y="2740022"/>
              <a:ext cx="5974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5CE31E-ACA2-73CD-EFAC-4B703E41A431}"/>
                </a:ext>
              </a:extLst>
            </p:cNvPr>
            <p:cNvSpPr txBox="1"/>
            <p:nvPr/>
          </p:nvSpPr>
          <p:spPr>
            <a:xfrm>
              <a:off x="4159617" y="2721574"/>
              <a:ext cx="786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04C977-3EB3-EF8C-0631-EFFEF72F75A5}"/>
                </a:ext>
              </a:extLst>
            </p:cNvPr>
            <p:cNvSpPr txBox="1"/>
            <p:nvPr/>
          </p:nvSpPr>
          <p:spPr>
            <a:xfrm>
              <a:off x="1696204" y="4207987"/>
              <a:ext cx="7657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F77BDCC-A001-58FE-3143-8B33360E56B4}"/>
                </a:ext>
              </a:extLst>
            </p:cNvPr>
            <p:cNvSpPr txBox="1"/>
            <p:nvPr/>
          </p:nvSpPr>
          <p:spPr>
            <a:xfrm>
              <a:off x="4236518" y="4187682"/>
              <a:ext cx="793764" cy="386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064" name="Straight Arrow Connector 2063">
              <a:extLst>
                <a:ext uri="{FF2B5EF4-FFF2-40B4-BE49-F238E27FC236}">
                  <a16:creationId xmlns:a16="http://schemas.microsoft.com/office/drawing/2014/main" id="{2D379D2D-B786-F6F2-E39C-66FA2E3D827B}"/>
                </a:ext>
              </a:extLst>
            </p:cNvPr>
            <p:cNvCxnSpPr/>
            <p:nvPr/>
          </p:nvCxnSpPr>
          <p:spPr>
            <a:xfrm>
              <a:off x="4137608" y="4109426"/>
              <a:ext cx="0" cy="520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2" name="TextBox 2071">
              <a:extLst>
                <a:ext uri="{FF2B5EF4-FFF2-40B4-BE49-F238E27FC236}">
                  <a16:creationId xmlns:a16="http://schemas.microsoft.com/office/drawing/2014/main" id="{DDE2724B-E887-11D1-A9BE-8F2369FEC57A}"/>
                </a:ext>
              </a:extLst>
            </p:cNvPr>
            <p:cNvSpPr txBox="1"/>
            <p:nvPr/>
          </p:nvSpPr>
          <p:spPr>
            <a:xfrm>
              <a:off x="2065473" y="1019747"/>
              <a:ext cx="2241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b="1" dirty="0"/>
                <a:t>Producer</a:t>
              </a:r>
              <a:endParaRPr lang="en-US" b="1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B63F657-6287-A6F5-9EB9-7B8C1518612C}"/>
              </a:ext>
            </a:extLst>
          </p:cNvPr>
          <p:cNvGrpSpPr/>
          <p:nvPr/>
        </p:nvGrpSpPr>
        <p:grpSpPr>
          <a:xfrm>
            <a:off x="6797477" y="1611053"/>
            <a:ext cx="4676202" cy="3976028"/>
            <a:chOff x="6558460" y="1046230"/>
            <a:chExt cx="4915219" cy="454085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659E729-630C-EC9F-41B7-02D49303DD1D}"/>
                </a:ext>
              </a:extLst>
            </p:cNvPr>
            <p:cNvSpPr/>
            <p:nvPr/>
          </p:nvSpPr>
          <p:spPr>
            <a:xfrm>
              <a:off x="6558461" y="1684060"/>
              <a:ext cx="1860424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123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CB466B-BE1B-0B35-CF5A-386BB6658E14}"/>
                </a:ext>
              </a:extLst>
            </p:cNvPr>
            <p:cNvSpPr/>
            <p:nvPr/>
          </p:nvSpPr>
          <p:spPr>
            <a:xfrm>
              <a:off x="8960779" y="1679097"/>
              <a:ext cx="1954271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Value-object</a:t>
              </a:r>
            </a:p>
            <a:p>
              <a:pPr algn="ctr"/>
              <a:endPara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„hello world”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0E7D040-1A74-79DC-113F-21C491B01E24}"/>
                </a:ext>
              </a:extLst>
            </p:cNvPr>
            <p:cNvSpPr/>
            <p:nvPr/>
          </p:nvSpPr>
          <p:spPr>
            <a:xfrm>
              <a:off x="6558460" y="3152025"/>
              <a:ext cx="1860425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 Deserializer=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Integer Deserializer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FFBB8C2-5DCD-740B-07AC-F5B3FBD2A36D}"/>
                </a:ext>
              </a:extLst>
            </p:cNvPr>
            <p:cNvSpPr/>
            <p:nvPr/>
          </p:nvSpPr>
          <p:spPr>
            <a:xfrm>
              <a:off x="8960779" y="3145204"/>
              <a:ext cx="1954271" cy="95740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 Deserializer=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 Deserializer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5D0E39E-9BB7-D037-D885-F7DA50FEB105}"/>
                </a:ext>
              </a:extLst>
            </p:cNvPr>
            <p:cNvSpPr/>
            <p:nvPr/>
          </p:nvSpPr>
          <p:spPr>
            <a:xfrm>
              <a:off x="6558461" y="4629678"/>
              <a:ext cx="1860424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Key-binary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01110011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9B6FC0D-E4BF-47C2-1AD9-D07909B7EF2E}"/>
                </a:ext>
              </a:extLst>
            </p:cNvPr>
            <p:cNvSpPr/>
            <p:nvPr/>
          </p:nvSpPr>
          <p:spPr>
            <a:xfrm>
              <a:off x="8418884" y="4629677"/>
              <a:ext cx="3054795" cy="95740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Value-binary</a:t>
              </a:r>
            </a:p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101011101110000001010110</a:t>
              </a:r>
            </a:p>
            <a:p>
              <a:pPr algn="ctr"/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CB4562-8372-833B-6715-4E223EDC8C91}"/>
                </a:ext>
              </a:extLst>
            </p:cNvPr>
            <p:cNvCxnSpPr>
              <a:cxnSpLocks/>
              <a:stCxn id="50" idx="2"/>
              <a:endCxn id="54" idx="0"/>
            </p:cNvCxnSpPr>
            <p:nvPr/>
          </p:nvCxnSpPr>
          <p:spPr>
            <a:xfrm>
              <a:off x="7488673" y="2641463"/>
              <a:ext cx="0" cy="5105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Arrow Connector 2047">
              <a:extLst>
                <a:ext uri="{FF2B5EF4-FFF2-40B4-BE49-F238E27FC236}">
                  <a16:creationId xmlns:a16="http://schemas.microsoft.com/office/drawing/2014/main" id="{EDA7E5AE-D883-3D13-5FE5-7D48200CDE5E}"/>
                </a:ext>
              </a:extLst>
            </p:cNvPr>
            <p:cNvCxnSpPr>
              <a:cxnSpLocks/>
              <a:stCxn id="54" idx="2"/>
              <a:endCxn id="57" idx="0"/>
            </p:cNvCxnSpPr>
            <p:nvPr/>
          </p:nvCxnSpPr>
          <p:spPr>
            <a:xfrm>
              <a:off x="7488673" y="4109428"/>
              <a:ext cx="0" cy="52025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2558FB9A-B60C-F504-864C-3A46183941D3}"/>
                </a:ext>
              </a:extLst>
            </p:cNvPr>
            <p:cNvCxnSpPr>
              <a:cxnSpLocks/>
              <a:stCxn id="52" idx="2"/>
              <a:endCxn id="56" idx="0"/>
            </p:cNvCxnSpPr>
            <p:nvPr/>
          </p:nvCxnSpPr>
          <p:spPr>
            <a:xfrm>
              <a:off x="9937915" y="2636500"/>
              <a:ext cx="0" cy="5087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Arrow Connector 2050">
              <a:extLst>
                <a:ext uri="{FF2B5EF4-FFF2-40B4-BE49-F238E27FC236}">
                  <a16:creationId xmlns:a16="http://schemas.microsoft.com/office/drawing/2014/main" id="{7ACC9B11-BCC8-3CA2-08A9-9D6108D23829}"/>
                </a:ext>
              </a:extLst>
            </p:cNvPr>
            <p:cNvCxnSpPr>
              <a:cxnSpLocks/>
            </p:cNvCxnSpPr>
            <p:nvPr/>
          </p:nvCxnSpPr>
          <p:spPr>
            <a:xfrm>
              <a:off x="9937268" y="4102606"/>
              <a:ext cx="0" cy="52707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2" name="TextBox 2051">
              <a:extLst>
                <a:ext uri="{FF2B5EF4-FFF2-40B4-BE49-F238E27FC236}">
                  <a16:creationId xmlns:a16="http://schemas.microsoft.com/office/drawing/2014/main" id="{98F180F6-C2AE-DC8F-C813-E7195DE55B84}"/>
                </a:ext>
              </a:extLst>
            </p:cNvPr>
            <p:cNvSpPr txBox="1"/>
            <p:nvPr/>
          </p:nvSpPr>
          <p:spPr>
            <a:xfrm>
              <a:off x="7515171" y="2740023"/>
              <a:ext cx="622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635A9449-D512-16CC-83B1-6111FEFAD0C0}"/>
                </a:ext>
              </a:extLst>
            </p:cNvPr>
            <p:cNvSpPr txBox="1"/>
            <p:nvPr/>
          </p:nvSpPr>
          <p:spPr>
            <a:xfrm>
              <a:off x="9946281" y="2721575"/>
              <a:ext cx="7866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string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54" name="TextBox 2053">
              <a:extLst>
                <a:ext uri="{FF2B5EF4-FFF2-40B4-BE49-F238E27FC236}">
                  <a16:creationId xmlns:a16="http://schemas.microsoft.com/office/drawing/2014/main" id="{86C82F4A-D3F1-F6EB-7341-164863226B1A}"/>
                </a:ext>
              </a:extLst>
            </p:cNvPr>
            <p:cNvSpPr txBox="1"/>
            <p:nvPr/>
          </p:nvSpPr>
          <p:spPr>
            <a:xfrm>
              <a:off x="7510363" y="4207988"/>
              <a:ext cx="797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67738E2B-2EEA-489D-FF39-C728660208B6}"/>
                </a:ext>
              </a:extLst>
            </p:cNvPr>
            <p:cNvSpPr txBox="1"/>
            <p:nvPr/>
          </p:nvSpPr>
          <p:spPr>
            <a:xfrm>
              <a:off x="9975017" y="4187682"/>
              <a:ext cx="729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6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bytes</a:t>
              </a:r>
              <a:endPara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73" name="TextBox 2072">
              <a:extLst>
                <a:ext uri="{FF2B5EF4-FFF2-40B4-BE49-F238E27FC236}">
                  <a16:creationId xmlns:a16="http://schemas.microsoft.com/office/drawing/2014/main" id="{7E1C3DA5-4582-4FC8-746A-C0285C9E5F0E}"/>
                </a:ext>
              </a:extLst>
            </p:cNvPr>
            <p:cNvSpPr txBox="1"/>
            <p:nvPr/>
          </p:nvSpPr>
          <p:spPr>
            <a:xfrm>
              <a:off x="7733619" y="1046230"/>
              <a:ext cx="2241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b="1" dirty="0"/>
                <a:t>Consumer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8332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7284F-5C65-4B8C-448B-ABE464EF21D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Consumer reads data from a topic in a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pull model</a:t>
            </a: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consumer can read multiple partitions 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Each partition is being read in order, from lower to higher offset values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Typically a broker does not contain all partitions, but a consumer know which broker to read from</a:t>
            </a:r>
          </a:p>
          <a:p>
            <a:pPr lvl="1"/>
            <a:r>
              <a:rPr lang="hu-HU" sz="1400" dirty="0">
                <a:solidFill>
                  <a:srgbClr val="1A1523"/>
                </a:solidFill>
                <a:highlight>
                  <a:srgbClr val="FFFFFF"/>
                </a:highlight>
              </a:rPr>
              <a:t>In case of broker failure, a consumer know how to recover </a:t>
            </a:r>
          </a:p>
          <a:p>
            <a:pPr marL="0" indent="0">
              <a:buNone/>
            </a:pPr>
            <a:endParaRPr lang="hu-HU" sz="16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E93B418-16DF-49F7-7E18-CED899A62F02}"/>
              </a:ext>
            </a:extLst>
          </p:cNvPr>
          <p:cNvGrpSpPr/>
          <p:nvPr/>
        </p:nvGrpSpPr>
        <p:grpSpPr>
          <a:xfrm>
            <a:off x="544363" y="2958453"/>
            <a:ext cx="5970282" cy="2718529"/>
            <a:chOff x="4436329" y="2158203"/>
            <a:chExt cx="5970282" cy="271852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318241C-9DF9-C6CE-93EA-C3ADE26613C3}"/>
                </a:ext>
              </a:extLst>
            </p:cNvPr>
            <p:cNvSpPr/>
            <p:nvPr/>
          </p:nvSpPr>
          <p:spPr>
            <a:xfrm>
              <a:off x="4436329" y="3062358"/>
              <a:ext cx="858871" cy="327448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Topic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BCFCC1F6-F89E-37F3-9DD2-812B6E02639C}"/>
                </a:ext>
              </a:extLst>
            </p:cNvPr>
            <p:cNvSpPr/>
            <p:nvPr/>
          </p:nvSpPr>
          <p:spPr>
            <a:xfrm>
              <a:off x="5451017" y="2158203"/>
              <a:ext cx="491569" cy="213859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3739EC-36FB-3B82-C3C8-FC04BE68CA56}"/>
                </a:ext>
              </a:extLst>
            </p:cNvPr>
            <p:cNvSpPr txBox="1"/>
            <p:nvPr/>
          </p:nvSpPr>
          <p:spPr>
            <a:xfrm>
              <a:off x="5942586" y="2318289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62FC73-80D1-1E15-73FC-38E9D7F36CFB}"/>
                </a:ext>
              </a:extLst>
            </p:cNvPr>
            <p:cNvSpPr txBox="1"/>
            <p:nvPr/>
          </p:nvSpPr>
          <p:spPr>
            <a:xfrm>
              <a:off x="5942586" y="2888418"/>
              <a:ext cx="10705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78126-3165-7D51-BB27-CB73236B0AE6}"/>
                </a:ext>
              </a:extLst>
            </p:cNvPr>
            <p:cNvSpPr txBox="1"/>
            <p:nvPr/>
          </p:nvSpPr>
          <p:spPr>
            <a:xfrm>
              <a:off x="5942586" y="3760590"/>
              <a:ext cx="1214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Partition N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EC50C5-FA73-F3EA-98EC-561622F0F54F}"/>
                </a:ext>
              </a:extLst>
            </p:cNvPr>
            <p:cNvSpPr txBox="1"/>
            <p:nvPr/>
          </p:nvSpPr>
          <p:spPr>
            <a:xfrm>
              <a:off x="6288206" y="3352309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9026A6-6622-532D-DB10-D53B882DA8CC}"/>
                </a:ext>
              </a:extLst>
            </p:cNvPr>
            <p:cNvSpPr/>
            <p:nvPr/>
          </p:nvSpPr>
          <p:spPr>
            <a:xfrm>
              <a:off x="7186355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B94E0-F9C5-5181-9043-E5B5679B3A87}"/>
                </a:ext>
              </a:extLst>
            </p:cNvPr>
            <p:cNvSpPr/>
            <p:nvPr/>
          </p:nvSpPr>
          <p:spPr>
            <a:xfrm>
              <a:off x="7585553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BA99C6A-0E38-8FA8-5343-A5CEF95737B4}"/>
                </a:ext>
              </a:extLst>
            </p:cNvPr>
            <p:cNvSpPr/>
            <p:nvPr/>
          </p:nvSpPr>
          <p:spPr>
            <a:xfrm>
              <a:off x="7984751" y="2235604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A4F48D6-1950-0781-6848-6DAE4CF32FCA}"/>
                </a:ext>
              </a:extLst>
            </p:cNvPr>
            <p:cNvSpPr/>
            <p:nvPr/>
          </p:nvSpPr>
          <p:spPr>
            <a:xfrm>
              <a:off x="8383949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2687AE-5133-5D32-DED3-4A51F0F85617}"/>
                </a:ext>
              </a:extLst>
            </p:cNvPr>
            <p:cNvSpPr/>
            <p:nvPr/>
          </p:nvSpPr>
          <p:spPr>
            <a:xfrm>
              <a:off x="7186355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1EACEB-D0F9-0A08-AC19-29B439D561EF}"/>
                </a:ext>
              </a:extLst>
            </p:cNvPr>
            <p:cNvSpPr/>
            <p:nvPr/>
          </p:nvSpPr>
          <p:spPr>
            <a:xfrm>
              <a:off x="7585553" y="2862316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B02AD3-07CF-D86E-CFD0-A5F6D4974AB4}"/>
                </a:ext>
              </a:extLst>
            </p:cNvPr>
            <p:cNvSpPr/>
            <p:nvPr/>
          </p:nvSpPr>
          <p:spPr>
            <a:xfrm>
              <a:off x="7984751" y="2862318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C648C5-A0A2-E4EE-F524-B5D03D78C4AD}"/>
                </a:ext>
              </a:extLst>
            </p:cNvPr>
            <p:cNvSpPr/>
            <p:nvPr/>
          </p:nvSpPr>
          <p:spPr>
            <a:xfrm>
              <a:off x="8383949" y="2862317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BE6DDE0-D78E-EABC-C99D-0CAA6E271919}"/>
                </a:ext>
              </a:extLst>
            </p:cNvPr>
            <p:cNvSpPr/>
            <p:nvPr/>
          </p:nvSpPr>
          <p:spPr>
            <a:xfrm>
              <a:off x="8783147" y="2235603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C7BC536-BA11-37BD-E7FB-17B2B29F6F44}"/>
                </a:ext>
              </a:extLst>
            </p:cNvPr>
            <p:cNvSpPr/>
            <p:nvPr/>
          </p:nvSpPr>
          <p:spPr>
            <a:xfrm>
              <a:off x="9182345" y="223560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630052-2B56-262D-C94E-FCA679BB046F}"/>
                </a:ext>
              </a:extLst>
            </p:cNvPr>
            <p:cNvSpPr/>
            <p:nvPr/>
          </p:nvSpPr>
          <p:spPr>
            <a:xfrm>
              <a:off x="7186355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0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E20A0A-A697-F65A-F98A-9F87121B326E}"/>
                </a:ext>
              </a:extLst>
            </p:cNvPr>
            <p:cNvSpPr/>
            <p:nvPr/>
          </p:nvSpPr>
          <p:spPr>
            <a:xfrm>
              <a:off x="7585553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D945D0-4465-AC74-6B1E-8AC3DD0B16CE}"/>
                </a:ext>
              </a:extLst>
            </p:cNvPr>
            <p:cNvSpPr/>
            <p:nvPr/>
          </p:nvSpPr>
          <p:spPr>
            <a:xfrm>
              <a:off x="7984751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1724D9-0880-9AB5-BEAF-B3B71076B1F9}"/>
                </a:ext>
              </a:extLst>
            </p:cNvPr>
            <p:cNvSpPr/>
            <p:nvPr/>
          </p:nvSpPr>
          <p:spPr>
            <a:xfrm>
              <a:off x="8383949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CCC184-DBA8-83A0-5394-DBCD3F3496D2}"/>
                </a:ext>
              </a:extLst>
            </p:cNvPr>
            <p:cNvSpPr/>
            <p:nvPr/>
          </p:nvSpPr>
          <p:spPr>
            <a:xfrm>
              <a:off x="8783147" y="3667331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CBB0EB5-4BD5-7A17-2253-E263AA30C8DF}"/>
                </a:ext>
              </a:extLst>
            </p:cNvPr>
            <p:cNvSpPr/>
            <p:nvPr/>
          </p:nvSpPr>
          <p:spPr>
            <a:xfrm>
              <a:off x="9182345" y="3667330"/>
              <a:ext cx="399198" cy="3904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531372-E0FB-DDD3-A050-B209B36BF429}"/>
                </a:ext>
              </a:extLst>
            </p:cNvPr>
            <p:cNvSpPr/>
            <p:nvPr/>
          </p:nvSpPr>
          <p:spPr>
            <a:xfrm>
              <a:off x="9581543" y="3667332"/>
              <a:ext cx="399198" cy="39046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7A748A-C2FD-BC0F-D99D-B625C0ADC380}"/>
                </a:ext>
              </a:extLst>
            </p:cNvPr>
            <p:cNvSpPr txBox="1"/>
            <p:nvPr/>
          </p:nvSpPr>
          <p:spPr>
            <a:xfrm>
              <a:off x="8583548" y="4568955"/>
              <a:ext cx="1823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message offset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138B55D-4026-4D8B-B339-46011C8E39EC}"/>
                </a:ext>
              </a:extLst>
            </p:cNvPr>
            <p:cNvSpPr txBox="1"/>
            <p:nvPr/>
          </p:nvSpPr>
          <p:spPr>
            <a:xfrm rot="5400000">
              <a:off x="9724220" y="226733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DE41B48-9070-3292-48E6-D85759655721}"/>
                </a:ext>
              </a:extLst>
            </p:cNvPr>
            <p:cNvSpPr txBox="1"/>
            <p:nvPr/>
          </p:nvSpPr>
          <p:spPr>
            <a:xfrm rot="5400000">
              <a:off x="8852904" y="2900036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C3A3DF-AA09-91E4-98CA-654070BC7E77}"/>
                </a:ext>
              </a:extLst>
            </p:cNvPr>
            <p:cNvSpPr txBox="1"/>
            <p:nvPr/>
          </p:nvSpPr>
          <p:spPr>
            <a:xfrm rot="5400000">
              <a:off x="10039243" y="3705050"/>
              <a:ext cx="339902" cy="315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  <a:p>
              <a:pPr algn="ctr">
                <a:lnSpc>
                  <a:spcPts val="500"/>
                </a:lnSpc>
              </a:pP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5D3EF7-9647-4E1D-52A8-70C1408E0905}"/>
                </a:ext>
              </a:extLst>
            </p:cNvPr>
            <p:cNvCxnSpPr>
              <a:cxnSpLocks/>
              <a:stCxn id="60" idx="0"/>
              <a:endCxn id="42" idx="2"/>
            </p:cNvCxnSpPr>
            <p:nvPr/>
          </p:nvCxnSpPr>
          <p:spPr>
            <a:xfrm flipH="1" flipV="1">
              <a:off x="8583548" y="4057794"/>
              <a:ext cx="911532" cy="5111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7644571" y="2972171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6316133" y="3211033"/>
            <a:ext cx="1087636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DCB197-E836-97DC-193D-D75C7CD24613}"/>
              </a:ext>
            </a:extLst>
          </p:cNvPr>
          <p:cNvCxnSpPr>
            <a:cxnSpLocks/>
          </p:cNvCxnSpPr>
          <p:nvPr/>
        </p:nvCxnSpPr>
        <p:spPr>
          <a:xfrm flipV="1">
            <a:off x="5401733" y="3302646"/>
            <a:ext cx="2002036" cy="55996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9666BF-A64D-6163-0326-3D6396AE0F54}"/>
              </a:ext>
            </a:extLst>
          </p:cNvPr>
          <p:cNvCxnSpPr>
            <a:cxnSpLocks/>
          </p:cNvCxnSpPr>
          <p:nvPr/>
        </p:nvCxnSpPr>
        <p:spPr>
          <a:xfrm>
            <a:off x="6556935" y="4667299"/>
            <a:ext cx="846834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7644571" y="4437188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85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57523" y="2454442"/>
            <a:ext cx="2473693" cy="27046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EBEE9-5B8C-7012-1A1F-A2744626F55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</a:t>
            </a:r>
            <a:r>
              <a:rPr lang="en-US" sz="1600" dirty="0">
                <a:solidFill>
                  <a:srgbClr val="1A1523"/>
                </a:solidFill>
                <a:highlight>
                  <a:srgbClr val="FFFFFF"/>
                </a:highlight>
              </a:rPr>
              <a:t>set of consumers from the same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 application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 consumer always belong to a group, even if it is a lonely consumer</a:t>
            </a:r>
            <a:endParaRPr lang="hu-HU" sz="1200" dirty="0">
              <a:solidFill>
                <a:srgbClr val="1A1523"/>
              </a:solidFill>
              <a:highlight>
                <a:srgbClr val="FFFFFF"/>
              </a:highlight>
            </a:endParaRP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Each consumer in the same group reads exlusive partitions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838492" y="3922045"/>
            <a:ext cx="858871" cy="32744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54279" y="266467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71355" y="266876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74550" y="287074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71355" y="334872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54279" y="327210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54279" y="387952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92636-DA3E-1228-3787-B5B86A12CC3E}"/>
              </a:ext>
            </a:extLst>
          </p:cNvPr>
          <p:cNvSpPr/>
          <p:nvPr/>
        </p:nvSpPr>
        <p:spPr>
          <a:xfrm>
            <a:off x="1954279" y="446528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5FA5F2-9D36-44DC-F0A5-04AA75FE1D51}"/>
              </a:ext>
            </a:extLst>
          </p:cNvPr>
          <p:cNvSpPr/>
          <p:nvPr/>
        </p:nvSpPr>
        <p:spPr>
          <a:xfrm>
            <a:off x="1954279" y="5072715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29EF08-D128-523A-216C-BBB8D2F738AB}"/>
              </a:ext>
            </a:extLst>
          </p:cNvPr>
          <p:cNvSpPr/>
          <p:nvPr/>
        </p:nvSpPr>
        <p:spPr>
          <a:xfrm>
            <a:off x="5971355" y="4033417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93143" y="4710064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2EA556E-D4F9-33F9-2715-2074576B3C20}"/>
              </a:ext>
            </a:extLst>
          </p:cNvPr>
          <p:cNvCxnSpPr>
            <a:cxnSpLocks/>
          </p:cNvCxnSpPr>
          <p:nvPr/>
        </p:nvCxnSpPr>
        <p:spPr>
          <a:xfrm flipV="1">
            <a:off x="3274550" y="3016520"/>
            <a:ext cx="2473693" cy="412480"/>
          </a:xfrm>
          <a:prstGeom prst="bentConnector3">
            <a:avLst>
              <a:gd name="adj1" fmla="val 16116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583A8A3-7A5D-D43A-C0B8-1F2B0E60F7A9}"/>
              </a:ext>
            </a:extLst>
          </p:cNvPr>
          <p:cNvCxnSpPr>
            <a:cxnSpLocks/>
          </p:cNvCxnSpPr>
          <p:nvPr/>
        </p:nvCxnSpPr>
        <p:spPr>
          <a:xfrm flipV="1">
            <a:off x="3240746" y="3585295"/>
            <a:ext cx="2473693" cy="500474"/>
          </a:xfrm>
          <a:prstGeom prst="bentConnector3">
            <a:avLst>
              <a:gd name="adj1" fmla="val 43497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702C849A-8890-4E79-0D66-ADF81395DC3D}"/>
              </a:ext>
            </a:extLst>
          </p:cNvPr>
          <p:cNvCxnSpPr>
            <a:cxnSpLocks/>
          </p:cNvCxnSpPr>
          <p:nvPr/>
        </p:nvCxnSpPr>
        <p:spPr>
          <a:xfrm flipV="1">
            <a:off x="3240746" y="3746908"/>
            <a:ext cx="2473693" cy="952890"/>
          </a:xfrm>
          <a:prstGeom prst="bentConnector3">
            <a:avLst>
              <a:gd name="adj1" fmla="val 48631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E859BB1E-7DE0-0DEF-FEB2-A52FA8026DF4}"/>
              </a:ext>
            </a:extLst>
          </p:cNvPr>
          <p:cNvCxnSpPr>
            <a:cxnSpLocks/>
          </p:cNvCxnSpPr>
          <p:nvPr/>
        </p:nvCxnSpPr>
        <p:spPr>
          <a:xfrm flipV="1">
            <a:off x="3240746" y="4269992"/>
            <a:ext cx="2507497" cy="1022070"/>
          </a:xfrm>
          <a:prstGeom prst="bentConnector3">
            <a:avLst>
              <a:gd name="adj1" fmla="val 80051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1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57523" y="2454441"/>
            <a:ext cx="2473693" cy="33615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C8EB9-C959-F73B-CE9A-5E1DB92BCE2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there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more consumers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than partitions: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838492" y="3303610"/>
            <a:ext cx="858871" cy="32744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54279" y="266467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71355" y="266876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74550" y="287074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71355" y="334872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54279" y="327210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54279" y="387952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29EF08-D128-523A-216C-BBB8D2F738AB}"/>
              </a:ext>
            </a:extLst>
          </p:cNvPr>
          <p:cNvSpPr/>
          <p:nvPr/>
        </p:nvSpPr>
        <p:spPr>
          <a:xfrm>
            <a:off x="5971355" y="4033417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93143" y="5322396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2EA556E-D4F9-33F9-2715-2074576B3C20}"/>
              </a:ext>
            </a:extLst>
          </p:cNvPr>
          <p:cNvCxnSpPr>
            <a:cxnSpLocks/>
          </p:cNvCxnSpPr>
          <p:nvPr/>
        </p:nvCxnSpPr>
        <p:spPr>
          <a:xfrm>
            <a:off x="3274550" y="3429000"/>
            <a:ext cx="2473693" cy="156295"/>
          </a:xfrm>
          <a:prstGeom prst="bentConnector3">
            <a:avLst>
              <a:gd name="adj1" fmla="val 50000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D583A8A3-7A5D-D43A-C0B8-1F2B0E60F7A9}"/>
              </a:ext>
            </a:extLst>
          </p:cNvPr>
          <p:cNvCxnSpPr>
            <a:cxnSpLocks/>
          </p:cNvCxnSpPr>
          <p:nvPr/>
        </p:nvCxnSpPr>
        <p:spPr>
          <a:xfrm>
            <a:off x="3240746" y="4085769"/>
            <a:ext cx="2507497" cy="184222"/>
          </a:xfrm>
          <a:prstGeom prst="bentConnector3">
            <a:avLst>
              <a:gd name="adj1" fmla="val 50000"/>
            </a:avLst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D755E68-A1E5-4D9A-24F0-AE9B4D4CFE16}"/>
              </a:ext>
            </a:extLst>
          </p:cNvPr>
          <p:cNvSpPr/>
          <p:nvPr/>
        </p:nvSpPr>
        <p:spPr>
          <a:xfrm>
            <a:off x="5971355" y="4729845"/>
            <a:ext cx="1446028" cy="4731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8597B28-89FC-C12F-083A-6ED511CFCCF3}"/>
              </a:ext>
            </a:extLst>
          </p:cNvPr>
          <p:cNvSpPr txBox="1"/>
          <p:nvPr/>
        </p:nvSpPr>
        <p:spPr>
          <a:xfrm>
            <a:off x="5061258" y="4826086"/>
            <a:ext cx="905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inactive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836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C2BCAA-16D9-705F-D548-EDD15111614D}"/>
              </a:ext>
            </a:extLst>
          </p:cNvPr>
          <p:cNvSpPr/>
          <p:nvPr/>
        </p:nvSpPr>
        <p:spPr>
          <a:xfrm>
            <a:off x="5444019" y="1294808"/>
            <a:ext cx="2473693" cy="1815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96CA5-C213-BB9B-A750-EE29CC51627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there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more consumer groups on one topic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: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18241C-9DF9-C6CE-93EA-C3ADE26613C3}"/>
              </a:ext>
            </a:extLst>
          </p:cNvPr>
          <p:cNvSpPr/>
          <p:nvPr/>
        </p:nvSpPr>
        <p:spPr>
          <a:xfrm>
            <a:off x="783195" y="2150778"/>
            <a:ext cx="858871" cy="31384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9026A6-6622-532D-DB10-D53B882DA8CC}"/>
              </a:ext>
            </a:extLst>
          </p:cNvPr>
          <p:cNvSpPr/>
          <p:nvPr/>
        </p:nvSpPr>
        <p:spPr>
          <a:xfrm>
            <a:off x="1940775" y="1505044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430D3-1B76-A77E-148C-6EF625EA8640}"/>
              </a:ext>
            </a:extLst>
          </p:cNvPr>
          <p:cNvSpPr/>
          <p:nvPr/>
        </p:nvSpPr>
        <p:spPr>
          <a:xfrm>
            <a:off x="5957851" y="150913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A995D4-7664-47DB-C570-FFEB925C325D}"/>
              </a:ext>
            </a:extLst>
          </p:cNvPr>
          <p:cNvCxnSpPr>
            <a:cxnSpLocks/>
          </p:cNvCxnSpPr>
          <p:nvPr/>
        </p:nvCxnSpPr>
        <p:spPr>
          <a:xfrm>
            <a:off x="3261046" y="1711114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706D126-9762-964C-3CBF-F6509346B3CB}"/>
              </a:ext>
            </a:extLst>
          </p:cNvPr>
          <p:cNvSpPr/>
          <p:nvPr/>
        </p:nvSpPr>
        <p:spPr>
          <a:xfrm>
            <a:off x="5957851" y="2189088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0C9EA-7F0F-A584-7549-6F11478A4C5E}"/>
              </a:ext>
            </a:extLst>
          </p:cNvPr>
          <p:cNvSpPr/>
          <p:nvPr/>
        </p:nvSpPr>
        <p:spPr>
          <a:xfrm>
            <a:off x="1940775" y="2112470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5C3C9D-DFA1-1C62-B231-30953AD61580}"/>
              </a:ext>
            </a:extLst>
          </p:cNvPr>
          <p:cNvSpPr/>
          <p:nvPr/>
        </p:nvSpPr>
        <p:spPr>
          <a:xfrm>
            <a:off x="1940775" y="2719896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0D427B-43F9-59FB-994A-70049D6C70A7}"/>
              </a:ext>
            </a:extLst>
          </p:cNvPr>
          <p:cNvSpPr txBox="1"/>
          <p:nvPr/>
        </p:nvSpPr>
        <p:spPr>
          <a:xfrm>
            <a:off x="5579639" y="2728464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91A2D7-54DB-7808-79EA-6975FF3D35A3}"/>
              </a:ext>
            </a:extLst>
          </p:cNvPr>
          <p:cNvCxnSpPr>
            <a:cxnSpLocks/>
          </p:cNvCxnSpPr>
          <p:nvPr/>
        </p:nvCxnSpPr>
        <p:spPr>
          <a:xfrm flipV="1">
            <a:off x="3261046" y="1857624"/>
            <a:ext cx="2473693" cy="43769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F731E-7E73-3CB6-CCD0-BDD41387FB4F}"/>
              </a:ext>
            </a:extLst>
          </p:cNvPr>
          <p:cNvCxnSpPr>
            <a:cxnSpLocks/>
          </p:cNvCxnSpPr>
          <p:nvPr/>
        </p:nvCxnSpPr>
        <p:spPr>
          <a:xfrm flipV="1">
            <a:off x="3261046" y="2407754"/>
            <a:ext cx="2473693" cy="44990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76F7700-D54D-F474-5E38-0F2BF4C2D518}"/>
              </a:ext>
            </a:extLst>
          </p:cNvPr>
          <p:cNvSpPr/>
          <p:nvPr/>
        </p:nvSpPr>
        <p:spPr>
          <a:xfrm>
            <a:off x="5457523" y="3246575"/>
            <a:ext cx="2473693" cy="11256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89536C-43DA-631E-82F0-A4E5810854EB}"/>
              </a:ext>
            </a:extLst>
          </p:cNvPr>
          <p:cNvSpPr/>
          <p:nvPr/>
        </p:nvSpPr>
        <p:spPr>
          <a:xfrm>
            <a:off x="5971355" y="3460897"/>
            <a:ext cx="1446028" cy="47314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C93903-BCFB-7C24-FB01-73A262C3FE2A}"/>
              </a:ext>
            </a:extLst>
          </p:cNvPr>
          <p:cNvSpPr txBox="1"/>
          <p:nvPr/>
        </p:nvSpPr>
        <p:spPr>
          <a:xfrm>
            <a:off x="5593143" y="3994479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app-2-consumer-group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D40B1C0-96B7-7918-1730-153EEED66475}"/>
              </a:ext>
            </a:extLst>
          </p:cNvPr>
          <p:cNvCxnSpPr>
            <a:cxnSpLocks/>
          </p:cNvCxnSpPr>
          <p:nvPr/>
        </p:nvCxnSpPr>
        <p:spPr>
          <a:xfrm>
            <a:off x="3261045" y="1700275"/>
            <a:ext cx="2473694" cy="1865885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C976F85-4C94-5074-CC3D-39C46DEAC8BA}"/>
              </a:ext>
            </a:extLst>
          </p:cNvPr>
          <p:cNvCxnSpPr>
            <a:cxnSpLocks/>
          </p:cNvCxnSpPr>
          <p:nvPr/>
        </p:nvCxnSpPr>
        <p:spPr>
          <a:xfrm>
            <a:off x="3261046" y="2295314"/>
            <a:ext cx="2473693" cy="1408006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833D078-6CFA-A67B-519C-ADF674B6BA11}"/>
              </a:ext>
            </a:extLst>
          </p:cNvPr>
          <p:cNvCxnSpPr>
            <a:cxnSpLocks/>
          </p:cNvCxnSpPr>
          <p:nvPr/>
        </p:nvCxnSpPr>
        <p:spPr>
          <a:xfrm>
            <a:off x="3261046" y="2847441"/>
            <a:ext cx="2473693" cy="974319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994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303C88-83D3-3EE2-D2AA-5694BFAD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3550F94-9FF8-67FD-A69D-6D336463035B}"/>
              </a:ext>
            </a:extLst>
          </p:cNvPr>
          <p:cNvSpPr/>
          <p:nvPr/>
        </p:nvSpPr>
        <p:spPr>
          <a:xfrm>
            <a:off x="5444019" y="1961021"/>
            <a:ext cx="2473693" cy="1815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D7CEC5-8ED0-822D-75A2-6B96E5ABC73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Groups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C64F4-2E20-263C-933C-CF20E732BBE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CBA50D1-593A-9626-4471-0AF85DEF4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there are </a:t>
            </a:r>
            <a:r>
              <a:rPr lang="hu-HU" sz="1600" b="1" dirty="0">
                <a:solidFill>
                  <a:srgbClr val="1A1523"/>
                </a:solidFill>
                <a:highlight>
                  <a:srgbClr val="FFFFFF"/>
                </a:highlight>
              </a:rPr>
              <a:t>more consumer groups on one topic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: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D1055D5-1EDA-A4D1-E2D0-BA23D159A00E}"/>
              </a:ext>
            </a:extLst>
          </p:cNvPr>
          <p:cNvSpPr/>
          <p:nvPr/>
        </p:nvSpPr>
        <p:spPr>
          <a:xfrm>
            <a:off x="783195" y="2816991"/>
            <a:ext cx="858871" cy="31384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7DEA3-3872-39F6-A7DD-F22F54591676}"/>
              </a:ext>
            </a:extLst>
          </p:cNvPr>
          <p:cNvSpPr/>
          <p:nvPr/>
        </p:nvSpPr>
        <p:spPr>
          <a:xfrm>
            <a:off x="1940775" y="2171257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DE8C57-24B6-A834-9EDC-F2C98FA2413D}"/>
              </a:ext>
            </a:extLst>
          </p:cNvPr>
          <p:cNvSpPr/>
          <p:nvPr/>
        </p:nvSpPr>
        <p:spPr>
          <a:xfrm>
            <a:off x="5957851" y="2175344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E00D0A-E490-1BE0-A769-711A5E3A4196}"/>
              </a:ext>
            </a:extLst>
          </p:cNvPr>
          <p:cNvCxnSpPr>
            <a:cxnSpLocks/>
          </p:cNvCxnSpPr>
          <p:nvPr/>
        </p:nvCxnSpPr>
        <p:spPr>
          <a:xfrm>
            <a:off x="3261046" y="2377327"/>
            <a:ext cx="2473693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0D9BD49-0C64-BB65-193F-AE2E6DB84123}"/>
              </a:ext>
            </a:extLst>
          </p:cNvPr>
          <p:cNvSpPr/>
          <p:nvPr/>
        </p:nvSpPr>
        <p:spPr>
          <a:xfrm>
            <a:off x="5957851" y="2855301"/>
            <a:ext cx="1446028" cy="47314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2DD867-EDF6-3CCD-592C-B729D83F698A}"/>
              </a:ext>
            </a:extLst>
          </p:cNvPr>
          <p:cNvSpPr/>
          <p:nvPr/>
        </p:nvSpPr>
        <p:spPr>
          <a:xfrm>
            <a:off x="1940775" y="2778683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10D2F8-C538-2A0F-F2E3-A2E45B0E26B2}"/>
              </a:ext>
            </a:extLst>
          </p:cNvPr>
          <p:cNvSpPr/>
          <p:nvPr/>
        </p:nvSpPr>
        <p:spPr>
          <a:xfrm>
            <a:off x="1940775" y="3386109"/>
            <a:ext cx="11565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96FC9-6F64-771C-0745-5ED9A415FBAE}"/>
              </a:ext>
            </a:extLst>
          </p:cNvPr>
          <p:cNvSpPr txBox="1"/>
          <p:nvPr/>
        </p:nvSpPr>
        <p:spPr>
          <a:xfrm>
            <a:off x="5579639" y="3394677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app-1-consumer-group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0E0DE8-FE15-2BE3-4876-5DCB2741EDDD}"/>
              </a:ext>
            </a:extLst>
          </p:cNvPr>
          <p:cNvCxnSpPr>
            <a:cxnSpLocks/>
          </p:cNvCxnSpPr>
          <p:nvPr/>
        </p:nvCxnSpPr>
        <p:spPr>
          <a:xfrm flipV="1">
            <a:off x="3261046" y="2523837"/>
            <a:ext cx="2473693" cy="43769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25E4E4-BFAA-1702-473B-A99FE75C137C}"/>
              </a:ext>
            </a:extLst>
          </p:cNvPr>
          <p:cNvCxnSpPr>
            <a:cxnSpLocks/>
          </p:cNvCxnSpPr>
          <p:nvPr/>
        </p:nvCxnSpPr>
        <p:spPr>
          <a:xfrm flipV="1">
            <a:off x="3261046" y="3073967"/>
            <a:ext cx="2473693" cy="44990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978404B-C4EB-414F-384B-56129394F05C}"/>
              </a:ext>
            </a:extLst>
          </p:cNvPr>
          <p:cNvSpPr/>
          <p:nvPr/>
        </p:nvSpPr>
        <p:spPr>
          <a:xfrm>
            <a:off x="5457523" y="3912788"/>
            <a:ext cx="2473693" cy="11256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58C0E-D55D-033A-476E-8FE4096613A0}"/>
              </a:ext>
            </a:extLst>
          </p:cNvPr>
          <p:cNvSpPr/>
          <p:nvPr/>
        </p:nvSpPr>
        <p:spPr>
          <a:xfrm>
            <a:off x="5971355" y="4127110"/>
            <a:ext cx="1446028" cy="47314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0BF81B-237D-5834-B6EB-5B6E48BAF34C}"/>
              </a:ext>
            </a:extLst>
          </p:cNvPr>
          <p:cNvSpPr txBox="1"/>
          <p:nvPr/>
        </p:nvSpPr>
        <p:spPr>
          <a:xfrm>
            <a:off x="5593143" y="4660692"/>
            <a:ext cx="23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app-2-consumer-group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CCAEFD2-FDAB-906B-AC3D-9B841ED76AAA}"/>
              </a:ext>
            </a:extLst>
          </p:cNvPr>
          <p:cNvCxnSpPr>
            <a:cxnSpLocks/>
          </p:cNvCxnSpPr>
          <p:nvPr/>
        </p:nvCxnSpPr>
        <p:spPr>
          <a:xfrm>
            <a:off x="3261045" y="2366488"/>
            <a:ext cx="2473694" cy="1865885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0555BEA-017B-4C09-0985-D87BDE3DD5BF}"/>
              </a:ext>
            </a:extLst>
          </p:cNvPr>
          <p:cNvCxnSpPr>
            <a:cxnSpLocks/>
          </p:cNvCxnSpPr>
          <p:nvPr/>
        </p:nvCxnSpPr>
        <p:spPr>
          <a:xfrm>
            <a:off x="3261046" y="2961527"/>
            <a:ext cx="2473693" cy="1408006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FA0BE91-E6C3-AD07-BD08-BC81CB8BC1A9}"/>
              </a:ext>
            </a:extLst>
          </p:cNvPr>
          <p:cNvCxnSpPr>
            <a:cxnSpLocks/>
          </p:cNvCxnSpPr>
          <p:nvPr/>
        </p:nvCxnSpPr>
        <p:spPr>
          <a:xfrm>
            <a:off x="3261046" y="3513654"/>
            <a:ext cx="2473693" cy="974319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A58911-BC96-D76F-CBC9-AE851A09FBE2}"/>
              </a:ext>
            </a:extLst>
          </p:cNvPr>
          <p:cNvSpPr/>
          <p:nvPr/>
        </p:nvSpPr>
        <p:spPr>
          <a:xfrm>
            <a:off x="796699" y="4398249"/>
            <a:ext cx="858871" cy="31384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7F4CF-40A8-04AD-549E-9554EF0BC974}"/>
              </a:ext>
            </a:extLst>
          </p:cNvPr>
          <p:cNvSpPr/>
          <p:nvPr/>
        </p:nvSpPr>
        <p:spPr>
          <a:xfrm>
            <a:off x="1954279" y="4359939"/>
            <a:ext cx="1156598" cy="3904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83A0C9-D9C0-E68B-7541-9477BD98C957}"/>
              </a:ext>
            </a:extLst>
          </p:cNvPr>
          <p:cNvCxnSpPr>
            <a:cxnSpLocks/>
          </p:cNvCxnSpPr>
          <p:nvPr/>
        </p:nvCxnSpPr>
        <p:spPr>
          <a:xfrm>
            <a:off x="3347493" y="4541177"/>
            <a:ext cx="2387246" cy="59082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90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FA24E8-D51D-010F-6C33-385CE94CC41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Consumer Offset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9E8A3-4FFB-A3B2-EE1E-10DB642BF521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53C3BA8-989D-3C51-7C87-2E5C22FA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After a consumer reads a message it sends commit to Kafka regarding the offset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Kafka keep track of this information in the 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__consumer_offsets</a:t>
            </a:r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 topic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If a consumer fails and recover it can continue from where it was</a:t>
            </a:r>
          </a:p>
          <a:p>
            <a:r>
              <a:rPr lang="hu-HU" sz="1600" dirty="0">
                <a:solidFill>
                  <a:srgbClr val="1A1523"/>
                </a:solidFill>
                <a:highlight>
                  <a:srgbClr val="FFFFFF"/>
                </a:highlight>
              </a:rPr>
              <a:t>There are multiple strategies from consumers side when to send the commit</a:t>
            </a:r>
            <a:endParaRPr lang="hu-HU" sz="1400" dirty="0">
              <a:solidFill>
                <a:srgbClr val="1A1523"/>
              </a:solidFill>
              <a:highlight>
                <a:srgbClr val="FFFFFF"/>
              </a:highligh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DEBB80-0D48-16E0-458A-E344ECF03F20}"/>
              </a:ext>
            </a:extLst>
          </p:cNvPr>
          <p:cNvSpPr/>
          <p:nvPr/>
        </p:nvSpPr>
        <p:spPr>
          <a:xfrm>
            <a:off x="1904284" y="3599910"/>
            <a:ext cx="858871" cy="32744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96E602-22E6-EFC3-4C0D-E9A5493C3013}"/>
              </a:ext>
            </a:extLst>
          </p:cNvPr>
          <p:cNvSpPr txBox="1"/>
          <p:nvPr/>
        </p:nvSpPr>
        <p:spPr>
          <a:xfrm>
            <a:off x="2918271" y="3357229"/>
            <a:ext cx="1070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A4899-E06D-4CCA-F470-F7AD2E445FCE}"/>
              </a:ext>
            </a:extLst>
          </p:cNvPr>
          <p:cNvSpPr txBox="1"/>
          <p:nvPr/>
        </p:nvSpPr>
        <p:spPr>
          <a:xfrm>
            <a:off x="2918271" y="3927358"/>
            <a:ext cx="1070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8AA036-FAE6-C6BD-A2E6-C7AEE79D7DA2}"/>
              </a:ext>
            </a:extLst>
          </p:cNvPr>
          <p:cNvSpPr/>
          <p:nvPr/>
        </p:nvSpPr>
        <p:spPr>
          <a:xfrm>
            <a:off x="4162040" y="3274543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B4D8F7-B041-79F9-226F-F0E6884C0E72}"/>
              </a:ext>
            </a:extLst>
          </p:cNvPr>
          <p:cNvSpPr/>
          <p:nvPr/>
        </p:nvSpPr>
        <p:spPr>
          <a:xfrm>
            <a:off x="4561238" y="3274542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0C9267-F3B2-2FD7-1A66-550604958D70}"/>
              </a:ext>
            </a:extLst>
          </p:cNvPr>
          <p:cNvSpPr/>
          <p:nvPr/>
        </p:nvSpPr>
        <p:spPr>
          <a:xfrm>
            <a:off x="4960436" y="3274544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F9CB30-C2FE-6B19-7D8B-1D108C6DDE06}"/>
              </a:ext>
            </a:extLst>
          </p:cNvPr>
          <p:cNvSpPr/>
          <p:nvPr/>
        </p:nvSpPr>
        <p:spPr>
          <a:xfrm>
            <a:off x="5359634" y="3274543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720571-6053-F34A-7E28-DF838A9A875C}"/>
              </a:ext>
            </a:extLst>
          </p:cNvPr>
          <p:cNvSpPr/>
          <p:nvPr/>
        </p:nvSpPr>
        <p:spPr>
          <a:xfrm>
            <a:off x="5758832" y="3274543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FDA1B20-0126-D3E2-350F-03AFE1041DAE}"/>
              </a:ext>
            </a:extLst>
          </p:cNvPr>
          <p:cNvSpPr/>
          <p:nvPr/>
        </p:nvSpPr>
        <p:spPr>
          <a:xfrm>
            <a:off x="6158030" y="3274542"/>
            <a:ext cx="399198" cy="3904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4CE702-7DF4-7AE2-84B4-94C2AC9CB373}"/>
              </a:ext>
            </a:extLst>
          </p:cNvPr>
          <p:cNvSpPr/>
          <p:nvPr/>
        </p:nvSpPr>
        <p:spPr>
          <a:xfrm>
            <a:off x="4152269" y="3874688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0ACFCA-D077-95BF-24C0-57B58615C020}"/>
              </a:ext>
            </a:extLst>
          </p:cNvPr>
          <p:cNvSpPr/>
          <p:nvPr/>
        </p:nvSpPr>
        <p:spPr>
          <a:xfrm>
            <a:off x="4551467" y="3874687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931D66-5881-B8A8-F977-995318949C91}"/>
              </a:ext>
            </a:extLst>
          </p:cNvPr>
          <p:cNvSpPr/>
          <p:nvPr/>
        </p:nvSpPr>
        <p:spPr>
          <a:xfrm>
            <a:off x="4950665" y="3874689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8C0FD8-DAC3-FB2E-38A3-69A93FC0BE09}"/>
              </a:ext>
            </a:extLst>
          </p:cNvPr>
          <p:cNvSpPr/>
          <p:nvPr/>
        </p:nvSpPr>
        <p:spPr>
          <a:xfrm>
            <a:off x="5349863" y="3874688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802A89-BDDB-4DB2-7FBB-AB028E2D1647}"/>
              </a:ext>
            </a:extLst>
          </p:cNvPr>
          <p:cNvSpPr/>
          <p:nvPr/>
        </p:nvSpPr>
        <p:spPr>
          <a:xfrm>
            <a:off x="5749061" y="3874688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EC244A-1AAF-7582-D73A-847486D00BBB}"/>
              </a:ext>
            </a:extLst>
          </p:cNvPr>
          <p:cNvSpPr/>
          <p:nvPr/>
        </p:nvSpPr>
        <p:spPr>
          <a:xfrm>
            <a:off x="6148259" y="3874687"/>
            <a:ext cx="399198" cy="39046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108C67E-08FE-0DC9-04AC-11FC7DA3865D}"/>
              </a:ext>
            </a:extLst>
          </p:cNvPr>
          <p:cNvSpPr/>
          <p:nvPr/>
        </p:nvSpPr>
        <p:spPr>
          <a:xfrm>
            <a:off x="6547457" y="3874689"/>
            <a:ext cx="399198" cy="3904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2D307C-4123-F28F-6EF3-EE4882D16D62}"/>
              </a:ext>
            </a:extLst>
          </p:cNvPr>
          <p:cNvSpPr txBox="1"/>
          <p:nvPr/>
        </p:nvSpPr>
        <p:spPr>
          <a:xfrm>
            <a:off x="5601523" y="4459456"/>
            <a:ext cx="1823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message offset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025E1C-6628-86B3-E6F6-E55D11EF9BB4}"/>
              </a:ext>
            </a:extLst>
          </p:cNvPr>
          <p:cNvSpPr txBox="1"/>
          <p:nvPr/>
        </p:nvSpPr>
        <p:spPr>
          <a:xfrm rot="5400000">
            <a:off x="6699905" y="3306270"/>
            <a:ext cx="339902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78AD37-7BD9-4BD2-9934-099B1B049459}"/>
              </a:ext>
            </a:extLst>
          </p:cNvPr>
          <p:cNvSpPr txBox="1"/>
          <p:nvPr/>
        </p:nvSpPr>
        <p:spPr>
          <a:xfrm rot="5400000">
            <a:off x="7005157" y="3912407"/>
            <a:ext cx="339902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ctr">
              <a:lnSpc>
                <a:spcPts val="500"/>
              </a:lnSpc>
            </a:pPr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0177EAE-7104-FF56-F224-81581F813C8E}"/>
              </a:ext>
            </a:extLst>
          </p:cNvPr>
          <p:cNvCxnSpPr>
            <a:cxnSpLocks/>
            <a:stCxn id="52" idx="0"/>
            <a:endCxn id="44" idx="2"/>
          </p:cNvCxnSpPr>
          <p:nvPr/>
        </p:nvCxnSpPr>
        <p:spPr>
          <a:xfrm flipH="1" flipV="1">
            <a:off x="5549462" y="4265151"/>
            <a:ext cx="963593" cy="194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22E7561-0D3E-6C50-6F50-655EF9728F4A}"/>
              </a:ext>
            </a:extLst>
          </p:cNvPr>
          <p:cNvSpPr/>
          <p:nvPr/>
        </p:nvSpPr>
        <p:spPr>
          <a:xfrm>
            <a:off x="8512222" y="3210861"/>
            <a:ext cx="1446028" cy="47314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Consumer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78379E1-C072-4676-6CFD-8527F30EC3A9}"/>
              </a:ext>
            </a:extLst>
          </p:cNvPr>
          <p:cNvCxnSpPr>
            <a:cxnSpLocks/>
            <a:stCxn id="53" idx="0"/>
          </p:cNvCxnSpPr>
          <p:nvPr/>
        </p:nvCxnSpPr>
        <p:spPr>
          <a:xfrm>
            <a:off x="7027368" y="3463782"/>
            <a:ext cx="1244052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9F8F4B-12ED-7986-0D62-C541E2E962F2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7332620" y="3541336"/>
            <a:ext cx="938800" cy="528583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49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2492B1C-8998-95C4-E7D6-7703F7A87B33}"/>
              </a:ext>
            </a:extLst>
          </p:cNvPr>
          <p:cNvGrpSpPr/>
          <p:nvPr/>
        </p:nvGrpSpPr>
        <p:grpSpPr>
          <a:xfrm>
            <a:off x="7702483" y="4016292"/>
            <a:ext cx="2473693" cy="1825420"/>
            <a:chOff x="7611028" y="4292126"/>
            <a:chExt cx="2473693" cy="182542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01C077-AC36-6EC4-D7BB-CB3C05038EAD}"/>
                </a:ext>
              </a:extLst>
            </p:cNvPr>
            <p:cNvSpPr/>
            <p:nvPr/>
          </p:nvSpPr>
          <p:spPr>
            <a:xfrm>
              <a:off x="7611028" y="4301995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74AECC-8E45-B787-774B-455DECC5BF01}"/>
                </a:ext>
              </a:extLst>
            </p:cNvPr>
            <p:cNvSpPr txBox="1"/>
            <p:nvPr/>
          </p:nvSpPr>
          <p:spPr>
            <a:xfrm>
              <a:off x="7611029" y="4292126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3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EE424C-0B9B-455D-6E59-B824E62CD979}"/>
              </a:ext>
            </a:extLst>
          </p:cNvPr>
          <p:cNvGrpSpPr/>
          <p:nvPr/>
        </p:nvGrpSpPr>
        <p:grpSpPr>
          <a:xfrm>
            <a:off x="5076390" y="4006006"/>
            <a:ext cx="2473693" cy="1825420"/>
            <a:chOff x="4984935" y="4281840"/>
            <a:chExt cx="2473693" cy="182542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08ADC0-A79D-537C-9795-F5B1A1604D17}"/>
                </a:ext>
              </a:extLst>
            </p:cNvPr>
            <p:cNvSpPr/>
            <p:nvPr/>
          </p:nvSpPr>
          <p:spPr>
            <a:xfrm>
              <a:off x="4984935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C18318-7DC9-3AF8-AE12-AA0EC9F1CEF3}"/>
                </a:ext>
              </a:extLst>
            </p:cNvPr>
            <p:cNvSpPr txBox="1"/>
            <p:nvPr/>
          </p:nvSpPr>
          <p:spPr>
            <a:xfrm>
              <a:off x="4984936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2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D820F1-D1C8-4140-A8C9-F94587D65426}"/>
              </a:ext>
            </a:extLst>
          </p:cNvPr>
          <p:cNvGrpSpPr/>
          <p:nvPr/>
        </p:nvGrpSpPr>
        <p:grpSpPr>
          <a:xfrm>
            <a:off x="2450297" y="4006006"/>
            <a:ext cx="2473693" cy="1825420"/>
            <a:chOff x="2358842" y="4281840"/>
            <a:chExt cx="2473693" cy="18254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2BC2E2-AAA9-C5EF-7F5C-A2E0BF01B252}"/>
                </a:ext>
              </a:extLst>
            </p:cNvPr>
            <p:cNvSpPr/>
            <p:nvPr/>
          </p:nvSpPr>
          <p:spPr>
            <a:xfrm>
              <a:off x="2358842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C07121-E730-53F0-85E0-213F91D5659E}"/>
                </a:ext>
              </a:extLst>
            </p:cNvPr>
            <p:cNvSpPr txBox="1"/>
            <p:nvPr/>
          </p:nvSpPr>
          <p:spPr>
            <a:xfrm>
              <a:off x="2358843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F51ADC-586E-493B-79F7-6513F2FF7D7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Brokers and Topics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D955C-7D39-84B5-14E6-5A2ED2952C5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752B3-116B-7F81-2681-3FE4E4E0C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600" dirty="0"/>
              <a:t>A Kafka cluster contains multiple brokers („</a:t>
            </a:r>
            <a:r>
              <a:rPr lang="hu-HU" sz="1600" b="1" dirty="0"/>
              <a:t>bootstrap servers</a:t>
            </a:r>
            <a:r>
              <a:rPr lang="hu-HU" sz="1600" dirty="0"/>
              <a:t>”)</a:t>
            </a:r>
          </a:p>
          <a:p>
            <a:r>
              <a:rPr lang="hu-HU" sz="1600" dirty="0"/>
              <a:t>Each brokers stores only certain topic partitions:</a:t>
            </a:r>
          </a:p>
          <a:p>
            <a:pPr lvl="1"/>
            <a:r>
              <a:rPr lang="hu-HU" sz="1400" dirty="0"/>
              <a:t>It’s common that a broker contains no partition at all from a topic</a:t>
            </a:r>
          </a:p>
          <a:p>
            <a:pPr lvl="1"/>
            <a:r>
              <a:rPr lang="hu-HU" sz="1400" dirty="0"/>
              <a:t>A partition is stored on one broker (if there is no replication configured)</a:t>
            </a:r>
          </a:p>
          <a:p>
            <a:r>
              <a:rPr lang="hu-HU" sz="1600" dirty="0"/>
              <a:t>By connecting to a broker a client is automatically connected to the whole cluster</a:t>
            </a:r>
          </a:p>
          <a:p>
            <a:pPr lvl="1"/>
            <a:r>
              <a:rPr lang="hu-HU" sz="1400" dirty="0"/>
              <a:t>In case the needed partition is not on the accessed broker,  clients can get where to connect</a:t>
            </a:r>
          </a:p>
          <a:p>
            <a:pPr lvl="1"/>
            <a:r>
              <a:rPr lang="hu-HU" sz="1400" dirty="0"/>
              <a:t>After connecting the broker sends back the list of brokers and the stored partitions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9E9CF0-5E69-0F1C-0F84-30BB50687302}"/>
              </a:ext>
            </a:extLst>
          </p:cNvPr>
          <p:cNvSpPr/>
          <p:nvPr/>
        </p:nvSpPr>
        <p:spPr>
          <a:xfrm>
            <a:off x="1101417" y="4536568"/>
            <a:ext cx="971238" cy="35412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 A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B2C6EC-E592-BB2D-6A04-434795DDD70E}"/>
              </a:ext>
            </a:extLst>
          </p:cNvPr>
          <p:cNvSpPr/>
          <p:nvPr/>
        </p:nvSpPr>
        <p:spPr>
          <a:xfrm>
            <a:off x="2980845" y="44667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ABB0A-9348-A76F-0753-B6720E01A47F}"/>
              </a:ext>
            </a:extLst>
          </p:cNvPr>
          <p:cNvSpPr/>
          <p:nvPr/>
        </p:nvSpPr>
        <p:spPr>
          <a:xfrm>
            <a:off x="2980845" y="5146729"/>
            <a:ext cx="1446028" cy="4731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771FCF-7CF7-7D41-1FFF-08FC6F77A96F}"/>
              </a:ext>
            </a:extLst>
          </p:cNvPr>
          <p:cNvSpPr/>
          <p:nvPr/>
        </p:nvSpPr>
        <p:spPr>
          <a:xfrm>
            <a:off x="5606938" y="44667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2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5CF811-9220-AF17-9A8A-614D2BFD7707}"/>
              </a:ext>
            </a:extLst>
          </p:cNvPr>
          <p:cNvSpPr/>
          <p:nvPr/>
        </p:nvSpPr>
        <p:spPr>
          <a:xfrm>
            <a:off x="8233031" y="4477058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EE5126-B547-F652-A273-46BF1A6F6590}"/>
              </a:ext>
            </a:extLst>
          </p:cNvPr>
          <p:cNvSpPr/>
          <p:nvPr/>
        </p:nvSpPr>
        <p:spPr>
          <a:xfrm>
            <a:off x="8233031" y="5157015"/>
            <a:ext cx="1446028" cy="47314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80D41E-DC6D-CEEA-A698-1B0025FE08A8}"/>
              </a:ext>
            </a:extLst>
          </p:cNvPr>
          <p:cNvSpPr/>
          <p:nvPr/>
        </p:nvSpPr>
        <p:spPr>
          <a:xfrm>
            <a:off x="1101417" y="5205185"/>
            <a:ext cx="971238" cy="3562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Topic B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FB5373-0AF4-B735-3CCA-5F8DC64425AA}"/>
              </a:ext>
            </a:extLst>
          </p:cNvPr>
          <p:cNvGrpSpPr/>
          <p:nvPr/>
        </p:nvGrpSpPr>
        <p:grpSpPr>
          <a:xfrm>
            <a:off x="4681775" y="3000014"/>
            <a:ext cx="5494401" cy="1012818"/>
            <a:chOff x="4681775" y="3736614"/>
            <a:chExt cx="5494401" cy="101281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F947B5-1BA3-798C-1EEF-280E55AC1A00}"/>
                </a:ext>
              </a:extLst>
            </p:cNvPr>
            <p:cNvSpPr/>
            <p:nvPr/>
          </p:nvSpPr>
          <p:spPr>
            <a:xfrm>
              <a:off x="5590222" y="3736614"/>
              <a:ext cx="1446028" cy="47314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Client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C3642B1-2386-EA31-F1FE-C471362FF55E}"/>
                </a:ext>
              </a:extLst>
            </p:cNvPr>
            <p:cNvCxnSpPr>
              <a:cxnSpLocks/>
            </p:cNvCxnSpPr>
            <p:nvPr/>
          </p:nvCxnSpPr>
          <p:spPr>
            <a:xfrm>
              <a:off x="6008436" y="4206359"/>
              <a:ext cx="1" cy="5430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C1BBDEE-5AAF-83D2-826D-12E393F95B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5037" y="4206359"/>
              <a:ext cx="7808" cy="536247"/>
            </a:xfrm>
            <a:prstGeom prst="straightConnector1">
              <a:avLst/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0A0926-A2C6-F105-1C93-F471646E52C5}"/>
                </a:ext>
              </a:extLst>
            </p:cNvPr>
            <p:cNvSpPr txBox="1"/>
            <p:nvPr/>
          </p:nvSpPr>
          <p:spPr>
            <a:xfrm>
              <a:off x="4681775" y="4135456"/>
              <a:ext cx="128512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 </a:t>
              </a:r>
              <a:b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Connect to bootstrap server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523C064-3F01-6FE3-C917-748CD2588018}"/>
                </a:ext>
              </a:extLst>
            </p:cNvPr>
            <p:cNvSpPr txBox="1"/>
            <p:nvPr/>
          </p:nvSpPr>
          <p:spPr>
            <a:xfrm>
              <a:off x="6752845" y="4116547"/>
              <a:ext cx="121528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 </a:t>
              </a:r>
            </a:p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List of brokers and topics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3A88851-CB17-A00B-E805-4A2C5D20CF6B}"/>
                </a:ext>
              </a:extLst>
            </p:cNvPr>
            <p:cNvSpPr txBox="1"/>
            <p:nvPr/>
          </p:nvSpPr>
          <p:spPr>
            <a:xfrm>
              <a:off x="8960893" y="4019680"/>
              <a:ext cx="121528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3. </a:t>
              </a:r>
            </a:p>
            <a:p>
              <a:pPr algn="ctr"/>
              <a:r>
                <a:rPr lang="hu-HU" sz="11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Connect to proper broker</a:t>
              </a:r>
              <a:endPara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3A69F822-04EE-76C4-6554-17BB507EAFF1}"/>
                </a:ext>
              </a:extLst>
            </p:cNvPr>
            <p:cNvCxnSpPr>
              <a:cxnSpLocks/>
              <a:stCxn id="30" idx="3"/>
              <a:endCxn id="25" idx="0"/>
            </p:cNvCxnSpPr>
            <p:nvPr/>
          </p:nvCxnSpPr>
          <p:spPr>
            <a:xfrm>
              <a:off x="7036250" y="3973189"/>
              <a:ext cx="1903080" cy="767003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622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  <p:bldP spid="19" grpId="0" animBg="1"/>
      <p:bldP spid="23" grpId="0" animBg="1"/>
      <p:bldP spid="24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0C29B0-0664-09AF-E783-CE3D142E20A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Topic Replication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7CB7F1-EFCE-458F-90B5-C0AEAD690A9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E2D3-A706-19A8-6BC5-CD16F319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We can configure replicaton number for a topic (ideally should be 2-3)</a:t>
            </a:r>
          </a:p>
          <a:p>
            <a:r>
              <a:rPr lang="hu-HU" dirty="0"/>
              <a:t>Each partition is replicated to another broker (or brokers)</a:t>
            </a:r>
          </a:p>
          <a:p>
            <a:r>
              <a:rPr lang="hu-HU" dirty="0"/>
              <a:t>For every partition there is </a:t>
            </a:r>
            <a:r>
              <a:rPr lang="hu-HU" b="1" dirty="0"/>
              <a:t>one leader </a:t>
            </a:r>
            <a:r>
              <a:rPr lang="hu-HU" dirty="0"/>
              <a:t>and </a:t>
            </a:r>
            <a:r>
              <a:rPr lang="hu-HU" b="1" dirty="0"/>
              <a:t>multiple ISR </a:t>
            </a:r>
            <a:r>
              <a:rPr lang="hu-HU" dirty="0"/>
              <a:t>(in-sync replica)</a:t>
            </a:r>
          </a:p>
          <a:p>
            <a:r>
              <a:rPr lang="hu-HU" dirty="0"/>
              <a:t>Producer can send data only to the partition leader broker</a:t>
            </a:r>
          </a:p>
          <a:p>
            <a:r>
              <a:rPr lang="hu-HU" dirty="0"/>
              <a:t>Consumer by default can pull data only from the partition leader:</a:t>
            </a:r>
          </a:p>
          <a:p>
            <a:pPr lvl="1"/>
            <a:r>
              <a:rPr lang="hu-HU" dirty="0"/>
              <a:t>This can be configured to be able to use the closest ISR for cost and latency optimization</a:t>
            </a:r>
          </a:p>
          <a:p>
            <a:r>
              <a:rPr lang="hu-HU" dirty="0"/>
              <a:t>When a leader broker fails another takes its place</a:t>
            </a:r>
          </a:p>
          <a:p>
            <a:r>
              <a:rPr lang="hu-HU" dirty="0"/>
              <a:t>So for a </a:t>
            </a:r>
            <a:r>
              <a:rPr lang="hu-HU" b="1" dirty="0"/>
              <a:t>replication factor of N </a:t>
            </a:r>
            <a:r>
              <a:rPr lang="hu-HU" dirty="0"/>
              <a:t>the topic can be recovered </a:t>
            </a:r>
            <a:r>
              <a:rPr lang="hu-HU" b="1" dirty="0"/>
              <a:t>until</a:t>
            </a:r>
            <a:r>
              <a:rPr lang="hu-HU" dirty="0"/>
              <a:t> </a:t>
            </a:r>
            <a:r>
              <a:rPr lang="hu-HU" b="1" dirty="0"/>
              <a:t>N-1 broker failures</a:t>
            </a:r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B459DC-A680-DA05-C766-6CC33128E843}"/>
              </a:ext>
            </a:extLst>
          </p:cNvPr>
          <p:cNvGrpSpPr/>
          <p:nvPr/>
        </p:nvGrpSpPr>
        <p:grpSpPr>
          <a:xfrm>
            <a:off x="8403886" y="4003973"/>
            <a:ext cx="2473693" cy="1825420"/>
            <a:chOff x="7611028" y="4292126"/>
            <a:chExt cx="2473693" cy="18254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4E3920-2E8B-F779-97B3-F9FAFBF25DD2}"/>
                </a:ext>
              </a:extLst>
            </p:cNvPr>
            <p:cNvSpPr/>
            <p:nvPr/>
          </p:nvSpPr>
          <p:spPr>
            <a:xfrm>
              <a:off x="7611028" y="4301995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3D3792-F046-3A17-E6ED-544CCF69EDC7}"/>
                </a:ext>
              </a:extLst>
            </p:cNvPr>
            <p:cNvSpPr txBox="1"/>
            <p:nvPr/>
          </p:nvSpPr>
          <p:spPr>
            <a:xfrm>
              <a:off x="7611029" y="4292126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3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BEF6356-EAD8-AF68-4416-F272B95D206A}"/>
              </a:ext>
            </a:extLst>
          </p:cNvPr>
          <p:cNvGrpSpPr/>
          <p:nvPr/>
        </p:nvGrpSpPr>
        <p:grpSpPr>
          <a:xfrm>
            <a:off x="5076390" y="3980606"/>
            <a:ext cx="2473693" cy="1825420"/>
            <a:chOff x="4984935" y="4281840"/>
            <a:chExt cx="2473693" cy="182542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E0880E-46D1-9E18-F47A-A40F0FB1FC90}"/>
                </a:ext>
              </a:extLst>
            </p:cNvPr>
            <p:cNvSpPr/>
            <p:nvPr/>
          </p:nvSpPr>
          <p:spPr>
            <a:xfrm>
              <a:off x="4984935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A83C7F-A22D-C234-C2C6-84805BFE1B66}"/>
                </a:ext>
              </a:extLst>
            </p:cNvPr>
            <p:cNvSpPr txBox="1"/>
            <p:nvPr/>
          </p:nvSpPr>
          <p:spPr>
            <a:xfrm>
              <a:off x="4984936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2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98CA80-4CE4-B27C-A61A-EAF04D2C545C}"/>
              </a:ext>
            </a:extLst>
          </p:cNvPr>
          <p:cNvGrpSpPr/>
          <p:nvPr/>
        </p:nvGrpSpPr>
        <p:grpSpPr>
          <a:xfrm>
            <a:off x="1748894" y="3980606"/>
            <a:ext cx="2473693" cy="1825420"/>
            <a:chOff x="2358842" y="4281840"/>
            <a:chExt cx="2473693" cy="18254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87B594-FF0B-92B4-35CC-E124200675CE}"/>
                </a:ext>
              </a:extLst>
            </p:cNvPr>
            <p:cNvSpPr/>
            <p:nvPr/>
          </p:nvSpPr>
          <p:spPr>
            <a:xfrm>
              <a:off x="2358842" y="4291709"/>
              <a:ext cx="2473693" cy="18155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DC3170-B253-5E66-C941-299F2F4A9047}"/>
                </a:ext>
              </a:extLst>
            </p:cNvPr>
            <p:cNvSpPr txBox="1"/>
            <p:nvPr/>
          </p:nvSpPr>
          <p:spPr>
            <a:xfrm>
              <a:off x="2358843" y="4281840"/>
              <a:ext cx="24736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Broker 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BC23C74-4E41-8717-4783-DB87972CA544}"/>
              </a:ext>
            </a:extLst>
          </p:cNvPr>
          <p:cNvSpPr/>
          <p:nvPr/>
        </p:nvSpPr>
        <p:spPr>
          <a:xfrm>
            <a:off x="2279442" y="44413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3AD01-3659-3440-EAAE-CE21622FE971}"/>
              </a:ext>
            </a:extLst>
          </p:cNvPr>
          <p:cNvSpPr/>
          <p:nvPr/>
        </p:nvSpPr>
        <p:spPr>
          <a:xfrm>
            <a:off x="5606938" y="4441372"/>
            <a:ext cx="1446028" cy="4731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EA5EFB-27B4-3336-8307-DD7DA265A21F}"/>
              </a:ext>
            </a:extLst>
          </p:cNvPr>
          <p:cNvSpPr/>
          <p:nvPr/>
        </p:nvSpPr>
        <p:spPr>
          <a:xfrm>
            <a:off x="5606938" y="5131559"/>
            <a:ext cx="1446028" cy="47314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19F799-00BB-CFC5-562B-6050D1441BFF}"/>
              </a:ext>
            </a:extLst>
          </p:cNvPr>
          <p:cNvSpPr/>
          <p:nvPr/>
        </p:nvSpPr>
        <p:spPr>
          <a:xfrm>
            <a:off x="8917718" y="4441372"/>
            <a:ext cx="1446028" cy="47314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1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5CA7847-DBE0-73C7-3126-AF5B634072A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3725470" y="4677947"/>
            <a:ext cx="1881468" cy="690187"/>
          </a:xfrm>
          <a:prstGeom prst="bentConnector3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6C843D-E5D2-59C0-9723-54DCB9996129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>
            <a:off x="7052966" y="4677947"/>
            <a:ext cx="1864752" cy="0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5802518-4FB3-978B-992B-DB6D2EE65BA4}"/>
              </a:ext>
            </a:extLst>
          </p:cNvPr>
          <p:cNvSpPr txBox="1"/>
          <p:nvPr/>
        </p:nvSpPr>
        <p:spPr>
          <a:xfrm>
            <a:off x="4160390" y="4376524"/>
            <a:ext cx="978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AB2C77-E310-4B6A-A7BF-FA0F4516C261}"/>
              </a:ext>
            </a:extLst>
          </p:cNvPr>
          <p:cNvSpPr txBox="1"/>
          <p:nvPr/>
        </p:nvSpPr>
        <p:spPr>
          <a:xfrm>
            <a:off x="7496243" y="4373629"/>
            <a:ext cx="978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F6A811-9B83-95BC-80C1-BC771439BE9D}"/>
              </a:ext>
            </a:extLst>
          </p:cNvPr>
          <p:cNvSpPr/>
          <p:nvPr/>
        </p:nvSpPr>
        <p:spPr>
          <a:xfrm>
            <a:off x="400554" y="4529863"/>
            <a:ext cx="988692" cy="30777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A51D44-567C-0D7B-FF4D-BB1722CEA95B}"/>
              </a:ext>
            </a:extLst>
          </p:cNvPr>
          <p:cNvSpPr/>
          <p:nvPr/>
        </p:nvSpPr>
        <p:spPr>
          <a:xfrm>
            <a:off x="400554" y="4977670"/>
            <a:ext cx="988692" cy="30777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998108-5E93-60EC-D062-0712D54A7E32}"/>
              </a:ext>
            </a:extLst>
          </p:cNvPr>
          <p:cNvCxnSpPr/>
          <p:nvPr/>
        </p:nvCxnSpPr>
        <p:spPr>
          <a:xfrm>
            <a:off x="1748894" y="3980606"/>
            <a:ext cx="2473693" cy="1825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7E37C6-043F-FA83-9501-9A623754A142}"/>
              </a:ext>
            </a:extLst>
          </p:cNvPr>
          <p:cNvCxnSpPr>
            <a:cxnSpLocks/>
          </p:cNvCxnSpPr>
          <p:nvPr/>
        </p:nvCxnSpPr>
        <p:spPr>
          <a:xfrm flipV="1">
            <a:off x="1748895" y="3980606"/>
            <a:ext cx="2473692" cy="1825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678443C-2479-48FF-A74A-F4DA7BDDAAFB}"/>
              </a:ext>
            </a:extLst>
          </p:cNvPr>
          <p:cNvSpPr/>
          <p:nvPr/>
        </p:nvSpPr>
        <p:spPr>
          <a:xfrm>
            <a:off x="8917718" y="5107935"/>
            <a:ext cx="1446028" cy="47314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0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48C175-8E90-85A4-782B-8EF2223AF8F6}"/>
              </a:ext>
            </a:extLst>
          </p:cNvPr>
          <p:cNvCxnSpPr>
            <a:endCxn id="23" idx="1"/>
          </p:cNvCxnSpPr>
          <p:nvPr/>
        </p:nvCxnSpPr>
        <p:spPr>
          <a:xfrm>
            <a:off x="7052966" y="5344510"/>
            <a:ext cx="1864752" cy="0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A3FB8E-7802-D33A-F88A-47A269BAD4B1}"/>
              </a:ext>
            </a:extLst>
          </p:cNvPr>
          <p:cNvSpPr txBox="1"/>
          <p:nvPr/>
        </p:nvSpPr>
        <p:spPr>
          <a:xfrm>
            <a:off x="7496243" y="5040192"/>
            <a:ext cx="978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replication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6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9" grpId="0"/>
      <p:bldP spid="23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0C29B0-0664-09AF-E783-CE3D142E20AE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Core Concepts – Producer Acknowledgement Options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3242E13-9BC1-804F-50F1-49054AC9E1D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E2D3-A706-19A8-6BC5-CD16F319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acks=0</a:t>
            </a:r>
            <a:r>
              <a:rPr lang="hu-HU" dirty="0"/>
              <a:t> :</a:t>
            </a:r>
          </a:p>
          <a:p>
            <a:pPr lvl="1"/>
            <a:r>
              <a:rPr lang="en-US" b="1" dirty="0"/>
              <a:t>No Acknowledgement</a:t>
            </a:r>
            <a:r>
              <a:rPr lang="hu-HU" b="1" dirty="0"/>
              <a:t>: </a:t>
            </a:r>
            <a:r>
              <a:rPr lang="en-US" dirty="0"/>
              <a:t>Producer does not wait for any acknowledgment from the broker.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High throughput, low latency, but risk of data loss.</a:t>
            </a:r>
          </a:p>
          <a:p>
            <a:r>
              <a:rPr lang="en-US" dirty="0"/>
              <a:t>acks=1</a:t>
            </a:r>
          </a:p>
          <a:p>
            <a:pPr lvl="1"/>
            <a:r>
              <a:rPr lang="en-US" b="1" dirty="0"/>
              <a:t>Leader Acknowledgement:</a:t>
            </a:r>
            <a:r>
              <a:rPr lang="en-US" dirty="0"/>
              <a:t> Producer waits for the leader to write the record to its local log.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Balanced approach, moderate latency, and throughput.</a:t>
            </a:r>
          </a:p>
          <a:p>
            <a:r>
              <a:rPr lang="en-US" dirty="0"/>
              <a:t>acks=all</a:t>
            </a:r>
          </a:p>
          <a:p>
            <a:pPr lvl="1"/>
            <a:r>
              <a:rPr lang="en-US" b="1" dirty="0"/>
              <a:t>All Replicas Acknowledgement:</a:t>
            </a:r>
            <a:r>
              <a:rPr lang="en-US" dirty="0"/>
              <a:t> Producer waits for all in-sync replicas to acknowledge the record.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Highest reliability, ensures no data loss, but higher latency.</a:t>
            </a:r>
            <a:endParaRPr lang="hu-HU" dirty="0"/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8197E1C-CAC9-C278-5B5F-754B2B69D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371" y="3601783"/>
            <a:ext cx="6348985" cy="23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0B6E25-1D51-FC14-2AFA-C07D546EEE0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F721-92FA-2DA9-D8EF-D9DD4C862EC4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047F8-547A-EA2A-5244-84BDBF526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rgbClr val="111111"/>
                </a:solidFill>
              </a:rPr>
              <a:t>A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suite of command-line tools for managing and interacting with </a:t>
            </a:r>
            <a:r>
              <a:rPr lang="en-US" b="0" i="0" dirty="0" err="1">
                <a:solidFill>
                  <a:srgbClr val="111111"/>
                </a:solidFill>
                <a:effectLst/>
              </a:rPr>
              <a:t>Kafk</a:t>
            </a:r>
            <a:r>
              <a:rPr lang="hu-HU" b="0" i="0" dirty="0">
                <a:solidFill>
                  <a:srgbClr val="111111"/>
                </a:solidFill>
                <a:effectLst/>
              </a:rPr>
              <a:t>a</a:t>
            </a:r>
          </a:p>
          <a:p>
            <a:r>
              <a:rPr lang="hu-HU" dirty="0">
                <a:solidFill>
                  <a:srgbClr val="111111"/>
                </a:solidFill>
              </a:rPr>
              <a:t>It is bundled with Kafka binaries</a:t>
            </a:r>
          </a:p>
          <a:p>
            <a:endParaRPr lang="hu-HU" dirty="0"/>
          </a:p>
          <a:p>
            <a:endParaRPr lang="hu-HU" dirty="0"/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Start and </a:t>
            </a:r>
            <a:r>
              <a:rPr lang="hu-HU" dirty="0"/>
              <a:t>s</a:t>
            </a:r>
            <a:r>
              <a:rPr lang="en-US" dirty="0"/>
              <a:t>top Kafka</a:t>
            </a:r>
          </a:p>
          <a:p>
            <a:pPr lvl="1"/>
            <a:r>
              <a:rPr lang="en-US" dirty="0"/>
              <a:t>Manage </a:t>
            </a:r>
            <a:r>
              <a:rPr lang="hu-HU" dirty="0"/>
              <a:t>t</a:t>
            </a:r>
            <a:r>
              <a:rPr lang="en-US" dirty="0" err="1"/>
              <a:t>opics</a:t>
            </a:r>
            <a:r>
              <a:rPr lang="hu-HU" dirty="0"/>
              <a:t> (c</a:t>
            </a:r>
            <a:r>
              <a:rPr lang="en-US" dirty="0" err="1"/>
              <a:t>reate</a:t>
            </a:r>
            <a:r>
              <a:rPr lang="en-US" dirty="0"/>
              <a:t>, list, and delete</a:t>
            </a:r>
            <a:r>
              <a:rPr lang="hu-HU" dirty="0"/>
              <a:t>)</a:t>
            </a:r>
            <a:endParaRPr lang="en-US" dirty="0"/>
          </a:p>
          <a:p>
            <a:pPr lvl="1"/>
            <a:r>
              <a:rPr lang="hu-HU" dirty="0"/>
              <a:t>M</a:t>
            </a:r>
            <a:r>
              <a:rPr lang="en-US" dirty="0" err="1"/>
              <a:t>anage</a:t>
            </a:r>
            <a:r>
              <a:rPr lang="en-US" dirty="0"/>
              <a:t> partitions and replicas</a:t>
            </a:r>
            <a:r>
              <a:rPr lang="hu-HU" dirty="0"/>
              <a:t> </a:t>
            </a:r>
            <a:endParaRPr lang="en-US" dirty="0"/>
          </a:p>
          <a:p>
            <a:pPr lvl="1"/>
            <a:r>
              <a:rPr lang="en-US" dirty="0"/>
              <a:t>Monitor and Debug</a:t>
            </a:r>
            <a:r>
              <a:rPr lang="hu-HU" dirty="0"/>
              <a:t> Kafka clusters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88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Topics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784C2-F60B-EBAE-F703-8D00E892663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kafka-topics.sh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is used to manage topics in Kafka.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Create, list, describe, and delete topics</a:t>
            </a:r>
          </a:p>
          <a:p>
            <a:r>
              <a:rPr lang="en-US" dirty="0"/>
              <a:t>Alter topic configurations</a:t>
            </a:r>
          </a:p>
          <a:p>
            <a:r>
              <a:rPr lang="en-US" dirty="0"/>
              <a:t>Add partitions to existing topics</a:t>
            </a:r>
            <a:endParaRPr lang="hu-HU" dirty="0"/>
          </a:p>
          <a:p>
            <a:endParaRPr lang="hu-HU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kafka-topics.sh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--create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       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--topic my-topic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--bootstrap-server localhost:9092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--partitions 3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--replication-factor 1</a:t>
            </a:r>
          </a:p>
          <a:p>
            <a:pPr lvl="1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9E0DCD-D51A-2AF9-0D1E-1A95FF9704EB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72123785-08D6-1D32-9082-12B2EE598FE8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7CE0DC-53CB-04A1-6327-593F99235C45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39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Console Producer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84462-7C56-9D34-50E0-FFC054B0B503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kafka-console-producer.sh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 to send messages to a Kafka topic from the command line. 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Produce messages to a specified topic.</a:t>
            </a:r>
            <a:endParaRPr lang="hu-HU" dirty="0"/>
          </a:p>
          <a:p>
            <a:pPr lvl="1"/>
            <a:r>
              <a:rPr lang="hu-HU" dirty="0"/>
              <a:t>With key</a:t>
            </a:r>
          </a:p>
          <a:p>
            <a:pPr lvl="1"/>
            <a:r>
              <a:rPr lang="hu-HU" dirty="0"/>
              <a:t>Without key</a:t>
            </a:r>
            <a:endParaRPr lang="en-US" dirty="0"/>
          </a:p>
          <a:p>
            <a:r>
              <a:rPr lang="en-US" dirty="0"/>
              <a:t>Read input from standard input (stdin). </a:t>
            </a:r>
            <a:endParaRPr lang="hu-HU" dirty="0"/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kafka-console-producer.sh --topic my-topic </a:t>
            </a: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--bootstrap-server localhost:9092</a:t>
            </a: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9592D5-0D45-9D6A-418F-E9C16F7B5955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C105E1F9-9D34-1489-8E9A-C701AF5C2724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9AC588-95EF-D0F9-D94F-256DA33BCC71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26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Console Consumer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74C25-F643-52A8-FEF4-5280A4A58D39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-console-</a:t>
            </a:r>
            <a:r>
              <a:rPr lang="hu-HU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consumer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 to read messages from a Kafka topic from the command line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Consume messages from a specified </a:t>
            </a:r>
            <a:r>
              <a:rPr lang="en-US" dirty="0" err="1"/>
              <a:t>topi</a:t>
            </a:r>
            <a:r>
              <a:rPr lang="hu-HU" dirty="0"/>
              <a:t>c:</a:t>
            </a:r>
          </a:p>
          <a:p>
            <a:pPr lvl="1"/>
            <a:r>
              <a:rPr lang="hu-HU" dirty="0"/>
              <a:t>From tail of the topic</a:t>
            </a:r>
          </a:p>
          <a:p>
            <a:pPr lvl="1"/>
            <a:r>
              <a:rPr lang="hu-HU" dirty="0"/>
              <a:t>From the beginning of the topic</a:t>
            </a:r>
            <a:endParaRPr lang="en-US" dirty="0"/>
          </a:p>
          <a:p>
            <a:r>
              <a:rPr lang="hu-HU" dirty="0"/>
              <a:t>Can display key and value as well</a:t>
            </a:r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kafka-console-consumer.sh --topic my-topic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--bootstrap-server localhost:9092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--from-beginning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BE1E33-0BF0-679D-2701-170F265A4DC4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605038CA-7803-BEA7-3175-478B5224BEFA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DF31C4-2B2E-9866-A5C2-30D987427FB3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36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Consumer Groups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1332F1-02F9-E246-5F2B-2D7418780D7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kafka-consumer-groups.sh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 to manage consumer groups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Describe consumer groups</a:t>
            </a:r>
          </a:p>
          <a:p>
            <a:r>
              <a:rPr lang="en-US" dirty="0"/>
              <a:t>List consumer groups</a:t>
            </a:r>
          </a:p>
          <a:p>
            <a:r>
              <a:rPr lang="en-US" dirty="0"/>
              <a:t>Delete consumer groups</a:t>
            </a:r>
            <a:endParaRPr lang="hu-HU" dirty="0"/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kafka-consumer-groups.sh --bootstrap-server localhost:9092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--describe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--group my-group</a:t>
            </a: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36C912-4011-E3B4-4D17-63ACEBA3AE22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943DEEE1-94B2-6F46-E437-8FB82137090C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C4E8E0-0E70-9C50-98B7-EAD9D7928BF3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3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Server Start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166BA-4907-6AF4-D97E-62DF0E13DF6D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server-start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</a:t>
            </a:r>
            <a:r>
              <a:rPr lang="hu-HU" b="0" i="0" dirty="0">
                <a:solidFill>
                  <a:srgbClr val="111111"/>
                </a:solidFill>
                <a:effectLst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</a:rPr>
              <a:t>to start a Kafka broker. 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Start a Kafka broker using a specified properties file.</a:t>
            </a:r>
            <a:endParaRPr lang="hu-HU" dirty="0"/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kafka-server-start.sh config/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server.properties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2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638DCA-BAF5-BCB4-75AE-5EE22DE70D6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CLI tool – Kafka Server Stop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D3862-61D7-3C2E-A731-2ED067578EB5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DBF6-1ED9-F186-B109-8D4C5548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</a:rPr>
              <a:t>The 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kafka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server-stop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</a:rPr>
              <a:t>.sh</a:t>
            </a:r>
            <a:r>
              <a:rPr lang="en-US" b="0" i="0" dirty="0">
                <a:solidFill>
                  <a:srgbClr val="11111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hu-HU" b="0" i="0" dirty="0">
                <a:solidFill>
                  <a:srgbClr val="111111"/>
                </a:solidFill>
                <a:effectLst/>
              </a:rPr>
              <a:t>tool is</a:t>
            </a:r>
            <a:r>
              <a:rPr lang="en-US" b="0" i="0" dirty="0">
                <a:solidFill>
                  <a:srgbClr val="111111"/>
                </a:solidFill>
                <a:effectLst/>
              </a:rPr>
              <a:t> used</a:t>
            </a:r>
            <a:r>
              <a:rPr lang="hu-HU" b="0" i="0" dirty="0">
                <a:solidFill>
                  <a:srgbClr val="111111"/>
                </a:solidFill>
                <a:effectLst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</a:rPr>
              <a:t>to </a:t>
            </a:r>
            <a:r>
              <a:rPr lang="hu-HU" b="0" i="0" dirty="0">
                <a:solidFill>
                  <a:srgbClr val="111111"/>
                </a:solidFill>
                <a:effectLst/>
              </a:rPr>
              <a:t>stop a running </a:t>
            </a:r>
            <a:r>
              <a:rPr lang="en-US" b="0" i="0" dirty="0">
                <a:solidFill>
                  <a:srgbClr val="111111"/>
                </a:solidFill>
                <a:effectLst/>
              </a:rPr>
              <a:t>Kafka broker. </a:t>
            </a:r>
            <a:endParaRPr lang="hu-HU" b="0" i="0" dirty="0">
              <a:solidFill>
                <a:srgbClr val="111111"/>
              </a:solidFill>
              <a:effectLst/>
            </a:endParaRPr>
          </a:p>
          <a:p>
            <a:endParaRPr lang="hu-HU" dirty="0"/>
          </a:p>
          <a:p>
            <a:r>
              <a:rPr lang="en-US" dirty="0"/>
              <a:t>Stop a Kafka broker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Example: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kafka-server-stop.sh</a:t>
            </a:r>
          </a:p>
          <a:p>
            <a:pPr lvl="1"/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04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79F38D-975A-5D80-8B17-56CEBB117F0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Producer Implementation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444C90-B95A-D2BD-321D-D6CC643ADCCE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382FE-31D9-7D11-71EB-7FD725F3A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Basic Java producer sending</a:t>
            </a:r>
            <a:r>
              <a:rPr lang="hu-HU" b="1" dirty="0"/>
              <a:t> a set of messages to Kafka:</a:t>
            </a:r>
          </a:p>
          <a:p>
            <a:pPr lvl="1"/>
            <a:r>
              <a:rPr lang="hu-HU" dirty="0"/>
              <a:t>Sending generated message set to one topic</a:t>
            </a:r>
          </a:p>
          <a:p>
            <a:pPr lvl="1"/>
            <a:r>
              <a:rPr lang="en-US" dirty="0"/>
              <a:t>Using callback after sending message to</a:t>
            </a:r>
            <a:r>
              <a:rPr lang="hu-HU" dirty="0"/>
              <a:t> be able to</a:t>
            </a:r>
            <a:r>
              <a:rPr lang="en-US" dirty="0"/>
              <a:t> handle other tasks</a:t>
            </a:r>
            <a:endParaRPr lang="hu-HU" dirty="0"/>
          </a:p>
          <a:p>
            <a:pPr lvl="1"/>
            <a:r>
              <a:rPr lang="en-US" dirty="0"/>
              <a:t>Implementing confirmation of the sent message by logging the message metadata</a:t>
            </a:r>
          </a:p>
          <a:p>
            <a:pPr lvl="1"/>
            <a:endParaRPr lang="en-US" dirty="0"/>
          </a:p>
          <a:p>
            <a:pPr lvl="1"/>
            <a:endParaRPr lang="hu-HU" dirty="0"/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6A60D79-04CF-845B-5096-E44960459A97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5E4E0326-9342-9F59-0BF3-45A5B7A84504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A9DA3A-A77E-A940-1047-BD37090EEB1A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47521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B1F0-A4C7-4D3C-945C-1817970F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07A08E-B580-89CA-F59D-67495DCE56AC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Consumer Implementation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F67C17-5352-3B7C-C329-68D434706C50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C6D2-C81A-9351-605E-9C2E1F8B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Basic Java consumer reading a set of messags from Kafka:</a:t>
            </a:r>
          </a:p>
          <a:p>
            <a:pPr lvl="1"/>
            <a:r>
              <a:rPr lang="hu-HU" dirty="0"/>
              <a:t>S</a:t>
            </a:r>
            <a:r>
              <a:rPr lang="en-US" dirty="0"/>
              <a:t>et string </a:t>
            </a:r>
            <a:r>
              <a:rPr lang="en-US" dirty="0" err="1"/>
              <a:t>deserializers</a:t>
            </a:r>
            <a:endParaRPr lang="en-US" dirty="0"/>
          </a:p>
          <a:p>
            <a:pPr lvl="1"/>
            <a:r>
              <a:rPr lang="hu-HU" dirty="0"/>
              <a:t>S</a:t>
            </a:r>
            <a:r>
              <a:rPr lang="en-US" dirty="0"/>
              <a:t>et group id</a:t>
            </a:r>
          </a:p>
          <a:p>
            <a:pPr lvl="1"/>
            <a:r>
              <a:rPr lang="hu-HU" dirty="0"/>
              <a:t>S</a:t>
            </a:r>
            <a:r>
              <a:rPr lang="en-US" dirty="0"/>
              <a:t>et read from the earliest</a:t>
            </a:r>
            <a:endParaRPr lang="hu-HU" dirty="0"/>
          </a:p>
          <a:p>
            <a:pPr lvl="1"/>
            <a:r>
              <a:rPr lang="en-US" dirty="0"/>
              <a:t>Implementing proper shutdown </a:t>
            </a:r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569CFB-9EF6-F14F-6B4D-9D264710F5B6}"/>
              </a:ext>
            </a:extLst>
          </p:cNvPr>
          <p:cNvGrpSpPr/>
          <p:nvPr/>
        </p:nvGrpSpPr>
        <p:grpSpPr>
          <a:xfrm>
            <a:off x="11352584" y="94647"/>
            <a:ext cx="648072" cy="576064"/>
            <a:chOff x="10109844" y="1268760"/>
            <a:chExt cx="648072" cy="576064"/>
          </a:xfrm>
        </p:grpSpPr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1AE688-E610-AB86-375C-A2A5D7E5D650}"/>
                </a:ext>
              </a:extLst>
            </p:cNvPr>
            <p:cNvSpPr/>
            <p:nvPr/>
          </p:nvSpPr>
          <p:spPr>
            <a:xfrm>
              <a:off x="10128448" y="1268760"/>
              <a:ext cx="576064" cy="576064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128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33C5F3-91B9-0ECA-B1F2-97B48F602BBD}"/>
                </a:ext>
              </a:extLst>
            </p:cNvPr>
            <p:cNvSpPr txBox="1"/>
            <p:nvPr/>
          </p:nvSpPr>
          <p:spPr>
            <a:xfrm>
              <a:off x="10109844" y="1402903"/>
              <a:ext cx="648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Demo</a:t>
              </a:r>
              <a:endParaRPr lang="hu-HU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732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7411D4-63C3-B29D-2839-DADC5AC47A4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</a:t>
            </a:r>
            <a:r>
              <a:rPr lang="hu-HU" dirty="0" err="1"/>
              <a:t>Extended</a:t>
            </a:r>
            <a:r>
              <a:rPr lang="hu-HU" dirty="0"/>
              <a:t> </a:t>
            </a:r>
            <a:r>
              <a:rPr lang="hu-HU" dirty="0" err="1"/>
              <a:t>Ecosystem</a:t>
            </a:r>
            <a:endParaRPr lang="en-US" dirty="0"/>
          </a:p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A249F706-F2B9-DB7E-86FE-99EA6043EC5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A6829-8BA3-7409-B79A-96C957F05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Kafka Consumers and Producers have existed for a long time and are considered </a:t>
            </a:r>
            <a:r>
              <a:rPr lang="en-US" sz="1600" b="1" dirty="0"/>
              <a:t>low-level</a:t>
            </a:r>
          </a:p>
          <a:p>
            <a:r>
              <a:rPr lang="en-US" sz="1600" dirty="0"/>
              <a:t>Kafka &amp; ecosystem has introduced over time some new APIs that are </a:t>
            </a:r>
            <a:r>
              <a:rPr lang="en-US" sz="1600" b="1" dirty="0"/>
              <a:t>higher level </a:t>
            </a:r>
            <a:r>
              <a:rPr lang="en-US" sz="1600" dirty="0"/>
              <a:t>for </a:t>
            </a:r>
            <a:r>
              <a:rPr lang="en-US" sz="1600" b="1" dirty="0"/>
              <a:t>specific problem </a:t>
            </a:r>
            <a:r>
              <a:rPr lang="en-US" sz="1600" dirty="0"/>
              <a:t>sets:</a:t>
            </a:r>
          </a:p>
          <a:p>
            <a:pPr lvl="1"/>
            <a:r>
              <a:rPr lang="en-US" sz="1400" b="1" dirty="0"/>
              <a:t>Kafka Connect:</a:t>
            </a:r>
            <a:r>
              <a:rPr lang="en-US" sz="1400" dirty="0"/>
              <a:t> integration toolkit for streaming data between Kafka brokers and other systems using connector plugins</a:t>
            </a:r>
          </a:p>
          <a:p>
            <a:pPr lvl="1"/>
            <a:r>
              <a:rPr lang="en-US" sz="1400" b="1" dirty="0"/>
              <a:t>Kafka Streams:</a:t>
            </a:r>
            <a:r>
              <a:rPr lang="en-US" sz="1400" dirty="0"/>
              <a:t> solves transformations in Kafka (used as a Java lib) with exactly once capabilities</a:t>
            </a:r>
          </a:p>
          <a:p>
            <a:pPr lvl="1"/>
            <a:r>
              <a:rPr lang="en-US" sz="1400" b="1" dirty="0"/>
              <a:t>Schema Registry:</a:t>
            </a:r>
            <a:r>
              <a:rPr lang="en-US" sz="1400" dirty="0"/>
              <a:t> helps using Schema in Kafka</a:t>
            </a:r>
            <a:endParaRPr lang="en-US" sz="1400" b="1" dirty="0"/>
          </a:p>
          <a:p>
            <a:pPr lvl="1"/>
            <a:endParaRPr lang="en-US" sz="1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8BF8C-6036-48F8-7445-2C7B699621F3}"/>
              </a:ext>
            </a:extLst>
          </p:cNvPr>
          <p:cNvSpPr/>
          <p:nvPr/>
        </p:nvSpPr>
        <p:spPr>
          <a:xfrm>
            <a:off x="2752542" y="3538364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1BA21D-A8B9-E36A-3BC5-E8AF71F73E11}"/>
              </a:ext>
            </a:extLst>
          </p:cNvPr>
          <p:cNvSpPr/>
          <p:nvPr/>
        </p:nvSpPr>
        <p:spPr>
          <a:xfrm>
            <a:off x="5233437" y="3500913"/>
            <a:ext cx="1886662" cy="2226147"/>
          </a:xfrm>
          <a:prstGeom prst="roundRect">
            <a:avLst>
              <a:gd name="adj" fmla="val 5783"/>
            </a:avLst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0A1743-CB1B-2FB4-7D88-CAEE4CA797DB}"/>
              </a:ext>
            </a:extLst>
          </p:cNvPr>
          <p:cNvCxnSpPr>
            <a:cxnSpLocks/>
          </p:cNvCxnSpPr>
          <p:nvPr/>
        </p:nvCxnSpPr>
        <p:spPr>
          <a:xfrm>
            <a:off x="5847529" y="3062964"/>
            <a:ext cx="0" cy="43530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Apache Kafka">
            <a:extLst>
              <a:ext uri="{FF2B5EF4-FFF2-40B4-BE49-F238E27FC236}">
                <a16:creationId xmlns:a16="http://schemas.microsoft.com/office/drawing/2014/main" id="{A6AFB39E-1949-98A0-DFF7-AFF09F784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894" y="4391261"/>
            <a:ext cx="958718" cy="43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2C7103-F94C-922A-7AE4-61D9FC32AEBC}"/>
              </a:ext>
            </a:extLst>
          </p:cNvPr>
          <p:cNvSpPr/>
          <p:nvPr/>
        </p:nvSpPr>
        <p:spPr>
          <a:xfrm>
            <a:off x="8099941" y="3540011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Graphic 9" descr="Smart Phone">
            <a:extLst>
              <a:ext uri="{FF2B5EF4-FFF2-40B4-BE49-F238E27FC236}">
                <a16:creationId xmlns:a16="http://schemas.microsoft.com/office/drawing/2014/main" id="{9ED6CCDF-7E4A-CF42-76F7-00DD6928D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0418" y="2874940"/>
            <a:ext cx="508147" cy="508147"/>
          </a:xfrm>
          <a:prstGeom prst="rect">
            <a:avLst/>
          </a:prstGeom>
        </p:spPr>
      </p:pic>
      <p:pic>
        <p:nvPicPr>
          <p:cNvPr id="11" name="Graphic 10" descr="Laptop">
            <a:extLst>
              <a:ext uri="{FF2B5EF4-FFF2-40B4-BE49-F238E27FC236}">
                <a16:creationId xmlns:a16="http://schemas.microsoft.com/office/drawing/2014/main" id="{E31A3073-CFC8-6316-F3B6-1F9A13B831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2839" y="3398253"/>
            <a:ext cx="649286" cy="649286"/>
          </a:xfrm>
          <a:prstGeom prst="rect">
            <a:avLst/>
          </a:prstGeom>
        </p:spPr>
      </p:pic>
      <p:pic>
        <p:nvPicPr>
          <p:cNvPr id="12" name="Graphic 11" descr="Truck">
            <a:extLst>
              <a:ext uri="{FF2B5EF4-FFF2-40B4-BE49-F238E27FC236}">
                <a16:creationId xmlns:a16="http://schemas.microsoft.com/office/drawing/2014/main" id="{61D404BD-C200-AF0A-3D81-56638313F8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8383" y="3976778"/>
            <a:ext cx="649287" cy="649287"/>
          </a:xfrm>
          <a:prstGeom prst="rect">
            <a:avLst/>
          </a:prstGeom>
        </p:spPr>
      </p:pic>
      <p:pic>
        <p:nvPicPr>
          <p:cNvPr id="13" name="Graphic 12" descr="Envelope">
            <a:extLst>
              <a:ext uri="{FF2B5EF4-FFF2-40B4-BE49-F238E27FC236}">
                <a16:creationId xmlns:a16="http://schemas.microsoft.com/office/drawing/2014/main" id="{F7D5FC20-77E3-3EA6-5769-F36E11CC83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88166" y="3456814"/>
            <a:ext cx="660143" cy="66014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210E808-4A9E-A75E-9EA2-E0A192A756CA}"/>
              </a:ext>
            </a:extLst>
          </p:cNvPr>
          <p:cNvSpPr/>
          <p:nvPr/>
        </p:nvSpPr>
        <p:spPr>
          <a:xfrm>
            <a:off x="4706053" y="2535276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Schema Registry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B5222-CE27-91E8-EC04-A22E2293738E}"/>
              </a:ext>
            </a:extLst>
          </p:cNvPr>
          <p:cNvSpPr/>
          <p:nvPr/>
        </p:nvSpPr>
        <p:spPr>
          <a:xfrm>
            <a:off x="6358650" y="2535276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Streams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02F5A9-A94A-8AAE-F5C2-1FD2EF3FA621}"/>
              </a:ext>
            </a:extLst>
          </p:cNvPr>
          <p:cNvCxnSpPr>
            <a:cxnSpLocks/>
          </p:cNvCxnSpPr>
          <p:nvPr/>
        </p:nvCxnSpPr>
        <p:spPr>
          <a:xfrm>
            <a:off x="5669029" y="3088022"/>
            <a:ext cx="0" cy="41289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DFC87F-322B-8CE7-2B31-7CB7D2E01908}"/>
              </a:ext>
            </a:extLst>
          </p:cNvPr>
          <p:cNvCxnSpPr>
            <a:cxnSpLocks/>
          </p:cNvCxnSpPr>
          <p:nvPr/>
        </p:nvCxnSpPr>
        <p:spPr>
          <a:xfrm>
            <a:off x="2077813" y="3294467"/>
            <a:ext cx="661926" cy="36090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DB116E-B3A8-6BDD-C517-CF2CDD2DDAD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077813" y="3789778"/>
            <a:ext cx="674729" cy="1243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24B35D-83A9-361F-96FE-17BD50070803}"/>
              </a:ext>
            </a:extLst>
          </p:cNvPr>
          <p:cNvCxnSpPr>
            <a:cxnSpLocks/>
          </p:cNvCxnSpPr>
          <p:nvPr/>
        </p:nvCxnSpPr>
        <p:spPr>
          <a:xfrm flipV="1">
            <a:off x="2077813" y="3936617"/>
            <a:ext cx="674729" cy="364804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C64534-31FB-AA75-1CFA-7717E9BA1C4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145433" y="3796071"/>
            <a:ext cx="1104660" cy="6137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E0B114-17AF-DFCC-0948-D2B44A84632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124205" y="3803855"/>
            <a:ext cx="975736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E1C43E-81C6-0E78-E7B1-2B0D16FFE6A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9492832" y="3803855"/>
            <a:ext cx="850364" cy="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89315A-544C-44B6-11B5-5CC7DF1556ED}"/>
              </a:ext>
            </a:extLst>
          </p:cNvPr>
          <p:cNvCxnSpPr>
            <a:cxnSpLocks/>
          </p:cNvCxnSpPr>
          <p:nvPr/>
        </p:nvCxnSpPr>
        <p:spPr>
          <a:xfrm>
            <a:off x="6794174" y="3066113"/>
            <a:ext cx="0" cy="435306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9E91B2-5806-C8B4-0A4F-659238447DAC}"/>
              </a:ext>
            </a:extLst>
          </p:cNvPr>
          <p:cNvCxnSpPr>
            <a:cxnSpLocks/>
          </p:cNvCxnSpPr>
          <p:nvPr/>
        </p:nvCxnSpPr>
        <p:spPr>
          <a:xfrm>
            <a:off x="6615674" y="3091171"/>
            <a:ext cx="0" cy="41289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4474EA-A3E8-903E-6112-3C27A3E05699}"/>
              </a:ext>
            </a:extLst>
          </p:cNvPr>
          <p:cNvGrpSpPr/>
          <p:nvPr/>
        </p:nvGrpSpPr>
        <p:grpSpPr>
          <a:xfrm>
            <a:off x="1202071" y="4811780"/>
            <a:ext cx="9998628" cy="907710"/>
            <a:chOff x="1121303" y="5530799"/>
            <a:chExt cx="9998628" cy="907710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25F41BC6-D9AF-19CF-0CF1-5FF507A4FEA9}"/>
                </a:ext>
              </a:extLst>
            </p:cNvPr>
            <p:cNvSpPr/>
            <p:nvPr/>
          </p:nvSpPr>
          <p:spPr>
            <a:xfrm>
              <a:off x="2679360" y="5735928"/>
              <a:ext cx="1517266" cy="527688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Kafka Connect Source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4AE871A3-999C-109F-D46A-8D615592BC43}"/>
                </a:ext>
              </a:extLst>
            </p:cNvPr>
            <p:cNvSpPr/>
            <p:nvPr/>
          </p:nvSpPr>
          <p:spPr>
            <a:xfrm>
              <a:off x="8035753" y="5727060"/>
              <a:ext cx="1484473" cy="527688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Kafka Connect Sink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Cylinder 14">
              <a:extLst>
                <a:ext uri="{FF2B5EF4-FFF2-40B4-BE49-F238E27FC236}">
                  <a16:creationId xmlns:a16="http://schemas.microsoft.com/office/drawing/2014/main" id="{40CF0FB9-8E4E-F473-1AA7-6D030E17DC7F}"/>
                </a:ext>
              </a:extLst>
            </p:cNvPr>
            <p:cNvSpPr/>
            <p:nvPr/>
          </p:nvSpPr>
          <p:spPr>
            <a:xfrm>
              <a:off x="1121303" y="5530799"/>
              <a:ext cx="764924" cy="907710"/>
            </a:xfrm>
            <a:prstGeom prst="can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/>
                <a:t>Source DB</a:t>
              </a:r>
              <a:endParaRPr lang="en-US" sz="1600" dirty="0"/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C4F1B226-4071-03FB-EE5F-43F065CB264A}"/>
                </a:ext>
              </a:extLst>
            </p:cNvPr>
            <p:cNvSpPr/>
            <p:nvPr/>
          </p:nvSpPr>
          <p:spPr>
            <a:xfrm>
              <a:off x="10355007" y="5530799"/>
              <a:ext cx="764924" cy="907710"/>
            </a:xfrm>
            <a:prstGeom prst="can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/>
                <a:t>Target DB</a:t>
              </a:r>
              <a:endParaRPr lang="en-US" sz="160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26D138B-23EC-D161-78F8-391513786B9D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1997045" y="5998426"/>
              <a:ext cx="682315" cy="1346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3B1CC9E-3C69-030B-F138-919A07681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0226" y="5992213"/>
              <a:ext cx="742202" cy="6213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066C916-57DA-0A67-FD59-49B6DF185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2991" y="5984654"/>
              <a:ext cx="929678" cy="15118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003FD62-917F-B1D4-CAE2-E139C09E4989}"/>
                </a:ext>
              </a:extLst>
            </p:cNvPr>
            <p:cNvCxnSpPr>
              <a:cxnSpLocks/>
            </p:cNvCxnSpPr>
            <p:nvPr/>
          </p:nvCxnSpPr>
          <p:spPr>
            <a:xfrm>
              <a:off x="7043437" y="5984654"/>
              <a:ext cx="975736" cy="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156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C2544F-3338-545B-45A5-ED38BF38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EC5741-8AFF-AA92-F4F2-56A55A65E06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Connect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17B20-6FE7-DCF5-0FDD-02FF7B40670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DD39-ED84-A595-1302-AB568A252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400" b="1" dirty="0"/>
              <a:t>Motivation: </a:t>
            </a:r>
          </a:p>
          <a:p>
            <a:pPr lvl="1"/>
            <a:r>
              <a:rPr lang="hu-HU" sz="1200" dirty="0"/>
              <a:t>The data is usually imported from the same places, e.g. </a:t>
            </a:r>
          </a:p>
          <a:p>
            <a:pPr marL="457200" lvl="1" indent="0">
              <a:buNone/>
            </a:pPr>
            <a:r>
              <a:rPr lang="hu-HU" sz="1200" dirty="0"/>
              <a:t>     Databases, SAP HANA, FTP, IOT, Salesforce, Twitter, Blockchain, ...</a:t>
            </a:r>
          </a:p>
          <a:p>
            <a:pPr lvl="1"/>
            <a:r>
              <a:rPr lang="hu-HU" sz="1200" dirty="0"/>
              <a:t>The data is usually exported to the same places, e.g.</a:t>
            </a:r>
          </a:p>
          <a:p>
            <a:pPr marL="457200" lvl="1" indent="0">
              <a:buNone/>
            </a:pPr>
            <a:r>
              <a:rPr lang="hu-HU" sz="1200" dirty="0"/>
              <a:t>     S3, ElasticSearch, HDFS, JDBC, SAP HANA, Cassandra, Redis, Twitter, ...</a:t>
            </a:r>
            <a:endParaRPr lang="hu-HU" sz="1400" b="1" dirty="0"/>
          </a:p>
          <a:p>
            <a:r>
              <a:rPr lang="hu-HU" sz="1400" b="1" dirty="0"/>
              <a:t>Source connectors („Producers”) </a:t>
            </a:r>
            <a:r>
              <a:rPr lang="hu-HU" sz="1400" dirty="0"/>
              <a:t>to get data from common data sources</a:t>
            </a:r>
            <a:endParaRPr lang="hu-HU" sz="1200" dirty="0"/>
          </a:p>
          <a:p>
            <a:r>
              <a:rPr lang="hu-HU" sz="1400" b="1" dirty="0"/>
              <a:t>Sink connectors („Consumers”) </a:t>
            </a:r>
            <a:r>
              <a:rPr lang="hu-HU" sz="1400" dirty="0"/>
              <a:t>to put data in common data sources</a:t>
            </a:r>
          </a:p>
          <a:p>
            <a:r>
              <a:rPr lang="hu-HU" sz="1400" dirty="0"/>
              <a:t>Quickly re-use code that is made by experienced developers</a:t>
            </a:r>
          </a:p>
          <a:p>
            <a:r>
              <a:rPr lang="hu-HU" sz="1400" dirty="0"/>
              <a:t>Connectors achieve fault tolerance, idempontence, distribution, ordering</a:t>
            </a:r>
          </a:p>
          <a:p>
            <a:r>
              <a:rPr lang="hu-HU" sz="1400" dirty="0"/>
              <a:t>If you find available connector you should use it, oterwise you can create one or use low-level Producer/Consumer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F2949BF-8C5B-5B1C-8BC0-7BB3A0D2D544}"/>
              </a:ext>
            </a:extLst>
          </p:cNvPr>
          <p:cNvGrpSpPr/>
          <p:nvPr/>
        </p:nvGrpSpPr>
        <p:grpSpPr>
          <a:xfrm>
            <a:off x="8362647" y="3855779"/>
            <a:ext cx="1890768" cy="1946652"/>
            <a:chOff x="8111752" y="4045278"/>
            <a:chExt cx="1890768" cy="256986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B517D70-F9F7-5E81-7A5D-F2661AD6A864}"/>
                </a:ext>
              </a:extLst>
            </p:cNvPr>
            <p:cNvSpPr/>
            <p:nvPr/>
          </p:nvSpPr>
          <p:spPr>
            <a:xfrm>
              <a:off x="8111752" y="4045278"/>
              <a:ext cx="1886662" cy="2569869"/>
            </a:xfrm>
            <a:prstGeom prst="roundRect">
              <a:avLst>
                <a:gd name="adj" fmla="val 5783"/>
              </a:avLst>
            </a:prstGeom>
            <a:ln>
              <a:solidFill>
                <a:srgbClr val="01285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0E01258-B09B-B2E4-5E9C-3C04133C84B7}"/>
                </a:ext>
              </a:extLst>
            </p:cNvPr>
            <p:cNvGrpSpPr/>
            <p:nvPr/>
          </p:nvGrpSpPr>
          <p:grpSpPr>
            <a:xfrm>
              <a:off x="8364625" y="4722655"/>
              <a:ext cx="1389578" cy="494877"/>
              <a:chOff x="3886189" y="3043780"/>
              <a:chExt cx="6410097" cy="132403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2D87F5B-78C5-C889-5AD0-7AE9A870F420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9B8C44B-4C60-F370-6DA7-B745A5BA1B06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9330A33-A6E8-A60B-A1A6-C144C94B6CEE}"/>
                </a:ext>
              </a:extLst>
            </p:cNvPr>
            <p:cNvGrpSpPr/>
            <p:nvPr/>
          </p:nvGrpSpPr>
          <p:grpSpPr>
            <a:xfrm>
              <a:off x="8362647" y="5386724"/>
              <a:ext cx="1389578" cy="494877"/>
              <a:chOff x="3886189" y="3043780"/>
              <a:chExt cx="6410097" cy="132403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0D211D2-AE3B-32AD-468A-DDCECEE5F870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BC4C17-BC5E-55AF-2291-35DED62D0B18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1E91020-A570-0D61-B6D3-6A30409AE1CB}"/>
                </a:ext>
              </a:extLst>
            </p:cNvPr>
            <p:cNvGrpSpPr/>
            <p:nvPr/>
          </p:nvGrpSpPr>
          <p:grpSpPr>
            <a:xfrm>
              <a:off x="8362647" y="6041969"/>
              <a:ext cx="1389578" cy="494877"/>
              <a:chOff x="3886189" y="3043780"/>
              <a:chExt cx="6410097" cy="132403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FEFFBDE-E4A0-946C-E4D6-20D4A7089A1D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15D0AC-80FA-559F-23CE-32D6847A5099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25AE774-F592-5398-3474-18661B8D2011}"/>
                </a:ext>
              </a:extLst>
            </p:cNvPr>
            <p:cNvSpPr txBox="1"/>
            <p:nvPr/>
          </p:nvSpPr>
          <p:spPr>
            <a:xfrm>
              <a:off x="8111752" y="4080087"/>
              <a:ext cx="1890768" cy="31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Kafka Cluster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AEBCDC4-E6B5-0170-82A5-9FC6A926010E}"/>
              </a:ext>
            </a:extLst>
          </p:cNvPr>
          <p:cNvGrpSpPr/>
          <p:nvPr/>
        </p:nvGrpSpPr>
        <p:grpSpPr>
          <a:xfrm>
            <a:off x="5407670" y="3889967"/>
            <a:ext cx="1890768" cy="1912463"/>
            <a:chOff x="5156775" y="4045278"/>
            <a:chExt cx="1890768" cy="2569869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DDCE81C-8B13-2D74-866B-7D158B6C7082}"/>
                </a:ext>
              </a:extLst>
            </p:cNvPr>
            <p:cNvSpPr/>
            <p:nvPr/>
          </p:nvSpPr>
          <p:spPr>
            <a:xfrm>
              <a:off x="5156775" y="4045278"/>
              <a:ext cx="1886662" cy="2569869"/>
            </a:xfrm>
            <a:prstGeom prst="roundRect">
              <a:avLst>
                <a:gd name="adj" fmla="val 5783"/>
              </a:avLst>
            </a:prstGeom>
            <a:ln>
              <a:solidFill>
                <a:srgbClr val="01285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02052A4-2F62-6F03-DECF-42714455EEE8}"/>
                </a:ext>
              </a:extLst>
            </p:cNvPr>
            <p:cNvGrpSpPr/>
            <p:nvPr/>
          </p:nvGrpSpPr>
          <p:grpSpPr>
            <a:xfrm>
              <a:off x="5409648" y="4722655"/>
              <a:ext cx="1389578" cy="494877"/>
              <a:chOff x="3886189" y="3043780"/>
              <a:chExt cx="6410097" cy="1324039"/>
            </a:xfrm>
            <a:solidFill>
              <a:schemeClr val="accent1"/>
            </a:solidFill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87942ED-B154-8049-410B-975F95DE7D96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grpFill/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538A343-1C24-8851-DAD2-ED0728E71753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Connector</a:t>
                </a:r>
                <a:endPara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4E4858D6-33B4-35D8-A12F-01E601B3DDBE}"/>
                </a:ext>
              </a:extLst>
            </p:cNvPr>
            <p:cNvGrpSpPr/>
            <p:nvPr/>
          </p:nvGrpSpPr>
          <p:grpSpPr>
            <a:xfrm>
              <a:off x="5407670" y="5386724"/>
              <a:ext cx="1389578" cy="494877"/>
              <a:chOff x="3886189" y="3043780"/>
              <a:chExt cx="6410097" cy="1324039"/>
            </a:xfrm>
            <a:solidFill>
              <a:schemeClr val="accent1"/>
            </a:solidFill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5075689A-8EF2-C88B-FDDB-DAC55E084FEA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grpFill/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158E6A8-3597-F4AE-6F81-53C95E2158F5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Connector</a:t>
                </a:r>
                <a:endPara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A70A364-6D56-C73C-E37E-1CEABA25FD11}"/>
                </a:ext>
              </a:extLst>
            </p:cNvPr>
            <p:cNvGrpSpPr/>
            <p:nvPr/>
          </p:nvGrpSpPr>
          <p:grpSpPr>
            <a:xfrm>
              <a:off x="5407670" y="6041969"/>
              <a:ext cx="1389578" cy="494877"/>
              <a:chOff x="3886189" y="3043780"/>
              <a:chExt cx="6410097" cy="1324039"/>
            </a:xfrm>
            <a:solidFill>
              <a:schemeClr val="accent1"/>
            </a:solidFill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C62879F-C299-FF53-BB62-27D62CC0DB84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grpFill/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5D08310-6876-DDBA-E1EA-D64AA7B204D5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Connector</a:t>
                </a:r>
                <a:endParaRPr lang="en-US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ED3BD0F-8A5C-7D05-E687-AA39CF77811B}"/>
                </a:ext>
              </a:extLst>
            </p:cNvPr>
            <p:cNvSpPr txBox="1"/>
            <p:nvPr/>
          </p:nvSpPr>
          <p:spPr>
            <a:xfrm>
              <a:off x="5156775" y="4080087"/>
              <a:ext cx="1890768" cy="31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Connect Cluster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75971C68-1F88-7605-F8A9-3013D04D3C15}"/>
              </a:ext>
            </a:extLst>
          </p:cNvPr>
          <p:cNvSpPr/>
          <p:nvPr/>
        </p:nvSpPr>
        <p:spPr>
          <a:xfrm>
            <a:off x="7570526" y="4538412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13AA3480-B765-F16D-C96A-918CB99046D6}"/>
              </a:ext>
            </a:extLst>
          </p:cNvPr>
          <p:cNvSpPr/>
          <p:nvPr/>
        </p:nvSpPr>
        <p:spPr>
          <a:xfrm rot="10800000">
            <a:off x="7570526" y="5243279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759095F-1FFE-4B3F-661E-BB96558EC4D7}"/>
              </a:ext>
            </a:extLst>
          </p:cNvPr>
          <p:cNvGrpSpPr/>
          <p:nvPr/>
        </p:nvGrpSpPr>
        <p:grpSpPr>
          <a:xfrm>
            <a:off x="1357853" y="4039175"/>
            <a:ext cx="3825362" cy="776571"/>
            <a:chOff x="576579" y="4267078"/>
            <a:chExt cx="4376143" cy="907710"/>
          </a:xfrm>
        </p:grpSpPr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BC2DAD58-6935-1721-BA8D-3DFA23D704DC}"/>
                </a:ext>
              </a:extLst>
            </p:cNvPr>
            <p:cNvSpPr/>
            <p:nvPr/>
          </p:nvSpPr>
          <p:spPr>
            <a:xfrm>
              <a:off x="3476337" y="4267078"/>
              <a:ext cx="764924" cy="907710"/>
            </a:xfrm>
            <a:prstGeom prst="can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200" dirty="0"/>
                <a:t>Soures</a:t>
              </a:r>
              <a:endParaRPr lang="en-US" sz="1200" dirty="0"/>
            </a:p>
          </p:txBody>
        </p:sp>
        <p:pic>
          <p:nvPicPr>
            <p:cNvPr id="2052" name="Picture 4" descr="TurnK | Les outils NoCode | SAP">
              <a:extLst>
                <a:ext uri="{FF2B5EF4-FFF2-40B4-BE49-F238E27FC236}">
                  <a16:creationId xmlns:a16="http://schemas.microsoft.com/office/drawing/2014/main" id="{3E8CF017-378B-DCA7-3274-C59C0F73CD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49" t="34714" r="18084" b="31955"/>
            <a:stretch/>
          </p:blipFill>
          <p:spPr bwMode="auto">
            <a:xfrm>
              <a:off x="1275420" y="4509180"/>
              <a:ext cx="832681" cy="453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FTP-icon | Canine Chronicle">
              <a:extLst>
                <a:ext uri="{FF2B5EF4-FFF2-40B4-BE49-F238E27FC236}">
                  <a16:creationId xmlns:a16="http://schemas.microsoft.com/office/drawing/2014/main" id="{509C66A3-F4C2-D0ED-CD26-63470B8BD7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5" t="13774" r="14989" b="12140"/>
            <a:stretch/>
          </p:blipFill>
          <p:spPr bwMode="auto">
            <a:xfrm>
              <a:off x="2244945" y="4459070"/>
              <a:ext cx="532551" cy="55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Free Twitter Logo SVG, PNG Icon, Symbol. Download Image.">
              <a:extLst>
                <a:ext uri="{FF2B5EF4-FFF2-40B4-BE49-F238E27FC236}">
                  <a16:creationId xmlns:a16="http://schemas.microsoft.com/office/drawing/2014/main" id="{F6B93365-84A4-C493-C8B6-AB96EC9FF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2236" y="4472472"/>
              <a:ext cx="482661" cy="482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PostgreSQL icon PNG and SVG Vector Free Download">
              <a:extLst>
                <a:ext uri="{FF2B5EF4-FFF2-40B4-BE49-F238E27FC236}">
                  <a16:creationId xmlns:a16="http://schemas.microsoft.com/office/drawing/2014/main" id="{0D93B09C-C72E-D842-9961-12B7F949E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579" y="4450252"/>
              <a:ext cx="554049" cy="571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Arrow: Right 86">
              <a:extLst>
                <a:ext uri="{FF2B5EF4-FFF2-40B4-BE49-F238E27FC236}">
                  <a16:creationId xmlns:a16="http://schemas.microsoft.com/office/drawing/2014/main" id="{3E9FAEC6-3959-BC5A-781C-53C1BA64C0EB}"/>
                </a:ext>
              </a:extLst>
            </p:cNvPr>
            <p:cNvSpPr/>
            <p:nvPr/>
          </p:nvSpPr>
          <p:spPr>
            <a:xfrm>
              <a:off x="4423738" y="4689443"/>
              <a:ext cx="528984" cy="1871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195ED6B-DB51-1C5F-3ACF-20264D550B0D}"/>
                </a:ext>
              </a:extLst>
            </p:cNvPr>
            <p:cNvSpPr txBox="1"/>
            <p:nvPr/>
          </p:nvSpPr>
          <p:spPr>
            <a:xfrm>
              <a:off x="4401941" y="4422909"/>
              <a:ext cx="527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437DDB69-F6F6-F67B-7C13-BD7EDB0F6C1D}"/>
              </a:ext>
            </a:extLst>
          </p:cNvPr>
          <p:cNvSpPr txBox="1"/>
          <p:nvPr/>
        </p:nvSpPr>
        <p:spPr>
          <a:xfrm>
            <a:off x="7557468" y="4273573"/>
            <a:ext cx="527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F4E1E2-ED4F-BE16-51F8-9F5CB8121337}"/>
              </a:ext>
            </a:extLst>
          </p:cNvPr>
          <p:cNvSpPr txBox="1"/>
          <p:nvPr/>
        </p:nvSpPr>
        <p:spPr>
          <a:xfrm>
            <a:off x="7572109" y="4984835"/>
            <a:ext cx="527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8FCA373A-E94A-218C-9C9F-F06A106AFE08}"/>
              </a:ext>
            </a:extLst>
          </p:cNvPr>
          <p:cNvGrpSpPr/>
          <p:nvPr/>
        </p:nvGrpSpPr>
        <p:grpSpPr>
          <a:xfrm>
            <a:off x="1404532" y="4964008"/>
            <a:ext cx="3754462" cy="803627"/>
            <a:chOff x="615903" y="5624892"/>
            <a:chExt cx="4281863" cy="945915"/>
          </a:xfrm>
        </p:grpSpPr>
        <p:sp>
          <p:nvSpPr>
            <p:cNvPr id="85" name="Cylinder 84">
              <a:extLst>
                <a:ext uri="{FF2B5EF4-FFF2-40B4-BE49-F238E27FC236}">
                  <a16:creationId xmlns:a16="http://schemas.microsoft.com/office/drawing/2014/main" id="{FA4FE5B2-C7C9-CCB9-33AE-A5C589043B2F}"/>
                </a:ext>
              </a:extLst>
            </p:cNvPr>
            <p:cNvSpPr/>
            <p:nvPr/>
          </p:nvSpPr>
          <p:spPr>
            <a:xfrm>
              <a:off x="3476337" y="5624892"/>
              <a:ext cx="764924" cy="907710"/>
            </a:xfrm>
            <a:prstGeom prst="can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200" dirty="0"/>
                <a:t>Sinks</a:t>
              </a:r>
              <a:endParaRPr lang="en-US" sz="1600" dirty="0"/>
            </a:p>
          </p:txBody>
        </p:sp>
        <p:pic>
          <p:nvPicPr>
            <p:cNvPr id="2050" name="Picture 2" descr="Elasticsearch">
              <a:extLst>
                <a:ext uri="{FF2B5EF4-FFF2-40B4-BE49-F238E27FC236}">
                  <a16:creationId xmlns:a16="http://schemas.microsoft.com/office/drawing/2014/main" id="{703AEA0C-C78D-84BD-484E-4E402C7243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7980" y="5842648"/>
              <a:ext cx="434015" cy="487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What is MongoDB? NoSQL database explained in an easy way.">
              <a:extLst>
                <a:ext uri="{FF2B5EF4-FFF2-40B4-BE49-F238E27FC236}">
                  <a16:creationId xmlns:a16="http://schemas.microsoft.com/office/drawing/2014/main" id="{B29CDD8A-324F-7E41-695C-C86D65B5FD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153" y="5767180"/>
              <a:ext cx="597502" cy="803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hadoop&quot; Icon - Download for free – Iconduck">
              <a:extLst>
                <a:ext uri="{FF2B5EF4-FFF2-40B4-BE49-F238E27FC236}">
                  <a16:creationId xmlns:a16="http://schemas.microsoft.com/office/drawing/2014/main" id="{B7C96D75-F37A-AFCA-80A2-CBAF93C7D9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3156" y="5850962"/>
              <a:ext cx="705426" cy="528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4" name="Picture 16" descr="Icon Request: fa-redis · Issue #11829 · FortAwesome/Font ...">
              <a:extLst>
                <a:ext uri="{FF2B5EF4-FFF2-40B4-BE49-F238E27FC236}">
                  <a16:creationId xmlns:a16="http://schemas.microsoft.com/office/drawing/2014/main" id="{376EF7E3-5158-1AE2-C55D-B446D7424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903" y="5881601"/>
              <a:ext cx="490085" cy="490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9AD02AB4-2BEE-C1F8-2367-D45B7BD59716}"/>
                </a:ext>
              </a:extLst>
            </p:cNvPr>
            <p:cNvSpPr/>
            <p:nvPr/>
          </p:nvSpPr>
          <p:spPr>
            <a:xfrm rot="10800000">
              <a:off x="4357864" y="6040020"/>
              <a:ext cx="528984" cy="1871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016EC95-A4D3-759B-18F3-F9EFB3CD2E6B}"/>
                </a:ext>
              </a:extLst>
            </p:cNvPr>
            <p:cNvSpPr txBox="1"/>
            <p:nvPr/>
          </p:nvSpPr>
          <p:spPr>
            <a:xfrm>
              <a:off x="4370365" y="5767180"/>
              <a:ext cx="527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213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90" grpId="0"/>
      <p:bldP spid="9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7B51CD-DDD5-E668-780B-2045A6D8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8AA9F0-1C3A-A7D3-8EBC-00C3E477B3A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Connect Terminology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DB953-995A-90A1-BB23-7B1BB3F30B8B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9E7D-64BF-1060-FACA-7922D469E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A Kafka  connect cluster consists of one or more Workers (servers)</a:t>
            </a:r>
          </a:p>
          <a:p>
            <a:pPr lvl="1"/>
            <a:r>
              <a:rPr lang="en-US" sz="1400" b="1" dirty="0"/>
              <a:t>Standalone mode </a:t>
            </a:r>
            <a:r>
              <a:rPr lang="en-US" sz="1400" dirty="0"/>
              <a:t>= one worker</a:t>
            </a:r>
          </a:p>
          <a:p>
            <a:pPr lvl="1"/>
            <a:r>
              <a:rPr lang="en-US" sz="1400" b="1" dirty="0"/>
              <a:t>Distributed mode </a:t>
            </a:r>
            <a:r>
              <a:rPr lang="en-US" sz="1400" dirty="0"/>
              <a:t>= multiple workers</a:t>
            </a:r>
          </a:p>
          <a:p>
            <a:r>
              <a:rPr lang="en-US" sz="1600" dirty="0"/>
              <a:t>Kafka Connect clusters can have multiple loaded </a:t>
            </a:r>
            <a:r>
              <a:rPr lang="en-US" sz="1600" b="1" dirty="0"/>
              <a:t>Connectors</a:t>
            </a:r>
          </a:p>
          <a:p>
            <a:pPr lvl="1"/>
            <a:r>
              <a:rPr lang="en-US" sz="1400" dirty="0"/>
              <a:t>Each connector is a reusable piece of code (Java </a:t>
            </a:r>
            <a:r>
              <a:rPr lang="en-US" sz="1400" b="1" dirty="0"/>
              <a:t>.jar files</a:t>
            </a:r>
            <a:r>
              <a:rPr lang="en-US" sz="1400" dirty="0"/>
              <a:t>) on the workers’ filesystem</a:t>
            </a:r>
          </a:p>
          <a:p>
            <a:pPr lvl="1"/>
            <a:r>
              <a:rPr lang="en-US" sz="1400" dirty="0"/>
              <a:t>There are many (open-source) connectors:</a:t>
            </a:r>
          </a:p>
          <a:p>
            <a:pPr lvl="2"/>
            <a:r>
              <a:rPr lang="en-US" sz="1200" dirty="0">
                <a:hlinkClick r:id="rId2"/>
              </a:rPr>
              <a:t>https://docs.confluent.io/cloud/current/connectors/index.html</a:t>
            </a:r>
            <a:r>
              <a:rPr lang="en-US" sz="1200" dirty="0"/>
              <a:t> </a:t>
            </a:r>
          </a:p>
          <a:p>
            <a:pPr lvl="2"/>
            <a:r>
              <a:rPr lang="en-US" sz="1200" dirty="0">
                <a:hlinkClick r:id="rId3"/>
              </a:rPr>
              <a:t>https://www.confluent.io/hub/</a:t>
            </a:r>
            <a:r>
              <a:rPr lang="en-US" sz="1200" dirty="0"/>
              <a:t> </a:t>
            </a:r>
          </a:p>
          <a:p>
            <a:pPr lvl="1"/>
            <a:r>
              <a:rPr lang="en-US" sz="1400" dirty="0"/>
              <a:t>Write your own connector: </a:t>
            </a:r>
            <a:r>
              <a:rPr lang="en-US" sz="1400" dirty="0">
                <a:hlinkClick r:id="rId4"/>
              </a:rPr>
              <a:t>https://docs.confluent.io/platform/current/connect/devguide.html</a:t>
            </a:r>
            <a:r>
              <a:rPr lang="en-US" sz="1400" dirty="0"/>
              <a:t> </a:t>
            </a:r>
          </a:p>
          <a:p>
            <a:r>
              <a:rPr lang="en-US" sz="1600" dirty="0"/>
              <a:t>Connector + user configuration =&gt; </a:t>
            </a:r>
            <a:r>
              <a:rPr lang="en-US" sz="1600" b="1" dirty="0"/>
              <a:t>Tasks</a:t>
            </a:r>
          </a:p>
          <a:p>
            <a:pPr lvl="1"/>
            <a:r>
              <a:rPr lang="en-US" sz="1400" dirty="0"/>
              <a:t>A task is linked to a connector configuration</a:t>
            </a:r>
          </a:p>
          <a:p>
            <a:pPr lvl="1"/>
            <a:r>
              <a:rPr lang="en-US" sz="1400" dirty="0"/>
              <a:t>A job configuration may spawn multiple tasks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5E8F13B-0191-A0F9-5F64-76EA3DF26E02}"/>
              </a:ext>
            </a:extLst>
          </p:cNvPr>
          <p:cNvGrpSpPr/>
          <p:nvPr/>
        </p:nvGrpSpPr>
        <p:grpSpPr>
          <a:xfrm>
            <a:off x="8139138" y="4382159"/>
            <a:ext cx="1890768" cy="1519118"/>
            <a:chOff x="8111752" y="4045278"/>
            <a:chExt cx="1890768" cy="256986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F4D4175-0D74-9689-2CF9-53E0D86B14C9}"/>
                </a:ext>
              </a:extLst>
            </p:cNvPr>
            <p:cNvSpPr/>
            <p:nvPr/>
          </p:nvSpPr>
          <p:spPr>
            <a:xfrm>
              <a:off x="8111752" y="4045278"/>
              <a:ext cx="1886662" cy="2569869"/>
            </a:xfrm>
            <a:prstGeom prst="roundRect">
              <a:avLst>
                <a:gd name="adj" fmla="val 5783"/>
              </a:avLst>
            </a:prstGeom>
            <a:ln>
              <a:solidFill>
                <a:srgbClr val="01285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24AFCC-1AD2-7A95-7428-760CDC686AD6}"/>
                </a:ext>
              </a:extLst>
            </p:cNvPr>
            <p:cNvGrpSpPr/>
            <p:nvPr/>
          </p:nvGrpSpPr>
          <p:grpSpPr>
            <a:xfrm>
              <a:off x="8364625" y="4722655"/>
              <a:ext cx="1389578" cy="494877"/>
              <a:chOff x="3886189" y="3043780"/>
              <a:chExt cx="6410097" cy="132403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B62AE6E-13A6-69F8-9FB7-012783039DDD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07F6FA-A07C-F023-2989-1F71654561D4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8F14AEA-01AB-2634-7BF1-AC3E2CF872F9}"/>
                </a:ext>
              </a:extLst>
            </p:cNvPr>
            <p:cNvGrpSpPr/>
            <p:nvPr/>
          </p:nvGrpSpPr>
          <p:grpSpPr>
            <a:xfrm>
              <a:off x="8362647" y="5386724"/>
              <a:ext cx="1389578" cy="494877"/>
              <a:chOff x="3886189" y="3043780"/>
              <a:chExt cx="6410097" cy="132403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7709F6B-7594-F50E-BD89-BF92B2C59A24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98CAAF8-7AA1-9E82-36C1-534FFED57F43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AC9C3B0-F680-DAA9-0C97-4E66B1D0A0E6}"/>
                </a:ext>
              </a:extLst>
            </p:cNvPr>
            <p:cNvGrpSpPr/>
            <p:nvPr/>
          </p:nvGrpSpPr>
          <p:grpSpPr>
            <a:xfrm>
              <a:off x="8362647" y="6041969"/>
              <a:ext cx="1389578" cy="494877"/>
              <a:chOff x="3886189" y="3043780"/>
              <a:chExt cx="6410097" cy="132403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FDA23B1-2A6B-DC48-AECF-642E52B47A3B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8D49A6-6A3B-27C1-59AA-F293A1FE6864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199201C-5EB6-DAF3-6BA2-7AFFE4A1E24F}"/>
                </a:ext>
              </a:extLst>
            </p:cNvPr>
            <p:cNvSpPr txBox="1"/>
            <p:nvPr/>
          </p:nvSpPr>
          <p:spPr>
            <a:xfrm>
              <a:off x="8111752" y="4080087"/>
              <a:ext cx="1890768" cy="31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Kafka Cluster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7E5B19C-680F-1A7A-782A-5540D4F62F74}"/>
              </a:ext>
            </a:extLst>
          </p:cNvPr>
          <p:cNvSpPr/>
          <p:nvPr/>
        </p:nvSpPr>
        <p:spPr>
          <a:xfrm>
            <a:off x="714590" y="4382159"/>
            <a:ext cx="6414014" cy="1510790"/>
          </a:xfrm>
          <a:prstGeom prst="roundRect">
            <a:avLst>
              <a:gd name="adj" fmla="val 5783"/>
            </a:avLst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9D14A6C-9588-CC98-D336-3EBF76B1D41E}"/>
              </a:ext>
            </a:extLst>
          </p:cNvPr>
          <p:cNvGrpSpPr/>
          <p:nvPr/>
        </p:nvGrpSpPr>
        <p:grpSpPr>
          <a:xfrm>
            <a:off x="929065" y="4774514"/>
            <a:ext cx="1855487" cy="910190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A0227D1-75FD-BA29-E319-0491B41719BB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323D7C-6389-AFEE-F8DF-02B5414A699F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1D7E59-0093-3E02-87C0-F497D0CB3425}"/>
              </a:ext>
            </a:extLst>
          </p:cNvPr>
          <p:cNvGrpSpPr/>
          <p:nvPr/>
        </p:nvGrpSpPr>
        <p:grpSpPr>
          <a:xfrm>
            <a:off x="2993853" y="4769907"/>
            <a:ext cx="1855487" cy="910190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C9A21B4-6617-40E9-B14A-AB99D0F5F5F0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71EC5EA-9A45-D863-0A34-738447D36BE3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4B81425-0ACD-1031-AEC8-3E00E1F17A04}"/>
              </a:ext>
            </a:extLst>
          </p:cNvPr>
          <p:cNvGrpSpPr/>
          <p:nvPr/>
        </p:nvGrpSpPr>
        <p:grpSpPr>
          <a:xfrm>
            <a:off x="5054901" y="4765355"/>
            <a:ext cx="1855487" cy="910190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EE6C8AF-9398-41C3-EE1D-364655C991EF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B4E9E25-9F24-B4E2-0096-BAAD5B4ABDE6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C785DAE-B855-E676-2078-5E513260FA13}"/>
              </a:ext>
            </a:extLst>
          </p:cNvPr>
          <p:cNvSpPr txBox="1"/>
          <p:nvPr/>
        </p:nvSpPr>
        <p:spPr>
          <a:xfrm>
            <a:off x="714590" y="4416967"/>
            <a:ext cx="6427973" cy="318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 Cluster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DEB0D330-00B2-B8B7-49D3-0C36AABECAC1}"/>
              </a:ext>
            </a:extLst>
          </p:cNvPr>
          <p:cNvSpPr/>
          <p:nvPr/>
        </p:nvSpPr>
        <p:spPr>
          <a:xfrm>
            <a:off x="7376359" y="4775706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48F987F4-411E-3EEC-5ED9-9FDC6208DD50}"/>
              </a:ext>
            </a:extLst>
          </p:cNvPr>
          <p:cNvSpPr/>
          <p:nvPr/>
        </p:nvSpPr>
        <p:spPr>
          <a:xfrm rot="10800000">
            <a:off x="7376359" y="5480573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3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698060-400C-3669-0B69-DEEBE6ACB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037381-F697-9F8A-9433-611ABF6CB7D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Connect Terminology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0070D-A80D-2D7E-7F0F-5370E290F0E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68F782F-7B48-EA13-246F-475CE77E6C98}"/>
              </a:ext>
            </a:extLst>
          </p:cNvPr>
          <p:cNvGrpSpPr/>
          <p:nvPr/>
        </p:nvGrpSpPr>
        <p:grpSpPr>
          <a:xfrm>
            <a:off x="8111752" y="4177741"/>
            <a:ext cx="1890768" cy="1783571"/>
            <a:chOff x="8111752" y="4045278"/>
            <a:chExt cx="1890768" cy="256986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E4CEE1F-D580-0DD4-5AA7-305D8BC41804}"/>
                </a:ext>
              </a:extLst>
            </p:cNvPr>
            <p:cNvSpPr/>
            <p:nvPr/>
          </p:nvSpPr>
          <p:spPr>
            <a:xfrm>
              <a:off x="8111752" y="4045278"/>
              <a:ext cx="1886662" cy="2569869"/>
            </a:xfrm>
            <a:prstGeom prst="roundRect">
              <a:avLst>
                <a:gd name="adj" fmla="val 5783"/>
              </a:avLst>
            </a:prstGeom>
            <a:ln>
              <a:solidFill>
                <a:srgbClr val="01285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D254DF9-AA8F-B98D-C078-58FAC61D56D6}"/>
                </a:ext>
              </a:extLst>
            </p:cNvPr>
            <p:cNvGrpSpPr/>
            <p:nvPr/>
          </p:nvGrpSpPr>
          <p:grpSpPr>
            <a:xfrm>
              <a:off x="8364625" y="4722655"/>
              <a:ext cx="1389578" cy="494877"/>
              <a:chOff x="3886189" y="3043780"/>
              <a:chExt cx="6410097" cy="132403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95660D3-130A-8E64-0138-3DDF1715A2B2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51AD35-7D44-66BB-8C3B-1B69D917F133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32111C0-4EEF-F2FC-0945-240AF5E22569}"/>
                </a:ext>
              </a:extLst>
            </p:cNvPr>
            <p:cNvGrpSpPr/>
            <p:nvPr/>
          </p:nvGrpSpPr>
          <p:grpSpPr>
            <a:xfrm>
              <a:off x="8362647" y="5386724"/>
              <a:ext cx="1389578" cy="494877"/>
              <a:chOff x="3886189" y="3043780"/>
              <a:chExt cx="6410097" cy="132403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202807D-4BFE-6449-2A7E-9765F976E9E1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52D99B-8845-796C-6996-92D2A43934B9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F90C03F-08EC-C7B3-1D1F-964A1636B460}"/>
                </a:ext>
              </a:extLst>
            </p:cNvPr>
            <p:cNvGrpSpPr/>
            <p:nvPr/>
          </p:nvGrpSpPr>
          <p:grpSpPr>
            <a:xfrm>
              <a:off x="8362647" y="6041969"/>
              <a:ext cx="1389578" cy="494877"/>
              <a:chOff x="3886189" y="3043780"/>
              <a:chExt cx="6410097" cy="132403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DE430D-7C71-C805-C54E-192695E45A1C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B50C2B-D171-CEE1-3FA8-E632DF65FE94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6C6B4D-D9FE-DC8D-1CE5-1A76BA11D5CE}"/>
                </a:ext>
              </a:extLst>
            </p:cNvPr>
            <p:cNvSpPr txBox="1"/>
            <p:nvPr/>
          </p:nvSpPr>
          <p:spPr>
            <a:xfrm>
              <a:off x="8111752" y="4080087"/>
              <a:ext cx="1890768" cy="31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Kafka Cluster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9E39AAD-78A7-21A5-6EAD-DDB8437D54F8}"/>
              </a:ext>
            </a:extLst>
          </p:cNvPr>
          <p:cNvSpPr/>
          <p:nvPr/>
        </p:nvSpPr>
        <p:spPr>
          <a:xfrm>
            <a:off x="619570" y="4177741"/>
            <a:ext cx="6414014" cy="1783571"/>
          </a:xfrm>
          <a:prstGeom prst="roundRect">
            <a:avLst>
              <a:gd name="adj" fmla="val 5783"/>
            </a:avLst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872839D-4A40-AEE6-3206-F60DE106A5FD}"/>
              </a:ext>
            </a:extLst>
          </p:cNvPr>
          <p:cNvGrpSpPr/>
          <p:nvPr/>
        </p:nvGrpSpPr>
        <p:grpSpPr>
          <a:xfrm>
            <a:off x="834045" y="4570097"/>
            <a:ext cx="1855487" cy="1261474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8952D88-5B6E-6986-B29F-4E2A4644B072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7D7E344-3211-542D-3A07-5862E8DD1223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8879328-2BD6-2167-D2A4-E3CFCBC59060}"/>
              </a:ext>
            </a:extLst>
          </p:cNvPr>
          <p:cNvGrpSpPr/>
          <p:nvPr/>
        </p:nvGrpSpPr>
        <p:grpSpPr>
          <a:xfrm>
            <a:off x="2898833" y="4565490"/>
            <a:ext cx="1855487" cy="1261474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D345B35-5628-295D-C2ED-DDB71958DF01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F4BC609-5EDE-2C48-5B01-F281E2EAC3F3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CBE01CC-67AF-1927-7892-6B6F06F23188}"/>
              </a:ext>
            </a:extLst>
          </p:cNvPr>
          <p:cNvGrpSpPr/>
          <p:nvPr/>
        </p:nvGrpSpPr>
        <p:grpSpPr>
          <a:xfrm>
            <a:off x="4959881" y="4560938"/>
            <a:ext cx="1855487" cy="1261474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C5A4B36-B490-C35D-BFF4-A8C28E301272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0FB6CE9-C4DE-2FBD-09EF-84D01689D1AA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F2823ED4-7279-B8C4-5B05-77C055DCE3A9}"/>
              </a:ext>
            </a:extLst>
          </p:cNvPr>
          <p:cNvSpPr txBox="1"/>
          <p:nvPr/>
        </p:nvSpPr>
        <p:spPr>
          <a:xfrm>
            <a:off x="619570" y="4212550"/>
            <a:ext cx="6427973" cy="318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 Cluster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3A56E47-9E09-C191-E0FE-C08AA72A3838}"/>
              </a:ext>
            </a:extLst>
          </p:cNvPr>
          <p:cNvSpPr/>
          <p:nvPr/>
        </p:nvSpPr>
        <p:spPr>
          <a:xfrm>
            <a:off x="7315522" y="4767919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59BE8ADD-9570-7FDD-848D-A4076C90010A}"/>
              </a:ext>
            </a:extLst>
          </p:cNvPr>
          <p:cNvSpPr/>
          <p:nvPr/>
        </p:nvSpPr>
        <p:spPr>
          <a:xfrm rot="10800000">
            <a:off x="7315522" y="5472786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26C1C09-C7A7-3DF3-E683-7C76D5B1011D}"/>
              </a:ext>
            </a:extLst>
          </p:cNvPr>
          <p:cNvSpPr txBox="1"/>
          <p:nvPr/>
        </p:nvSpPr>
        <p:spPr>
          <a:xfrm>
            <a:off x="512748" y="973289"/>
            <a:ext cx="195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Connector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1</a:t>
            </a:r>
            <a:endParaRPr lang="en-GB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34AC5A10-A41D-2F30-9453-4E6A4116DC1F}"/>
              </a:ext>
            </a:extLst>
          </p:cNvPr>
          <p:cNvSpPr/>
          <p:nvPr/>
        </p:nvSpPr>
        <p:spPr>
          <a:xfrm>
            <a:off x="1267113" y="5036391"/>
            <a:ext cx="982767" cy="22005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1</a:t>
            </a:r>
            <a:endParaRPr lang="en-GB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B4AAA20D-CDCA-C2C4-56F1-7E8909C4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0" y="1377430"/>
            <a:ext cx="4193136" cy="55309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B543821A-7CCA-CE65-EAFF-542DCBD1940F}"/>
              </a:ext>
            </a:extLst>
          </p:cNvPr>
          <p:cNvSpPr txBox="1"/>
          <p:nvPr/>
        </p:nvSpPr>
        <p:spPr>
          <a:xfrm>
            <a:off x="5887624" y="973289"/>
            <a:ext cx="195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Connector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2</a:t>
            </a:r>
            <a:endParaRPr lang="en-GB" dirty="0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7B692313-BFD0-C8B4-3159-7B598AB05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063" y="1378436"/>
            <a:ext cx="5144457" cy="2633472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E6F4B948-9D79-9FDE-2719-49CFCCEF926D}"/>
              </a:ext>
            </a:extLst>
          </p:cNvPr>
          <p:cNvSpPr/>
          <p:nvPr/>
        </p:nvSpPr>
        <p:spPr>
          <a:xfrm>
            <a:off x="1267113" y="5422278"/>
            <a:ext cx="982767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2</a:t>
            </a:r>
            <a:endParaRPr lang="en-GB" dirty="0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607932B6-C45E-5CBF-1849-24FDB7CD98DA}"/>
              </a:ext>
            </a:extLst>
          </p:cNvPr>
          <p:cNvSpPr/>
          <p:nvPr/>
        </p:nvSpPr>
        <p:spPr>
          <a:xfrm>
            <a:off x="3342172" y="5036391"/>
            <a:ext cx="982767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1</a:t>
            </a:r>
            <a:endParaRPr lang="en-GB" dirty="0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FB1839AB-148A-D5F4-EF79-96F495D50EF1}"/>
              </a:ext>
            </a:extLst>
          </p:cNvPr>
          <p:cNvSpPr/>
          <p:nvPr/>
        </p:nvSpPr>
        <p:spPr>
          <a:xfrm>
            <a:off x="5402568" y="5004341"/>
            <a:ext cx="982767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183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3" grpId="0"/>
      <p:bldP spid="16" grpId="0" animBg="1"/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3A250D-8044-D5BD-A00C-677D56A6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91B941-D4DE-7E2D-9753-E31310877A84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Connect Terminology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C93B8-C34C-97CC-D96E-FDAA05A7CD7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9956177-53B5-2948-343D-188C81554EA5}"/>
              </a:ext>
            </a:extLst>
          </p:cNvPr>
          <p:cNvGrpSpPr/>
          <p:nvPr/>
        </p:nvGrpSpPr>
        <p:grpSpPr>
          <a:xfrm>
            <a:off x="8111752" y="4177741"/>
            <a:ext cx="1890768" cy="1783571"/>
            <a:chOff x="8111752" y="4045278"/>
            <a:chExt cx="1890768" cy="256986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7A5AABC-C5DC-1BE9-A5CA-A69BF0236D32}"/>
                </a:ext>
              </a:extLst>
            </p:cNvPr>
            <p:cNvSpPr/>
            <p:nvPr/>
          </p:nvSpPr>
          <p:spPr>
            <a:xfrm>
              <a:off x="8111752" y="4045278"/>
              <a:ext cx="1886662" cy="2569869"/>
            </a:xfrm>
            <a:prstGeom prst="roundRect">
              <a:avLst>
                <a:gd name="adj" fmla="val 5783"/>
              </a:avLst>
            </a:prstGeom>
            <a:ln>
              <a:solidFill>
                <a:srgbClr val="01285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EFF8C1-F1D7-5D25-7CAB-706D20F7FE52}"/>
                </a:ext>
              </a:extLst>
            </p:cNvPr>
            <p:cNvGrpSpPr/>
            <p:nvPr/>
          </p:nvGrpSpPr>
          <p:grpSpPr>
            <a:xfrm>
              <a:off x="8364625" y="4722655"/>
              <a:ext cx="1389578" cy="494877"/>
              <a:chOff x="3886189" y="3043780"/>
              <a:chExt cx="6410097" cy="132403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E024828-E7DF-3FFB-0E1C-C78EA47616A6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3034F1E-645F-EF02-27A8-45254F1202AE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6A1976F-6873-08EF-B624-EF996EEBEA58}"/>
                </a:ext>
              </a:extLst>
            </p:cNvPr>
            <p:cNvGrpSpPr/>
            <p:nvPr/>
          </p:nvGrpSpPr>
          <p:grpSpPr>
            <a:xfrm>
              <a:off x="8362647" y="5386724"/>
              <a:ext cx="1389578" cy="494877"/>
              <a:chOff x="3886189" y="3043780"/>
              <a:chExt cx="6410097" cy="1324039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8641129-2D79-AE5C-6441-EC8DA17B9EF4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43234E-E343-3B31-99BD-61B3F8897010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2397E95-3457-7F07-70C7-D34008CB87A6}"/>
                </a:ext>
              </a:extLst>
            </p:cNvPr>
            <p:cNvGrpSpPr/>
            <p:nvPr/>
          </p:nvGrpSpPr>
          <p:grpSpPr>
            <a:xfrm>
              <a:off x="8362647" y="6041969"/>
              <a:ext cx="1389578" cy="494877"/>
              <a:chOff x="3886189" y="3043780"/>
              <a:chExt cx="6410097" cy="132403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ABFD248-976C-359F-CBC6-4D7FC2C55ABC}"/>
                  </a:ext>
                </a:extLst>
              </p:cNvPr>
              <p:cNvSpPr/>
              <p:nvPr/>
            </p:nvSpPr>
            <p:spPr>
              <a:xfrm>
                <a:off x="3886189" y="3058402"/>
                <a:ext cx="6410097" cy="130941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82AE832-090E-6573-AD9D-90220BC595D5}"/>
                  </a:ext>
                </a:extLst>
              </p:cNvPr>
              <p:cNvSpPr txBox="1"/>
              <p:nvPr/>
            </p:nvSpPr>
            <p:spPr>
              <a:xfrm>
                <a:off x="3886194" y="3043780"/>
                <a:ext cx="6410092" cy="823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14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Broker</a:t>
                </a:r>
                <a:endParaRPr lang="en-US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8E82974-A3E7-9700-832D-C4431872E893}"/>
                </a:ext>
              </a:extLst>
            </p:cNvPr>
            <p:cNvSpPr txBox="1"/>
            <p:nvPr/>
          </p:nvSpPr>
          <p:spPr>
            <a:xfrm>
              <a:off x="8111752" y="4080087"/>
              <a:ext cx="1890768" cy="318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4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Kafka Cluster</a:t>
              </a:r>
              <a:endPara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B5C8F8E-F915-3276-1558-A13E8028A0F3}"/>
              </a:ext>
            </a:extLst>
          </p:cNvPr>
          <p:cNvSpPr/>
          <p:nvPr/>
        </p:nvSpPr>
        <p:spPr>
          <a:xfrm>
            <a:off x="619570" y="4177741"/>
            <a:ext cx="6414014" cy="1783571"/>
          </a:xfrm>
          <a:prstGeom prst="roundRect">
            <a:avLst>
              <a:gd name="adj" fmla="val 5783"/>
            </a:avLst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A366E3-618F-F148-42BE-D9F3CDB6D970}"/>
              </a:ext>
            </a:extLst>
          </p:cNvPr>
          <p:cNvGrpSpPr/>
          <p:nvPr/>
        </p:nvGrpSpPr>
        <p:grpSpPr>
          <a:xfrm>
            <a:off x="834045" y="4570097"/>
            <a:ext cx="1855487" cy="1261474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C3A9C83-2F81-5B34-6C54-4278697B168B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0456564-A721-909A-42BF-7885AEF85126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1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877E690-9C93-84A2-8CE9-255BE0FD6779}"/>
              </a:ext>
            </a:extLst>
          </p:cNvPr>
          <p:cNvGrpSpPr/>
          <p:nvPr/>
        </p:nvGrpSpPr>
        <p:grpSpPr>
          <a:xfrm>
            <a:off x="2898833" y="4565490"/>
            <a:ext cx="1855487" cy="1261474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04D7FA0-A854-1B26-8E2E-55D884AABE74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D05E846-7125-4DFC-EF00-FDE096259AFE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2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20944CA-B26A-4A2A-F61F-542BBBB1F123}"/>
              </a:ext>
            </a:extLst>
          </p:cNvPr>
          <p:cNvGrpSpPr/>
          <p:nvPr/>
        </p:nvGrpSpPr>
        <p:grpSpPr>
          <a:xfrm>
            <a:off x="4959881" y="4560938"/>
            <a:ext cx="1855487" cy="1261474"/>
            <a:chOff x="3886189" y="3043780"/>
            <a:chExt cx="6410097" cy="1324039"/>
          </a:xfrm>
          <a:solidFill>
            <a:schemeClr val="accent1"/>
          </a:solidFill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3EBEA13-E3BE-0373-9C1A-E84747FD539F}"/>
                </a:ext>
              </a:extLst>
            </p:cNvPr>
            <p:cNvSpPr/>
            <p:nvPr/>
          </p:nvSpPr>
          <p:spPr>
            <a:xfrm>
              <a:off x="3886189" y="3058402"/>
              <a:ext cx="6410097" cy="1309417"/>
            </a:xfrm>
            <a:prstGeom prst="rect">
              <a:avLst/>
            </a:prstGeom>
            <a:grpFill/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72C1299-318B-BD76-BA10-2515889F806A}"/>
                </a:ext>
              </a:extLst>
            </p:cNvPr>
            <p:cNvSpPr txBox="1"/>
            <p:nvPr/>
          </p:nvSpPr>
          <p:spPr>
            <a:xfrm>
              <a:off x="3886192" y="3043780"/>
              <a:ext cx="6410094" cy="193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Worker</a:t>
              </a:r>
              <a:r>
                <a:rPr lang="hu-HU" sz="1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3</a:t>
              </a:r>
              <a:endPara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A18CD24-83B8-D012-74C3-EDF7A478D71B}"/>
              </a:ext>
            </a:extLst>
          </p:cNvPr>
          <p:cNvSpPr txBox="1"/>
          <p:nvPr/>
        </p:nvSpPr>
        <p:spPr>
          <a:xfrm>
            <a:off x="619570" y="4212550"/>
            <a:ext cx="6427973" cy="318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 Cluster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CD1A9295-CFE6-9301-AD4B-3FA4D6FD0010}"/>
              </a:ext>
            </a:extLst>
          </p:cNvPr>
          <p:cNvSpPr/>
          <p:nvPr/>
        </p:nvSpPr>
        <p:spPr>
          <a:xfrm>
            <a:off x="7315522" y="4767919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E1887FD1-36D1-5152-404D-8C1CD5B65ED1}"/>
              </a:ext>
            </a:extLst>
          </p:cNvPr>
          <p:cNvSpPr/>
          <p:nvPr/>
        </p:nvSpPr>
        <p:spPr>
          <a:xfrm rot="10800000">
            <a:off x="7315522" y="5472786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9265D1C1-30A1-0382-6A5A-90E0EA46645C}"/>
              </a:ext>
            </a:extLst>
          </p:cNvPr>
          <p:cNvSpPr txBox="1"/>
          <p:nvPr/>
        </p:nvSpPr>
        <p:spPr>
          <a:xfrm>
            <a:off x="512748" y="973289"/>
            <a:ext cx="195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Connector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1</a:t>
            </a:r>
            <a:endParaRPr lang="en-GB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14F46295-31EB-4986-D1BE-051EE38DEA7A}"/>
              </a:ext>
            </a:extLst>
          </p:cNvPr>
          <p:cNvSpPr/>
          <p:nvPr/>
        </p:nvSpPr>
        <p:spPr>
          <a:xfrm>
            <a:off x="1267113" y="5036391"/>
            <a:ext cx="982767" cy="22005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1</a:t>
            </a:r>
            <a:endParaRPr lang="en-GB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84371A97-BC7D-9654-775C-D42C97DB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0" y="1377430"/>
            <a:ext cx="4193136" cy="55309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1B849D07-C3D2-5B33-A0FC-664F2E127252}"/>
              </a:ext>
            </a:extLst>
          </p:cNvPr>
          <p:cNvSpPr txBox="1"/>
          <p:nvPr/>
        </p:nvSpPr>
        <p:spPr>
          <a:xfrm>
            <a:off x="5887624" y="973289"/>
            <a:ext cx="195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Connector</a:t>
            </a:r>
            <a:r>
              <a:rPr lang="hu-HU" dirty="0"/>
              <a:t> </a:t>
            </a:r>
            <a:r>
              <a:rPr lang="hu-HU" dirty="0" err="1"/>
              <a:t>config</a:t>
            </a:r>
            <a:r>
              <a:rPr lang="hu-HU" dirty="0"/>
              <a:t> 2</a:t>
            </a:r>
            <a:endParaRPr lang="en-GB" dirty="0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05BE6787-E94B-F888-6A58-0FF80D3B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063" y="1378436"/>
            <a:ext cx="5144457" cy="2633472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89F287D3-199D-F7D7-7532-E1FDBA92A8B1}"/>
              </a:ext>
            </a:extLst>
          </p:cNvPr>
          <p:cNvSpPr/>
          <p:nvPr/>
        </p:nvSpPr>
        <p:spPr>
          <a:xfrm>
            <a:off x="1267113" y="5422278"/>
            <a:ext cx="982767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2</a:t>
            </a:r>
            <a:endParaRPr lang="en-GB" dirty="0"/>
          </a:p>
        </p:txBody>
      </p:sp>
      <p:sp>
        <p:nvSpPr>
          <p:cNvPr id="17" name="Téglalap: lekerekített 16">
            <a:extLst>
              <a:ext uri="{FF2B5EF4-FFF2-40B4-BE49-F238E27FC236}">
                <a16:creationId xmlns:a16="http://schemas.microsoft.com/office/drawing/2014/main" id="{943E61B3-4C7C-B4F1-9140-D3D74ED027A9}"/>
              </a:ext>
            </a:extLst>
          </p:cNvPr>
          <p:cNvSpPr/>
          <p:nvPr/>
        </p:nvSpPr>
        <p:spPr>
          <a:xfrm>
            <a:off x="3342172" y="5036391"/>
            <a:ext cx="982767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1</a:t>
            </a:r>
            <a:endParaRPr lang="en-GB" dirty="0"/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1D7CEC0A-71C6-D38F-C6FC-6B2CD5728FDC}"/>
              </a:ext>
            </a:extLst>
          </p:cNvPr>
          <p:cNvSpPr/>
          <p:nvPr/>
        </p:nvSpPr>
        <p:spPr>
          <a:xfrm>
            <a:off x="5402568" y="5004341"/>
            <a:ext cx="982767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3</a:t>
            </a:r>
            <a:endParaRPr lang="en-GB" dirty="0"/>
          </a:p>
        </p:txBody>
      </p:sp>
      <p:sp>
        <p:nvSpPr>
          <p:cNvPr id="7" name="Szövegdoboz 3">
            <a:extLst>
              <a:ext uri="{FF2B5EF4-FFF2-40B4-BE49-F238E27FC236}">
                <a16:creationId xmlns:a16="http://schemas.microsoft.com/office/drawing/2014/main" id="{CA198705-2898-6286-4BEB-D46F1A48BBD6}"/>
              </a:ext>
            </a:extLst>
          </p:cNvPr>
          <p:cNvSpPr txBox="1"/>
          <p:nvPr/>
        </p:nvSpPr>
        <p:spPr>
          <a:xfrm>
            <a:off x="5098702" y="4049449"/>
            <a:ext cx="15905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3800" b="1" dirty="0">
                <a:solidFill>
                  <a:srgbClr val="FF0000"/>
                </a:solidFill>
              </a:rPr>
              <a:t>X</a:t>
            </a:r>
            <a:endParaRPr lang="en-GB" sz="13800" b="1" dirty="0">
              <a:solidFill>
                <a:srgbClr val="FF0000"/>
              </a:solidFill>
            </a:endParaRPr>
          </a:p>
        </p:txBody>
      </p:sp>
      <p:sp>
        <p:nvSpPr>
          <p:cNvPr id="8" name="Téglalap: lekerekített 5">
            <a:extLst>
              <a:ext uri="{FF2B5EF4-FFF2-40B4-BE49-F238E27FC236}">
                <a16:creationId xmlns:a16="http://schemas.microsoft.com/office/drawing/2014/main" id="{350197D3-D456-2A82-2A14-E65B14388988}"/>
              </a:ext>
            </a:extLst>
          </p:cNvPr>
          <p:cNvSpPr/>
          <p:nvPr/>
        </p:nvSpPr>
        <p:spPr>
          <a:xfrm>
            <a:off x="3328048" y="5417020"/>
            <a:ext cx="996891" cy="220054"/>
          </a:xfrm>
          <a:prstGeom prst="roundRect">
            <a:avLst/>
          </a:prstGeom>
          <a:solidFill>
            <a:srgbClr val="7030A0"/>
          </a:solidFill>
          <a:ln>
            <a:solidFill>
              <a:srgbClr val="01286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/>
              <a:t>Task</a:t>
            </a:r>
            <a:r>
              <a:rPr lang="hu-HU" dirty="0"/>
              <a:t>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482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3" grpId="0"/>
      <p:bldP spid="16" grpId="0" animBg="1"/>
      <p:bldP spid="17" grpId="0" animBg="1"/>
      <p:bldP spid="18" grpId="0" animBg="1"/>
      <p:bldP spid="18" grpId="1" animBg="1"/>
      <p:bldP spid="7" grpId="0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8EB9E1-2FF8-0FE2-368A-C8F26FEF3AF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Streams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9C11A-213F-F361-B89E-B50D7B0AD92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AC110-1AAB-114C-27BE-7B66FF65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Motivation:</a:t>
            </a:r>
            <a:r>
              <a:rPr lang="hu-HU" dirty="0"/>
              <a:t> </a:t>
            </a:r>
          </a:p>
          <a:p>
            <a:pPr lvl="1"/>
            <a:r>
              <a:rPr lang="hu-HU" dirty="0"/>
              <a:t>You want to transform incoming data to increase business value, e.g. </a:t>
            </a:r>
          </a:p>
          <a:p>
            <a:pPr lvl="2"/>
            <a:r>
              <a:rPr lang="hu-HU" dirty="0"/>
              <a:t>from the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watch.later.change</a:t>
            </a:r>
            <a:r>
              <a:rPr lang="hu-HU" dirty="0"/>
              <a:t> topic:</a:t>
            </a:r>
          </a:p>
          <a:p>
            <a:pPr lvl="2"/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stats.genre</a:t>
            </a:r>
            <a:r>
              <a:rPr lang="hu-HU" dirty="0"/>
              <a:t>: count the number of times a specific genre was added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stats.completed</a:t>
            </a:r>
            <a:r>
              <a:rPr lang="hu-HU" dirty="0"/>
              <a:t>: count the number of completed episodes 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stats.watch.hours</a:t>
            </a:r>
            <a:r>
              <a:rPr lang="hu-HU" dirty="0"/>
              <a:t>: number of hours watched per day as a time series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hu-HU" dirty="0" err="1"/>
              <a:t>With</a:t>
            </a:r>
            <a:r>
              <a:rPr lang="hu-HU" dirty="0"/>
              <a:t> Producers and Consumers this could be achieved but would be low level and not developer friendly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6126F2-0A21-36F4-3FCF-B79DF93834C9}"/>
              </a:ext>
            </a:extLst>
          </p:cNvPr>
          <p:cNvSpPr/>
          <p:nvPr/>
        </p:nvSpPr>
        <p:spPr>
          <a:xfrm>
            <a:off x="5537437" y="3234609"/>
            <a:ext cx="2682007" cy="2569869"/>
          </a:xfrm>
          <a:prstGeom prst="roundRect">
            <a:avLst>
              <a:gd name="adj" fmla="val 5783"/>
            </a:avLst>
          </a:prstGeom>
          <a:ln>
            <a:solidFill>
              <a:srgbClr val="01285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6" name="Picture 2" descr="Apache Kafka">
            <a:extLst>
              <a:ext uri="{FF2B5EF4-FFF2-40B4-BE49-F238E27FC236}">
                <a16:creationId xmlns:a16="http://schemas.microsoft.com/office/drawing/2014/main" id="{26F186B1-911A-1449-88C2-79B89BE6F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94" y="3348593"/>
            <a:ext cx="958718" cy="43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D083F0-025C-5801-43A5-FD6AE8AE72EB}"/>
              </a:ext>
            </a:extLst>
          </p:cNvPr>
          <p:cNvSpPr/>
          <p:nvPr/>
        </p:nvSpPr>
        <p:spPr>
          <a:xfrm>
            <a:off x="5668908" y="3899593"/>
            <a:ext cx="1933675" cy="32744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watch.later.change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C18BE9-579B-D411-02E0-72149BBEEBB1}"/>
              </a:ext>
            </a:extLst>
          </p:cNvPr>
          <p:cNvSpPr/>
          <p:nvPr/>
        </p:nvSpPr>
        <p:spPr>
          <a:xfrm>
            <a:off x="5668908" y="4406785"/>
            <a:ext cx="1933676" cy="33130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stats.genre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5BDA74-8DA7-8D93-214B-113383A44F72}"/>
              </a:ext>
            </a:extLst>
          </p:cNvPr>
          <p:cNvSpPr/>
          <p:nvPr/>
        </p:nvSpPr>
        <p:spPr>
          <a:xfrm>
            <a:off x="5668909" y="4848217"/>
            <a:ext cx="1933674" cy="3313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stats.completed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5DF85B-B6A7-821F-9864-41A500270860}"/>
              </a:ext>
            </a:extLst>
          </p:cNvPr>
          <p:cNvSpPr/>
          <p:nvPr/>
        </p:nvSpPr>
        <p:spPr>
          <a:xfrm>
            <a:off x="5668910" y="5298515"/>
            <a:ext cx="1933674" cy="3313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stats.watch.hours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B22685-1745-EA1F-8930-49B1600A3674}"/>
              </a:ext>
            </a:extLst>
          </p:cNvPr>
          <p:cNvSpPr/>
          <p:nvPr/>
        </p:nvSpPr>
        <p:spPr>
          <a:xfrm>
            <a:off x="3464011" y="3804289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Client Service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E65EDC-615C-FBA1-C75D-DC5DFFBCB0EE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856903" y="4063317"/>
            <a:ext cx="812005" cy="4027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F146514-1170-CADB-3712-5A5F3BDC3295}"/>
              </a:ext>
            </a:extLst>
          </p:cNvPr>
          <p:cNvSpPr/>
          <p:nvPr/>
        </p:nvSpPr>
        <p:spPr>
          <a:xfrm>
            <a:off x="3148362" y="4770827"/>
            <a:ext cx="1708541" cy="5276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Recommendation Service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1EB37C-282A-76C8-0573-BD01E951A59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856902" y="4572440"/>
            <a:ext cx="812006" cy="345398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D5594A-61F6-A101-ECC2-66ABA91EAB6F}"/>
              </a:ext>
            </a:extLst>
          </p:cNvPr>
          <p:cNvCxnSpPr>
            <a:cxnSpLocks/>
            <a:stCxn id="19" idx="1"/>
            <a:endCxn id="28" idx="3"/>
          </p:cNvCxnSpPr>
          <p:nvPr/>
        </p:nvCxnSpPr>
        <p:spPr>
          <a:xfrm flipH="1">
            <a:off x="4856903" y="5013871"/>
            <a:ext cx="812006" cy="20800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C912F2-F294-F20F-E7D1-5BA02972E2DB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4856902" y="5179525"/>
            <a:ext cx="812008" cy="284644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83A5D5DF-733C-C8C1-A400-5278F07FEDF9}"/>
              </a:ext>
            </a:extLst>
          </p:cNvPr>
          <p:cNvSpPr/>
          <p:nvPr/>
        </p:nvSpPr>
        <p:spPr>
          <a:xfrm>
            <a:off x="9014010" y="4645195"/>
            <a:ext cx="2034960" cy="81897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Recommendation Engine in Real Time </a:t>
            </a:r>
            <a:b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hu-HU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(Kafka Streams)</a:t>
            </a:r>
            <a:endParaRPr lang="en-US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113" name="Straight Arrow Connector 4112">
            <a:extLst>
              <a:ext uri="{FF2B5EF4-FFF2-40B4-BE49-F238E27FC236}">
                <a16:creationId xmlns:a16="http://schemas.microsoft.com/office/drawing/2014/main" id="{036A184F-3FC9-51C4-3794-691283A04843}"/>
              </a:ext>
            </a:extLst>
          </p:cNvPr>
          <p:cNvCxnSpPr>
            <a:cxnSpLocks/>
            <a:stCxn id="4109" idx="1"/>
            <a:endCxn id="18" idx="3"/>
          </p:cNvCxnSpPr>
          <p:nvPr/>
        </p:nvCxnSpPr>
        <p:spPr>
          <a:xfrm flipH="1" flipV="1">
            <a:off x="7602584" y="4572440"/>
            <a:ext cx="1411426" cy="482242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6" name="Straight Arrow Connector 4115">
            <a:extLst>
              <a:ext uri="{FF2B5EF4-FFF2-40B4-BE49-F238E27FC236}">
                <a16:creationId xmlns:a16="http://schemas.microsoft.com/office/drawing/2014/main" id="{051AF14A-4257-340D-AE87-749011984373}"/>
              </a:ext>
            </a:extLst>
          </p:cNvPr>
          <p:cNvCxnSpPr>
            <a:cxnSpLocks/>
            <a:stCxn id="4109" idx="1"/>
            <a:endCxn id="19" idx="3"/>
          </p:cNvCxnSpPr>
          <p:nvPr/>
        </p:nvCxnSpPr>
        <p:spPr>
          <a:xfrm flipH="1" flipV="1">
            <a:off x="7602583" y="5013871"/>
            <a:ext cx="1411427" cy="40811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9" name="Straight Arrow Connector 4118">
            <a:extLst>
              <a:ext uri="{FF2B5EF4-FFF2-40B4-BE49-F238E27FC236}">
                <a16:creationId xmlns:a16="http://schemas.microsoft.com/office/drawing/2014/main" id="{84CCB0D8-9707-4749-CB5A-F8455E23896A}"/>
              </a:ext>
            </a:extLst>
          </p:cNvPr>
          <p:cNvCxnSpPr>
            <a:cxnSpLocks/>
            <a:stCxn id="4109" idx="1"/>
            <a:endCxn id="20" idx="3"/>
          </p:cNvCxnSpPr>
          <p:nvPr/>
        </p:nvCxnSpPr>
        <p:spPr>
          <a:xfrm flipH="1">
            <a:off x="7602584" y="5054682"/>
            <a:ext cx="1411426" cy="409487"/>
          </a:xfrm>
          <a:prstGeom prst="straightConnector1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7" name="Connector: Elbow 4126">
            <a:extLst>
              <a:ext uri="{FF2B5EF4-FFF2-40B4-BE49-F238E27FC236}">
                <a16:creationId xmlns:a16="http://schemas.microsoft.com/office/drawing/2014/main" id="{A5E7FF9B-F9FB-861A-FAFE-BE1F2AC9AD32}"/>
              </a:ext>
            </a:extLst>
          </p:cNvPr>
          <p:cNvCxnSpPr>
            <a:cxnSpLocks/>
            <a:stCxn id="17" idx="3"/>
            <a:endCxn id="4109" idx="0"/>
          </p:cNvCxnSpPr>
          <p:nvPr/>
        </p:nvCxnSpPr>
        <p:spPr>
          <a:xfrm>
            <a:off x="7602583" y="4063317"/>
            <a:ext cx="2428907" cy="581878"/>
          </a:xfrm>
          <a:prstGeom prst="bentConnector2">
            <a:avLst/>
          </a:prstGeom>
          <a:ln>
            <a:solidFill>
              <a:srgbClr val="01286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38" name="Picture 4" descr="Netflix Logo | SVG | Real Company | Alphabet, Letter N Logo">
            <a:extLst>
              <a:ext uri="{FF2B5EF4-FFF2-40B4-BE49-F238E27FC236}">
                <a16:creationId xmlns:a16="http://schemas.microsoft.com/office/drawing/2014/main" id="{54B27055-B4D3-78B4-456E-37F0BE3DE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5" t="23155" r="34814" b="23276"/>
          <a:stretch/>
        </p:blipFill>
        <p:spPr bwMode="auto">
          <a:xfrm>
            <a:off x="1044706" y="3762441"/>
            <a:ext cx="890805" cy="155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9" name="Arrow: Right 4138">
            <a:extLst>
              <a:ext uri="{FF2B5EF4-FFF2-40B4-BE49-F238E27FC236}">
                <a16:creationId xmlns:a16="http://schemas.microsoft.com/office/drawing/2014/main" id="{298558F3-9804-90F0-0A11-4C0629931522}"/>
              </a:ext>
            </a:extLst>
          </p:cNvPr>
          <p:cNvSpPr/>
          <p:nvPr/>
        </p:nvSpPr>
        <p:spPr>
          <a:xfrm>
            <a:off x="2277444" y="4011174"/>
            <a:ext cx="528984" cy="187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40" name="Arrow: Right 4139">
            <a:extLst>
              <a:ext uri="{FF2B5EF4-FFF2-40B4-BE49-F238E27FC236}">
                <a16:creationId xmlns:a16="http://schemas.microsoft.com/office/drawing/2014/main" id="{19F94779-759F-D3EF-856A-E79A2454E4BA}"/>
              </a:ext>
            </a:extLst>
          </p:cNvPr>
          <p:cNvSpPr/>
          <p:nvPr/>
        </p:nvSpPr>
        <p:spPr>
          <a:xfrm rot="10800000">
            <a:off x="2277444" y="4930721"/>
            <a:ext cx="528984" cy="18710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62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C13698-5CDC-0D43-7558-307AC796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5B78C7-4C19-7CDD-4F03-476F3C21254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Streams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4D7E9-4DD1-A4C3-A717-45FA32DA13A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29CB6-6F1F-EA1A-A8B3-2D655FE26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Kafka Streams is a </a:t>
            </a:r>
            <a:r>
              <a:rPr lang="hu-HU" b="1" dirty="0"/>
              <a:t>data processing and transformation library </a:t>
            </a:r>
            <a:r>
              <a:rPr lang="hu-HU" dirty="0"/>
              <a:t>within Kafka for:</a:t>
            </a:r>
          </a:p>
          <a:p>
            <a:pPr lvl="1"/>
            <a:r>
              <a:rPr lang="hu-HU" dirty="0"/>
              <a:t>Data transformation</a:t>
            </a:r>
          </a:p>
          <a:p>
            <a:pPr lvl="1"/>
            <a:r>
              <a:rPr lang="hu-HU" dirty="0"/>
              <a:t>Data enrichment</a:t>
            </a:r>
          </a:p>
          <a:p>
            <a:pPr lvl="1"/>
            <a:r>
              <a:rPr lang="hu-HU" dirty="0"/>
              <a:t>Fraud detection</a:t>
            </a:r>
          </a:p>
          <a:p>
            <a:pPr lvl="1"/>
            <a:r>
              <a:rPr lang="hu-HU" dirty="0"/>
              <a:t>Monitoring and alerting</a:t>
            </a:r>
          </a:p>
          <a:p>
            <a:pPr lvl="1"/>
            <a:endParaRPr lang="hu-HU" dirty="0"/>
          </a:p>
          <a:p>
            <a:r>
              <a:rPr lang="hu-HU" dirty="0"/>
              <a:t>Features:</a:t>
            </a:r>
          </a:p>
          <a:p>
            <a:pPr lvl="1"/>
            <a:r>
              <a:rPr lang="hu-HU" dirty="0"/>
              <a:t>Standard Java Application</a:t>
            </a:r>
          </a:p>
          <a:p>
            <a:pPr lvl="1"/>
            <a:r>
              <a:rPr lang="hu-HU" dirty="0"/>
              <a:t>No need to create a separate cluster</a:t>
            </a:r>
          </a:p>
          <a:p>
            <a:pPr lvl="1"/>
            <a:r>
              <a:rPr lang="hu-HU" dirty="0"/>
              <a:t>Highly scalable, elastic and fault tolerant</a:t>
            </a:r>
          </a:p>
          <a:p>
            <a:pPr lvl="1"/>
            <a:r>
              <a:rPr lang="hu-HU" dirty="0"/>
              <a:t>Exactly-once capabilities</a:t>
            </a:r>
          </a:p>
          <a:p>
            <a:pPr lvl="1"/>
            <a:r>
              <a:rPr lang="hu-HU" dirty="0"/>
              <a:t>One record at a time processing (no batching)</a:t>
            </a:r>
          </a:p>
          <a:p>
            <a:pPr lvl="1"/>
            <a:r>
              <a:rPr lang="hu-HU" dirty="0"/>
              <a:t>Works for any application 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36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571711-BEB2-4D2C-FDD9-11743069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34E523-C3AB-55BF-5CF8-8E89F17DE69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Schema Registry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8FE48-90FF-436C-BD73-5C40F534353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A9CBA-5DC1-DB73-7A0E-7C436D06E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Motivation:</a:t>
            </a:r>
          </a:p>
          <a:p>
            <a:pPr lvl="1"/>
            <a:r>
              <a:rPr lang="hu-HU" dirty="0"/>
              <a:t>Kafka does not do data verification, just takes bytes and sends them</a:t>
            </a:r>
          </a:p>
          <a:p>
            <a:pPr lvl="1"/>
            <a:r>
              <a:rPr lang="hu-HU" dirty="0"/>
              <a:t>The client </a:t>
            </a:r>
            <a:r>
              <a:rPr lang="hu-HU" b="1" dirty="0"/>
              <a:t>communication breaks</a:t>
            </a:r>
            <a:r>
              <a:rPr lang="hu-HU" dirty="0"/>
              <a:t> in cases like:</a:t>
            </a:r>
          </a:p>
          <a:p>
            <a:pPr lvl="2"/>
            <a:r>
              <a:rPr lang="hu-HU" dirty="0"/>
              <a:t>Producer sends bad data</a:t>
            </a:r>
          </a:p>
          <a:p>
            <a:pPr lvl="2"/>
            <a:r>
              <a:rPr lang="hu-HU" dirty="0"/>
              <a:t>A field gets renamed</a:t>
            </a:r>
          </a:p>
          <a:p>
            <a:pPr lvl="2"/>
            <a:r>
              <a:rPr lang="hu-HU" dirty="0"/>
              <a:t>Format changes from one day to another </a:t>
            </a:r>
          </a:p>
          <a:p>
            <a:pPr lvl="1"/>
            <a:r>
              <a:rPr lang="hu-HU" dirty="0"/>
              <a:t>We need data to be self describable</a:t>
            </a:r>
          </a:p>
          <a:p>
            <a:pPr lvl="1"/>
            <a:r>
              <a:rPr lang="hu-HU" dirty="0"/>
              <a:t>We need to be able to evolve date without breaking downstream consumers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Why does not Kafka Brokers take care about verification?	</a:t>
            </a:r>
          </a:p>
          <a:p>
            <a:pPr lvl="2"/>
            <a:r>
              <a:rPr lang="hu-HU" dirty="0"/>
              <a:t>It would break the efficiency of Kafka </a:t>
            </a:r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5762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092339-1669-DD61-69C2-D15EEB60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5FA7E8-AD1F-DD1C-64E4-33DBF269730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hu-HU" dirty="0"/>
              <a:t>Kafka Extended E &amp; I – Kafka Schema Registry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FCA3B15-B69A-78A2-397F-24FA4D48724F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CDD3-371C-9D8F-5E0B-5039962A7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Features:</a:t>
            </a:r>
          </a:p>
          <a:p>
            <a:pPr lvl="1"/>
            <a:r>
              <a:rPr lang="hu-HU" dirty="0"/>
              <a:t>It’s a separate component to keep the process lightweight</a:t>
            </a:r>
          </a:p>
          <a:p>
            <a:pPr lvl="1"/>
            <a:r>
              <a:rPr lang="hu-HU" dirty="0"/>
              <a:t>Stores schema for topics in Avro (or in Protobuf or in JSON Schema)</a:t>
            </a:r>
          </a:p>
          <a:p>
            <a:pPr lvl="1"/>
            <a:r>
              <a:rPr lang="hu-HU" dirty="0"/>
              <a:t>Producers and Consumers can talk to it</a:t>
            </a:r>
          </a:p>
          <a:p>
            <a:pPr lvl="1"/>
            <a:r>
              <a:rPr lang="hu-HU" dirty="0"/>
              <a:t>It’s able to enforce </a:t>
            </a:r>
            <a:r>
              <a:rPr lang="hu-HU" i="1" dirty="0"/>
              <a:t>backward</a:t>
            </a:r>
            <a:r>
              <a:rPr lang="hu-HU" dirty="0"/>
              <a:t>, </a:t>
            </a:r>
            <a:r>
              <a:rPr lang="hu-HU" i="1" dirty="0"/>
              <a:t>forward</a:t>
            </a:r>
            <a:r>
              <a:rPr lang="hu-HU" dirty="0"/>
              <a:t> and </a:t>
            </a:r>
            <a:r>
              <a:rPr lang="hu-HU" i="1" dirty="0"/>
              <a:t>full</a:t>
            </a:r>
            <a:r>
              <a:rPr lang="hu-HU" dirty="0"/>
              <a:t> compatibility on topics</a:t>
            </a:r>
          </a:p>
          <a:p>
            <a:r>
              <a:rPr lang="hu-HU" b="1" dirty="0"/>
              <a:t>Need to pay attention to:</a:t>
            </a:r>
          </a:p>
          <a:p>
            <a:pPr lvl="1"/>
            <a:r>
              <a:rPr lang="hu-HU" dirty="0"/>
              <a:t>Set it up well</a:t>
            </a:r>
          </a:p>
          <a:p>
            <a:pPr lvl="1"/>
            <a:r>
              <a:rPr lang="hu-HU" dirty="0"/>
              <a:t>Make sure it’s Highly Available</a:t>
            </a:r>
          </a:p>
          <a:p>
            <a:pPr lvl="1"/>
            <a:r>
              <a:rPr lang="hu-HU" dirty="0"/>
              <a:t>Need to slightly change the Producer and Consumer code</a:t>
            </a:r>
          </a:p>
          <a:p>
            <a:pPr lvl="1"/>
            <a:r>
              <a:rPr lang="hu-HU" dirty="0"/>
              <a:t>Apache Avro / Protobuf / JSON Schema format has a learning curve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5C43CC-73C5-1CA8-9B32-189222EF49A0}"/>
              </a:ext>
            </a:extLst>
          </p:cNvPr>
          <p:cNvSpPr/>
          <p:nvPr/>
        </p:nvSpPr>
        <p:spPr>
          <a:xfrm>
            <a:off x="2238879" y="5196982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Producer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B5088-D26C-0E80-65E0-1151B67A0190}"/>
              </a:ext>
            </a:extLst>
          </p:cNvPr>
          <p:cNvSpPr/>
          <p:nvPr/>
        </p:nvSpPr>
        <p:spPr>
          <a:xfrm>
            <a:off x="7727752" y="5198629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Consumer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14E9B1-4456-449F-7694-E58EE9F5891E}"/>
              </a:ext>
            </a:extLst>
          </p:cNvPr>
          <p:cNvSpPr/>
          <p:nvPr/>
        </p:nvSpPr>
        <p:spPr>
          <a:xfrm>
            <a:off x="5005854" y="4042278"/>
            <a:ext cx="1392891" cy="527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Kafka Schema Registry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23A959-AD3E-A6BB-0584-B3D6E8AF08E3}"/>
              </a:ext>
            </a:extLst>
          </p:cNvPr>
          <p:cNvGrpSpPr/>
          <p:nvPr/>
        </p:nvGrpSpPr>
        <p:grpSpPr>
          <a:xfrm>
            <a:off x="4736430" y="5005272"/>
            <a:ext cx="1886662" cy="791787"/>
            <a:chOff x="5926294" y="2133704"/>
            <a:chExt cx="1886662" cy="79178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823E9DA-E7CB-BBBD-12F2-84310209782E}"/>
                </a:ext>
              </a:extLst>
            </p:cNvPr>
            <p:cNvSpPr/>
            <p:nvPr/>
          </p:nvSpPr>
          <p:spPr>
            <a:xfrm>
              <a:off x="5926294" y="2133704"/>
              <a:ext cx="1886662" cy="791787"/>
            </a:xfrm>
            <a:prstGeom prst="roundRect">
              <a:avLst>
                <a:gd name="adj" fmla="val 5783"/>
              </a:avLst>
            </a:prstGeom>
            <a:ln>
              <a:solidFill>
                <a:srgbClr val="01285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pic>
          <p:nvPicPr>
            <p:cNvPr id="21" name="Picture 2" descr="Apache Kafka">
              <a:extLst>
                <a:ext uri="{FF2B5EF4-FFF2-40B4-BE49-F238E27FC236}">
                  <a16:creationId xmlns:a16="http://schemas.microsoft.com/office/drawing/2014/main" id="{5C65243B-E041-8C75-BEFD-6BBA18B694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0266" y="2311089"/>
              <a:ext cx="958718" cy="437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D90C33-C67D-4E1A-C039-BD76036FF6B4}"/>
              </a:ext>
            </a:extLst>
          </p:cNvPr>
          <p:cNvGrpSpPr/>
          <p:nvPr/>
        </p:nvGrpSpPr>
        <p:grpSpPr>
          <a:xfrm>
            <a:off x="3380444" y="4305214"/>
            <a:ext cx="1694059" cy="890860"/>
            <a:chOff x="3389379" y="4306122"/>
            <a:chExt cx="1694059" cy="89086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AD416C-ED88-44A1-EDA5-0C1B5556C5EC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3631770" y="4306122"/>
              <a:ext cx="1374084" cy="89086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37B2BA-B805-7ABC-A045-E98902836B72}"/>
                </a:ext>
              </a:extLst>
            </p:cNvPr>
            <p:cNvSpPr txBox="1"/>
            <p:nvPr/>
          </p:nvSpPr>
          <p:spPr>
            <a:xfrm rot="19640833">
              <a:off x="3389379" y="4524052"/>
              <a:ext cx="1694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 Send schema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FD2F58-0C9A-7FFF-7627-73CB46D47720}"/>
              </a:ext>
            </a:extLst>
          </p:cNvPr>
          <p:cNvGrpSpPr/>
          <p:nvPr/>
        </p:nvGrpSpPr>
        <p:grpSpPr>
          <a:xfrm>
            <a:off x="5140308" y="4569966"/>
            <a:ext cx="1345624" cy="435306"/>
            <a:chOff x="5534008" y="5071091"/>
            <a:chExt cx="1345624" cy="435306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E753133-802F-73B7-33AE-A335118D4AB3}"/>
                </a:ext>
              </a:extLst>
            </p:cNvPr>
            <p:cNvCxnSpPr>
              <a:cxnSpLocks/>
            </p:cNvCxnSpPr>
            <p:nvPr/>
          </p:nvCxnSpPr>
          <p:spPr>
            <a:xfrm>
              <a:off x="5847032" y="5071091"/>
              <a:ext cx="0" cy="435306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89868E-893B-A944-4B8D-C5E387D606DB}"/>
                </a:ext>
              </a:extLst>
            </p:cNvPr>
            <p:cNvCxnSpPr>
              <a:cxnSpLocks/>
            </p:cNvCxnSpPr>
            <p:nvPr/>
          </p:nvCxnSpPr>
          <p:spPr>
            <a:xfrm>
              <a:off x="5534008" y="5093506"/>
              <a:ext cx="0" cy="412891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98D57FE-1CE0-7354-26E1-8552D04F2D88}"/>
                </a:ext>
              </a:extLst>
            </p:cNvPr>
            <p:cNvSpPr txBox="1"/>
            <p:nvPr/>
          </p:nvSpPr>
          <p:spPr>
            <a:xfrm>
              <a:off x="5810299" y="5196982"/>
              <a:ext cx="10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 Validate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242EF5E-8F1F-5EF2-91A2-558C88962095}"/>
              </a:ext>
            </a:extLst>
          </p:cNvPr>
          <p:cNvGrpSpPr/>
          <p:nvPr/>
        </p:nvGrpSpPr>
        <p:grpSpPr>
          <a:xfrm>
            <a:off x="3596484" y="5223922"/>
            <a:ext cx="1198552" cy="276999"/>
            <a:chOff x="3573158" y="5221846"/>
            <a:chExt cx="1198552" cy="276999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E68D603-E521-F156-3114-1D285279CEA2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3631770" y="5454689"/>
              <a:ext cx="1104660" cy="6137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E966814-A442-4809-C271-0E86E4943D9A}"/>
                </a:ext>
              </a:extLst>
            </p:cNvPr>
            <p:cNvSpPr txBox="1"/>
            <p:nvPr/>
          </p:nvSpPr>
          <p:spPr>
            <a:xfrm>
              <a:off x="3573158" y="5221846"/>
              <a:ext cx="11985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3. Avro data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1AD9663-AFE9-E397-E6DE-2D33876EBB28}"/>
              </a:ext>
            </a:extLst>
          </p:cNvPr>
          <p:cNvGrpSpPr/>
          <p:nvPr/>
        </p:nvGrpSpPr>
        <p:grpSpPr>
          <a:xfrm>
            <a:off x="6576146" y="5210317"/>
            <a:ext cx="1198552" cy="276999"/>
            <a:chOff x="6969846" y="5711442"/>
            <a:chExt cx="1198552" cy="27699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482B955-D853-E6CD-8F7A-41BD795D2C8A}"/>
                </a:ext>
              </a:extLst>
            </p:cNvPr>
            <p:cNvSpPr txBox="1"/>
            <p:nvPr/>
          </p:nvSpPr>
          <p:spPr>
            <a:xfrm>
              <a:off x="6969846" y="5711442"/>
              <a:ext cx="11985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4. Avro data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D2816FB-343D-6B52-823D-465AA5B693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6792" y="5973504"/>
              <a:ext cx="1104660" cy="6137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02CB43-34AB-F44F-AB34-7B3B3350293B}"/>
              </a:ext>
            </a:extLst>
          </p:cNvPr>
          <p:cNvGrpSpPr/>
          <p:nvPr/>
        </p:nvGrpSpPr>
        <p:grpSpPr>
          <a:xfrm>
            <a:off x="6326694" y="4270527"/>
            <a:ext cx="1694059" cy="890860"/>
            <a:chOff x="6720394" y="4771652"/>
            <a:chExt cx="1694059" cy="890860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AA8E642-7449-F62B-92C8-000F1FD71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98890" y="4771652"/>
              <a:ext cx="1314642" cy="890860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457485-8386-B8FC-2DE9-4A0B4693A679}"/>
                </a:ext>
              </a:extLst>
            </p:cNvPr>
            <p:cNvSpPr txBox="1"/>
            <p:nvPr/>
          </p:nvSpPr>
          <p:spPr>
            <a:xfrm rot="2114704">
              <a:off x="6720394" y="4984932"/>
              <a:ext cx="1694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5. Retrieve schema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AF6373C-FE3D-05FF-07F1-79A342C504DC}"/>
              </a:ext>
            </a:extLst>
          </p:cNvPr>
          <p:cNvGrpSpPr/>
          <p:nvPr/>
        </p:nvGrpSpPr>
        <p:grpSpPr>
          <a:xfrm>
            <a:off x="9026751" y="5224217"/>
            <a:ext cx="1198552" cy="276999"/>
            <a:chOff x="9420451" y="5725342"/>
            <a:chExt cx="1198552" cy="276999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544D24A-7EFF-0498-D28C-C499F8B5ED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4343" y="5988441"/>
              <a:ext cx="1104660" cy="6137"/>
            </a:xfrm>
            <a:prstGeom prst="straightConnector1">
              <a:avLst/>
            </a:prstGeom>
            <a:ln>
              <a:solidFill>
                <a:srgbClr val="012863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032F71-4FA5-486E-3569-6AAD996A6123}"/>
                </a:ext>
              </a:extLst>
            </p:cNvPr>
            <p:cNvSpPr txBox="1"/>
            <p:nvPr/>
          </p:nvSpPr>
          <p:spPr>
            <a:xfrm>
              <a:off x="9420451" y="5725342"/>
              <a:ext cx="11985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6. Write data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960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ímd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18397</TotalTime>
  <Words>3903</Words>
  <Application>Microsoft Office PowerPoint</Application>
  <PresentationFormat>Widescreen</PresentationFormat>
  <Paragraphs>961</Paragraphs>
  <Slides>44</Slides>
  <Notes>22</Notes>
  <HiddenSlides>11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Courier New</vt:lpstr>
      <vt:lpstr>Open Sans</vt:lpstr>
      <vt:lpstr>Roboto</vt:lpstr>
      <vt:lpstr>Wingdings</vt:lpstr>
      <vt:lpstr>címdia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CÍME prezentáció alcíme</dc:title>
  <dc:creator>Microsoft Office User</dc:creator>
  <cp:lastModifiedBy>Szabó Dávid</cp:lastModifiedBy>
  <cp:revision>886</cp:revision>
  <dcterms:created xsi:type="dcterms:W3CDTF">2021-07-01T15:39:11Z</dcterms:created>
  <dcterms:modified xsi:type="dcterms:W3CDTF">2026-09-13T21:27:25Z</dcterms:modified>
</cp:coreProperties>
</file>