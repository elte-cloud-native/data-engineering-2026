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72" r:id="rId2"/>
    <p:sldId id="396" r:id="rId3"/>
    <p:sldId id="673" r:id="rId4"/>
    <p:sldId id="674" r:id="rId5"/>
    <p:sldId id="677" r:id="rId6"/>
    <p:sldId id="678" r:id="rId7"/>
    <p:sldId id="679" r:id="rId8"/>
    <p:sldId id="681" r:id="rId9"/>
    <p:sldId id="682" r:id="rId10"/>
    <p:sldId id="684" r:id="rId11"/>
    <p:sldId id="685" r:id="rId12"/>
    <p:sldId id="686" r:id="rId13"/>
    <p:sldId id="687" r:id="rId14"/>
    <p:sldId id="711" r:id="rId15"/>
    <p:sldId id="712" r:id="rId16"/>
    <p:sldId id="689" r:id="rId17"/>
    <p:sldId id="688" r:id="rId18"/>
    <p:sldId id="713" r:id="rId19"/>
    <p:sldId id="691" r:id="rId20"/>
    <p:sldId id="709" r:id="rId21"/>
    <p:sldId id="692" r:id="rId22"/>
    <p:sldId id="714" r:id="rId23"/>
    <p:sldId id="694" r:id="rId24"/>
    <p:sldId id="695" r:id="rId25"/>
    <p:sldId id="696" r:id="rId26"/>
    <p:sldId id="697" r:id="rId27"/>
    <p:sldId id="715" r:id="rId28"/>
    <p:sldId id="698" r:id="rId29"/>
    <p:sldId id="699" r:id="rId30"/>
    <p:sldId id="700" r:id="rId31"/>
    <p:sldId id="701" r:id="rId32"/>
    <p:sldId id="702" r:id="rId33"/>
    <p:sldId id="703" r:id="rId34"/>
    <p:sldId id="704" r:id="rId35"/>
    <p:sldId id="706" r:id="rId36"/>
    <p:sldId id="705" r:id="rId37"/>
    <p:sldId id="710" r:id="rId38"/>
    <p:sldId id="675" r:id="rId39"/>
    <p:sldId id="676" r:id="rId4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-felhasználó" initials="W" lastIdx="2" clrIdx="0">
    <p:extLst>
      <p:ext uri="{19B8F6BF-5375-455C-9EA6-DF929625EA0E}">
        <p15:presenceInfo xmlns:p15="http://schemas.microsoft.com/office/powerpoint/2012/main" userId="8e497090a0d7aaa3" providerId="Windows Live"/>
      </p:ext>
    </p:extLst>
  </p:cmAuthor>
  <p:cmAuthor id="2" name="Dávid Szabó" initials="DS" lastIdx="1" clrIdx="1">
    <p:extLst>
      <p:ext uri="{19B8F6BF-5375-455C-9EA6-DF929625EA0E}">
        <p15:presenceInfo xmlns:p15="http://schemas.microsoft.com/office/powerpoint/2012/main" userId="Dávid Szabó" providerId="None"/>
      </p:ext>
    </p:extLst>
  </p:cmAuthor>
  <p:cmAuthor id="3" name="Szabó, Dávid" initials="SD" lastIdx="1" clrIdx="2">
    <p:extLst>
      <p:ext uri="{19B8F6BF-5375-455C-9EA6-DF929625EA0E}">
        <p15:presenceInfo xmlns:p15="http://schemas.microsoft.com/office/powerpoint/2012/main" userId="Szabó, Dáv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3D2"/>
    <a:srgbClr val="6CA6DA"/>
    <a:srgbClr val="012863"/>
    <a:srgbClr val="000000"/>
    <a:srgbClr val="012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1770" autoAdjust="0"/>
  </p:normalViewPr>
  <p:slideViewPr>
    <p:cSldViewPr snapToGrid="0" snapToObjects="1">
      <p:cViewPr varScale="1">
        <p:scale>
          <a:sx n="60" d="100"/>
          <a:sy n="60" d="100"/>
        </p:scale>
        <p:origin x="94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4" d="100"/>
          <a:sy n="104" d="100"/>
        </p:scale>
        <p:origin x="55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12C39806-BB1D-8F56-1BD4-E8FD84A886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C5BF43A-04E9-CC17-BD51-B26CC338B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E59-BB6D-9C41-A61C-2D524682E115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8E5719-5CA3-B83A-6AB2-CC9AF2C948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441738D-8521-5BCA-A098-BEAAADEBC9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E7E85-FAC5-AA44-BBE8-3A2E745EC5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843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A393B-998D-3C45-ACA4-5C51E3A83922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B25AA-5A0B-7648-B33A-37E9A013F9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887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D6B2-98A4-2B94-D9F6-88EE9B40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75381-2409-C513-E440-BBB335BAD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79BFB-DBD4-437B-18B0-0D6CCC8F5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F1F1F"/>
                </a:solidFill>
              </a:rPr>
              <a:t>Teaching emphasis:</a:t>
            </a:r>
            <a:endParaRPr lang="en-US" sz="1200"/>
          </a:p>
          <a:p>
            <a:pPr>
              <a:spcAft>
                <a:spcPts val="250"/>
              </a:spcAft>
            </a:pPr>
            <a:r>
              <a:rPr lang="en-US" sz="1200" dirty="0">
                <a:solidFill>
                  <a:srgbClr val="1F1F1F"/>
                </a:solidFill>
              </a:rPr>
              <a:t>Define processing by repeatable rules and an explicit input/output contract, not by one mandatory physical middle layer.</a:t>
            </a:r>
            <a:endParaRPr lang="en-US" sz="1200"/>
          </a:p>
          <a:p>
            <a:r>
              <a:rPr lang="en-US" sz="1200" dirty="0">
                <a:solidFill>
                  <a:srgbClr val="1F1F1F"/>
                </a:solidFill>
              </a:rPr>
              <a:t>Walk through the sensor flow. Each arrow creates a different representation or guarantee for a downstream use.</a:t>
            </a: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8884A-8D6A-E9B6-8570-424604CBE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15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758E-0745-F90E-A1FF-74A8D032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BD66E-3BC2-C72B-4E9A-1153DFB1C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4351A-4C27-C31F-2DB0-C4EFDB977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F1F1F"/>
                </a:solidFill>
              </a:rPr>
              <a:t>Use responsibility—not technology—to explain the gray zone.</a:t>
            </a:r>
            <a:endParaRPr lang="en-US" sz="1200"/>
          </a:p>
          <a:p>
            <a:pPr>
              <a:spcAft>
                <a:spcPts val="250"/>
              </a:spcAft>
            </a:pPr>
            <a:r>
              <a:rPr lang="en-US" sz="1200" dirty="0">
                <a:solidFill>
                  <a:srgbClr val="1F1F1F"/>
                </a:solidFill>
              </a:rPr>
              <a:t>Technical parsing needed to land data safely may belong to ingestion. Typing and projecting reusable fields, or applying business rules, is processing.</a:t>
            </a:r>
            <a:endParaRPr lang="en-US" sz="1200"/>
          </a:p>
          <a:p>
            <a:r>
              <a:rPr lang="en-US" sz="1200" dirty="0">
                <a:solidFill>
                  <a:srgbClr val="1F1F1F"/>
                </a:solidFill>
              </a:rPr>
              <a:t>The same tool or job may perform both responsibilities. The contract is the useful boundary.</a:t>
            </a: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AE664-E24A-4A34-BED1-B03582CF0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2402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7753-CF22-149F-70DF-C89CE4C7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31E24-0EB0-A6EE-8F4F-F2DF3AA6F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468AB-8CF3-3F48-179E-A4636E501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F1F1F"/>
                </a:solidFill>
              </a:rPr>
              <a:t>Do not present the four boxes as a mandatory pipeline.</a:t>
            </a:r>
            <a:endParaRPr lang="en-US" sz="1200"/>
          </a:p>
          <a:p>
            <a:pPr>
              <a:spcAft>
                <a:spcPts val="250"/>
              </a:spcAft>
            </a:pPr>
            <a:r>
              <a:rPr lang="en-US" sz="1200" dirty="0">
                <a:solidFill>
                  <a:srgbClr val="1F1F1F"/>
                </a:solidFill>
              </a:rPr>
              <a:t>Information extraction is needed when the input lacks usable structure. Pre-processing is defensive validation and cleaning before purpose-specific logic.</a:t>
            </a:r>
            <a:endParaRPr lang="en-US" sz="1200"/>
          </a:p>
          <a:p>
            <a:r>
              <a:rPr lang="en-US" sz="1200" dirty="0">
                <a:solidFill>
                  <a:srgbClr val="1F1F1F"/>
                </a:solidFill>
              </a:rPr>
              <a:t>Either responsibility may be skipped, combined, or reordered. For structured sensor JSON, extraction may mean only selecting and typing fields.</a:t>
            </a: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E5B83-DA80-295C-D19C-C19201894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9276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Transition from ETL/ELT:</a:t>
            </a:r>
            <a:endParaRPr lang="en-US" dirty="0"/>
          </a:p>
          <a:p>
            <a:pPr lvl="0"/>
            <a:r>
              <a:rPr lang="en-US" dirty="0"/>
              <a:t>Whether sensor events arrived through files and APIs or through Kafka, the next processing question is whether the input is bounded or continuously arriving.</a:t>
            </a:r>
          </a:p>
          <a:p>
            <a:pPr lvl="0"/>
            <a:r>
              <a:rPr lang="en-US" dirty="0"/>
              <a:t>The ingestion mechanism does not by itself determine the processing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8520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architecture from left to right, but separate responsibilities from products.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Airflow coordinates when work runs and what depends on what. Spark is the component that executes distributed transformations. Delta Lake stores the resulting tables; Power BI consumes them.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distinction prepares the Lab 05 DAG: the lab uses Airflow as orchestrator and Python/pandas as the processing implementation.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6328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diagram by responsibility rather than by logo.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 is the event transport and retained log. Spark Structured Streaming executes transformations. Delta Lake stores processed results. Power BI consumes those results.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Emphasize that a stream processor usually has internal state and recovery metadata in addition to its visible output.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6355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250"/>
              </a:spcAft>
            </a:pPr>
            <a:r>
              <a:rPr lang="en-US" sz="1200" b="1" dirty="0">
                <a:solidFill>
                  <a:srgbClr val="1F1F1F"/>
                </a:solidFill>
              </a:rPr>
              <a:t>Teaching emphasis:</a:t>
            </a:r>
            <a:endParaRPr lang="en-US" sz="1200"/>
          </a:p>
          <a:p>
            <a:pPr algn="l">
              <a:spcAft>
                <a:spcPts val="250"/>
              </a:spcAft>
            </a:pPr>
            <a:r>
              <a:rPr lang="en-US" sz="1200" dirty="0">
                <a:solidFill>
                  <a:srgbClr val="1F1F1F"/>
                </a:solidFill>
              </a:rPr>
              <a:t>This slide is a map of the next section, not another physical pipeline.</a:t>
            </a:r>
            <a:endParaRPr lang="en-US" sz="1200"/>
          </a:p>
          <a:p>
            <a:pPr algn="l">
              <a:spcAft>
                <a:spcPts val="250"/>
              </a:spcAft>
            </a:pPr>
            <a:r>
              <a:rPr lang="en-US" sz="1200" dirty="0">
                <a:solidFill>
                  <a:srgbClr val="1F1F1F"/>
                </a:solidFill>
              </a:rPr>
              <a:t>The four groups cover streaming semantics; live versus historical computation and rebuilding; explicit execution and orchestration; and reliability under data or system failure.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8520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1772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one concrete policy: maximum observed event time minus five minutes of allowed delay.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maximum observed event time is 10:10, the watermark is 10:05. A later arrival with event_time=10:02 is classified as late.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timestamp is a value on a record. A watermark is derived event-time progress. A checkpoint persists processing state for recovery.</a:t>
            </a:r>
          </a:p>
          <a:p>
            <a:pPr algn="l"/>
            <a:r>
              <a:rPr lang="en-US" sz="1200" dirty="0">
                <a:solidFill>
                  <a:srgbClr val="1F1F1F"/>
                </a:solidFill>
              </a:rPr>
              <a:t>Transition: State and time explain how live results evolve. Next ask how low-latency results can coexist with historical correction or rebuilding.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2642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8520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7576A917-C803-4400-FBEE-6B791AEA9A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Szöveg helye 10">
            <a:extLst>
              <a:ext uri="{FF2B5EF4-FFF2-40B4-BE49-F238E27FC236}">
                <a16:creationId xmlns:a16="http://schemas.microsoft.com/office/drawing/2014/main" id="{831FA102-844C-755E-D247-CB3718711D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900" y="2029968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CÍME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DF9D8FEB-E57B-5F73-ADA2-8D7B7485DFA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900" y="2980944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alcíme</a:t>
            </a:r>
          </a:p>
        </p:txBody>
      </p:sp>
      <p:sp>
        <p:nvSpPr>
          <p:cNvPr id="7" name="Szöveg helye 10">
            <a:extLst>
              <a:ext uri="{FF2B5EF4-FFF2-40B4-BE49-F238E27FC236}">
                <a16:creationId xmlns:a16="http://schemas.microsoft.com/office/drawing/2014/main" id="{605BC215-EB6B-138C-D66F-E7064E16F28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8" name="Szöveg helye 10">
            <a:extLst>
              <a:ext uri="{FF2B5EF4-FFF2-40B4-BE49-F238E27FC236}">
                <a16:creationId xmlns:a16="http://schemas.microsoft.com/office/drawing/2014/main" id="{2A598985-FDB3-7140-588C-68FBF5A82B2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91323EAC-BA77-33AC-53B7-F24EA909AB2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32068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765AB793-C3EE-75F8-4E4A-2E20E9E093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A933D47C-7F86-9A48-A1AD-EEBD81F9A6A8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940BA6A-A9B7-7219-4D85-FAE0F7D5ABF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55729B78-CCC8-F712-B7DB-176E91D2D6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1607437"/>
            <a:ext cx="10515600" cy="1846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ED6C24E1-FC98-931B-668F-1A2663E5498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82280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BA10B23C-BC2C-AA33-C513-FD8B9D46C29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5098D7CE-AAE8-B095-44BC-D69C66D1F5B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131341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zövegblokk - 1 ké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34CE5A9-19D5-B7FF-F605-96F82FA4FB0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Kép helye 2">
            <a:extLst>
              <a:ext uri="{FF2B5EF4-FFF2-40B4-BE49-F238E27FC236}">
                <a16:creationId xmlns:a16="http://schemas.microsoft.com/office/drawing/2014/main" id="{23D20630-BBCE-AC6F-5896-1CEEB0015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27089" y="1579457"/>
            <a:ext cx="5326711" cy="40040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BC05F114-74F4-CAB6-3497-7C63660FE88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C43265EB-5A74-13B8-25EF-C234D04EBA7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82985"/>
            <a:ext cx="4287982" cy="3757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69FC214-A8DF-2334-7247-2170A8AA17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E4F210FC-1016-425F-02B2-E3EE645E1BB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0733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CE5C7C62-306F-C568-AC87-137E9C578BFC}"/>
              </a:ext>
            </a:extLst>
          </p:cNvPr>
          <p:cNvCxnSpPr>
            <a:cxnSpLocks/>
          </p:cNvCxnSpPr>
          <p:nvPr userDrawn="1"/>
        </p:nvCxnSpPr>
        <p:spPr>
          <a:xfrm>
            <a:off x="161924" y="748860"/>
            <a:ext cx="11877675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2B9E13B-D4C6-DDBF-DA2A-ED8F1AEADB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61924" y="219456"/>
            <a:ext cx="11877675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A96FDED-1213-82EC-1A9D-4FC90A8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AF073EC-750D-2DFB-C11E-4C39CA8DC2E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ACB07BB1-AB18-FE6A-D774-B35AB40BA5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24" y="847421"/>
            <a:ext cx="11877675" cy="5010454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SzPct val="75000"/>
              <a:buFont typeface="Wingdings" panose="05000000000000000000" pitchFamily="2" charset="2"/>
              <a:buChar char="q"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</p:txBody>
      </p:sp>
    </p:spTree>
    <p:extLst>
      <p:ext uri="{BB962C8B-B14F-4D97-AF65-F5344CB8AC3E}">
        <p14:creationId xmlns:p14="http://schemas.microsoft.com/office/powerpoint/2010/main" val="323675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E4CEC806-06F8-0A8E-802F-451103EBAC0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737F6A48-F38F-FC31-62D0-11C22537C64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1E6D20BC-2EF9-211F-E045-74EB3321F44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0AB37620-467A-3358-9635-1AE991B2990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489704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4317DED-74F7-596D-46E5-4EFCB5B1B45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41207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36141E3-2650-7309-36C7-ECD2E619BF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614727D-5F43-1091-F059-56358E38304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25303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FDFD7BA7-C2A9-595B-15D6-EDE5F7DAE2D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Kép helye 2">
            <a:extLst>
              <a:ext uri="{FF2B5EF4-FFF2-40B4-BE49-F238E27FC236}">
                <a16:creationId xmlns:a16="http://schemas.microsoft.com/office/drawing/2014/main" id="{9E45454F-C86C-2D65-C04B-55E626DA88A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265629" y="1579456"/>
            <a:ext cx="5067632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0" name="Kép helye 2">
            <a:extLst>
              <a:ext uri="{FF2B5EF4-FFF2-40B4-BE49-F238E27FC236}">
                <a16:creationId xmlns:a16="http://schemas.microsoft.com/office/drawing/2014/main" id="{176350A7-3ED8-9325-46CB-CA499869403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38200" y="1579456"/>
            <a:ext cx="5011973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1BFA0AC3-D5FA-244D-2DF5-5874C6467C5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45C0CEC-C383-42CB-7D7B-C253C37D1E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6D82DBE0-A887-D830-B4E0-50498F0CA4C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5148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371C297-1CA5-94ED-2895-3B1AF69D27B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Kép helye 2">
            <a:extLst>
              <a:ext uri="{FF2B5EF4-FFF2-40B4-BE49-F238E27FC236}">
                <a16:creationId xmlns:a16="http://schemas.microsoft.com/office/drawing/2014/main" id="{B4B0655C-B169-D423-90AB-F5CB238B3C4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38199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0" name="Kép helye 2">
            <a:extLst>
              <a:ext uri="{FF2B5EF4-FFF2-40B4-BE49-F238E27FC236}">
                <a16:creationId xmlns:a16="http://schemas.microsoft.com/office/drawing/2014/main" id="{88B1D7E9-B3E8-D3A3-7C3B-46B669E00D4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639338" y="1579457"/>
            <a:ext cx="4693921" cy="4125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3" name="Kép helye 2">
            <a:extLst>
              <a:ext uri="{FF2B5EF4-FFF2-40B4-BE49-F238E27FC236}">
                <a16:creationId xmlns:a16="http://schemas.microsoft.com/office/drawing/2014/main" id="{DE50A8AD-DAA0-C470-251A-FB13BCEC03F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738768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8A66C65D-5136-21C7-C4AA-39F449F6F4A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8DC4FBAE-8E6D-4D61-C7ED-3B8AA103C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765D96AD-EB0E-433E-7DD3-3FEB95FE9F4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175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 címm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D3B63919-F8C0-E45C-09D0-60059DD85486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Kép helye 2">
            <a:extLst>
              <a:ext uri="{FF2B5EF4-FFF2-40B4-BE49-F238E27FC236}">
                <a16:creationId xmlns:a16="http://schemas.microsoft.com/office/drawing/2014/main" id="{885801D2-AD3D-65D3-7B5C-D11229926A4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8200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31" name="Kép helye 2">
            <a:extLst>
              <a:ext uri="{FF2B5EF4-FFF2-40B4-BE49-F238E27FC236}">
                <a16:creationId xmlns:a16="http://schemas.microsoft.com/office/drawing/2014/main" id="{BA351229-7C81-1BF9-C349-D053BA83B11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31888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567F4794-7128-84D5-187A-87B98CBB4B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12964550-01B5-19AF-9500-49E3DD0D5A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9BE9CAC6-C1B1-88DE-E91F-5DF606EBF5F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32692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6C96EAD-3920-32E6-9EF2-4122439611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728694AA-87CB-BD28-118C-72EAD9263FD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64083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0CA8BCE7-0004-CA11-4864-2FBA560C6C6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0FAA482-BFF6-CAB1-8393-9DB2C3435DC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0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Diagram helye 10">
            <a:extLst>
              <a:ext uri="{FF2B5EF4-FFF2-40B4-BE49-F238E27FC236}">
                <a16:creationId xmlns:a16="http://schemas.microsoft.com/office/drawing/2014/main" id="{B11D781D-DBC5-AFF1-5464-03EB686EDB38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426343" y="1579563"/>
            <a:ext cx="6927457" cy="4060579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1EA52C-1E9D-EA5E-B2CC-17EFCB175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56913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jléc nélküli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824948"/>
            <a:ext cx="3212591" cy="4815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1EA52C-1E9D-EA5E-B2CC-17EFCB175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B18A01D-AB8A-1A1D-4805-AABE921EF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22305" y="824949"/>
            <a:ext cx="6831496" cy="4758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441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ábláz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áblázat helye 5">
            <a:extLst>
              <a:ext uri="{FF2B5EF4-FFF2-40B4-BE49-F238E27FC236}">
                <a16:creationId xmlns:a16="http://schemas.microsoft.com/office/drawing/2014/main" id="{A3ADE164-0269-1AA2-004B-8C8A82051E1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579457"/>
            <a:ext cx="10515598" cy="38558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F8F6AA8-C013-1657-CB5A-D3067FF15D45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D8E6700D-6881-9CCD-3252-E02F5676557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598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2DEAFE30-1B1B-962C-732B-E5BEF7917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3" name="Szöveg helye 10">
            <a:extLst>
              <a:ext uri="{FF2B5EF4-FFF2-40B4-BE49-F238E27FC236}">
                <a16:creationId xmlns:a16="http://schemas.microsoft.com/office/drawing/2014/main" id="{11CE3FB9-7112-50B3-73CE-4614F7CA610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50927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71AF9BE7-CB87-3DFD-D2D3-1899D1D30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1" name="Szöveg helye 10">
            <a:extLst>
              <a:ext uri="{FF2B5EF4-FFF2-40B4-BE49-F238E27FC236}">
                <a16:creationId xmlns:a16="http://schemas.microsoft.com/office/drawing/2014/main" id="{27654B00-1ACA-72E8-4C79-A237BB0FAEA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3900" y="2191523"/>
            <a:ext cx="10744200" cy="1710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hu-HU" dirty="0"/>
              <a:t>Köszönjük a figyelmet!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1B1DEF9F-AC4A-3457-057F-560795FA38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13" name="Szöveg helye 10">
            <a:extLst>
              <a:ext uri="{FF2B5EF4-FFF2-40B4-BE49-F238E27FC236}">
                <a16:creationId xmlns:a16="http://schemas.microsoft.com/office/drawing/2014/main" id="{D2769BC2-6B1C-E731-CB6F-BC48B5D77D5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14" name="Szöveg helye 10">
            <a:extLst>
              <a:ext uri="{FF2B5EF4-FFF2-40B4-BE49-F238E27FC236}">
                <a16:creationId xmlns:a16="http://schemas.microsoft.com/office/drawing/2014/main" id="{A35D0690-9E41-0FD7-2C21-CAE7926EAC5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52948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2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3" r:id="rId6"/>
    <p:sldLayoutId id="2147483655" r:id="rId7"/>
    <p:sldLayoutId id="2147483656" r:id="rId8"/>
    <p:sldLayoutId id="2147483657" r:id="rId9"/>
    <p:sldLayoutId id="2147483660" r:id="rId10"/>
    <p:sldLayoutId id="2147483659" r:id="rId11"/>
    <p:sldLayoutId id="214748365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2A7E8302-AC9C-A66D-07A6-1A5B9DE4A49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hu-HU" sz="5400" dirty="0"/>
              <a:t>Introduction to Data Engineering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3FF51C-1377-99D6-D639-C9342D91679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hu-HU" dirty="0"/>
              <a:t>  – Data Processing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A0576B3-4A8D-B0CB-EE63-AE28551463E8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hu-HU" dirty="0"/>
              <a:t>Dávid Szabó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B3461CE-3807-2ADD-A4F6-83F5C4B6A2F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AD8B80AF-C083-C9ED-7D4F-EC1393814896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028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1D61-1DC4-AE5E-8958-1E904B90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8FC5D8-5243-EB7A-3AC2-8187A5DF50E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sz="2900" dirty="0"/>
              <a:t>Data Processing: From Input to Useful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4D519-E71E-4BBA-0928-655F5B9DABB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E8B05-7D33-0645-F59E-DD8C2A23C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000" y="1280000"/>
            <a:ext cx="9450000" cy="3100000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lang="en-US" sz="1900" b="1" dirty="0">
                <a:solidFill>
                  <a:srgbClr val="1F1F1F"/>
                </a:solidFill>
              </a:rPr>
              <a:t>Data processing applies repeatable rules to turn accepted input into a more useful output.</a:t>
            </a:r>
            <a:endParaRPr lang="en-US" sz="1900"/>
          </a:p>
          <a:p>
            <a:pPr>
              <a:spcAft>
                <a:spcPts val="650"/>
              </a:spcAft>
            </a:pPr>
            <a:r>
              <a:rPr lang="en-US" sz="1750" dirty="0">
                <a:solidFill>
                  <a:srgbClr val="1F1F1F"/>
                </a:solidFill>
              </a:rPr>
              <a:t>It may run immediately after ingestion or later through several refinement steps.</a:t>
            </a:r>
            <a:endParaRPr lang="en-US" sz="1750"/>
          </a:p>
          <a:p>
            <a:pPr>
              <a:spcAft>
                <a:spcPts val="750"/>
              </a:spcAft>
            </a:pPr>
            <a:r>
              <a:rPr lang="en-US" sz="1750" dirty="0">
                <a:solidFill>
                  <a:srgbClr val="1F1F1F"/>
                </a:solidFill>
              </a:rPr>
              <a:t>Typical outputs include validated records, structured fields, enriched datasets, aggregates, and model-ready data.</a:t>
            </a:r>
            <a:endParaRPr lang="en-US" sz="1750"/>
          </a:p>
          <a:p>
            <a:pPr>
              <a:spcAft>
                <a:spcPts val="350"/>
              </a:spcAft>
            </a:pPr>
            <a:r>
              <a:rPr lang="en-US" sz="1750" b="1" dirty="0">
                <a:solidFill>
                  <a:srgbClr val="1F1F1F"/>
                </a:solidFill>
              </a:rPr>
              <a:t>The key questions are:</a:t>
            </a:r>
            <a:endParaRPr lang="en-US" sz="1750"/>
          </a:p>
          <a:p>
            <a:pPr>
              <a:spcAft>
                <a:spcPts val="250"/>
              </a:spcAft>
            </a:pPr>
            <a:r>
              <a:rPr lang="en-US" sz="1700" dirty="0">
                <a:solidFill>
                  <a:srgbClr val="1F1F1F"/>
                </a:solidFill>
              </a:rPr>
              <a:t>• What input contract is accepted?</a:t>
            </a:r>
            <a:endParaRPr lang="en-US" sz="1700"/>
          </a:p>
          <a:p>
            <a:pPr>
              <a:spcAft>
                <a:spcPts val="250"/>
              </a:spcAft>
            </a:pPr>
            <a:r>
              <a:rPr lang="en-US" sz="1700" dirty="0">
                <a:solidFill>
                  <a:srgbClr val="1F1F1F"/>
                </a:solidFill>
              </a:rPr>
              <a:t>• What output contract is promised?</a:t>
            </a:r>
            <a:endParaRPr lang="en-US" sz="1700"/>
          </a:p>
          <a:p>
            <a:r>
              <a:rPr lang="en-US" sz="1700" dirty="0">
                <a:solidFill>
                  <a:srgbClr val="1F1F1F"/>
                </a:solidFill>
              </a:rPr>
              <a:t>• Can the result be reproduced?</a:t>
            </a:r>
            <a:endParaRPr lang="en-US" sz="1700"/>
          </a:p>
        </p:txBody>
      </p:sp>
      <p:sp>
        <p:nvSpPr>
          <p:cNvPr id="5" name="Revision Sensor Flow"/>
          <p:cNvSpPr/>
          <p:nvPr/>
        </p:nvSpPr>
        <p:spPr>
          <a:xfrm>
            <a:off x="1450000" y="4780000"/>
            <a:ext cx="9290000" cy="78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lIns="150000" tIns="90000" rIns="150000" bIns="90000" anchor="ctr"/>
          <a:lstStyle/>
          <a:p>
            <a:pPr algn="ctr"/>
            <a:r>
              <a:rPr lang="en-US" sz="1550" b="1" dirty="0">
                <a:solidFill>
                  <a:srgbClr val="1F4E79"/>
                </a:solidFill>
              </a:rPr>
              <a:t>raw sensor events</a:t>
            </a:r>
            <a:r>
              <a:rPr lang="en-US" sz="1550" dirty="0">
                <a:solidFill>
                  <a:srgbClr val="1F1F1F"/>
                </a:solidFill>
              </a:rPr>
              <a:t>   →   </a:t>
            </a:r>
            <a:r>
              <a:rPr lang="en-US" sz="1550" b="1" dirty="0">
                <a:solidFill>
                  <a:srgbClr val="1F4E79"/>
                </a:solidFill>
              </a:rPr>
              <a:t>validated readings</a:t>
            </a:r>
            <a:r>
              <a:rPr lang="en-US" sz="1550" dirty="0">
                <a:solidFill>
                  <a:srgbClr val="1F1F1F"/>
                </a:solidFill>
              </a:rPr>
              <a:t>   →   </a:t>
            </a:r>
            <a:r>
              <a:rPr lang="en-US" sz="1550" b="1" dirty="0">
                <a:solidFill>
                  <a:srgbClr val="1F4E79"/>
                </a:solidFill>
              </a:rPr>
              <a:t>enriched measurements</a:t>
            </a:r>
            <a:r>
              <a:rPr lang="en-US" sz="1550" dirty="0">
                <a:solidFill>
                  <a:srgbClr val="1F1F1F"/>
                </a:solidFill>
              </a:rPr>
              <a:t>   →   </a:t>
            </a:r>
            <a:r>
              <a:rPr lang="en-US" sz="1550" b="1" dirty="0">
                <a:solidFill>
                  <a:srgbClr val="1F4E79"/>
                </a:solidFill>
              </a:rPr>
              <a:t>daily metrics</a:t>
            </a:r>
            <a:endParaRPr lang="en-US" sz="1550"/>
          </a:p>
        </p:txBody>
      </p:sp>
    </p:spTree>
    <p:extLst>
      <p:ext uri="{BB962C8B-B14F-4D97-AF65-F5344CB8AC3E}">
        <p14:creationId xmlns:p14="http://schemas.microsoft.com/office/powerpoint/2010/main" val="144171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DDA4-6451-98B4-36B5-1747827F0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46AD87-C865-E423-219E-FB5C3228A84C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900" dirty="0"/>
              <a:t>Ingestion vs Processing — The Boundary Is the Responsibility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D62CA-4119-EE18-E5D4-888A2E22BA7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EBFF9-F0E5-389A-5225-E0BADBD98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000" y="1210000"/>
            <a:ext cx="9450000" cy="820000"/>
          </a:xfrm>
        </p:spPr>
        <p:txBody>
          <a:bodyPr/>
          <a:lstStyle/>
          <a:p>
            <a:r>
              <a:rPr lang="en-US" sz="1800" dirty="0">
                <a:solidFill>
                  <a:srgbClr val="1F1F1F"/>
                </a:solidFill>
              </a:rPr>
              <a:t>Some operations can belong to either side. Classify them by the responsibility they serve—not by the tool that runs them.</a:t>
            </a:r>
            <a:endParaRPr lang="en-US" sz="1800"/>
          </a:p>
        </p:txBody>
      </p:sp>
      <p:sp>
        <p:nvSpPr>
          <p:cNvPr id="5" name="Revision Ingestion Box"/>
          <p:cNvSpPr/>
          <p:nvPr/>
        </p:nvSpPr>
        <p:spPr>
          <a:xfrm>
            <a:off x="1260000" y="2200000"/>
            <a:ext cx="4280000" cy="258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lIns="150000" tIns="90000" rIns="150000" bIns="90000" anchor="ctr"/>
          <a:lstStyle/>
          <a:p>
            <a:pPr algn="ctr">
              <a:spcAft>
                <a:spcPts val="650"/>
              </a:spcAft>
            </a:pPr>
            <a:r>
              <a:rPr lang="en-US" sz="1850" b="1" dirty="0">
                <a:solidFill>
                  <a:srgbClr val="1F4E79"/>
                </a:solidFill>
              </a:rPr>
              <a:t>Safe landing / ingestion</a:t>
            </a:r>
            <a:endParaRPr lang="en-US" sz="1850"/>
          </a:p>
          <a:p>
            <a:pPr algn="ctr">
              <a:spcAft>
                <a:spcPts val="400"/>
              </a:spcAft>
            </a:pPr>
            <a:r>
              <a:rPr lang="en-US" sz="1550" dirty="0">
                <a:solidFill>
                  <a:srgbClr val="1F1F1F"/>
                </a:solidFill>
              </a:rPr>
              <a:t>Read and preserve the payload safely</a:t>
            </a:r>
            <a:endParaRPr lang="en-US" sz="1550"/>
          </a:p>
          <a:p>
            <a:pPr algn="ctr">
              <a:spcAft>
                <a:spcPts val="400"/>
              </a:spcAft>
            </a:pPr>
            <a:r>
              <a:rPr lang="en-US" sz="1550" dirty="0">
                <a:solidFill>
                  <a:srgbClr val="1F1F1F"/>
                </a:solidFill>
              </a:rPr>
              <a:t>Handle transport-level validation</a:t>
            </a:r>
            <a:endParaRPr lang="en-US" sz="1550"/>
          </a:p>
          <a:p>
            <a:pPr algn="ctr"/>
            <a:r>
              <a:rPr lang="en-US" sz="1500" dirty="0">
                <a:solidFill>
                  <a:srgbClr val="1F1F1F"/>
                </a:solidFill>
              </a:rPr>
              <a:t>Remove transport duplicates only when the source contract defines them</a:t>
            </a:r>
            <a:endParaRPr lang="en-US" sz="1500"/>
          </a:p>
        </p:txBody>
      </p:sp>
      <p:sp>
        <p:nvSpPr>
          <p:cNvPr id="6" name="Revision Boundary Arrow"/>
          <p:cNvSpPr txBox="1"/>
          <p:nvPr/>
        </p:nvSpPr>
        <p:spPr>
          <a:xfrm>
            <a:off x="5580000" y="3000000"/>
            <a:ext cx="102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800" b="1" dirty="0">
                <a:solidFill>
                  <a:srgbClr val="5B9BD5"/>
                </a:solidFill>
              </a:rPr>
              <a:t>↔</a:t>
            </a:r>
            <a:endParaRPr lang="en-US" sz="2800"/>
          </a:p>
        </p:txBody>
      </p:sp>
      <p:sp>
        <p:nvSpPr>
          <p:cNvPr id="7" name="Revision Processing Box"/>
          <p:cNvSpPr/>
          <p:nvPr/>
        </p:nvSpPr>
        <p:spPr>
          <a:xfrm>
            <a:off x="6660000" y="2200000"/>
            <a:ext cx="4280000" cy="258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E75B6"/>
            </a:solidFill>
          </a:ln>
        </p:spPr>
        <p:txBody>
          <a:bodyPr wrap="square" lIns="150000" tIns="90000" rIns="150000" bIns="90000" anchor="ctr"/>
          <a:lstStyle/>
          <a:p>
            <a:pPr algn="ctr">
              <a:spcAft>
                <a:spcPts val="650"/>
              </a:spcAft>
            </a:pPr>
            <a:r>
              <a:rPr lang="en-US" sz="1850" b="1" dirty="0">
                <a:solidFill>
                  <a:srgbClr val="1F4E79"/>
                </a:solidFill>
              </a:rPr>
              <a:t>Reusable data / processing</a:t>
            </a:r>
            <a:endParaRPr lang="en-US" sz="1850"/>
          </a:p>
          <a:p>
            <a:pPr algn="ctr">
              <a:spcAft>
                <a:spcPts val="400"/>
              </a:spcAft>
            </a:pPr>
            <a:r>
              <a:rPr lang="en-US" sz="1550" dirty="0">
                <a:solidFill>
                  <a:srgbClr val="1F1F1F"/>
                </a:solidFill>
              </a:rPr>
              <a:t>Create a documented, reusable schema</a:t>
            </a:r>
            <a:endParaRPr lang="en-US" sz="1550"/>
          </a:p>
          <a:p>
            <a:pPr algn="ctr">
              <a:spcAft>
                <a:spcPts val="400"/>
              </a:spcAft>
            </a:pPr>
            <a:r>
              <a:rPr lang="en-US" sz="1500" dirty="0">
                <a:solidFill>
                  <a:srgbClr val="1F1F1F"/>
                </a:solidFill>
              </a:rPr>
              <a:t>Apply business deduplication and standardization</a:t>
            </a:r>
            <a:endParaRPr lang="en-US" sz="1500"/>
          </a:p>
          <a:p>
            <a:pPr algn="ctr"/>
            <a:r>
              <a:rPr lang="en-US" sz="1500" dirty="0">
                <a:solidFill>
                  <a:srgbClr val="1F1F1F"/>
                </a:solidFill>
              </a:rPr>
              <a:t>Enrich, aggregate, or otherwise change meaning and usability</a:t>
            </a:r>
            <a:endParaRPr lang="en-US" sz="1500"/>
          </a:p>
        </p:txBody>
      </p:sp>
      <p:sp>
        <p:nvSpPr>
          <p:cNvPr id="8" name="Revision Boundary Rule"/>
          <p:cNvSpPr/>
          <p:nvPr/>
        </p:nvSpPr>
        <p:spPr>
          <a:xfrm>
            <a:off x="1710000" y="5200000"/>
            <a:ext cx="8780000" cy="72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0000" tIns="90000" rIns="150000" bIns="9000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Processing begins when repeatable rules create a new representation, meaning, or guarantee.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69325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780F-0761-A7CB-6D68-4C7B9FAD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D2F0D5-F20A-02DD-34EA-2B7C409AEDE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900" dirty="0"/>
              <a:t>Processing Responsibilities — Not a Fixed Sequence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E142-D82F-78F6-E9FF-33C1F9D9CC3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D0A36-C916-14E9-5E34-C80C85106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000" y="1160000"/>
            <a:ext cx="9700000" cy="900000"/>
          </a:xfrm>
        </p:spPr>
        <p:txBody>
          <a:bodyPr/>
          <a:lstStyle/>
          <a:p>
            <a:r>
              <a:rPr lang="en-US" sz="1750" dirty="0">
                <a:solidFill>
                  <a:srgbClr val="1F1F1F"/>
                </a:solidFill>
              </a:rPr>
              <a:t>Pre-processing and information extraction are possible parts of processing—not two mandatory stages. Their order depends on the input.</a:t>
            </a:r>
            <a:endParaRPr lang="en-US" sz="1750"/>
          </a:p>
        </p:txBody>
      </p:sp>
      <p:sp>
        <p:nvSpPr>
          <p:cNvPr id="5" name="Revision Responsibility 1"/>
          <p:cNvSpPr/>
          <p:nvPr/>
        </p:nvSpPr>
        <p:spPr>
          <a:xfrm>
            <a:off x="920000" y="2300000"/>
            <a:ext cx="2220000" cy="215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lIns="150000" tIns="90000" rIns="150000" bIns="90000" anchor="ctr"/>
          <a:lstStyle/>
          <a:p>
            <a:pPr algn="ctr">
              <a:spcAft>
                <a:spcPts val="550"/>
              </a:spcAft>
            </a:pPr>
            <a:r>
              <a:rPr lang="en-US" sz="1600" b="1" dirty="0">
                <a:solidFill>
                  <a:srgbClr val="1F4E79"/>
                </a:solidFill>
              </a:rPr>
              <a:t>1  Structure / extract</a:t>
            </a:r>
            <a:endParaRPr lang="en-US" sz="1600"/>
          </a:p>
          <a:p>
            <a:pPr algn="ctr"/>
            <a:r>
              <a:rPr lang="en-US" sz="1375" dirty="0">
                <a:solidFill>
                  <a:srgbClr val="1F1F1F"/>
                </a:solidFill>
              </a:rPr>
              <a:t>Select and type fields when the input does not yet provide a usable structure</a:t>
            </a:r>
            <a:endParaRPr lang="en-US" sz="1375"/>
          </a:p>
        </p:txBody>
      </p:sp>
      <p:sp>
        <p:nvSpPr>
          <p:cNvPr id="6" name="Revision Arrow 1"/>
          <p:cNvSpPr txBox="1"/>
          <p:nvPr/>
        </p:nvSpPr>
        <p:spPr>
          <a:xfrm>
            <a:off x="3140000" y="2980000"/>
            <a:ext cx="43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 dirty="0">
                <a:solidFill>
                  <a:srgbClr val="5B9BD5"/>
                </a:solidFill>
              </a:rPr>
              <a:t>→</a:t>
            </a:r>
            <a:endParaRPr lang="en-US" sz="2200"/>
          </a:p>
        </p:txBody>
      </p:sp>
      <p:sp>
        <p:nvSpPr>
          <p:cNvPr id="7" name="Revision Responsibility 2"/>
          <p:cNvSpPr/>
          <p:nvPr/>
        </p:nvSpPr>
        <p:spPr>
          <a:xfrm>
            <a:off x="3570000" y="2300000"/>
            <a:ext cx="2220000" cy="215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5B9BD5"/>
            </a:solidFill>
          </a:ln>
        </p:spPr>
        <p:txBody>
          <a:bodyPr wrap="square" lIns="150000" tIns="90000" rIns="150000" bIns="90000" anchor="ctr"/>
          <a:lstStyle/>
          <a:p>
            <a:pPr algn="ctr">
              <a:spcAft>
                <a:spcPts val="550"/>
              </a:spcAft>
            </a:pPr>
            <a:r>
              <a:rPr lang="en-US" sz="1600" b="1" dirty="0">
                <a:solidFill>
                  <a:srgbClr val="1F4E79"/>
                </a:solidFill>
              </a:rPr>
              <a:t>2  Validate / clean</a:t>
            </a:r>
            <a:endParaRPr lang="en-US" sz="1600"/>
          </a:p>
          <a:p>
            <a:pPr algn="ctr"/>
            <a:r>
              <a:rPr lang="en-US" sz="1375" dirty="0">
                <a:solidFill>
                  <a:srgbClr val="1F1F1F"/>
                </a:solidFill>
              </a:rPr>
              <a:t>Deduplicate, check required values, and quarantine invalid records</a:t>
            </a:r>
            <a:endParaRPr lang="en-US" sz="1375"/>
          </a:p>
        </p:txBody>
      </p:sp>
      <p:sp>
        <p:nvSpPr>
          <p:cNvPr id="8" name="Revision Arrow 2"/>
          <p:cNvSpPr txBox="1"/>
          <p:nvPr/>
        </p:nvSpPr>
        <p:spPr>
          <a:xfrm>
            <a:off x="5790000" y="2980000"/>
            <a:ext cx="43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 dirty="0">
                <a:solidFill>
                  <a:srgbClr val="5B9BD5"/>
                </a:solidFill>
              </a:rPr>
              <a:t>→</a:t>
            </a:r>
            <a:endParaRPr lang="en-US" sz="2200"/>
          </a:p>
        </p:txBody>
      </p:sp>
      <p:sp>
        <p:nvSpPr>
          <p:cNvPr id="9" name="Revision Responsibility 3"/>
          <p:cNvSpPr/>
          <p:nvPr/>
        </p:nvSpPr>
        <p:spPr>
          <a:xfrm>
            <a:off x="6220000" y="2300000"/>
            <a:ext cx="2220000" cy="215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lIns="150000" tIns="90000" rIns="150000" bIns="90000" anchor="ctr"/>
          <a:lstStyle/>
          <a:p>
            <a:pPr algn="ctr">
              <a:spcAft>
                <a:spcPts val="550"/>
              </a:spcAft>
            </a:pPr>
            <a:r>
              <a:rPr lang="en-US" sz="1600" b="1" dirty="0">
                <a:solidFill>
                  <a:srgbClr val="1F4E79"/>
                </a:solidFill>
              </a:rPr>
              <a:t>3  Transform / enrich</a:t>
            </a:r>
            <a:endParaRPr lang="en-US" sz="1600" dirty="0"/>
          </a:p>
          <a:p>
            <a:pPr algn="ctr"/>
            <a:r>
              <a:rPr lang="en-US" sz="1375" dirty="0">
                <a:solidFill>
                  <a:srgbClr val="1F1F1F"/>
                </a:solidFill>
              </a:rPr>
              <a:t>Standardize values and join metadata</a:t>
            </a:r>
            <a:endParaRPr lang="en-US" sz="1375" dirty="0"/>
          </a:p>
        </p:txBody>
      </p:sp>
      <p:sp>
        <p:nvSpPr>
          <p:cNvPr id="10" name="Revision Arrow 3"/>
          <p:cNvSpPr txBox="1"/>
          <p:nvPr/>
        </p:nvSpPr>
        <p:spPr>
          <a:xfrm>
            <a:off x="8440000" y="2980000"/>
            <a:ext cx="43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 dirty="0">
                <a:solidFill>
                  <a:srgbClr val="5B9BD5"/>
                </a:solidFill>
              </a:rPr>
              <a:t>→</a:t>
            </a:r>
            <a:endParaRPr lang="en-US" sz="2200"/>
          </a:p>
        </p:txBody>
      </p:sp>
      <p:sp>
        <p:nvSpPr>
          <p:cNvPr id="11" name="Revision Responsibility 4"/>
          <p:cNvSpPr/>
          <p:nvPr/>
        </p:nvSpPr>
        <p:spPr>
          <a:xfrm>
            <a:off x="8870000" y="2300000"/>
            <a:ext cx="2220000" cy="215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5B9BD5"/>
            </a:solidFill>
          </a:ln>
        </p:spPr>
        <p:txBody>
          <a:bodyPr wrap="square" lIns="150000" tIns="90000" rIns="150000" bIns="90000" anchor="ctr"/>
          <a:lstStyle/>
          <a:p>
            <a:pPr algn="ctr">
              <a:spcAft>
                <a:spcPts val="550"/>
              </a:spcAft>
            </a:pPr>
            <a:r>
              <a:rPr lang="en-US" sz="1600" b="1" dirty="0">
                <a:solidFill>
                  <a:srgbClr val="1F4E79"/>
                </a:solidFill>
              </a:rPr>
              <a:t>4  Aggregate / model</a:t>
            </a:r>
            <a:endParaRPr lang="en-US" sz="1600" dirty="0"/>
          </a:p>
          <a:p>
            <a:pPr algn="ctr"/>
            <a:r>
              <a:rPr lang="en-US" sz="1375" dirty="0">
                <a:solidFill>
                  <a:srgbClr val="1F1F1F"/>
                </a:solidFill>
              </a:rPr>
              <a:t>Calculate new representation metrics and/or produce model-ready data</a:t>
            </a:r>
            <a:endParaRPr lang="en-US" sz="1375" dirty="0"/>
          </a:p>
        </p:txBody>
      </p:sp>
      <p:sp>
        <p:nvSpPr>
          <p:cNvPr id="12" name="Revision Processing Example"/>
          <p:cNvSpPr/>
          <p:nvPr/>
        </p:nvSpPr>
        <p:spPr>
          <a:xfrm>
            <a:off x="1260000" y="4830000"/>
            <a:ext cx="9660000" cy="70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0000" tIns="90000" rIns="150000" bIns="90000" anchor="ctr"/>
          <a:lstStyle/>
          <a:p>
            <a:pPr algn="ctr"/>
            <a:r>
              <a:rPr lang="en-US" sz="1500" b="1" dirty="0">
                <a:solidFill>
                  <a:srgbClr val="1F4E79"/>
                </a:solidFill>
              </a:rPr>
              <a:t>Sensor example:  </a:t>
            </a:r>
            <a:r>
              <a:rPr lang="en-US" sz="1500" dirty="0">
                <a:solidFill>
                  <a:srgbClr val="1F1F1F"/>
                </a:solidFill>
              </a:rPr>
              <a:t>raw event → typed fields → validated readings → enriched records → daily metrics</a:t>
            </a:r>
            <a:endParaRPr lang="en-US" sz="1500"/>
          </a:p>
        </p:txBody>
      </p:sp>
      <p:sp>
        <p:nvSpPr>
          <p:cNvPr id="13" name="Revision Sequence Note"/>
          <p:cNvSpPr txBox="1"/>
          <p:nvPr/>
        </p:nvSpPr>
        <p:spPr>
          <a:xfrm>
            <a:off x="1520000" y="5660000"/>
            <a:ext cx="914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50" dirty="0">
                <a:solidFill>
                  <a:srgbClr val="595959"/>
                </a:solidFill>
              </a:rPr>
              <a:t>Steps may be skipped, combined, reordered, or performed partly during ingestion.</a:t>
            </a:r>
            <a:endParaRPr lang="en-US" sz="1450"/>
          </a:p>
        </p:txBody>
      </p:sp>
    </p:spTree>
    <p:extLst>
      <p:ext uri="{BB962C8B-B14F-4D97-AF65-F5344CB8AC3E}">
        <p14:creationId xmlns:p14="http://schemas.microsoft.com/office/powerpoint/2010/main" val="5914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FA1AFE-2C29-42FA-4ADF-8DC9370AB28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ETL and ELT: Where Does Transformation Run?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A70D4-DF0A-B2C2-2BE9-AD14D8EBEB41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DF703-76B9-4E42-4D4C-08DC4255D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Both patterns extract data, transform it, and make it available in a target system.</a:t>
            </a:r>
            <a:endParaRPr lang="hu-HU" dirty="0"/>
          </a:p>
          <a:p>
            <a:pPr lvl="0"/>
            <a:r>
              <a:rPr lang="en-US" dirty="0"/>
              <a:t>ETL — transform before loading into the analytical target</a:t>
            </a:r>
            <a:endParaRPr lang="hu-HU" dirty="0"/>
          </a:p>
          <a:p>
            <a:pPr lvl="0"/>
            <a:r>
              <a:rPr lang="en-US" dirty="0"/>
              <a:t>ELT — load raw or lightly prepared data first, then transform using target-side compute</a:t>
            </a:r>
            <a:endParaRPr lang="hu-HU" dirty="0"/>
          </a:p>
          <a:p>
            <a:pPr lvl="0"/>
            <a:r>
              <a:rPr lang="en-US" dirty="0"/>
              <a:t>Useful historical rule of thumb:</a:t>
            </a:r>
            <a:endParaRPr lang="hu-HU" dirty="0"/>
          </a:p>
          <a:p>
            <a:pPr lvl="1"/>
            <a:r>
              <a:rPr lang="en-US" b="1" dirty="0"/>
              <a:t>ETL is associated with traditional integration platforms and constrained warehouses</a:t>
            </a:r>
          </a:p>
          <a:p>
            <a:pPr lvl="1"/>
            <a:r>
              <a:rPr lang="en-US" b="1" dirty="0"/>
              <a:t>ELT became prominent with scalable cloud warehouses and lakehouses</a:t>
            </a:r>
          </a:p>
          <a:p>
            <a:pPr lvl="0"/>
            <a:r>
              <a:rPr lang="en-US" dirty="0"/>
              <a:t>This is a tendency, not the definition: modern systems often combine both patterns.</a:t>
            </a:r>
            <a:endParaRPr lang="hu-HU" dirty="0"/>
          </a:p>
          <a:p>
            <a:pPr lvl="0"/>
            <a:r>
              <a:rPr lang="en-US" dirty="0"/>
              <a:t>Example: </a:t>
            </a:r>
          </a:p>
          <a:p>
            <a:pPr lvl="1"/>
            <a:r>
              <a:rPr lang="en-US" dirty="0"/>
              <a:t>sensor readings may be validated in Spark before loading, or loaded first and transformed with SQL.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ETL may span both ingestion and processing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Extract may read directly from a source, or it may read data already landed by a separate ingestion process.</a:t>
            </a:r>
          </a:p>
          <a:p>
            <a:pPr lvl="1"/>
            <a:r>
              <a:rPr lang="en-US" dirty="0"/>
              <a:t>Ingestion and processing describe responsibilities; ETL and ELT describe the order and placement of operations.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6865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896F-9AC6-4C60-AA7D-70DAA58E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91A1CA-D9E6-7B76-ED42-95A22B30B91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ETL: Transform Before Loading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09C0B-805F-D4D9-E651-223E1FFA644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82718-163D-2460-D726-227F8FF0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Flow: </a:t>
            </a:r>
            <a:r>
              <a:rPr lang="en-US" dirty="0"/>
              <a:t>Extract → Transform → Load</a:t>
            </a:r>
          </a:p>
          <a:p>
            <a:pPr lvl="0"/>
            <a:r>
              <a:rPr lang="en-US" b="1" dirty="0"/>
              <a:t>Typical fit:</a:t>
            </a:r>
          </a:p>
          <a:p>
            <a:pPr lvl="1"/>
            <a:r>
              <a:rPr lang="en-US" dirty="0"/>
              <a:t>the target should receive only controlled, ready-to-use data</a:t>
            </a:r>
          </a:p>
          <a:p>
            <a:pPr lvl="1"/>
            <a:r>
              <a:rPr lang="en-US" dirty="0"/>
              <a:t>the target is not the preferred place to run heavy transformation</a:t>
            </a:r>
          </a:p>
          <a:p>
            <a:pPr lvl="1"/>
            <a:r>
              <a:rPr lang="en-US" dirty="0"/>
              <a:t>sensitive fields must be removed or masked before reaching that target</a:t>
            </a:r>
          </a:p>
          <a:p>
            <a:pPr lvl="0"/>
            <a:r>
              <a:rPr lang="en-US" b="1" dirty="0"/>
              <a:t>Sensor example:</a:t>
            </a:r>
          </a:p>
          <a:p>
            <a:pPr lvl="1"/>
            <a:r>
              <a:rPr lang="en-US" sz="1500" dirty="0"/>
              <a:t>Read a raw daily file → parse timestamps → quarantine invalid rows → calculate daily averages → load the summary table</a:t>
            </a:r>
          </a:p>
          <a:p>
            <a:pPr lvl="0"/>
            <a:r>
              <a:rPr lang="en-US" b="1" dirty="0"/>
              <a:t>Strength</a:t>
            </a:r>
            <a:r>
              <a:rPr lang="en-US" dirty="0"/>
              <a:t>: tight control over what enters the target.</a:t>
            </a:r>
          </a:p>
          <a:p>
            <a:pPr lvl="0"/>
            <a:r>
              <a:rPr lang="en-US" b="1" dirty="0"/>
              <a:t>Trade-off</a:t>
            </a:r>
            <a:r>
              <a:rPr lang="en-US" dirty="0"/>
              <a:t>: replay requires retained inputs and the external transformation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143671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C5E0CE-8498-3B67-4415-C09DCC87CF6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ELT: Load Before Transforming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65869-8713-9714-6BB4-08742386F00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5399E5-1E2C-0A83-B8F3-E4D533870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141601"/>
              </p:ext>
            </p:extLst>
          </p:nvPr>
        </p:nvGraphicFramePr>
        <p:xfrm>
          <a:off x="1168467" y="931527"/>
          <a:ext cx="9855065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4101">
                  <a:extLst>
                    <a:ext uri="{9D8B030D-6E8A-4147-A177-3AD203B41FA5}">
                      <a16:colId xmlns:a16="http://schemas.microsoft.com/office/drawing/2014/main" val="3259120482"/>
                    </a:ext>
                  </a:extLst>
                </a:gridCol>
                <a:gridCol w="3850106">
                  <a:extLst>
                    <a:ext uri="{9D8B030D-6E8A-4147-A177-3AD203B41FA5}">
                      <a16:colId xmlns:a16="http://schemas.microsoft.com/office/drawing/2014/main" val="3271153377"/>
                    </a:ext>
                  </a:extLst>
                </a:gridCol>
                <a:gridCol w="4670858">
                  <a:extLst>
                    <a:ext uri="{9D8B030D-6E8A-4147-A177-3AD203B41FA5}">
                      <a16:colId xmlns:a16="http://schemas.microsoft.com/office/drawing/2014/main" val="1470613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fontAlgn="b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Stage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fontAlgn="b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General role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fontAlgn="b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Sensor example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028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Extract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>
                          <a:effectLst/>
                        </a:rPr>
                        <a:t>Read from the source or landing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Read raw sensor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71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Persist in the analytical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Load a Bronze/raw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08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>
                          <a:effectLst/>
                        </a:rPr>
                        <a:t>Transform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>
                          <a:effectLst/>
                        </a:rPr>
                        <a:t>Use target-side 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>
                          <a:effectLst/>
                        </a:rPr>
                        <a:t>SQL validates types and timestamps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297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b="1">
                          <a:solidFill>
                            <a:srgbClr val="111827"/>
                          </a:solidFill>
                          <a:effectLst/>
                        </a:rPr>
                        <a:t>Publish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Materialize trusted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b="1">
                          <a:solidFill>
                            <a:srgbClr val="111827"/>
                          </a:solidFill>
                          <a:effectLst/>
                        </a:rPr>
                        <a:t>Create Silver readings and Gold metrics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073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Typical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>
                          <a:effectLst/>
                        </a:rPr>
                        <a:t>Capable warehouse or lakehouse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fontAlgn="base">
                        <a:buNone/>
                      </a:pPr>
                      <a:r>
                        <a:rPr lang="en-US" dirty="0">
                          <a:effectLst/>
                        </a:rPr>
                        <a:t>Databricks, Synapse, or similar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636074"/>
                  </a:ext>
                </a:extLst>
              </a:tr>
            </a:tbl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A6D23A3-416F-2454-3B61-BD7031A84838}"/>
              </a:ext>
            </a:extLst>
          </p:cNvPr>
          <p:cNvSpPr txBox="1">
            <a:spLocks/>
          </p:cNvSpPr>
          <p:nvPr/>
        </p:nvSpPr>
        <p:spPr>
          <a:xfrm>
            <a:off x="157161" y="3429000"/>
            <a:ext cx="11877675" cy="2318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So does ELT cover Ingestion?</a:t>
            </a:r>
          </a:p>
          <a:p>
            <a:pPr lvl="1"/>
            <a:r>
              <a:rPr lang="en-US" dirty="0"/>
              <a:t>When Extract reads an external source and Load creates its first durable copy in the platform, these steps together implement ingestion. </a:t>
            </a:r>
          </a:p>
          <a:p>
            <a:pPr lvl="1"/>
            <a:r>
              <a:rPr lang="en-US" dirty="0"/>
              <a:t>If the input was already landed, the ELT workflow starts after ingestion.</a:t>
            </a:r>
          </a:p>
          <a:p>
            <a:pPr lvl="0"/>
            <a:r>
              <a:rPr lang="en-US" b="1" dirty="0"/>
              <a:t>Strength</a:t>
            </a:r>
            <a:r>
              <a:rPr lang="en-US" dirty="0"/>
              <a:t>: raw data becomes available quickly and can support new transformations without re-extraction.</a:t>
            </a:r>
          </a:p>
          <a:p>
            <a:pPr lvl="0"/>
            <a:r>
              <a:rPr lang="en-US" b="1" dirty="0"/>
              <a:t>Trade-off</a:t>
            </a:r>
            <a:r>
              <a:rPr lang="en-US" dirty="0"/>
              <a:t>: the landing area needs strong access control, cost management, and governance.</a:t>
            </a:r>
          </a:p>
          <a:p>
            <a:pPr lvl="0"/>
            <a:r>
              <a:rPr lang="en-US" dirty="0"/>
              <a:t>Loading raw data first still requires controlled access, documented schemas, and tested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158217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D1D83-B8AB-765E-DF56-68D08BD16C4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One Dataset, Two Valid Designs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4D53C-35EA-595F-3038-E175B80C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89001"/>
            <a:ext cx="11877675" cy="4968874"/>
          </a:xfrm>
        </p:spPr>
        <p:txBody>
          <a:bodyPr/>
          <a:lstStyle/>
          <a:p>
            <a:pPr lvl="0">
              <a:buNone/>
            </a:pPr>
            <a:r>
              <a:rPr lang="en-US" b="1" dirty="0"/>
              <a:t>Goal:</a:t>
            </a:r>
            <a:r>
              <a:rPr lang="en-US" dirty="0"/>
              <a:t> produce validated daily temperature metrics from the same raw sensor events.</a:t>
            </a:r>
          </a:p>
          <a:p>
            <a:pPr lvl="0">
              <a:buNone/>
            </a:pPr>
            <a:r>
              <a:rPr lang="en-US" b="1" dirty="0"/>
              <a:t>ETL design:</a:t>
            </a:r>
          </a:p>
          <a:p>
            <a:pPr lvl="1"/>
            <a:r>
              <a:rPr lang="en-US" dirty="0"/>
              <a:t>Python or Spark validates, deduplicates, and aggregates before loading the analytical table</a:t>
            </a:r>
          </a:p>
          <a:p>
            <a:pPr lvl="0">
              <a:buNone/>
            </a:pPr>
            <a:r>
              <a:rPr lang="en-US" b="1" dirty="0"/>
              <a:t>ELT design:</a:t>
            </a:r>
          </a:p>
          <a:p>
            <a:pPr lvl="1"/>
            <a:r>
              <a:rPr lang="en-US" dirty="0"/>
              <a:t>Raw events are loaded into a governed lakehouse; SQL or dbt models create the same validated outputs</a:t>
            </a:r>
          </a:p>
          <a:p>
            <a:pPr lvl="0">
              <a:buNone/>
            </a:pPr>
            <a:r>
              <a:rPr lang="en-US" b="1" dirty="0"/>
              <a:t>What remains the same:</a:t>
            </a:r>
          </a:p>
          <a:p>
            <a:pPr lvl="1"/>
            <a:r>
              <a:rPr lang="en-US" dirty="0"/>
              <a:t>input contract, quality rules, output contract, lineage, and safe reruns</a:t>
            </a:r>
          </a:p>
          <a:p>
            <a:pPr lvl="0">
              <a:buNone/>
            </a:pPr>
            <a:r>
              <a:rPr lang="en-US" b="1" dirty="0"/>
              <a:t>What changes:</a:t>
            </a:r>
          </a:p>
          <a:p>
            <a:pPr lvl="1"/>
            <a:r>
              <a:rPr lang="en-US" dirty="0"/>
              <a:t>where compute runs, when raw data becomes available, and which platform bears the cost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A single platform may use ETL for sensitive sources and ELT for other datasets.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1CFD4-39E8-4F00-EA08-F46063B9F50E}"/>
              </a:ext>
            </a:extLst>
          </p:cNvPr>
          <p:cNvSpPr txBox="1"/>
          <p:nvPr/>
        </p:nvSpPr>
        <p:spPr>
          <a:xfrm>
            <a:off x="3903261" y="6010579"/>
            <a:ext cx="8288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Rule of thumb: ETL is historically associated with traditional integration; ELT grew with cloud analytics.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2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5DA1A5-0504-642D-11F5-433A7765B062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Choosing ETL or ELT — A Practical Heuristic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B4460-1ACC-CCF7-F8B7-176F1F922CD8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F932D-85FD-608E-5706-0FB32A188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ETL tends to fit</a:t>
            </a:r>
            <a:r>
              <a:rPr lang="en-US" dirty="0"/>
              <a:t> when the target should receive controlled outputs; </a:t>
            </a:r>
          </a:p>
          <a:p>
            <a:pPr lvl="0"/>
            <a:r>
              <a:rPr lang="en-US" b="1" dirty="0"/>
              <a:t>ELT tends to fit </a:t>
            </a:r>
            <a:r>
              <a:rPr lang="en-US" dirty="0"/>
              <a:t>when the target can govern raw data and execute transformations efficiently.</a:t>
            </a:r>
            <a:endParaRPr lang="hu-HU" dirty="0"/>
          </a:p>
          <a:p>
            <a:pPr lvl="0"/>
            <a:r>
              <a:rPr lang="en-US" b="1" dirty="0"/>
              <a:t>Many systems combine both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some transformations run before loading, while others run inside the target platform.</a:t>
            </a:r>
            <a:endParaRPr lang="hu-HU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536F64-3BC4-7926-7577-7A626D04F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689046"/>
              </p:ext>
            </p:extLst>
          </p:nvPr>
        </p:nvGraphicFramePr>
        <p:xfrm>
          <a:off x="910682" y="2812276"/>
          <a:ext cx="10370635" cy="219456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614187">
                  <a:extLst>
                    <a:ext uri="{9D8B030D-6E8A-4147-A177-3AD203B41FA5}">
                      <a16:colId xmlns:a16="http://schemas.microsoft.com/office/drawing/2014/main" val="1578410691"/>
                    </a:ext>
                  </a:extLst>
                </a:gridCol>
                <a:gridCol w="3861864">
                  <a:extLst>
                    <a:ext uri="{9D8B030D-6E8A-4147-A177-3AD203B41FA5}">
                      <a16:colId xmlns:a16="http://schemas.microsoft.com/office/drawing/2014/main" val="2062421683"/>
                    </a:ext>
                  </a:extLst>
                </a:gridCol>
                <a:gridCol w="3894584">
                  <a:extLst>
                    <a:ext uri="{9D8B030D-6E8A-4147-A177-3AD203B41FA5}">
                      <a16:colId xmlns:a16="http://schemas.microsoft.com/office/drawing/2014/main" val="3439311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ETL tends to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ELT tends to 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84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Transformation 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External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Target warehouse/lakehouse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78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Raw data in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Restricted or unnecessary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Useful and governed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23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Sensitive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Remove before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Controlled raw zone is acceptable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161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Fast landing and reuse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Less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Important advantage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03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Which skills team has?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Python, Spark, integration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SQL, dbt, target-native compute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27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45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3912A5-4FE8-FFE6-C6DF-1084C5BFD81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Bounded and Unbounded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6798C-C2BF-42E7-4330-D8673ED182B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BB2EF-57E6-B698-E160-CDC2777D5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Bounded input</a:t>
            </a:r>
            <a:r>
              <a:rPr lang="en-US" dirty="0"/>
              <a:t> has a known end.</a:t>
            </a:r>
            <a:endParaRPr lang="hu-HU" dirty="0"/>
          </a:p>
          <a:p>
            <a:pPr lvl="1"/>
            <a:r>
              <a:rPr lang="en-US" dirty="0"/>
              <a:t>Example: one daily CSV containing all readings received on 2026-09-10</a:t>
            </a:r>
          </a:p>
          <a:p>
            <a:pPr lvl="1"/>
            <a:r>
              <a:rPr lang="en-US" dirty="0"/>
              <a:t>A batch job can finish after every record in that input has been considered</a:t>
            </a:r>
          </a:p>
          <a:p>
            <a:pPr lvl="0"/>
            <a:r>
              <a:rPr lang="en-US" b="1" dirty="0"/>
              <a:t>Unbounded input</a:t>
            </a:r>
            <a:r>
              <a:rPr lang="en-US" dirty="0"/>
              <a:t> keeps arriving.</a:t>
            </a:r>
            <a:endParaRPr lang="hu-HU" dirty="0"/>
          </a:p>
          <a:p>
            <a:pPr lvl="1"/>
            <a:r>
              <a:rPr lang="en-US" dirty="0"/>
              <a:t>Example: a Kafka topic receiving live sensor events</a:t>
            </a:r>
          </a:p>
          <a:p>
            <a:pPr lvl="1"/>
            <a:r>
              <a:rPr lang="en-US" dirty="0"/>
              <a:t>Processing updates results incrementally because there is no final record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The business goal may be identical: average temperature per sensor.</a:t>
            </a:r>
            <a:endParaRPr lang="hu-HU" dirty="0"/>
          </a:p>
          <a:p>
            <a:pPr lvl="0"/>
            <a:r>
              <a:rPr lang="en-US" dirty="0"/>
              <a:t>The unbounded version additionally needs state, time windows, late-data rules, and continuous recovery.</a:t>
            </a:r>
            <a:endParaRPr lang="hu-HU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Useful default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bounded data → batch processing; </a:t>
            </a:r>
          </a:p>
          <a:p>
            <a:pPr lvl="1"/>
            <a:r>
              <a:rPr lang="en-US" dirty="0"/>
              <a:t>unbounded data → stream processing.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345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C8D2D9-E127-BC97-F79A-5339AA032D2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Batch Processing Architecture — Separate the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3D72A-266F-D18F-74AD-9DADEC8C401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2B1E9-3E9C-70C6-6038-6688CF00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1"/>
            <a:ext cx="6515323" cy="5010454"/>
          </a:xfrm>
        </p:spPr>
        <p:txBody>
          <a:bodyPr/>
          <a:lstStyle/>
          <a:p>
            <a:pPr lvl="0"/>
            <a:r>
              <a:rPr lang="en-US" sz="1600" b="1" dirty="0"/>
              <a:t>Input/storage</a:t>
            </a:r>
          </a:p>
          <a:p>
            <a:pPr lvl="1"/>
            <a:r>
              <a:rPr lang="en-US" dirty="0"/>
              <a:t> holds a bounded dataset such as one daily sensor partition</a:t>
            </a:r>
          </a:p>
          <a:p>
            <a:pPr lvl="0"/>
            <a:r>
              <a:rPr lang="en-US" sz="1600" b="1" dirty="0"/>
              <a:t>Orchestrator</a:t>
            </a:r>
            <a:endParaRPr lang="en-US" sz="1600" dirty="0"/>
          </a:p>
          <a:p>
            <a:pPr lvl="1"/>
            <a:r>
              <a:rPr lang="en-US" dirty="0"/>
              <a:t>schedules run and manages task dependencies and retries</a:t>
            </a:r>
          </a:p>
          <a:p>
            <a:pPr lvl="0"/>
            <a:r>
              <a:rPr lang="en-US" sz="1600" b="1" dirty="0"/>
              <a:t>Processing engine</a:t>
            </a:r>
          </a:p>
          <a:p>
            <a:pPr lvl="1"/>
            <a:r>
              <a:rPr lang="en-US" dirty="0"/>
              <a:t>parses, joins, validates, and aggregates the records</a:t>
            </a:r>
          </a:p>
          <a:p>
            <a:pPr lvl="0"/>
            <a:r>
              <a:rPr lang="en-US" sz="1600" b="1" dirty="0"/>
              <a:t>Output storage</a:t>
            </a:r>
          </a:p>
          <a:p>
            <a:pPr lvl="1"/>
            <a:r>
              <a:rPr lang="en-US" dirty="0"/>
              <a:t>persists trusted, reproducible results</a:t>
            </a:r>
          </a:p>
          <a:p>
            <a:pPr lvl="0"/>
            <a:r>
              <a:rPr lang="en-US" sz="1600" b="1" dirty="0"/>
              <a:t>Consumers</a:t>
            </a:r>
            <a:endParaRPr lang="en-US" sz="1600" dirty="0"/>
          </a:p>
          <a:p>
            <a:pPr lvl="1"/>
            <a:r>
              <a:rPr lang="en-US" dirty="0"/>
              <a:t>query the results through BI, APIs, notebooks…</a:t>
            </a:r>
          </a:p>
          <a:p>
            <a:pPr lvl="0"/>
            <a:r>
              <a:rPr lang="en-US" sz="1600" b="1" dirty="0"/>
              <a:t>Monitoring spans every role: </a:t>
            </a:r>
          </a:p>
          <a:p>
            <a:pPr lvl="1"/>
            <a:r>
              <a:rPr lang="en-US" dirty="0"/>
              <a:t>status, duration, volume, quality, and freshness.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CC0C6ED-D860-E4D3-BB00-3441D464252C}"/>
              </a:ext>
            </a:extLst>
          </p:cNvPr>
          <p:cNvSpPr txBox="1">
            <a:spLocks/>
          </p:cNvSpPr>
          <p:nvPr/>
        </p:nvSpPr>
        <p:spPr>
          <a:xfrm>
            <a:off x="6479837" y="4285462"/>
            <a:ext cx="5881221" cy="21088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dirty="0"/>
              <a:t>Example shown:</a:t>
            </a:r>
            <a:br>
              <a:rPr lang="en-US" sz="2400" dirty="0"/>
            </a:br>
            <a:r>
              <a:rPr lang="en-US" sz="1400" dirty="0"/>
              <a:t>Azure Blob Storage → Airflow → Spark → Delta Lake → Power BI</a:t>
            </a:r>
            <a:endParaRPr lang="en-US" sz="2000" dirty="0"/>
          </a:p>
          <a:p>
            <a:pPr lvl="0"/>
            <a:r>
              <a:rPr lang="en-US" sz="1600" dirty="0"/>
              <a:t>Airflow coordinates the work; </a:t>
            </a:r>
            <a:br>
              <a:rPr lang="en-US" sz="1600" dirty="0"/>
            </a:br>
            <a:r>
              <a:rPr lang="en-US" sz="1600" dirty="0"/>
              <a:t>Spark performs the distributed transformation.</a:t>
            </a:r>
            <a:endParaRPr lang="en-US" sz="2400" dirty="0"/>
          </a:p>
          <a:p>
            <a:pPr lvl="0"/>
            <a:r>
              <a:rPr lang="en-US" sz="1600" dirty="0"/>
              <a:t>Products can change while responsibilities remain.</a:t>
            </a:r>
            <a:endParaRPr lang="en-US" sz="2400" dirty="0"/>
          </a:p>
        </p:txBody>
      </p:sp>
      <p:pic>
        <p:nvPicPr>
          <p:cNvPr id="5122" name="Picture 2" descr="Create a simple data pipeline diagram showing the flow: Azure Blob Storage (CSV files) → Apache Airflow (DAG Scheduler) → Apache Spark (Clean &amp; Aggregate) → Delta Lake (Processed Storage) → Power BI (Dashboard Presentation). Ensure all icons and labels are fully visible and not cropped.">
            <a:extLst>
              <a:ext uri="{FF2B5EF4-FFF2-40B4-BE49-F238E27FC236}">
                <a16:creationId xmlns:a16="http://schemas.microsoft.com/office/drawing/2014/main" id="{73F90FAF-18AB-9774-AC5A-158816996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25" b="29167"/>
          <a:stretch>
            <a:fillRect/>
          </a:stretch>
        </p:blipFill>
        <p:spPr bwMode="auto">
          <a:xfrm>
            <a:off x="6553199" y="2571598"/>
            <a:ext cx="54864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405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CB3460-05AD-74C2-F647-3FAD06E635F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Stream Processing — Unbounded Input, Incremental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0F338-0137-E905-7BE6-09B2108B2FB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75694-480B-8AAB-AFC7-8BB44E5D5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Stream processing consumes an unbounded input as new events arrive.</a:t>
            </a:r>
            <a:endParaRPr lang="hu-HU" dirty="0"/>
          </a:p>
          <a:p>
            <a:pPr marL="0" lvl="0" indent="0">
              <a:buNone/>
            </a:pPr>
            <a:r>
              <a:rPr lang="en-US" dirty="0"/>
              <a:t>Because the input has no final record, results updated incrementally rather than produced once at the end.</a:t>
            </a:r>
            <a:endParaRPr lang="hu-HU" dirty="0"/>
          </a:p>
          <a:p>
            <a:pPr marL="0" lvl="0" indent="0">
              <a:buNone/>
            </a:pPr>
            <a:r>
              <a:rPr lang="en-US" dirty="0"/>
              <a:t>Streaming describes the processing model; real-time describes the required latency.</a:t>
            </a:r>
            <a:endParaRPr lang="hu-HU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Sensor example:</a:t>
            </a:r>
            <a:endParaRPr lang="hu-HU" dirty="0"/>
          </a:p>
          <a:p>
            <a:pPr lvl="1"/>
            <a:r>
              <a:rPr lang="en-US" sz="1800" b="1" dirty="0"/>
              <a:t>validate each new reading</a:t>
            </a:r>
          </a:p>
          <a:p>
            <a:pPr lvl="1"/>
            <a:r>
              <a:rPr lang="en-US" sz="1800" b="1" dirty="0"/>
              <a:t>update a five-minute average for its sensor</a:t>
            </a:r>
          </a:p>
          <a:p>
            <a:pPr lvl="1"/>
            <a:r>
              <a:rPr lang="en-US" sz="1800" b="1" dirty="0"/>
              <a:t>emit an alert when an explicit rule is violated</a:t>
            </a:r>
          </a:p>
          <a:p>
            <a:pPr lvl="1"/>
            <a:endParaRPr lang="en-US" sz="1800" b="1" dirty="0"/>
          </a:p>
          <a:p>
            <a:pPr marL="0" lvl="0" indent="0">
              <a:buNone/>
            </a:pPr>
            <a:r>
              <a:rPr lang="en-US" dirty="0"/>
              <a:t>The processor must handle duplicates, ordering, late events, failures, and changing input rates.</a:t>
            </a:r>
            <a:endParaRPr lang="hu-HU" dirty="0"/>
          </a:p>
          <a:p>
            <a:pPr marL="0" lvl="0" indent="0">
              <a:buNone/>
            </a:pPr>
            <a:r>
              <a:rPr lang="en-US" dirty="0"/>
              <a:t>Useful default: use streaming when the result must evolve while data continues to arrive.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0714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3273E0-3918-B8E0-4BAB-CBA4D69AB25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Stream Processing Architecture — Separate the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6452-4491-B71A-C744-6F26E294969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5941A-9C34-0F6B-5183-C21CB04B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960120"/>
            <a:ext cx="5867401" cy="4027906"/>
          </a:xfrm>
        </p:spPr>
        <p:txBody>
          <a:bodyPr/>
          <a:lstStyle/>
          <a:p>
            <a:pPr lvl="0"/>
            <a:r>
              <a:rPr lang="en-US" sz="1600" b="1" dirty="0"/>
              <a:t>Event source</a:t>
            </a:r>
          </a:p>
          <a:p>
            <a:pPr lvl="1"/>
            <a:r>
              <a:rPr lang="en-US" dirty="0"/>
              <a:t>produces an unbounded sequence of events</a:t>
            </a:r>
          </a:p>
          <a:p>
            <a:pPr lvl="0"/>
            <a:r>
              <a:rPr lang="en-US" sz="1600" b="1" dirty="0"/>
              <a:t>Transport/buffer</a:t>
            </a:r>
          </a:p>
          <a:p>
            <a:pPr lvl="1"/>
            <a:r>
              <a:rPr lang="en-US" dirty="0"/>
              <a:t>retains and distributes events</a:t>
            </a:r>
          </a:p>
          <a:p>
            <a:pPr lvl="0"/>
            <a:r>
              <a:rPr lang="en-US" sz="1600" b="1" dirty="0"/>
              <a:t>Stream processor </a:t>
            </a:r>
          </a:p>
          <a:p>
            <a:pPr lvl="1"/>
            <a:r>
              <a:rPr lang="en-US" dirty="0"/>
              <a:t>validates, enriches, aggregates, and detects patterns</a:t>
            </a:r>
          </a:p>
          <a:p>
            <a:pPr lvl="0"/>
            <a:r>
              <a:rPr lang="en-US" sz="1600" b="1" dirty="0"/>
              <a:t>Processing state </a:t>
            </a:r>
          </a:p>
          <a:p>
            <a:pPr lvl="1"/>
            <a:r>
              <a:rPr lang="en-US" dirty="0"/>
              <a:t>remembers progress and intermediate results</a:t>
            </a:r>
          </a:p>
          <a:p>
            <a:pPr lvl="0"/>
            <a:r>
              <a:rPr lang="en-US" sz="1600" b="1" dirty="0"/>
              <a:t>Sink</a:t>
            </a:r>
          </a:p>
          <a:p>
            <a:pPr lvl="1"/>
            <a:r>
              <a:rPr lang="en-US" dirty="0"/>
              <a:t>stores results or triggers downstream actions</a:t>
            </a:r>
          </a:p>
          <a:p>
            <a:pPr lvl="0"/>
            <a:r>
              <a:rPr lang="en-US" sz="1600" b="1" dirty="0"/>
              <a:t>Consumers</a:t>
            </a:r>
          </a:p>
          <a:p>
            <a:pPr lvl="1"/>
            <a:r>
              <a:rPr lang="en-US" dirty="0"/>
              <a:t>dashboards, APIs, alerts, and other pipelines</a:t>
            </a:r>
          </a:p>
        </p:txBody>
      </p:sp>
      <p:pic>
        <p:nvPicPr>
          <p:cNvPr id="6146" name="Picture 2" descr="Create a simple stream processing pipeline diagram showing the flow: Mobile App Events → Apache Kafka → Apache Spark Streaming → Delta Lake → Power BI Dashboard. Include icons or visual representations for each component.">
            <a:extLst>
              <a:ext uri="{FF2B5EF4-FFF2-40B4-BE49-F238E27FC236}">
                <a16:creationId xmlns:a16="http://schemas.microsoft.com/office/drawing/2014/main" id="{50C9F94E-1D0C-44D7-337A-C94A1D9E7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25" b="28125"/>
          <a:stretch>
            <a:fillRect/>
          </a:stretch>
        </p:blipFill>
        <p:spPr bwMode="auto">
          <a:xfrm>
            <a:off x="6581552" y="2309923"/>
            <a:ext cx="5486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26E7FD4-39D0-6665-6C6F-03835238D9C0}"/>
              </a:ext>
            </a:extLst>
          </p:cNvPr>
          <p:cNvSpPr txBox="1">
            <a:spLocks/>
          </p:cNvSpPr>
          <p:nvPr/>
        </p:nvSpPr>
        <p:spPr>
          <a:xfrm>
            <a:off x="6581552" y="3999198"/>
            <a:ext cx="5440680" cy="19776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dirty="0"/>
              <a:t>Example shown:</a:t>
            </a:r>
            <a:br>
              <a:rPr lang="en-US" sz="1600" dirty="0"/>
            </a:br>
            <a:r>
              <a:rPr lang="en-US" sz="1400" dirty="0"/>
              <a:t>Mobile events → Kafka → Spark Structured Streaming → Delta Lake → Power BI</a:t>
            </a:r>
          </a:p>
          <a:p>
            <a:pPr lvl="0"/>
            <a:r>
              <a:rPr lang="en-US" sz="1600" dirty="0"/>
              <a:t>Kafka transports and retains events; </a:t>
            </a:r>
            <a:br>
              <a:rPr lang="en-US" sz="1600" dirty="0"/>
            </a:br>
            <a:r>
              <a:rPr lang="en-US" sz="1600" dirty="0"/>
              <a:t>Spark performs the transformation.</a:t>
            </a:r>
          </a:p>
          <a:p>
            <a:pPr lvl="0"/>
            <a:r>
              <a:rPr lang="en-US" sz="1600" dirty="0"/>
              <a:t>Checkpointed state helps the processor resume after failure; it is not a replacement for output storage.</a:t>
            </a:r>
          </a:p>
        </p:txBody>
      </p:sp>
    </p:spTree>
    <p:extLst>
      <p:ext uri="{BB962C8B-B14F-4D97-AF65-F5344CB8AC3E}">
        <p14:creationId xmlns:p14="http://schemas.microsoft.com/office/powerpoint/2010/main" val="270858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749-366F-064A-5839-07A45C4D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AA1E6F-522A-200A-DC8B-CD7D027AB6C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From Streaming Mechanics to an Operable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44225-A120-B40B-3967-C168C55756E2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1220000" y="1110000"/>
            <a:ext cx="9750000" cy="620000"/>
          </a:xfrm>
        </p:spPr>
        <p:txBody>
          <a:bodyPr anchor="ctr"/>
          <a:lstStyle/>
          <a:p>
            <a:pPr algn="ctr"/>
            <a:r>
              <a:rPr lang="en-US" sz="1750" dirty="0">
                <a:solidFill>
                  <a:srgbClr val="404040"/>
                </a:solidFill>
              </a:rPr>
              <a:t>The following slides answer four groups of design questions.</a:t>
            </a:r>
            <a:endParaRPr lang="en-US" sz="1750"/>
          </a:p>
        </p:txBody>
      </p:sp>
      <p:sp>
        <p:nvSpPr>
          <p:cNvPr id="4" name="Revision Overview 1"/>
          <p:cNvSpPr/>
          <p:nvPr/>
        </p:nvSpPr>
        <p:spPr>
          <a:xfrm>
            <a:off x="780000" y="1880000"/>
            <a:ext cx="5140000" cy="158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lIns="170000" tIns="80000" rIns="170000" bIns="80000" anchor="ctr"/>
          <a:lstStyle/>
          <a:p>
            <a:pPr algn="ctr">
              <a:spcAft>
                <a:spcPts val="300"/>
              </a:spcAft>
            </a:pPr>
            <a:r>
              <a:rPr lang="en-US" sz="1550" b="1" dirty="0">
                <a:solidFill>
                  <a:srgbClr val="1F4E79"/>
                </a:solidFill>
              </a:rPr>
              <a:t>1  Correctness over time</a:t>
            </a:r>
            <a:endParaRPr lang="en-US" sz="1550"/>
          </a:p>
          <a:p>
            <a:pPr algn="ctr">
              <a:spcAft>
                <a:spcPts val="300"/>
              </a:spcAft>
            </a:pPr>
            <a:r>
              <a:rPr lang="en-US" sz="1325" b="1" dirty="0">
                <a:solidFill>
                  <a:srgbClr val="404040"/>
                </a:solidFill>
              </a:rPr>
              <a:t>What must the processor remember?</a:t>
            </a:r>
            <a:endParaRPr lang="en-US" sz="1325"/>
          </a:p>
          <a:p>
            <a:pPr algn="ctr"/>
            <a:r>
              <a:rPr lang="en-US" sz="1175" dirty="0">
                <a:solidFill>
                  <a:srgbClr val="1F1F1F"/>
                </a:solidFill>
              </a:rPr>
              <a:t>State • event time • windows • watermarks • late data</a:t>
            </a:r>
            <a:endParaRPr lang="en-US" sz="1175"/>
          </a:p>
        </p:txBody>
      </p:sp>
      <p:sp>
        <p:nvSpPr>
          <p:cNvPr id="5" name="Revision Overview 2"/>
          <p:cNvSpPr/>
          <p:nvPr/>
        </p:nvSpPr>
        <p:spPr>
          <a:xfrm>
            <a:off x="6260000" y="1880000"/>
            <a:ext cx="5140000" cy="158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E75B6"/>
            </a:solidFill>
          </a:ln>
        </p:spPr>
        <p:txBody>
          <a:bodyPr wrap="square" lIns="170000" tIns="80000" rIns="170000" bIns="80000" anchor="ctr"/>
          <a:lstStyle/>
          <a:p>
            <a:pPr algn="ctr">
              <a:spcAft>
                <a:spcPts val="300"/>
              </a:spcAft>
            </a:pPr>
            <a:r>
              <a:rPr lang="en-US" sz="1550" b="1" dirty="0">
                <a:solidFill>
                  <a:srgbClr val="1F4E79"/>
                </a:solidFill>
              </a:rPr>
              <a:t>2  Current and historical results</a:t>
            </a:r>
            <a:endParaRPr lang="en-US" sz="1550"/>
          </a:p>
          <a:p>
            <a:pPr algn="ctr">
              <a:spcAft>
                <a:spcPts val="300"/>
              </a:spcAft>
            </a:pPr>
            <a:r>
              <a:rPr lang="en-US" sz="1325" b="1" dirty="0">
                <a:solidFill>
                  <a:srgbClr val="404040"/>
                </a:solidFill>
              </a:rPr>
              <a:t>How can results be produced or rebuilt?</a:t>
            </a:r>
            <a:endParaRPr lang="en-US" sz="1325"/>
          </a:p>
          <a:p>
            <a:pPr algn="ctr"/>
            <a:r>
              <a:rPr lang="en-US" sz="1175" dirty="0">
                <a:solidFill>
                  <a:srgbClr val="1F1F1F"/>
                </a:solidFill>
              </a:rPr>
              <a:t>Lambda • Kappa • replay • reprocessing</a:t>
            </a:r>
            <a:endParaRPr lang="en-US" sz="1175"/>
          </a:p>
        </p:txBody>
      </p:sp>
      <p:sp>
        <p:nvSpPr>
          <p:cNvPr id="6" name="Revision Overview 3"/>
          <p:cNvSpPr/>
          <p:nvPr/>
        </p:nvSpPr>
        <p:spPr>
          <a:xfrm>
            <a:off x="780000" y="3750000"/>
            <a:ext cx="5140000" cy="1580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4472C4"/>
            </a:solidFill>
          </a:ln>
        </p:spPr>
        <p:txBody>
          <a:bodyPr wrap="square" lIns="170000" tIns="80000" rIns="170000" bIns="80000" anchor="ctr"/>
          <a:lstStyle/>
          <a:p>
            <a:pPr algn="ctr">
              <a:spcAft>
                <a:spcPts val="300"/>
              </a:spcAft>
            </a:pPr>
            <a:r>
              <a:rPr lang="en-US" sz="1550" b="1" dirty="0">
                <a:solidFill>
                  <a:srgbClr val="1F4E79"/>
                </a:solidFill>
              </a:rPr>
              <a:t>3  Explicit and operable processing</a:t>
            </a:r>
            <a:endParaRPr lang="en-US" sz="1550"/>
          </a:p>
          <a:p>
            <a:pPr algn="ctr">
              <a:spcAft>
                <a:spcPts val="300"/>
              </a:spcAft>
            </a:pPr>
            <a:r>
              <a:rPr lang="en-US" sz="1325" b="1" dirty="0">
                <a:solidFill>
                  <a:srgbClr val="404040"/>
                </a:solidFill>
              </a:rPr>
              <a:t>How is work defined and run?</a:t>
            </a:r>
            <a:endParaRPr lang="en-US" sz="1325"/>
          </a:p>
          <a:p>
            <a:pPr algn="ctr"/>
            <a:r>
              <a:rPr lang="en-US" sz="1175" dirty="0">
                <a:solidFill>
                  <a:srgbClr val="1F1F1F"/>
                </a:solidFill>
              </a:rPr>
              <a:t>Principles • contracts • engines • orchestrators • DAGs</a:t>
            </a:r>
            <a:endParaRPr lang="en-US" sz="1175"/>
          </a:p>
        </p:txBody>
      </p:sp>
      <p:sp>
        <p:nvSpPr>
          <p:cNvPr id="7" name="Revision Overview 4"/>
          <p:cNvSpPr/>
          <p:nvPr/>
        </p:nvSpPr>
        <p:spPr>
          <a:xfrm>
            <a:off x="6260000" y="3750000"/>
            <a:ext cx="5140000" cy="1580000"/>
          </a:xfrm>
          <a:prstGeom prst="roundRect">
            <a:avLst/>
          </a:prstGeom>
          <a:solidFill>
            <a:srgbClr val="C6E0F4"/>
          </a:solidFill>
          <a:ln w="12700">
            <a:solidFill>
              <a:srgbClr val="1F4E79"/>
            </a:solidFill>
          </a:ln>
        </p:spPr>
        <p:txBody>
          <a:bodyPr wrap="square" lIns="170000" tIns="80000" rIns="170000" bIns="80000" anchor="ctr"/>
          <a:lstStyle/>
          <a:p>
            <a:pPr algn="ctr">
              <a:spcAft>
                <a:spcPts val="300"/>
              </a:spcAft>
            </a:pPr>
            <a:r>
              <a:rPr lang="en-US" sz="1550" b="1" dirty="0">
                <a:solidFill>
                  <a:srgbClr val="1F4E79"/>
                </a:solidFill>
              </a:rPr>
              <a:t>4  Reliability under failure</a:t>
            </a:r>
            <a:endParaRPr lang="en-US" sz="1550"/>
          </a:p>
          <a:p>
            <a:pPr algn="ctr">
              <a:spcAft>
                <a:spcPts val="300"/>
              </a:spcAft>
            </a:pPr>
            <a:r>
              <a:rPr lang="en-US" sz="1325" b="1" dirty="0">
                <a:solidFill>
                  <a:srgbClr val="404040"/>
                </a:solidFill>
              </a:rPr>
              <a:t>What happens when data or systems fail?</a:t>
            </a:r>
            <a:endParaRPr lang="en-US" sz="1325"/>
          </a:p>
          <a:p>
            <a:pPr algn="ctr"/>
            <a:r>
              <a:rPr lang="en-US" sz="1175" dirty="0">
                <a:solidFill>
                  <a:srgbClr val="1F1F1F"/>
                </a:solidFill>
              </a:rPr>
              <a:t>Quality • scalability • SLOs • retries • quarantine • idempotency • observability</a:t>
            </a:r>
            <a:endParaRPr lang="en-US" sz="1175"/>
          </a:p>
        </p:txBody>
      </p:sp>
      <p:sp>
        <p:nvSpPr>
          <p:cNvPr id="8" name="Revision Overview Footer"/>
          <p:cNvSpPr txBox="1"/>
          <p:nvPr/>
        </p:nvSpPr>
        <p:spPr>
          <a:xfrm>
            <a:off x="1320000" y="5650000"/>
            <a:ext cx="95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50" dirty="0">
                <a:solidFill>
                  <a:srgbClr val="595959"/>
                </a:solidFill>
              </a:rPr>
              <a:t>These are design questions—not additional mandatory pipeline stages.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46543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749-366F-064A-5839-07A45C4D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ckground"/>
          <p:cNvSpPr/>
          <p:nvPr/>
        </p:nvSpPr>
        <p:spPr>
          <a:xfrm>
            <a:off x="0" y="1370000"/>
            <a:ext cx="12192000" cy="4050000"/>
          </a:xfrm>
          <a:prstGeom prst="rect">
            <a:avLst/>
          </a:prstGeom>
          <a:solidFill>
            <a:srgbClr val="EAF2F8"/>
          </a:solidFill>
          <a:ln w="12700">
            <a:noFill/>
          </a:ln>
        </p:spPr>
      </p:sp>
      <p:sp>
        <p:nvSpPr>
          <p:cNvPr id="3" name="Section Number Box"/>
          <p:cNvSpPr/>
          <p:nvPr/>
        </p:nvSpPr>
        <p:spPr>
          <a:xfrm>
            <a:off x="820000" y="2460000"/>
            <a:ext cx="1450000" cy="145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</p:sp>
      <p:sp>
        <p:nvSpPr>
          <p:cNvPr id="4" name="Section Number"/>
          <p:cNvSpPr txBox="1"/>
          <p:nvPr/>
        </p:nvSpPr>
        <p:spPr>
          <a:xfrm>
            <a:off x="820000" y="2460000"/>
            <a:ext cx="145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/>
          </a:p>
        </p:txBody>
      </p:sp>
      <p:sp>
        <p:nvSpPr>
          <p:cNvPr id="5" name="Section Label"/>
          <p:cNvSpPr txBox="1"/>
          <p:nvPr/>
        </p:nvSpPr>
        <p:spPr>
          <a:xfrm>
            <a:off x="2770000" y="1890000"/>
            <a:ext cx="82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2E75B6"/>
                </a:solidFill>
              </a:rPr>
              <a:t>SECTION 1 OF 4</a:t>
            </a:r>
            <a:endParaRPr lang="en-US" sz="1300"/>
          </a:p>
        </p:txBody>
      </p:sp>
      <p:sp>
        <p:nvSpPr>
          <p:cNvPr id="6" name="Section Title"/>
          <p:cNvSpPr txBox="1"/>
          <p:nvPr/>
        </p:nvSpPr>
        <p:spPr>
          <a:xfrm>
            <a:off x="2770000" y="2460000"/>
            <a:ext cx="860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000" b="1" dirty="0">
                <a:solidFill>
                  <a:srgbClr val="1F1F1F"/>
                </a:solidFill>
              </a:rPr>
              <a:t>Correctness Over Time</a:t>
            </a:r>
            <a:endParaRPr lang="en-US" sz="3000"/>
          </a:p>
        </p:txBody>
      </p:sp>
      <p:sp>
        <p:nvSpPr>
          <p:cNvPr id="7" name="Section Subtitle"/>
          <p:cNvSpPr txBox="1"/>
          <p:nvPr/>
        </p:nvSpPr>
        <p:spPr>
          <a:xfrm>
            <a:off x="2770000" y="3590000"/>
            <a:ext cx="830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50" dirty="0">
                <a:solidFill>
                  <a:srgbClr val="404040"/>
                </a:solidFill>
              </a:rPr>
              <a:t>State, event time, windows, watermarks, and late data</a:t>
            </a:r>
            <a:endParaRPr lang="en-US" sz="1750"/>
          </a:p>
        </p:txBody>
      </p:sp>
      <p:sp>
        <p:nvSpPr>
          <p:cNvPr id="8" name="Section Footer"/>
          <p:cNvSpPr txBox="1"/>
          <p:nvPr/>
        </p:nvSpPr>
        <p:spPr>
          <a:xfrm>
            <a:off x="2770000" y="4700000"/>
            <a:ext cx="83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dirty="0">
                <a:solidFill>
                  <a:srgbClr val="707070"/>
                </a:solidFill>
              </a:rPr>
              <a:t>A new design question—not another mandatory pipeline stage.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46543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A79B-A372-D261-FB93-AF4A5219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E65995-B616-0D83-893B-FB11C860C5E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Stateless and Stateful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95F0C-2EDC-B616-D03C-4B7F9B9E00A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052C1-9724-38C7-B7EC-95117039C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60120"/>
            <a:ext cx="11658600" cy="5440680"/>
          </a:xfrm>
        </p:spPr>
        <p:txBody>
          <a:bodyPr/>
          <a:lstStyle/>
          <a:p>
            <a:pPr lvl="0"/>
            <a:r>
              <a:rPr lang="en-US" b="1" dirty="0"/>
              <a:t>Stateless processing needs only the current record.</a:t>
            </a:r>
            <a:endParaRPr lang="en-US" dirty="0"/>
          </a:p>
          <a:p>
            <a:pPr lvl="1"/>
            <a:r>
              <a:rPr lang="en-US" i="1" dirty="0"/>
              <a:t>Examples: parse JSON, convert °F to °C, validate one value against a fixed range</a:t>
            </a:r>
          </a:p>
          <a:p>
            <a:pPr lvl="0"/>
            <a:r>
              <a:rPr lang="en-US" b="1" dirty="0"/>
              <a:t>Stateful processing remembers information across records.</a:t>
            </a:r>
            <a:endParaRPr lang="en-US" dirty="0"/>
          </a:p>
          <a:p>
            <a:pPr lvl="1"/>
            <a:r>
              <a:rPr lang="en-US" i="1" dirty="0"/>
              <a:t>Deduplication — have we already seen this event_id?</a:t>
            </a:r>
          </a:p>
          <a:p>
            <a:pPr lvl="1"/>
            <a:r>
              <a:rPr lang="en-US" i="1" dirty="0"/>
              <a:t>Aggregation — what is the five-minute average for sensor S1?</a:t>
            </a:r>
          </a:p>
          <a:p>
            <a:pPr lvl="1"/>
            <a:r>
              <a:rPr lang="en-US" i="1" dirty="0"/>
              <a:t>Join — which location was assigned to this sensor at event time?</a:t>
            </a:r>
          </a:p>
          <a:p>
            <a:pPr lvl="1"/>
            <a:r>
              <a:rPr lang="en-US" i="1" dirty="0"/>
              <a:t>Pattern detection — did three abnormal readings occur within ten minutes?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State is commonly partitioned by a key such as sensor_id and periodically checkpointed for recovery.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State must also have a lifetime: without expiry or window boundaries, it can grow without limit.</a:t>
            </a:r>
          </a:p>
        </p:txBody>
      </p:sp>
    </p:spTree>
    <p:extLst>
      <p:ext uri="{BB962C8B-B14F-4D97-AF65-F5344CB8AC3E}">
        <p14:creationId xmlns:p14="http://schemas.microsoft.com/office/powerpoint/2010/main" val="207670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B1109B-D9CC-A8B5-2C21-FA3BCE105A0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Event Time, Windows, Watermarks, and Late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F4487-70C0-8DA3-A8F4-C00707145BB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CA01F-CF23-8C33-AF38-9F66077E5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11877674" cy="5032679"/>
          </a:xfrm>
        </p:spPr>
        <p:txBody>
          <a:bodyPr/>
          <a:lstStyle/>
          <a:p>
            <a:pPr lvl="0"/>
            <a:r>
              <a:rPr lang="en-US" b="1" dirty="0"/>
              <a:t>Event time </a:t>
            </a:r>
            <a:r>
              <a:rPr lang="en-US" dirty="0"/>
              <a:t>— when the measurement happened, stored in the event</a:t>
            </a:r>
          </a:p>
          <a:p>
            <a:pPr lvl="0"/>
            <a:r>
              <a:rPr lang="en-US" b="1" dirty="0"/>
              <a:t>Processing time </a:t>
            </a:r>
            <a:r>
              <a:rPr lang="en-US" dirty="0"/>
              <a:t>— when the processing system handled the event</a:t>
            </a:r>
          </a:p>
          <a:p>
            <a:pPr lvl="0"/>
            <a:r>
              <a:rPr lang="en-US" dirty="0"/>
              <a:t>A </a:t>
            </a:r>
            <a:r>
              <a:rPr lang="en-US" b="1" dirty="0"/>
              <a:t>window</a:t>
            </a:r>
            <a:r>
              <a:rPr lang="en-US" dirty="0"/>
              <a:t> turns an unbounded stream into finite groups, for example 10:00-10:05.</a:t>
            </a:r>
          </a:p>
          <a:p>
            <a:pPr lvl="0"/>
            <a:r>
              <a:rPr lang="en-US" b="1" dirty="0"/>
              <a:t>Watermark(T)</a:t>
            </a:r>
            <a:r>
              <a:rPr lang="en-US" dirty="0"/>
              <a:t> — the processor currently considers event time to have advanced past T.</a:t>
            </a:r>
          </a:p>
          <a:p>
            <a:pPr lvl="1"/>
            <a:r>
              <a:rPr lang="en-US" dirty="0"/>
              <a:t>An event arriving later with event_time ≤ T is treated as late</a:t>
            </a:r>
          </a:p>
          <a:p>
            <a:pPr lvl="1"/>
            <a:r>
              <a:rPr lang="en-US" dirty="0"/>
              <a:t>Common policy: watermark = largest observed event time − allowed delay</a:t>
            </a:r>
          </a:p>
          <a:p>
            <a:pPr lvl="0"/>
            <a:r>
              <a:rPr lang="en-US" b="1" dirty="0"/>
              <a:t>Example</a:t>
            </a:r>
            <a:r>
              <a:rPr lang="en-US" dirty="0"/>
              <a:t>: largest observed event time=10:10 and allowed delay=5 minutes → watermark=10:05.</a:t>
            </a:r>
          </a:p>
          <a:p>
            <a:pPr lvl="1"/>
            <a:r>
              <a:rPr lang="en-US" dirty="0"/>
              <a:t>The 10:00-10:05 window can be evaluated; a later arrival with event_time=10:02 is late</a:t>
            </a:r>
          </a:p>
          <a:p>
            <a:pPr lvl="1"/>
            <a:r>
              <a:rPr lang="en-US" dirty="0"/>
              <a:t>The lateness policy decides whether to update the result, route the event elsewhere, or ignore it.</a:t>
            </a:r>
          </a:p>
          <a:p>
            <a:pPr lvl="1"/>
            <a:r>
              <a:rPr lang="en-US" dirty="0"/>
              <a:t>A watermark is about time and completeness; a checkpoint is about recovery.</a:t>
            </a:r>
          </a:p>
          <a:p>
            <a:pPr lvl="1"/>
            <a:r>
              <a:rPr lang="en-US" b="1" dirty="0"/>
              <a:t>Trade-off:</a:t>
            </a:r>
            <a:r>
              <a:rPr lang="en-US" dirty="0"/>
              <a:t> a slower watermark waits for more data but delays the result.</a:t>
            </a:r>
          </a:p>
        </p:txBody>
      </p:sp>
    </p:spTree>
    <p:extLst>
      <p:ext uri="{BB962C8B-B14F-4D97-AF65-F5344CB8AC3E}">
        <p14:creationId xmlns:p14="http://schemas.microsoft.com/office/powerpoint/2010/main" val="132455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749-366F-064A-5839-07A45C4D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ckground"/>
          <p:cNvSpPr/>
          <p:nvPr/>
        </p:nvSpPr>
        <p:spPr>
          <a:xfrm>
            <a:off x="0" y="1370000"/>
            <a:ext cx="12192000" cy="4050000"/>
          </a:xfrm>
          <a:prstGeom prst="rect">
            <a:avLst/>
          </a:prstGeom>
          <a:solidFill>
            <a:srgbClr val="EAF2F8"/>
          </a:solidFill>
          <a:ln w="12700">
            <a:noFill/>
          </a:ln>
        </p:spPr>
      </p:sp>
      <p:sp>
        <p:nvSpPr>
          <p:cNvPr id="3" name="Section Number Box"/>
          <p:cNvSpPr/>
          <p:nvPr/>
        </p:nvSpPr>
        <p:spPr>
          <a:xfrm>
            <a:off x="820000" y="2460000"/>
            <a:ext cx="1450000" cy="145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</p:sp>
      <p:sp>
        <p:nvSpPr>
          <p:cNvPr id="4" name="Section Number"/>
          <p:cNvSpPr txBox="1"/>
          <p:nvPr/>
        </p:nvSpPr>
        <p:spPr>
          <a:xfrm>
            <a:off x="820000" y="2460000"/>
            <a:ext cx="145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/>
          </a:p>
        </p:txBody>
      </p:sp>
      <p:sp>
        <p:nvSpPr>
          <p:cNvPr id="5" name="Section Label"/>
          <p:cNvSpPr txBox="1"/>
          <p:nvPr/>
        </p:nvSpPr>
        <p:spPr>
          <a:xfrm>
            <a:off x="2770000" y="1890000"/>
            <a:ext cx="82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2E75B6"/>
                </a:solidFill>
              </a:rPr>
              <a:t>SECTION 2 OF 4</a:t>
            </a:r>
            <a:endParaRPr lang="en-US" sz="1300"/>
          </a:p>
        </p:txBody>
      </p:sp>
      <p:sp>
        <p:nvSpPr>
          <p:cNvPr id="6" name="Section Title"/>
          <p:cNvSpPr txBox="1"/>
          <p:nvPr/>
        </p:nvSpPr>
        <p:spPr>
          <a:xfrm>
            <a:off x="2770000" y="2460000"/>
            <a:ext cx="860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000" b="1" dirty="0">
                <a:solidFill>
                  <a:srgbClr val="1F1F1F"/>
                </a:solidFill>
              </a:rPr>
              <a:t>Current and Historical Results</a:t>
            </a:r>
            <a:endParaRPr lang="en-US" sz="3000"/>
          </a:p>
        </p:txBody>
      </p:sp>
      <p:sp>
        <p:nvSpPr>
          <p:cNvPr id="7" name="Section Subtitle"/>
          <p:cNvSpPr txBox="1"/>
          <p:nvPr/>
        </p:nvSpPr>
        <p:spPr>
          <a:xfrm>
            <a:off x="2770000" y="3590000"/>
            <a:ext cx="830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50" dirty="0">
                <a:solidFill>
                  <a:srgbClr val="404040"/>
                </a:solidFill>
              </a:rPr>
              <a:t>Lambda, Kappa, replay, and reprocessing</a:t>
            </a:r>
            <a:endParaRPr lang="en-US" sz="1750"/>
          </a:p>
        </p:txBody>
      </p:sp>
      <p:sp>
        <p:nvSpPr>
          <p:cNvPr id="8" name="Section Footer"/>
          <p:cNvSpPr txBox="1"/>
          <p:nvPr/>
        </p:nvSpPr>
        <p:spPr>
          <a:xfrm>
            <a:off x="2770000" y="4700000"/>
            <a:ext cx="83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dirty="0">
                <a:solidFill>
                  <a:srgbClr val="707070"/>
                </a:solidFill>
              </a:rPr>
              <a:t>A new design question—not another mandatory pipeline stage.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46543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A79B-A372-D261-FB93-AF4A5219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E65995-B616-0D83-893B-FB11C860C5E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Lambda Architecture — Batch and Speed Paths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95F0C-2EDC-B616-D03C-4B7F9B9E00A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052C1-9724-38C7-B7EC-95117039C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68680"/>
            <a:ext cx="11658600" cy="1980846"/>
          </a:xfrm>
        </p:spPr>
        <p:txBody>
          <a:bodyPr/>
          <a:lstStyle/>
          <a:p>
            <a:pPr lvl="0"/>
            <a:r>
              <a:rPr lang="en-US" b="1" dirty="0"/>
              <a:t>Lambda processes the same incoming data through two processing paths—not necessarily two ingestion mechanisms:</a:t>
            </a:r>
            <a:endParaRPr lang="en-US" dirty="0"/>
          </a:p>
          <a:p>
            <a:pPr lvl="1"/>
            <a:r>
              <a:rPr lang="en-US" i="1" dirty="0"/>
              <a:t>Batch layer — recomputes complete historical views</a:t>
            </a:r>
          </a:p>
          <a:p>
            <a:pPr lvl="1"/>
            <a:r>
              <a:rPr lang="en-US" i="1" dirty="0"/>
              <a:t>Speed layer — produces low-latency, provisional results for recent data</a:t>
            </a:r>
          </a:p>
          <a:p>
            <a:pPr lvl="1"/>
            <a:r>
              <a:rPr lang="en-US" i="1" dirty="0"/>
              <a:t>Serving/query layer — exposes a result that combines complete history with recent updates</a:t>
            </a:r>
          </a:p>
          <a:p>
            <a:pPr lvl="0"/>
            <a:r>
              <a:rPr lang="en-US" b="1" dirty="0"/>
              <a:t>Benefit: </a:t>
            </a:r>
            <a:r>
              <a:rPr lang="en-US" dirty="0"/>
              <a:t>responsive results that can later be corrected by the batch path.</a:t>
            </a:r>
          </a:p>
          <a:p>
            <a:pPr lvl="0"/>
            <a:r>
              <a:rPr lang="en-US" b="1" dirty="0"/>
              <a:t>Cost: </a:t>
            </a:r>
            <a:r>
              <a:rPr lang="en-US" dirty="0"/>
              <a:t>two processing paths must remain logically consistent.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4A5F9-F714-4732-BB7A-A882226D0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633" y="3137218"/>
            <a:ext cx="6236733" cy="28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06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C379C0-0BAD-3F88-A9A1-09E666BD77B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Kappa Architecture — One Streaming Path and Replay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3A3AC-BDF7-4980-53C8-E1A647FF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68679"/>
            <a:ext cx="11658600" cy="2193497"/>
          </a:xfrm>
        </p:spPr>
        <p:txBody>
          <a:bodyPr/>
          <a:lstStyle/>
          <a:p>
            <a:pPr lvl="0"/>
            <a:r>
              <a:rPr lang="en-US" b="1" dirty="0"/>
              <a:t>Kappa uses one stream-processing path for live events and historical replay; it is an alternative to Lambda, not its superset.</a:t>
            </a:r>
            <a:endParaRPr lang="hu-HU" sz="1600" b="1" dirty="0"/>
          </a:p>
          <a:p>
            <a:pPr lvl="1"/>
            <a:r>
              <a:rPr lang="en-US" dirty="0"/>
              <a:t>A durable, replayable event log—often Kafka, but not necessarily—retains the input history</a:t>
            </a:r>
          </a:p>
          <a:p>
            <a:pPr lvl="1"/>
            <a:r>
              <a:rPr lang="en-US" dirty="0"/>
              <a:t>The same processing logic handles live events and replayed events</a:t>
            </a:r>
          </a:p>
          <a:p>
            <a:pPr lvl="1"/>
            <a:r>
              <a:rPr lang="en-US" dirty="0"/>
              <a:t>Derived outputs can be rebuilt by starting a new processing version from an earlier position</a:t>
            </a:r>
          </a:p>
          <a:p>
            <a:pPr lvl="0"/>
            <a:r>
              <a:rPr lang="en-US" b="1" dirty="0"/>
              <a:t>Benefit</a:t>
            </a:r>
            <a:r>
              <a:rPr lang="en-US" dirty="0"/>
              <a:t>: one processing model instead of separate batch and speed implementations.</a:t>
            </a:r>
            <a:endParaRPr lang="hu-HU" sz="1600" dirty="0"/>
          </a:p>
          <a:p>
            <a:pPr lvl="0"/>
            <a:r>
              <a:rPr lang="en-US" b="1" dirty="0"/>
              <a:t>Cost</a:t>
            </a:r>
            <a:r>
              <a:rPr lang="en-US" dirty="0"/>
              <a:t>: long retention, large replay capacity, output versioning, and safe side-effect handling are required.</a:t>
            </a:r>
            <a:endParaRPr lang="hu-HU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600C1-AB48-415B-9BF0-E0714D5A760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2153" y="3181995"/>
            <a:ext cx="9387693" cy="248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0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EE35-7E91-4FE2-B354-1B3430E3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38270-65A1-E50A-F6E6-6DAA4BA43D8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Reprocessing — Run Processing Again for Existing Input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3255B-013E-760F-5391-B0945F931EB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EA6C7-DFF0-9895-F41E-C35058D0C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Reprocessing means </a:t>
            </a:r>
            <a:r>
              <a:rPr lang="en-US" b="1" dirty="0"/>
              <a:t>executing processing logic again for data that was processed before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usually to rebuild or correct derived outputs.</a:t>
            </a:r>
          </a:p>
          <a:p>
            <a:pPr lvl="0"/>
            <a:r>
              <a:rPr lang="en-US" dirty="0"/>
              <a:t>It is not a new universal pipeline stage; it is an operational workflow around the processing stage.</a:t>
            </a:r>
          </a:p>
          <a:p>
            <a:pPr lvl="0"/>
            <a:r>
              <a:rPr lang="en-US" b="1" dirty="0"/>
              <a:t>Possible implementations:</a:t>
            </a:r>
          </a:p>
          <a:p>
            <a:pPr lvl="1"/>
            <a:r>
              <a:rPr lang="en-US" dirty="0"/>
              <a:t>rerun one failed batch or a historical date range</a:t>
            </a:r>
          </a:p>
          <a:p>
            <a:pPr lvl="1"/>
            <a:r>
              <a:rPr lang="en-US" dirty="0"/>
              <a:t>rebuild a table from retained raw data</a:t>
            </a:r>
          </a:p>
          <a:p>
            <a:pPr lvl="1"/>
            <a:r>
              <a:rPr lang="en-US" dirty="0"/>
              <a:t>replay events from a durable log through the stream processor</a:t>
            </a:r>
          </a:p>
          <a:p>
            <a:pPr lvl="0"/>
            <a:r>
              <a:rPr lang="en-US" dirty="0"/>
              <a:t>Replay is </a:t>
            </a:r>
            <a:r>
              <a:rPr lang="en-US" b="1" dirty="0"/>
              <a:t>one way to supply old input for reprocessing</a:t>
            </a:r>
            <a:r>
              <a:rPr lang="en-US" dirty="0"/>
              <a:t>; the two terms are not synonyms.</a:t>
            </a:r>
          </a:p>
          <a:p>
            <a:pPr lvl="0"/>
            <a:r>
              <a:rPr lang="en-US" dirty="0"/>
              <a:t>Safe reprocessing needs retained input, versioned rules, deterministic logic, sufficient capacity, and isolated or idempotent outputs.</a:t>
            </a:r>
          </a:p>
          <a:p>
            <a:pPr lvl="0"/>
            <a:r>
              <a:rPr lang="en-US" b="1" dirty="0"/>
              <a:t>Sensor example</a:t>
            </a:r>
            <a:r>
              <a:rPr lang="en-US" dirty="0"/>
              <a:t>: fix timezone conversion, rebuild last week's Silver data, validate it, then replace the published version.</a:t>
            </a:r>
          </a:p>
        </p:txBody>
      </p:sp>
    </p:spTree>
    <p:extLst>
      <p:ext uri="{BB962C8B-B14F-4D97-AF65-F5344CB8AC3E}">
        <p14:creationId xmlns:p14="http://schemas.microsoft.com/office/powerpoint/2010/main" val="64406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749-366F-064A-5839-07A45C4D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ckground"/>
          <p:cNvSpPr/>
          <p:nvPr/>
        </p:nvSpPr>
        <p:spPr>
          <a:xfrm>
            <a:off x="0" y="1370000"/>
            <a:ext cx="12192000" cy="4050000"/>
          </a:xfrm>
          <a:prstGeom prst="rect">
            <a:avLst/>
          </a:prstGeom>
          <a:solidFill>
            <a:srgbClr val="EAF2F8"/>
          </a:solidFill>
          <a:ln w="12700">
            <a:noFill/>
          </a:ln>
        </p:spPr>
      </p:sp>
      <p:sp>
        <p:nvSpPr>
          <p:cNvPr id="3" name="Section Number Box"/>
          <p:cNvSpPr/>
          <p:nvPr/>
        </p:nvSpPr>
        <p:spPr>
          <a:xfrm>
            <a:off x="820000" y="2460000"/>
            <a:ext cx="1450000" cy="145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</p:sp>
      <p:sp>
        <p:nvSpPr>
          <p:cNvPr id="4" name="Section Number"/>
          <p:cNvSpPr txBox="1"/>
          <p:nvPr/>
        </p:nvSpPr>
        <p:spPr>
          <a:xfrm>
            <a:off x="820000" y="2460000"/>
            <a:ext cx="145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/>
          </a:p>
        </p:txBody>
      </p:sp>
      <p:sp>
        <p:nvSpPr>
          <p:cNvPr id="5" name="Section Label"/>
          <p:cNvSpPr txBox="1"/>
          <p:nvPr/>
        </p:nvSpPr>
        <p:spPr>
          <a:xfrm>
            <a:off x="2770000" y="1890000"/>
            <a:ext cx="82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2E75B6"/>
                </a:solidFill>
              </a:rPr>
              <a:t>SECTION 3 OF 4</a:t>
            </a:r>
            <a:endParaRPr lang="en-US" sz="1300"/>
          </a:p>
        </p:txBody>
      </p:sp>
      <p:sp>
        <p:nvSpPr>
          <p:cNvPr id="6" name="Section Title"/>
          <p:cNvSpPr txBox="1"/>
          <p:nvPr/>
        </p:nvSpPr>
        <p:spPr>
          <a:xfrm>
            <a:off x="2770000" y="2460000"/>
            <a:ext cx="860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000" b="1" dirty="0">
                <a:solidFill>
                  <a:srgbClr val="1F1F1F"/>
                </a:solidFill>
              </a:rPr>
              <a:t>Explicit and Operable Processing</a:t>
            </a:r>
            <a:endParaRPr lang="en-US" sz="3000"/>
          </a:p>
        </p:txBody>
      </p:sp>
      <p:sp>
        <p:nvSpPr>
          <p:cNvPr id="7" name="Section Subtitle"/>
          <p:cNvSpPr txBox="1"/>
          <p:nvPr/>
        </p:nvSpPr>
        <p:spPr>
          <a:xfrm>
            <a:off x="2770000" y="3590000"/>
            <a:ext cx="830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50" dirty="0">
                <a:solidFill>
                  <a:srgbClr val="404040"/>
                </a:solidFill>
              </a:rPr>
              <a:t>Principles, contracts, processing engines, orchestrators, and DAGs</a:t>
            </a:r>
            <a:endParaRPr lang="en-US" sz="1750"/>
          </a:p>
        </p:txBody>
      </p:sp>
      <p:sp>
        <p:nvSpPr>
          <p:cNvPr id="8" name="Section Footer"/>
          <p:cNvSpPr txBox="1"/>
          <p:nvPr/>
        </p:nvSpPr>
        <p:spPr>
          <a:xfrm>
            <a:off x="2770000" y="4700000"/>
            <a:ext cx="83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dirty="0">
                <a:solidFill>
                  <a:srgbClr val="707070"/>
                </a:solidFill>
              </a:rPr>
              <a:t>A new design question—not another mandatory pipeline stage.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46543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3FC85-FBE6-0BF4-4D77-3101793F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BEE4E6-073E-711D-C718-CDE2F67F9A9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Principles That Apply Across Processing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EE0FE-CACD-35AC-CF6A-A96D60EFD5B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775BE-9F2F-B46C-D40B-6B2E8B13D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These principles apply regardless of ETL or ELT, batch or streaming, and the tools used: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sz="1800" dirty="0"/>
              <a:t>Modular transformations — separate parsing, validation, enrichment, and aggregation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Explicit contracts — define accepted inputs and promised outputs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Deterministic results — the same input and rule version should produce the same output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Preserved evidence — keep raw input and reason-coded rejected records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Versioned logic — record code, configuration, and schema versions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Validation and lineage — prove what was read, changed, rejected, and written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Idempotent effects — a retry must not create duplicate rows, files, or notifications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These principles apply to ETL, ELT, batch, and streaming pipelines.</a:t>
            </a:r>
          </a:p>
        </p:txBody>
      </p:sp>
    </p:spTree>
    <p:extLst>
      <p:ext uri="{BB962C8B-B14F-4D97-AF65-F5344CB8AC3E}">
        <p14:creationId xmlns:p14="http://schemas.microsoft.com/office/powerpoint/2010/main" val="76766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749-366F-064A-5839-07A45C4D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AA1E6F-522A-200A-DC8B-CD7D027AB6C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Making Processing Explicit — A Sensor Pipeline Contract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44225-A120-B40B-3967-C168C55756E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0AAD7-4CA8-100C-2FC6-0731C047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60120"/>
            <a:ext cx="11963400" cy="5440680"/>
          </a:xfrm>
        </p:spPr>
        <p:txBody>
          <a:bodyPr/>
          <a:lstStyle/>
          <a:p>
            <a:pPr lvl="0"/>
            <a:r>
              <a:rPr lang="en-US" b="1" dirty="0"/>
              <a:t>Accepted input</a:t>
            </a:r>
          </a:p>
          <a:p>
            <a:pPr lvl="1"/>
            <a:r>
              <a:rPr lang="en-US" dirty="0"/>
              <a:t>schema_version=1; event_id and sensor_id are required; event_timestamp is UTC; temperature_c is numeric</a:t>
            </a:r>
          </a:p>
          <a:p>
            <a:pPr lvl="0"/>
            <a:r>
              <a:rPr lang="en-US" b="1" dirty="0"/>
              <a:t>Processing rules</a:t>
            </a:r>
          </a:p>
          <a:p>
            <a:pPr lvl="1"/>
            <a:r>
              <a:rPr lang="en-US" dirty="0"/>
              <a:t>deduplicate by event_id; quarantine invalid identifiers or timestamps; retain unusual temperatures with a quality flag</a:t>
            </a:r>
          </a:p>
          <a:p>
            <a:pPr lvl="0"/>
            <a:r>
              <a:rPr lang="en-US" b="1" dirty="0"/>
              <a:t>Promised outputs</a:t>
            </a:r>
          </a:p>
          <a:p>
            <a:pPr lvl="1"/>
            <a:r>
              <a:rPr lang="en-US" dirty="0"/>
              <a:t>Silver validated readings; reason-coded quarantine records; Gold daily metrics per sensor</a:t>
            </a:r>
          </a:p>
          <a:p>
            <a:pPr lvl="0"/>
            <a:r>
              <a:rPr lang="en-US" b="1" dirty="0"/>
              <a:t>Evidence for every run</a:t>
            </a:r>
          </a:p>
          <a:p>
            <a:pPr lvl="1"/>
            <a:r>
              <a:rPr lang="en-US" dirty="0"/>
              <a:t>input/output paths, rule version, rows read, valid, duplicate, quarantined, and written</a:t>
            </a:r>
          </a:p>
          <a:p>
            <a:pPr lvl="0"/>
            <a:r>
              <a:rPr lang="en-US" b="1" dirty="0"/>
              <a:t>Evolution example</a:t>
            </a:r>
          </a:p>
          <a:p>
            <a:pPr lvl="1"/>
            <a:r>
              <a:rPr lang="en-US" dirty="0"/>
              <a:t>an optional location_id can be accepted without changing existing v1 calculations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The contract defines what must be true; the following slides show how processing work is executed and coordinated.</a:t>
            </a:r>
          </a:p>
        </p:txBody>
      </p:sp>
    </p:spTree>
    <p:extLst>
      <p:ext uri="{BB962C8B-B14F-4D97-AF65-F5344CB8AC3E}">
        <p14:creationId xmlns:p14="http://schemas.microsoft.com/office/powerpoint/2010/main" val="240670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21200A-8579-CCAB-488E-941AAD6B9D8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Processing Engine and Orchestrator — Two Logical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3AA95-A4D3-4460-D93F-9EDD691EE07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93535-6DCC-679E-298D-BBF4259E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Processing engine answers how data is transformed.</a:t>
            </a:r>
            <a:endParaRPr lang="en-US" dirty="0"/>
          </a:p>
          <a:p>
            <a:pPr lvl="1"/>
            <a:r>
              <a:rPr lang="en-US" dirty="0"/>
              <a:t>It reads data, executes parsing, joins, validation, aggregation, or stateful logic, and writes results</a:t>
            </a:r>
          </a:p>
          <a:p>
            <a:pPr lvl="1"/>
            <a:r>
              <a:rPr lang="en-US" dirty="0"/>
              <a:t>Examples: pandas, Spark, Flink, a SQL engine, or dbt executed in a warehouse</a:t>
            </a:r>
          </a:p>
          <a:p>
            <a:pPr lvl="0"/>
            <a:endParaRPr lang="en-US" sz="1100" b="1" dirty="0"/>
          </a:p>
          <a:p>
            <a:pPr lvl="0"/>
            <a:r>
              <a:rPr lang="en-US" b="1" dirty="0"/>
              <a:t>Orchestrator answers what runs, when, after what, and what happens on failure.</a:t>
            </a:r>
            <a:endParaRPr lang="en-US" dirty="0"/>
          </a:p>
          <a:p>
            <a:pPr lvl="1"/>
            <a:r>
              <a:rPr lang="en-US" dirty="0"/>
              <a:t>It manages schedules, dependencies, parameters, retries, timeouts, and operational status</a:t>
            </a:r>
          </a:p>
          <a:p>
            <a:pPr lvl="1"/>
            <a:r>
              <a:rPr lang="en-US" dirty="0"/>
              <a:t>Examples: Apache Airflow, Azure Data Factory, Dagster, or Prefect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Usually the orchestrator invokes and monitors a processing engine; </a:t>
            </a:r>
            <a:br>
              <a:rPr lang="en-US" dirty="0"/>
            </a:br>
            <a:r>
              <a:rPr lang="en-US" dirty="0"/>
              <a:t>the engine is not literally inside the orchestrator.</a:t>
            </a:r>
          </a:p>
          <a:p>
            <a:pPr lvl="0"/>
            <a:endParaRPr lang="en-US" sz="1050" dirty="0"/>
          </a:p>
          <a:p>
            <a:pPr lvl="0"/>
            <a:r>
              <a:rPr lang="en-US" dirty="0"/>
              <a:t>These are logical responsibilities, not mandatory separate products—</a:t>
            </a:r>
            <a:br>
              <a:rPr lang="en-US" dirty="0"/>
            </a:br>
            <a:r>
              <a:rPr lang="en-US" dirty="0"/>
              <a:t>one platform may implement parts of both.</a:t>
            </a:r>
          </a:p>
          <a:p>
            <a:pPr lvl="0"/>
            <a:endParaRPr lang="en-US" sz="1100" dirty="0"/>
          </a:p>
          <a:p>
            <a:pPr lvl="0"/>
            <a:r>
              <a:rPr lang="en-US" dirty="0"/>
              <a:t>Example: </a:t>
            </a:r>
          </a:p>
          <a:p>
            <a:pPr lvl="1"/>
            <a:r>
              <a:rPr lang="en-US" sz="1800" dirty="0"/>
              <a:t>Airflow starts a Spark job and waits for its status; Spark performs the distributed aggregation.</a:t>
            </a:r>
          </a:p>
        </p:txBody>
      </p:sp>
    </p:spTree>
    <p:extLst>
      <p:ext uri="{BB962C8B-B14F-4D97-AF65-F5344CB8AC3E}">
        <p14:creationId xmlns:p14="http://schemas.microsoft.com/office/powerpoint/2010/main" val="391272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3495B8-42CD-6A72-B58D-0EADEECAC36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Orchestration — A DAG with Useful Failure Boundaries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25043-5A75-D682-EA27-8CACCEAEDEF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26D31-F74D-1D47-C0E3-A492ED513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Example DAG:</a:t>
            </a:r>
          </a:p>
          <a:p>
            <a:pPr lvl="1"/>
            <a:r>
              <a:rPr lang="en-US" dirty="0"/>
              <a:t>check_input → extract → validate → transform → quality_check → publish</a:t>
            </a:r>
          </a:p>
          <a:p>
            <a:pPr lvl="1"/>
            <a:r>
              <a:rPr lang="en-US" dirty="0"/>
              <a:t>validate → quarantine_invalid</a:t>
            </a:r>
          </a:p>
          <a:p>
            <a:pPr lvl="0"/>
            <a:r>
              <a:rPr lang="en-US" b="1" dirty="0"/>
              <a:t>Why separate tasks?</a:t>
            </a:r>
          </a:p>
          <a:p>
            <a:pPr lvl="1"/>
            <a:r>
              <a:rPr lang="en-US" dirty="0"/>
              <a:t>each step has one clear responsibility and observable status</a:t>
            </a:r>
          </a:p>
          <a:p>
            <a:pPr lvl="1"/>
            <a:r>
              <a:rPr lang="en-US" dirty="0"/>
              <a:t>a transient extract failure can retry without repeating successful downstream work</a:t>
            </a:r>
          </a:p>
          <a:p>
            <a:pPr lvl="1"/>
            <a:r>
              <a:rPr lang="en-US" dirty="0"/>
              <a:t>validation can isolate bad records before business calculations</a:t>
            </a:r>
          </a:p>
          <a:p>
            <a:pPr lvl="1"/>
            <a:r>
              <a:rPr lang="en-US" dirty="0"/>
              <a:t>quality_check prevents incomplete output from being published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Store datasets in durable storage; pass paths, run IDs, and small metadata between tasks.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(This graph previews the Lab 05 Airflow workflow.)</a:t>
            </a:r>
          </a:p>
        </p:txBody>
      </p:sp>
    </p:spTree>
    <p:extLst>
      <p:ext uri="{BB962C8B-B14F-4D97-AF65-F5344CB8AC3E}">
        <p14:creationId xmlns:p14="http://schemas.microsoft.com/office/powerpoint/2010/main" val="402219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749-366F-064A-5839-07A45C4D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ckground"/>
          <p:cNvSpPr/>
          <p:nvPr/>
        </p:nvSpPr>
        <p:spPr>
          <a:xfrm>
            <a:off x="0" y="1370000"/>
            <a:ext cx="12192000" cy="4050000"/>
          </a:xfrm>
          <a:prstGeom prst="rect">
            <a:avLst/>
          </a:prstGeom>
          <a:solidFill>
            <a:srgbClr val="EAF2F8"/>
          </a:solidFill>
          <a:ln w="12700">
            <a:noFill/>
          </a:ln>
        </p:spPr>
      </p:sp>
      <p:sp>
        <p:nvSpPr>
          <p:cNvPr id="3" name="Section Number Box"/>
          <p:cNvSpPr/>
          <p:nvPr/>
        </p:nvSpPr>
        <p:spPr>
          <a:xfrm>
            <a:off x="820000" y="2460000"/>
            <a:ext cx="1450000" cy="145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</p:sp>
      <p:sp>
        <p:nvSpPr>
          <p:cNvPr id="4" name="Section Number"/>
          <p:cNvSpPr txBox="1"/>
          <p:nvPr/>
        </p:nvSpPr>
        <p:spPr>
          <a:xfrm>
            <a:off x="820000" y="2460000"/>
            <a:ext cx="145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/>
          </a:p>
        </p:txBody>
      </p:sp>
      <p:sp>
        <p:nvSpPr>
          <p:cNvPr id="5" name="Section Label"/>
          <p:cNvSpPr txBox="1"/>
          <p:nvPr/>
        </p:nvSpPr>
        <p:spPr>
          <a:xfrm>
            <a:off x="2770000" y="1890000"/>
            <a:ext cx="82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2E75B6"/>
                </a:solidFill>
              </a:rPr>
              <a:t>SECTION 4 OF 4</a:t>
            </a:r>
            <a:endParaRPr lang="en-US" sz="1300"/>
          </a:p>
        </p:txBody>
      </p:sp>
      <p:sp>
        <p:nvSpPr>
          <p:cNvPr id="6" name="Section Title"/>
          <p:cNvSpPr txBox="1"/>
          <p:nvPr/>
        </p:nvSpPr>
        <p:spPr>
          <a:xfrm>
            <a:off x="2770000" y="2460000"/>
            <a:ext cx="860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000" b="1" dirty="0">
                <a:solidFill>
                  <a:srgbClr val="1F1F1F"/>
                </a:solidFill>
              </a:rPr>
              <a:t>Reliable Processing</a:t>
            </a:r>
            <a:endParaRPr lang="en-US" sz="3000"/>
          </a:p>
        </p:txBody>
      </p:sp>
      <p:sp>
        <p:nvSpPr>
          <p:cNvPr id="7" name="Section Subtitle"/>
          <p:cNvSpPr txBox="1"/>
          <p:nvPr/>
        </p:nvSpPr>
        <p:spPr>
          <a:xfrm>
            <a:off x="2770000" y="3590000"/>
            <a:ext cx="830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50" dirty="0">
                <a:solidFill>
                  <a:srgbClr val="404040"/>
                </a:solidFill>
              </a:rPr>
              <a:t>Data quality, scalability, service constraints, retries, quarantine, idempotency, and observability</a:t>
            </a:r>
            <a:endParaRPr lang="en-US" sz="1750"/>
          </a:p>
        </p:txBody>
      </p:sp>
      <p:sp>
        <p:nvSpPr>
          <p:cNvPr id="8" name="Section Footer"/>
          <p:cNvSpPr txBox="1"/>
          <p:nvPr/>
        </p:nvSpPr>
        <p:spPr>
          <a:xfrm>
            <a:off x="2770000" y="4700000"/>
            <a:ext cx="83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dirty="0">
                <a:solidFill>
                  <a:srgbClr val="707070"/>
                </a:solidFill>
              </a:rPr>
              <a:t>A new design question—not another mandatory pipeline stage.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46543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741013-DF46-5486-5CBD-213C861D0D1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Reliable Processing — Overview and Failure Responses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33B50-9624-46D5-F602-57ECEFEC523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3C040-E7E2-DFA3-006F-044E8C09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The following slides expand seven reliability questions: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Invalid input → should we reject, quarantine, flag, or continue?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Too much or uneven work → how do parallelism, partitioning, and skew affect us?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Freshness and service constraints → what latency, completeness, throughput, and cost are acceptable?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Transient system failure → when and how should we retry?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Unprocessable records → how are they quarantined and later reprocessed?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Repeated execution → will retries and reruns remain idempotent?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Unknown outcome → what evidence proves that processing worked?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Quick failure rule: </a:t>
            </a:r>
          </a:p>
          <a:p>
            <a:pPr lvl="1"/>
            <a:r>
              <a:rPr lang="en-US" dirty="0"/>
              <a:t>retry transient failures; fail fast on permanent faults; handle bad data according to an explicit quality policy.</a:t>
            </a:r>
          </a:p>
        </p:txBody>
      </p:sp>
    </p:spTree>
    <p:extLst>
      <p:ext uri="{BB962C8B-B14F-4D97-AF65-F5344CB8AC3E}">
        <p14:creationId xmlns:p14="http://schemas.microsoft.com/office/powerpoint/2010/main" val="1503459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501B27-8793-5D07-C6F1-78F2D69E43BC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Reliable Processing — Data Quality Decisions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CF615-DA0B-7957-1E54-81DD8D97B73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55BCC-E2E2-867B-032F-2C6F1EE3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Dataset-level contract failure:</a:t>
            </a:r>
          </a:p>
          <a:p>
            <a:pPr lvl="1"/>
            <a:r>
              <a:rPr lang="en-US" dirty="0"/>
              <a:t>Example: the required event_id column is missing from the entire input</a:t>
            </a:r>
          </a:p>
          <a:p>
            <a:pPr lvl="1"/>
            <a:r>
              <a:rPr lang="en-US" dirty="0"/>
              <a:t>Typical response: reject the run because normal processing is unsafe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Record-level quality failure:</a:t>
            </a:r>
          </a:p>
          <a:p>
            <a:pPr lvl="1"/>
            <a:r>
              <a:rPr lang="en-US" dirty="0"/>
              <a:t>Example: 18 of 1,000 rows contain malformed timestamps</a:t>
            </a:r>
          </a:p>
          <a:p>
            <a:pPr lvl="1"/>
            <a:r>
              <a:rPr lang="en-US" dirty="0"/>
              <a:t>Possible response: process 982 valid rows and quarantine 18 with reason codes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Business-significant anomaly:</a:t>
            </a:r>
          </a:p>
          <a:p>
            <a:pPr lvl="1"/>
            <a:r>
              <a:rPr lang="en-US" dirty="0"/>
              <a:t>Example: temperature_c=85 may be real → preserve it and attach a quality flag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Never silently discard evidence. Publish counts and define who owns quarantined data.</a:t>
            </a:r>
          </a:p>
        </p:txBody>
      </p:sp>
    </p:spTree>
    <p:extLst>
      <p:ext uri="{BB962C8B-B14F-4D97-AF65-F5344CB8AC3E}">
        <p14:creationId xmlns:p14="http://schemas.microsoft.com/office/powerpoint/2010/main" val="221250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714CA5-A3E8-4CD1-93B3-98ABF07BFA4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Reliable Processing — Scalability and Skew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0B9F1-2A4D-05A6-C2E4-700DA6A4203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A3A04-4582-881F-10CB-7BC5DC94E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Horizontal scaling helps only when work can be divided and executed in parallel.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Partitioning determines where records and state are processed.</a:t>
            </a:r>
          </a:p>
          <a:p>
            <a:pPr lvl="1"/>
            <a:r>
              <a:rPr lang="en-US" i="1" dirty="0"/>
              <a:t>Example: partition by sensor_id so readings for one sensor reach the same stateful worker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Too few partitions limit parallelism; too many create scheduling and metadata overhead.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Skew occurs when one key receives much more data than others.</a:t>
            </a:r>
          </a:p>
          <a:p>
            <a:pPr lvl="1"/>
            <a:r>
              <a:rPr lang="en-US" i="1" dirty="0"/>
              <a:t>Example: one faulty sensor emits 50% of all events and overloads one partition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Joins and group-bys may require expensive data shuffles across workers.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Measure the slowest stage, partition distribution, processing rate, and lag before adding resources.</a:t>
            </a:r>
          </a:p>
        </p:txBody>
      </p:sp>
    </p:spTree>
    <p:extLst>
      <p:ext uri="{BB962C8B-B14F-4D97-AF65-F5344CB8AC3E}">
        <p14:creationId xmlns:p14="http://schemas.microsoft.com/office/powerpoint/2010/main" val="3554089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0A90AF-393E-D7CE-FFB8-573A7E4E236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Reliable Processing — Latency, Throughput, Completeness</a:t>
            </a:r>
            <a:r>
              <a:rPr lang="en-US" dirty="0"/>
              <a:t> &amp;</a:t>
            </a:r>
            <a:r>
              <a:rPr lang="hu-HU" dirty="0"/>
              <a:t> </a:t>
            </a:r>
            <a:r>
              <a:rPr lang="en-US" dirty="0"/>
              <a:t>Cost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D1155-3A91-718D-FFA6-337DFAAB82B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F738-109E-7B90-2137-B77C2AEEC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Latency</a:t>
            </a:r>
            <a:r>
              <a:rPr lang="en-US" dirty="0"/>
              <a:t> — how long until a result becomes usable?</a:t>
            </a:r>
          </a:p>
          <a:p>
            <a:pPr lvl="0"/>
            <a:r>
              <a:rPr lang="en-US" b="1" dirty="0"/>
              <a:t>Throughput</a:t>
            </a:r>
            <a:r>
              <a:rPr lang="en-US" dirty="0"/>
              <a:t> — how much data can be processed per unit time?</a:t>
            </a:r>
          </a:p>
          <a:p>
            <a:pPr lvl="0"/>
            <a:r>
              <a:rPr lang="en-US" b="1" dirty="0"/>
              <a:t>Completeness</a:t>
            </a:r>
            <a:r>
              <a:rPr lang="en-US" dirty="0"/>
              <a:t> — how much late or temporarily unavailable data is included?</a:t>
            </a:r>
          </a:p>
          <a:p>
            <a:pPr lvl="0"/>
            <a:r>
              <a:rPr lang="en-US" b="1" dirty="0"/>
              <a:t>Cost</a:t>
            </a:r>
            <a:r>
              <a:rPr lang="en-US" dirty="0"/>
              <a:t> — what compute, storage, and operational effort does the design require?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Batching amortizes startup and I/O overhead, often improving throughput and cost.</a:t>
            </a:r>
          </a:p>
          <a:p>
            <a:pPr lvl="0"/>
            <a:r>
              <a:rPr lang="en-US" dirty="0"/>
              <a:t>Streaming reduces waiting time but operates continuously and may maintain state.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Sensor example:</a:t>
            </a:r>
          </a:p>
          <a:p>
            <a:pPr lvl="1"/>
            <a:r>
              <a:rPr lang="en-US" dirty="0"/>
              <a:t>daily report → wait for a complete partition and optimize for cost</a:t>
            </a:r>
          </a:p>
          <a:p>
            <a:pPr lvl="1"/>
            <a:r>
              <a:rPr lang="en-US" dirty="0"/>
              <a:t>five-minute alert → accept an explicit late-data policy and higher operational complexity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Choose the least complex design that meets the actual freshness requirement.</a:t>
            </a:r>
          </a:p>
        </p:txBody>
      </p:sp>
    </p:spTree>
    <p:extLst>
      <p:ext uri="{BB962C8B-B14F-4D97-AF65-F5344CB8AC3E}">
        <p14:creationId xmlns:p14="http://schemas.microsoft.com/office/powerpoint/2010/main" val="323190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B6F4-3C70-CA2F-F46A-C7E01CDF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4F392-C0CA-0C93-0028-614579A7079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Reliable Processing — Retry Policy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70361-CDAB-298F-DF44-C144D2E1091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99AD0-4CD6-AD38-B3B9-54AF3D58B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Retry when the same operation may succeed without changing code or configuration.</a:t>
            </a:r>
            <a:endParaRPr lang="en-US" dirty="0"/>
          </a:p>
          <a:p>
            <a:pPr lvl="1"/>
            <a:r>
              <a:rPr lang="en-US" dirty="0"/>
              <a:t>Examples: timeout, temporary service unavailability, or rate limiting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A safe retry policy includes:</a:t>
            </a:r>
            <a:endParaRPr lang="en-US" dirty="0"/>
          </a:p>
          <a:p>
            <a:pPr lvl="1"/>
            <a:r>
              <a:rPr lang="en-US" dirty="0"/>
              <a:t>maximum attempts and maximum total duration</a:t>
            </a:r>
          </a:p>
          <a:p>
            <a:pPr lvl="1"/>
            <a:r>
              <a:rPr lang="en-US" dirty="0"/>
              <a:t>exponential backoff with jitter to avoid synchronized retry storms</a:t>
            </a:r>
          </a:p>
          <a:p>
            <a:pPr lvl="1"/>
            <a:r>
              <a:rPr lang="en-US" dirty="0"/>
              <a:t>an alert or escalation after retries are exhausted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Fail fast for invalid credentials, incompatible schemas, and deterministic code errors.</a:t>
            </a:r>
            <a:endParaRPr lang="en-US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Every retried task must be idempotent or protect its side effects.</a:t>
            </a:r>
            <a:endParaRPr lang="en-US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Airflow example: </a:t>
            </a:r>
          </a:p>
          <a:p>
            <a:pPr lvl="1"/>
            <a:r>
              <a:rPr lang="en-US" dirty="0"/>
              <a:t>retry a temporary Blob Storage timeout three times; do not retry a missing required column.</a:t>
            </a:r>
          </a:p>
        </p:txBody>
      </p:sp>
    </p:spTree>
    <p:extLst>
      <p:ext uri="{BB962C8B-B14F-4D97-AF65-F5344CB8AC3E}">
        <p14:creationId xmlns:p14="http://schemas.microsoft.com/office/powerpoint/2010/main" val="192759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653CC-39EB-AC6D-C7D0-199AE928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B84476-A045-08EC-CB8D-41BABC5EBA6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Reliable Processing — Quarantine and Dead-letter Paths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D3AFE-243D-8AD1-51F2-2FBAF69B655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B35C4-36D7-5044-6CCD-3D2FE5929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 quarantine or dead-letter path stores records that normal processing cannot safely accept.</a:t>
            </a:r>
            <a:endParaRPr lang="en-US" dirty="0"/>
          </a:p>
          <a:p>
            <a:pPr lvl="0"/>
            <a:r>
              <a:rPr lang="en-US" b="1" dirty="0"/>
              <a:t>Store enough evidence for diagnosis and reprocessing:</a:t>
            </a:r>
            <a:endParaRPr lang="en-US" dirty="0"/>
          </a:p>
          <a:p>
            <a:pPr lvl="1"/>
            <a:r>
              <a:rPr lang="en-US" dirty="0"/>
              <a:t>original payload, failure reason, rule version, source, event time, and processing run ID</a:t>
            </a:r>
          </a:p>
          <a:p>
            <a:pPr lvl="0"/>
            <a:r>
              <a:rPr lang="en-US" b="1" dirty="0"/>
              <a:t>It does not guarantee that no data is lost.</a:t>
            </a:r>
            <a:endParaRPr lang="en-US" dirty="0"/>
          </a:p>
          <a:p>
            <a:pPr lvl="1"/>
            <a:r>
              <a:rPr lang="en-US" dirty="0"/>
              <a:t>The path needs monitoring, retention, access control, ownership, and a reprocessing procedure</a:t>
            </a:r>
          </a:p>
          <a:p>
            <a:pPr lvl="0"/>
            <a:endParaRPr lang="en-US" b="1" dirty="0"/>
          </a:p>
          <a:p>
            <a:pPr lvl="0"/>
            <a:r>
              <a:rPr lang="en-US" dirty="0"/>
              <a:t>Streaming platforms commonly implement this as a separate topic, container, or table owned by the consumer.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Sensor example</a:t>
            </a:r>
            <a:r>
              <a:rPr lang="en-US" dirty="0"/>
              <a:t>: </a:t>
            </a:r>
          </a:p>
          <a:p>
            <a:pPr lvl="1"/>
            <a:r>
              <a:rPr lang="en-US" sz="1800" dirty="0"/>
              <a:t>malformed timestamps go to quarantine; after correction they are replayed through validation.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 growing quarantine is an incident signal, not successful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3845498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2447E5-E91D-E9D4-ECD0-51924A6918D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Reliable Processing — Idempotency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38814-19F2-CCA4-9B59-E346392740E0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63B48-228C-DB2E-FC3A-3C9B9EBD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Idempotency: Processing the same logical input again produces the same observable outcome.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Useful techniques:</a:t>
            </a:r>
          </a:p>
          <a:p>
            <a:pPr lvl="1"/>
            <a:r>
              <a:rPr lang="en-US" sz="1800" dirty="0"/>
              <a:t>identify records with a stable key such as event_id</a:t>
            </a:r>
          </a:p>
          <a:p>
            <a:pPr lvl="1"/>
            <a:r>
              <a:rPr lang="en-US" sz="1800" dirty="0"/>
              <a:t>write to a deterministic run/date partition or use a transactional merge</a:t>
            </a:r>
          </a:p>
          <a:p>
            <a:pPr lvl="1"/>
            <a:r>
              <a:rPr lang="en-US" sz="1800" dirty="0"/>
              <a:t>publish an output only after validation succeeds</a:t>
            </a:r>
          </a:p>
          <a:p>
            <a:pPr lvl="1"/>
            <a:r>
              <a:rPr lang="en-US" sz="1800" dirty="0"/>
              <a:t>avoid duplicate notifications, counters, and other external side effects</a:t>
            </a:r>
          </a:p>
          <a:p>
            <a:pPr lvl="0"/>
            <a:endParaRPr lang="en-US" b="1" i="1" dirty="0"/>
          </a:p>
          <a:p>
            <a:pPr lvl="0"/>
            <a:r>
              <a:rPr lang="en-US" b="1" i="1" dirty="0"/>
              <a:t>Sensor example: </a:t>
            </a:r>
          </a:p>
          <a:p>
            <a:pPr lvl="1"/>
            <a:r>
              <a:rPr lang="en-US" dirty="0"/>
              <a:t>rerunning </a:t>
            </a:r>
            <a:r>
              <a:rPr lang="en-US" dirty="0" err="1"/>
              <a:t>proc_date</a:t>
            </a:r>
            <a:r>
              <a:rPr lang="en-US" dirty="0"/>
              <a:t>=2026-09-10 replaces or merges the same Silver partition and does not double the daily count.</a:t>
            </a:r>
          </a:p>
          <a:p>
            <a:pPr lvl="0"/>
            <a:endParaRPr lang="en-US" b="1" i="1" dirty="0"/>
          </a:p>
          <a:p>
            <a:pPr lvl="0"/>
            <a:r>
              <a:rPr lang="en-US" b="1" dirty="0"/>
              <a:t>An upsert helps, but non-deterministic timestamps or side effects can still break idempotency.</a:t>
            </a:r>
          </a:p>
        </p:txBody>
      </p:sp>
    </p:spTree>
    <p:extLst>
      <p:ext uri="{BB962C8B-B14F-4D97-AF65-F5344CB8AC3E}">
        <p14:creationId xmlns:p14="http://schemas.microsoft.com/office/powerpoint/2010/main" val="361805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6E50-A144-6591-A888-50D684AC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2D09F0-CC25-0060-B319-5D6136C0E2D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Reliable Processing — Observability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94738-374D-7F29-26CF-F2BC825B2DE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8F52D-A14D-76F8-36B0-0D7E04836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60120"/>
            <a:ext cx="11658600" cy="5440680"/>
          </a:xfrm>
        </p:spPr>
        <p:txBody>
          <a:bodyPr/>
          <a:lstStyle/>
          <a:p>
            <a:pPr lvl="0"/>
            <a:r>
              <a:rPr lang="en-US" sz="1600" b="1" dirty="0"/>
              <a:t>Run and task health </a:t>
            </a:r>
            <a:r>
              <a:rPr lang="en-US" sz="1600" dirty="0"/>
              <a:t>— status, duration, retries, resource use</a:t>
            </a:r>
          </a:p>
          <a:p>
            <a:pPr lvl="0"/>
            <a:r>
              <a:rPr lang="en-US" sz="1600" b="1" dirty="0"/>
              <a:t>Data volume </a:t>
            </a:r>
            <a:r>
              <a:rPr lang="en-US" sz="1600" dirty="0"/>
              <a:t>— records read, valid, duplicate, quarantined, and written</a:t>
            </a:r>
          </a:p>
          <a:p>
            <a:pPr lvl="0"/>
            <a:r>
              <a:rPr lang="en-US" sz="1600" b="1" dirty="0"/>
              <a:t>Data quality </a:t>
            </a:r>
            <a:r>
              <a:rPr lang="en-US" sz="1600" dirty="0"/>
              <a:t>— null, range, uniqueness, and schema-contract failures</a:t>
            </a:r>
          </a:p>
          <a:p>
            <a:pPr lvl="0"/>
            <a:r>
              <a:rPr lang="en-US" sz="1600" b="1" dirty="0"/>
              <a:t>Freshness</a:t>
            </a:r>
            <a:r>
              <a:rPr lang="en-US" sz="1600" dirty="0"/>
              <a:t> — latest source event time and time until usable output</a:t>
            </a:r>
          </a:p>
          <a:p>
            <a:pPr lvl="0"/>
            <a:r>
              <a:rPr lang="en-US" sz="1600" b="1" dirty="0"/>
              <a:t>Lineage</a:t>
            </a:r>
            <a:r>
              <a:rPr lang="en-US" sz="1600" dirty="0"/>
              <a:t> — input paths and versions that produced each output</a:t>
            </a:r>
          </a:p>
          <a:p>
            <a:pPr lvl="0"/>
            <a:r>
              <a:rPr lang="en-US" sz="1600" b="1" dirty="0"/>
              <a:t>Example run report:</a:t>
            </a:r>
          </a:p>
          <a:p>
            <a:pPr lvl="1"/>
            <a:r>
              <a:rPr lang="en-US" dirty="0"/>
              <a:t>run_id=2026-09-10 | 1,000 read | 979 valid | 3 duplicate | 18 quarantined | 979 written</a:t>
            </a:r>
          </a:p>
          <a:p>
            <a:pPr lvl="1"/>
            <a:r>
              <a:rPr lang="en-US" dirty="0"/>
              <a:t>latest_event_time=10:55 | published_at=11:03 | freshness_delay=8 minutes</a:t>
            </a:r>
          </a:p>
          <a:p>
            <a:pPr lvl="0"/>
            <a:endParaRPr lang="en-US" sz="1600" dirty="0"/>
          </a:p>
          <a:p>
            <a:pPr lvl="0"/>
            <a:r>
              <a:rPr lang="en-US" sz="1600" dirty="0"/>
              <a:t>Logs explain individual failures; metrics reveal trends and missing work.</a:t>
            </a:r>
          </a:p>
          <a:p>
            <a:pPr lvl="0"/>
            <a:r>
              <a:rPr lang="en-US" sz="1600" dirty="0"/>
              <a:t>The goal is to prove what arrived, what changed, what failed, and what is missing.</a:t>
            </a:r>
          </a:p>
        </p:txBody>
      </p:sp>
    </p:spTree>
    <p:extLst>
      <p:ext uri="{BB962C8B-B14F-4D97-AF65-F5344CB8AC3E}">
        <p14:creationId xmlns:p14="http://schemas.microsoft.com/office/powerpoint/2010/main" val="1983840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221B26-B7A6-35C6-CDD3-121FF6CD1392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From Processed Data to a Data Product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F6B57-0E54-96F2-5A16-A21E191512D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58D33-4047-DB17-2478-78F3263AC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 processed dataset becomes a reusable product when consumers can understand and rely on it.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Required qualities:</a:t>
            </a:r>
          </a:p>
          <a:p>
            <a:pPr lvl="1"/>
            <a:r>
              <a:rPr lang="en-US" dirty="0"/>
              <a:t>clear purpose, owner, schema, semantics, and access policy</a:t>
            </a:r>
          </a:p>
          <a:p>
            <a:pPr lvl="1"/>
            <a:r>
              <a:rPr lang="en-US" dirty="0"/>
              <a:t>documented quality and freshness expectations</a:t>
            </a:r>
          </a:p>
          <a:p>
            <a:pPr lvl="1"/>
            <a:r>
              <a:rPr lang="en-US" dirty="0"/>
              <a:t>discoverable metadata and lineage</a:t>
            </a:r>
          </a:p>
          <a:p>
            <a:pPr lvl="1"/>
            <a:r>
              <a:rPr lang="en-US" dirty="0"/>
              <a:t>stable delivery through tables, files, APIs, or feature stores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Sensor examples:</a:t>
            </a:r>
          </a:p>
          <a:p>
            <a:pPr lvl="1"/>
            <a:r>
              <a:rPr lang="en-US" dirty="0"/>
              <a:t>Silver validated readings for analysts and downstream processing</a:t>
            </a:r>
          </a:p>
          <a:p>
            <a:pPr lvl="1"/>
            <a:r>
              <a:rPr lang="en-US" dirty="0"/>
              <a:t>Gold daily sensor metrics for dashboards and operational reporting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Processing creates trustworthy outputs; product thinking makes them usable and accountable.</a:t>
            </a:r>
          </a:p>
        </p:txBody>
      </p:sp>
    </p:spTree>
    <p:extLst>
      <p:ext uri="{BB962C8B-B14F-4D97-AF65-F5344CB8AC3E}">
        <p14:creationId xmlns:p14="http://schemas.microsoft.com/office/powerpoint/2010/main" val="3621007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21200A-8579-CCAB-488E-941AAD6B9D8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Lab 05 Preview — A Reliable Batch Processing DAG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3AA95-A4D3-4460-D93F-9EDD691EE07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93535-6DCC-679E-298D-BBF4259E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Input: Bronze sensor data from Azure Blob Storage</a:t>
            </a:r>
            <a:endParaRPr lang="en-US" dirty="0"/>
          </a:p>
          <a:p>
            <a:pPr lvl="0"/>
            <a:r>
              <a:rPr lang="en-US" b="1" dirty="0"/>
              <a:t>Airflow DAG:</a:t>
            </a:r>
            <a:endParaRPr lang="en-US" dirty="0"/>
          </a:p>
          <a:p>
            <a:pPr lvl="1"/>
            <a:r>
              <a:rPr lang="en-US" dirty="0"/>
              <a:t>check_input → extract → validate → transform → quality_check → publish</a:t>
            </a:r>
          </a:p>
          <a:p>
            <a:pPr lvl="1"/>
            <a:r>
              <a:rPr lang="en-US" dirty="0"/>
              <a:t>validate → quarantine_invalid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Processing implementation: testable Python/pandas functions outside the DAG definition</a:t>
            </a:r>
            <a:endParaRPr lang="en-US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Outputs:</a:t>
            </a:r>
            <a:endParaRPr lang="en-US" dirty="0"/>
          </a:p>
          <a:p>
            <a:pPr lvl="1"/>
            <a:r>
              <a:rPr lang="en-US" dirty="0"/>
              <a:t>Silver validated readings, reason-coded quarantine records, and a quality report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Reliability exercise:</a:t>
            </a:r>
            <a:endParaRPr lang="en-US" dirty="0"/>
          </a:p>
          <a:p>
            <a:pPr lvl="1"/>
            <a:r>
              <a:rPr lang="en-US" dirty="0"/>
              <a:t>observe a deliberate transient failure, retry it, then rerun safely without duplicate output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Airflow coordinates and exposes task status; the Python processing code transforms the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8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3F12C7-C229-D789-9A88-A6F7A21D342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Appendix — Information Extraction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D680E-43F6-0F16-F776-6439AD814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Information extraction derives explicit structure from unstructured or semi-structured content.</a:t>
            </a:r>
            <a:endParaRPr lang="en-US" dirty="0"/>
          </a:p>
          <a:p>
            <a:pPr lvl="0"/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Text — identify people, organizations, locations, or topics</a:t>
            </a:r>
            <a:endParaRPr lang="hu-HU" dirty="0"/>
          </a:p>
          <a:p>
            <a:pPr lvl="1"/>
            <a:r>
              <a:rPr lang="en-US" dirty="0"/>
              <a:t>Logs — parse timestamp, level, user, file, and message</a:t>
            </a:r>
            <a:endParaRPr lang="hu-HU" dirty="0"/>
          </a:p>
          <a:p>
            <a:pPr lvl="1"/>
            <a:r>
              <a:rPr lang="en-US" dirty="0"/>
              <a:t>Documents — extract title, author, language, and embedded metadata</a:t>
            </a:r>
            <a:endParaRPr lang="hu-HU" dirty="0"/>
          </a:p>
          <a:p>
            <a:pPr lvl="1"/>
            <a:r>
              <a:rPr lang="en-US" dirty="0"/>
              <a:t>Images — read capture time, geotag, dimensions, or device metadata</a:t>
            </a:r>
            <a:endParaRPr lang="hu-HU" dirty="0"/>
          </a:p>
          <a:p>
            <a:pPr lvl="0"/>
            <a:r>
              <a:rPr lang="en-US" b="1" dirty="0"/>
              <a:t>Possible tools: </a:t>
            </a:r>
            <a:r>
              <a:rPr lang="en-US" dirty="0"/>
              <a:t>regular expressions and Grok patterns, Apache Tika, spaCy, or custom code.</a:t>
            </a:r>
          </a:p>
          <a:p>
            <a:pPr lvl="0"/>
            <a:r>
              <a:rPr lang="en-US" b="1" dirty="0"/>
              <a:t>The output should have a documented schema that later filters, joins, and aggregations can use.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5C882-E6D8-0187-66DC-4C7742592D91}"/>
              </a:ext>
            </a:extLst>
          </p:cNvPr>
          <p:cNvSpPr txBox="1"/>
          <p:nvPr/>
        </p:nvSpPr>
        <p:spPr>
          <a:xfrm>
            <a:off x="3903261" y="6010579"/>
            <a:ext cx="8288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US" b="1" i="0" dirty="0" err="1">
                <a:solidFill>
                  <a:schemeClr val="bg1"/>
                </a:solidFill>
                <a:effectLst/>
                <a:latin typeface="Inter"/>
              </a:rPr>
              <a:t>Extraction adds structure; validation decides whether the extracted values are acceptable.</a:t>
            </a:r>
            <a:endParaRPr lang="hu-HU" b="0" i="0" dirty="0">
              <a:solidFill>
                <a:schemeClr val="bg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4683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F50E13-3090-31CB-1B4C-3D48F799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EE39E3-B0FE-8DF7-8189-4E55E93C99D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Appendix — Information Extraction Log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D0566-060B-3AC5-E064-680BFA5B13C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EE1DD-D182-8805-1BB8-768D53FE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Example</a:t>
            </a:r>
            <a:r>
              <a:rPr lang="en-US" dirty="0"/>
              <a:t>: turn one semi-structured application log into typed fields</a:t>
            </a:r>
          </a:p>
          <a:p>
            <a:pPr lvl="0"/>
            <a:r>
              <a:rPr lang="en-US" dirty="0"/>
              <a:t>1. Raw log line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2. Grok pattern names the fields to capture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3. Structured record</a:t>
            </a:r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Once parsed, errors can be counted by user, file, time window, or error message.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CA4F2-0AE5-49BA-A448-517BBB92B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801" y="1584907"/>
            <a:ext cx="7066397" cy="2878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5F8A63-354E-1956-8701-857D4474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12" y="3170696"/>
            <a:ext cx="3502775" cy="179915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9A889A9-7BD3-0F20-D34E-8ACEA0BF3357}"/>
              </a:ext>
            </a:extLst>
          </p:cNvPr>
          <p:cNvGrpSpPr/>
          <p:nvPr/>
        </p:nvGrpSpPr>
        <p:grpSpPr>
          <a:xfrm>
            <a:off x="1105787" y="2327626"/>
            <a:ext cx="10261116" cy="287890"/>
            <a:chOff x="332124" y="2084458"/>
            <a:chExt cx="12463576" cy="29531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CC3073E-7F0D-D4F5-E3C4-DC8690EF5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843" b="3488"/>
            <a:stretch>
              <a:fillRect/>
            </a:stretch>
          </p:blipFill>
          <p:spPr>
            <a:xfrm>
              <a:off x="332124" y="2084459"/>
              <a:ext cx="9386908" cy="29531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F3EBEC6-E068-BACE-325E-5B94528C5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5327" y="2084458"/>
              <a:ext cx="3210373" cy="295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888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ímd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19368</TotalTime>
  <Words>4530</Words>
  <Application>Microsoft Office PowerPoint</Application>
  <PresentationFormat>Widescreen</PresentationFormat>
  <Paragraphs>511</Paragraphs>
  <Slides>39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Inter</vt:lpstr>
      <vt:lpstr>Open Sans</vt:lpstr>
      <vt:lpstr>Wingdings</vt:lpstr>
      <vt:lpstr>címdia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CÍME prezentáció alcíme</dc:title>
  <dc:creator>Microsoft Office User</dc:creator>
  <cp:lastModifiedBy>Szabó Dávid</cp:lastModifiedBy>
  <cp:revision>1217</cp:revision>
  <dcterms:created xsi:type="dcterms:W3CDTF">2021-07-01T15:39:11Z</dcterms:created>
  <dcterms:modified xsi:type="dcterms:W3CDTF">2026-10-11T10:13:37Z</dcterms:modified>
</cp:coreProperties>
</file>