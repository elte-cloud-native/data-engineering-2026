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handoutMasterIdLst>
    <p:handoutMasterId r:id="rId29"/>
  </p:handoutMasterIdLst>
  <p:sldIdLst>
    <p:sldId id="272" r:id="rId5"/>
    <p:sldId id="376" r:id="rId6"/>
    <p:sldId id="375" r:id="rId7"/>
    <p:sldId id="310" r:id="rId8"/>
    <p:sldId id="266" r:id="rId9"/>
    <p:sldId id="267" r:id="rId10"/>
    <p:sldId id="379" r:id="rId11"/>
    <p:sldId id="262" r:id="rId12"/>
    <p:sldId id="263" r:id="rId13"/>
    <p:sldId id="270" r:id="rId14"/>
    <p:sldId id="423" r:id="rId15"/>
    <p:sldId id="417" r:id="rId16"/>
    <p:sldId id="422" r:id="rId17"/>
    <p:sldId id="420" r:id="rId18"/>
    <p:sldId id="421" r:id="rId19"/>
    <p:sldId id="264" r:id="rId20"/>
    <p:sldId id="268" r:id="rId21"/>
    <p:sldId id="269" r:id="rId22"/>
    <p:sldId id="425" r:id="rId23"/>
    <p:sldId id="424" r:id="rId24"/>
    <p:sldId id="426" r:id="rId25"/>
    <p:sldId id="380" r:id="rId26"/>
    <p:sldId id="316" r:id="rId27"/>
  </p:sldIdLst>
  <p:sldSz cx="12192000" cy="6858000"/>
  <p:notesSz cx="6858000" cy="9144000"/>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st 45 min" id="{E853FD44-0C7C-4453-9B9A-F8B6C754D54E}">
          <p14:sldIdLst>
            <p14:sldId id="272"/>
            <p14:sldId id="376"/>
            <p14:sldId id="375"/>
            <p14:sldId id="310"/>
            <p14:sldId id="266"/>
            <p14:sldId id="267"/>
            <p14:sldId id="379"/>
            <p14:sldId id="262"/>
            <p14:sldId id="263"/>
            <p14:sldId id="270"/>
            <p14:sldId id="423"/>
            <p14:sldId id="417"/>
            <p14:sldId id="422"/>
            <p14:sldId id="420"/>
            <p14:sldId id="421"/>
            <p14:sldId id="264"/>
            <p14:sldId id="268"/>
            <p14:sldId id="269"/>
            <p14:sldId id="425"/>
            <p14:sldId id="424"/>
            <p14:sldId id="426"/>
            <p14:sldId id="380"/>
            <p14:sldId id="31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felhasználó" initials="W" lastIdx="2" clrIdx="0">
    <p:extLst>
      <p:ext uri="{19B8F6BF-5375-455C-9EA6-DF929625EA0E}">
        <p15:presenceInfo xmlns:p15="http://schemas.microsoft.com/office/powerpoint/2012/main" userId="8e497090a0d7aaa3" providerId="Windows Live"/>
      </p:ext>
    </p:extLst>
  </p:cmAuthor>
  <p:cmAuthor id="2" name="Dávid Szabó" initials="DS" lastIdx="1" clrIdx="1">
    <p:extLst>
      <p:ext uri="{19B8F6BF-5375-455C-9EA6-DF929625EA0E}">
        <p15:presenceInfo xmlns:p15="http://schemas.microsoft.com/office/powerpoint/2012/main" userId="Dávid Szabó" providerId="None"/>
      </p:ext>
    </p:extLst>
  </p:cmAuthor>
  <p:cmAuthor id="3" name="Szabó, Dávid" initials="SD" lastIdx="1" clrIdx="2">
    <p:extLst>
      <p:ext uri="{19B8F6BF-5375-455C-9EA6-DF929625EA0E}">
        <p15:presenceInfo xmlns:p15="http://schemas.microsoft.com/office/powerpoint/2012/main" userId="Szabó, Dávid" providerId="None"/>
      </p:ext>
    </p:extLst>
  </p:cmAuthor>
  <p:cmAuthor id="4" name="SzDávid" initials="SzD" lastIdx="2" clrIdx="3">
    <p:extLst>
      <p:ext uri="{19B8F6BF-5375-455C-9EA6-DF929625EA0E}">
        <p15:presenceInfo xmlns:p15="http://schemas.microsoft.com/office/powerpoint/2012/main" userId="SzDávi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2850"/>
    <a:srgbClr val="012863"/>
    <a:srgbClr val="01285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Közepesen sötét stílus 2 – 1. jelölőszín">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79" autoAdjust="0"/>
    <p:restoredTop sz="91583" autoAdjust="0"/>
  </p:normalViewPr>
  <p:slideViewPr>
    <p:cSldViewPr snapToGrid="0" snapToObjects="1">
      <p:cViewPr>
        <p:scale>
          <a:sx n="125" d="100"/>
          <a:sy n="125" d="100"/>
        </p:scale>
        <p:origin x="732" y="51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104" d="100"/>
          <a:sy n="104" d="100"/>
        </p:scale>
        <p:origin x="5560"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a:extLst>
              <a:ext uri="{FF2B5EF4-FFF2-40B4-BE49-F238E27FC236}">
                <a16:creationId xmlns:a16="http://schemas.microsoft.com/office/drawing/2014/main" id="{12C39806-BB1D-8F56-1BD4-E8FD84A8860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a:extLst>
              <a:ext uri="{FF2B5EF4-FFF2-40B4-BE49-F238E27FC236}">
                <a16:creationId xmlns:a16="http://schemas.microsoft.com/office/drawing/2014/main" id="{8C5BF43A-04E9-CC17-BD51-B26CC338B3D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771E59-BB6D-9C41-A61C-2D524682E115}" type="datetimeFigureOut">
              <a:rPr lang="hu-HU" smtClean="0"/>
              <a:t>2024. 09. 07.</a:t>
            </a:fld>
            <a:endParaRPr lang="hu-HU"/>
          </a:p>
        </p:txBody>
      </p:sp>
      <p:sp>
        <p:nvSpPr>
          <p:cNvPr id="4" name="Élőláb helye 3">
            <a:extLst>
              <a:ext uri="{FF2B5EF4-FFF2-40B4-BE49-F238E27FC236}">
                <a16:creationId xmlns:a16="http://schemas.microsoft.com/office/drawing/2014/main" id="{898E5719-5CA3-B83A-6AB2-CC9AF2C948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5" name="Dia számának helye 4">
            <a:extLst>
              <a:ext uri="{FF2B5EF4-FFF2-40B4-BE49-F238E27FC236}">
                <a16:creationId xmlns:a16="http://schemas.microsoft.com/office/drawing/2014/main" id="{8441738D-8521-5BCA-A098-BEAAADEBC96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9E7E85-FAC5-AA44-BBE8-3A2E745EC50F}" type="slidenum">
              <a:rPr lang="hu-HU" smtClean="0"/>
              <a:t>‹#›</a:t>
            </a:fld>
            <a:endParaRPr lang="hu-HU"/>
          </a:p>
        </p:txBody>
      </p:sp>
    </p:spTree>
    <p:extLst>
      <p:ext uri="{BB962C8B-B14F-4D97-AF65-F5344CB8AC3E}">
        <p14:creationId xmlns:p14="http://schemas.microsoft.com/office/powerpoint/2010/main" val="22238433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DA393B-998D-3C45-ACA4-5C51E3A83922}" type="datetimeFigureOut">
              <a:rPr lang="hu-HU" smtClean="0"/>
              <a:t>2024. 09. 07.</a:t>
            </a:fld>
            <a:endParaRPr lang="hu-HU"/>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hu-HU"/>
              <a:t>Mintaszöveg szerkesztése
Második szint
Harmadik szint
Negyedik szint
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8B25AA-5A0B-7648-B33A-37E9A013F97A}" type="slidenum">
              <a:rPr lang="hu-HU" smtClean="0"/>
              <a:t>‹#›</a:t>
            </a:fld>
            <a:endParaRPr lang="hu-HU"/>
          </a:p>
        </p:txBody>
      </p:sp>
    </p:spTree>
    <p:extLst>
      <p:ext uri="{BB962C8B-B14F-4D97-AF65-F5344CB8AC3E}">
        <p14:creationId xmlns:p14="http://schemas.microsoft.com/office/powerpoint/2010/main" val="1828872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eafb98055e_1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eafb98055e_1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9110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a:xfrm>
            <a:off x="381000" y="685800"/>
            <a:ext cx="6096000" cy="3429000"/>
          </a:xfrm>
        </p:spPr>
      </p:sp>
      <p:sp>
        <p:nvSpPr>
          <p:cNvPr id="3" name="Jegyzetek helye 2"/>
          <p:cNvSpPr>
            <a:spLocks noGrp="1"/>
          </p:cNvSpPr>
          <p:nvPr>
            <p:ph type="body" idx="1"/>
          </p:nvPr>
        </p:nvSpPr>
        <p:spPr/>
        <p:txBody>
          <a:bodyPr/>
          <a:lstStyle/>
          <a:p>
            <a:pPr fontAlgn="auto"/>
            <a:endParaRPr lang="en-US" sz="1200" kern="1200" dirty="0">
              <a:solidFill>
                <a:schemeClr val="tx1"/>
              </a:solidFill>
              <a:effectLst/>
              <a:latin typeface="+mn-lt"/>
              <a:ea typeface="+mn-ea"/>
              <a:cs typeface="+mn-cs"/>
            </a:endParaRPr>
          </a:p>
        </p:txBody>
      </p:sp>
      <p:sp>
        <p:nvSpPr>
          <p:cNvPr id="4" name="Dia számának helye 3"/>
          <p:cNvSpPr>
            <a:spLocks noGrp="1"/>
          </p:cNvSpPr>
          <p:nvPr>
            <p:ph type="sldNum" sz="quarter" idx="10"/>
          </p:nvPr>
        </p:nvSpPr>
        <p:spPr>
          <a:xfrm>
            <a:off x="3884613" y="8685213"/>
            <a:ext cx="2971800" cy="457200"/>
          </a:xfrm>
          <a:prstGeom prst="rect">
            <a:avLst/>
          </a:prstGeom>
        </p:spPr>
        <p:txBody>
          <a:bodyPr/>
          <a:lstStyle/>
          <a:p>
            <a:fld id="{4A7C88CC-9452-4C98-93D8-9DBF75166190}" type="slidenum">
              <a:rPr lang="hu-HU" smtClean="0"/>
              <a:pPr/>
              <a:t>3</a:t>
            </a:fld>
            <a:endParaRPr lang="hu-HU"/>
          </a:p>
        </p:txBody>
      </p:sp>
    </p:spTree>
    <p:extLst>
      <p:ext uri="{BB962C8B-B14F-4D97-AF65-F5344CB8AC3E}">
        <p14:creationId xmlns:p14="http://schemas.microsoft.com/office/powerpoint/2010/main" val="3543216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a:xfrm>
            <a:off x="381000" y="685800"/>
            <a:ext cx="6096000" cy="3429000"/>
          </a:xfrm>
        </p:spPr>
      </p:sp>
      <p:sp>
        <p:nvSpPr>
          <p:cNvPr id="3" name="Jegyzetek helye 2"/>
          <p:cNvSpPr>
            <a:spLocks noGrp="1"/>
          </p:cNvSpPr>
          <p:nvPr>
            <p:ph type="body" idx="1"/>
          </p:nvPr>
        </p:nvSpPr>
        <p:spPr/>
        <p:txBody>
          <a:bodyPr/>
          <a:lstStyle/>
          <a:p>
            <a:pPr fontAlgn="auto"/>
            <a:endParaRPr lang="en-US" sz="1200" kern="1200" dirty="0">
              <a:solidFill>
                <a:schemeClr val="tx1"/>
              </a:solidFill>
              <a:effectLst/>
              <a:latin typeface="+mn-lt"/>
              <a:ea typeface="+mn-ea"/>
              <a:cs typeface="+mn-cs"/>
            </a:endParaRPr>
          </a:p>
        </p:txBody>
      </p:sp>
      <p:sp>
        <p:nvSpPr>
          <p:cNvPr id="4" name="Dia számának helye 3"/>
          <p:cNvSpPr>
            <a:spLocks noGrp="1"/>
          </p:cNvSpPr>
          <p:nvPr>
            <p:ph type="sldNum" sz="quarter" idx="10"/>
          </p:nvPr>
        </p:nvSpPr>
        <p:spPr>
          <a:xfrm>
            <a:off x="3884613" y="8685213"/>
            <a:ext cx="2971800" cy="457200"/>
          </a:xfrm>
          <a:prstGeom prst="rect">
            <a:avLst/>
          </a:prstGeom>
        </p:spPr>
        <p:txBody>
          <a:bodyPr/>
          <a:lstStyle/>
          <a:p>
            <a:fld id="{4A7C88CC-9452-4C98-93D8-9DBF75166190}" type="slidenum">
              <a:rPr lang="hu-HU" smtClean="0"/>
              <a:pPr/>
              <a:t>4</a:t>
            </a:fld>
            <a:endParaRPr lang="hu-HU"/>
          </a:p>
        </p:txBody>
      </p:sp>
    </p:spTree>
    <p:extLst>
      <p:ext uri="{BB962C8B-B14F-4D97-AF65-F5344CB8AC3E}">
        <p14:creationId xmlns:p14="http://schemas.microsoft.com/office/powerpoint/2010/main" val="13326883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ea9543e0f8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ea9543e0f8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7658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ea9543e0f8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ea9543e0f8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9324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a:xfrm>
            <a:off x="381000" y="685800"/>
            <a:ext cx="6096000" cy="3429000"/>
          </a:xfrm>
        </p:spPr>
      </p:sp>
      <p:sp>
        <p:nvSpPr>
          <p:cNvPr id="3" name="Jegyzetek helye 2"/>
          <p:cNvSpPr>
            <a:spLocks noGrp="1"/>
          </p:cNvSpPr>
          <p:nvPr>
            <p:ph type="body" idx="1"/>
          </p:nvPr>
        </p:nvSpPr>
        <p:spPr/>
        <p:txBody>
          <a:bodyPr/>
          <a:lstStyle/>
          <a:p>
            <a:pPr fontAlgn="auto"/>
            <a:endParaRPr lang="en-US" sz="1200" kern="1200" dirty="0">
              <a:solidFill>
                <a:schemeClr val="tx1"/>
              </a:solidFill>
              <a:effectLst/>
              <a:latin typeface="+mn-lt"/>
              <a:ea typeface="+mn-ea"/>
              <a:cs typeface="+mn-cs"/>
            </a:endParaRPr>
          </a:p>
        </p:txBody>
      </p:sp>
      <p:sp>
        <p:nvSpPr>
          <p:cNvPr id="4" name="Dia számának helye 3"/>
          <p:cNvSpPr>
            <a:spLocks noGrp="1"/>
          </p:cNvSpPr>
          <p:nvPr>
            <p:ph type="sldNum" sz="quarter" idx="10"/>
          </p:nvPr>
        </p:nvSpPr>
        <p:spPr>
          <a:xfrm>
            <a:off x="3884613" y="8685213"/>
            <a:ext cx="2971800" cy="457200"/>
          </a:xfrm>
          <a:prstGeom prst="rect">
            <a:avLst/>
          </a:prstGeom>
        </p:spPr>
        <p:txBody>
          <a:bodyPr/>
          <a:lstStyle/>
          <a:p>
            <a:fld id="{4A7C88CC-9452-4C98-93D8-9DBF75166190}" type="slidenum">
              <a:rPr lang="hu-HU" smtClean="0"/>
              <a:pPr/>
              <a:t>7</a:t>
            </a:fld>
            <a:endParaRPr lang="hu-HU"/>
          </a:p>
        </p:txBody>
      </p:sp>
    </p:spTree>
    <p:extLst>
      <p:ext uri="{BB962C8B-B14F-4D97-AF65-F5344CB8AC3E}">
        <p14:creationId xmlns:p14="http://schemas.microsoft.com/office/powerpoint/2010/main" val="18616139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ea9543e0f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ea9543e0f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55940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ea9543e0f8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ea9543e0f8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9607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ea9543e0f8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ea9543e0f8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52056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ea9543e0f8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ea9543e0f8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52056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ea9543e0f8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ea9543e0f8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54551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ea9543e0f8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ea9543e0f8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19502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ea9543e0f8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ea9543e0f8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87044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ea9543e0f8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ea9543e0f8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76192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ea9543e0f8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ea9543e0f8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4836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ea9543e0f8_0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ea9543e0f8_0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4253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ea9543e0f8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ea9543e0f8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66625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ea9543e0f8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ea9543e0f8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67882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ea9543e0f8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ea9543e0f8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02310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ea9543e0f8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ea9543e0f8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82638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ea9543e0f8_0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ea9543e0f8_0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14833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a:xfrm>
            <a:off x="381000" y="685800"/>
            <a:ext cx="6096000" cy="3429000"/>
          </a:xfrm>
        </p:spPr>
      </p:sp>
      <p:sp>
        <p:nvSpPr>
          <p:cNvPr id="3" name="Jegyzetek helye 2"/>
          <p:cNvSpPr>
            <a:spLocks noGrp="1"/>
          </p:cNvSpPr>
          <p:nvPr>
            <p:ph type="body" idx="1"/>
          </p:nvPr>
        </p:nvSpPr>
        <p:spPr/>
        <p:txBody>
          <a:bodyPr/>
          <a:lstStyle/>
          <a:p>
            <a:r>
              <a:rPr lang="hu-HU" dirty="0"/>
              <a:t>https://docs.microsoft.com/en-us/azure/cloud-adoption-framework/digital-estate/calculate</a:t>
            </a:r>
            <a:endParaRPr lang="en-US" dirty="0"/>
          </a:p>
          <a:p>
            <a:endParaRPr lang="hu-HU" dirty="0"/>
          </a:p>
        </p:txBody>
      </p:sp>
      <p:sp>
        <p:nvSpPr>
          <p:cNvPr id="4" name="Dia számának helye 3"/>
          <p:cNvSpPr>
            <a:spLocks noGrp="1"/>
          </p:cNvSpPr>
          <p:nvPr>
            <p:ph type="sldNum" sz="quarter" idx="10"/>
          </p:nvPr>
        </p:nvSpPr>
        <p:spPr>
          <a:xfrm>
            <a:off x="3884613" y="8685213"/>
            <a:ext cx="2971800" cy="457200"/>
          </a:xfrm>
          <a:prstGeom prst="rect">
            <a:avLst/>
          </a:prstGeom>
        </p:spPr>
        <p:txBody>
          <a:bodyPr/>
          <a:lstStyle/>
          <a:p>
            <a:fld id="{4A7C88CC-9452-4C98-93D8-9DBF75166190}" type="slidenum">
              <a:rPr lang="hu-HU" smtClean="0"/>
              <a:pPr/>
              <a:t>23</a:t>
            </a:fld>
            <a:endParaRPr lang="hu-HU"/>
          </a:p>
        </p:txBody>
      </p:sp>
    </p:spTree>
    <p:extLst>
      <p:ext uri="{BB962C8B-B14F-4D97-AF65-F5344CB8AC3E}">
        <p14:creationId xmlns:p14="http://schemas.microsoft.com/office/powerpoint/2010/main" val="25229666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ímdia">
    <p:spTree>
      <p:nvGrpSpPr>
        <p:cNvPr id="1" name=""/>
        <p:cNvGrpSpPr/>
        <p:nvPr/>
      </p:nvGrpSpPr>
      <p:grpSpPr>
        <a:xfrm>
          <a:off x="0" y="0"/>
          <a:ext cx="0" cy="0"/>
          <a:chOff x="0" y="0"/>
          <a:chExt cx="0" cy="0"/>
        </a:xfrm>
      </p:grpSpPr>
      <p:pic>
        <p:nvPicPr>
          <p:cNvPr id="2" name="Kép 1">
            <a:extLst>
              <a:ext uri="{FF2B5EF4-FFF2-40B4-BE49-F238E27FC236}">
                <a16:creationId xmlns:a16="http://schemas.microsoft.com/office/drawing/2014/main" id="{7576A917-C803-4400-FBEE-6B791AEA9A0D}"/>
              </a:ext>
            </a:extLst>
          </p:cNvPr>
          <p:cNvPicPr>
            <a:picLocks noChangeAspect="1"/>
          </p:cNvPicPr>
          <p:nvPr userDrawn="1"/>
        </p:nvPicPr>
        <p:blipFill>
          <a:blip r:embed="rId2"/>
          <a:stretch>
            <a:fillRect/>
          </a:stretch>
        </p:blipFill>
        <p:spPr>
          <a:xfrm>
            <a:off x="2467" y="0"/>
            <a:ext cx="12187066" cy="6858000"/>
          </a:xfrm>
          <a:prstGeom prst="rect">
            <a:avLst/>
          </a:prstGeom>
        </p:spPr>
      </p:pic>
      <p:sp>
        <p:nvSpPr>
          <p:cNvPr id="4" name="Szöveg helye 10">
            <a:extLst>
              <a:ext uri="{FF2B5EF4-FFF2-40B4-BE49-F238E27FC236}">
                <a16:creationId xmlns:a16="http://schemas.microsoft.com/office/drawing/2014/main" id="{831FA102-844C-755E-D247-CB3718711D43}"/>
              </a:ext>
            </a:extLst>
          </p:cNvPr>
          <p:cNvSpPr>
            <a:spLocks noGrp="1"/>
          </p:cNvSpPr>
          <p:nvPr>
            <p:ph type="body" idx="13" hasCustomPrompt="1"/>
          </p:nvPr>
        </p:nvSpPr>
        <p:spPr>
          <a:xfrm>
            <a:off x="723900" y="2029968"/>
            <a:ext cx="10744200" cy="891112"/>
          </a:xfrm>
          <a:prstGeom prst="rect">
            <a:avLst/>
          </a:prstGeom>
        </p:spPr>
        <p:txBody>
          <a:bodyPr/>
          <a:lstStyle>
            <a:lvl1pPr marL="0" indent="0">
              <a:buNone/>
              <a:defRPr sz="5500" baseline="0">
                <a:solidFill>
                  <a:schemeClr val="bg1"/>
                </a:solidFill>
                <a:latin typeface="Open Sans" panose="020B0606030504020204" pitchFamily="34" charset="0"/>
              </a:defRPr>
            </a:lvl1pPr>
          </a:lstStyle>
          <a:p>
            <a:pPr lvl="0"/>
            <a:r>
              <a:rPr lang="hu-HU" dirty="0"/>
              <a:t>PREZENTÁCIÓ CÍME</a:t>
            </a:r>
          </a:p>
        </p:txBody>
      </p:sp>
      <p:sp>
        <p:nvSpPr>
          <p:cNvPr id="6" name="Szöveg helye 10">
            <a:extLst>
              <a:ext uri="{FF2B5EF4-FFF2-40B4-BE49-F238E27FC236}">
                <a16:creationId xmlns:a16="http://schemas.microsoft.com/office/drawing/2014/main" id="{DF9D8FEB-E57B-5F73-ADA2-8D7B7485DFAF}"/>
              </a:ext>
            </a:extLst>
          </p:cNvPr>
          <p:cNvSpPr>
            <a:spLocks noGrp="1"/>
          </p:cNvSpPr>
          <p:nvPr>
            <p:ph type="body" idx="14" hasCustomPrompt="1"/>
          </p:nvPr>
        </p:nvSpPr>
        <p:spPr>
          <a:xfrm>
            <a:off x="723900" y="2980944"/>
            <a:ext cx="10744200" cy="891112"/>
          </a:xfrm>
          <a:prstGeom prst="rect">
            <a:avLst/>
          </a:prstGeom>
        </p:spPr>
        <p:txBody>
          <a:bodyPr/>
          <a:lstStyle>
            <a:lvl1pPr marL="0" indent="0">
              <a:buNone/>
              <a:defRPr sz="4000" baseline="0">
                <a:solidFill>
                  <a:schemeClr val="bg1"/>
                </a:solidFill>
                <a:latin typeface="Open Sans" panose="020B0606030504020204" pitchFamily="34" charset="0"/>
              </a:defRPr>
            </a:lvl1pPr>
          </a:lstStyle>
          <a:p>
            <a:pPr lvl="0"/>
            <a:r>
              <a:rPr lang="hu-HU" dirty="0"/>
              <a:t>Prezentáció alcíme</a:t>
            </a:r>
          </a:p>
        </p:txBody>
      </p:sp>
      <p:sp>
        <p:nvSpPr>
          <p:cNvPr id="7" name="Szöveg helye 10">
            <a:extLst>
              <a:ext uri="{FF2B5EF4-FFF2-40B4-BE49-F238E27FC236}">
                <a16:creationId xmlns:a16="http://schemas.microsoft.com/office/drawing/2014/main" id="{605BC215-EB6B-138C-D66F-E7064E16F28F}"/>
              </a:ext>
            </a:extLst>
          </p:cNvPr>
          <p:cNvSpPr>
            <a:spLocks noGrp="1"/>
          </p:cNvSpPr>
          <p:nvPr>
            <p:ph type="body" idx="15" hasCustomPrompt="1"/>
          </p:nvPr>
        </p:nvSpPr>
        <p:spPr>
          <a:xfrm>
            <a:off x="723900" y="4301824"/>
            <a:ext cx="10744200" cy="649224"/>
          </a:xfrm>
          <a:prstGeom prst="rect">
            <a:avLst/>
          </a:prstGeom>
        </p:spPr>
        <p:txBody>
          <a:bodyPr/>
          <a:lstStyle>
            <a:lvl1pPr marL="0" indent="0">
              <a:buNone/>
              <a:defRPr sz="4000" baseline="0">
                <a:solidFill>
                  <a:schemeClr val="bg1"/>
                </a:solidFill>
                <a:latin typeface="Open Sans" panose="020B0606030504020204" pitchFamily="34" charset="0"/>
              </a:defRPr>
            </a:lvl1pPr>
          </a:lstStyle>
          <a:p>
            <a:pPr lvl="0"/>
            <a:r>
              <a:rPr lang="hu-HU" dirty="0"/>
              <a:t>Előadó neve</a:t>
            </a:r>
          </a:p>
        </p:txBody>
      </p:sp>
      <p:sp>
        <p:nvSpPr>
          <p:cNvPr id="8" name="Szöveg helye 10">
            <a:extLst>
              <a:ext uri="{FF2B5EF4-FFF2-40B4-BE49-F238E27FC236}">
                <a16:creationId xmlns:a16="http://schemas.microsoft.com/office/drawing/2014/main" id="{2A598985-FDB3-7140-588C-68FBF5A82B23}"/>
              </a:ext>
            </a:extLst>
          </p:cNvPr>
          <p:cNvSpPr>
            <a:spLocks noGrp="1"/>
          </p:cNvSpPr>
          <p:nvPr>
            <p:ph type="body" idx="16" hasCustomPrompt="1"/>
          </p:nvPr>
        </p:nvSpPr>
        <p:spPr>
          <a:xfrm>
            <a:off x="723900" y="5005912"/>
            <a:ext cx="10744200" cy="649224"/>
          </a:xfrm>
          <a:prstGeom prst="rect">
            <a:avLst/>
          </a:prstGeom>
        </p:spPr>
        <p:txBody>
          <a:bodyPr/>
          <a:lstStyle>
            <a:lvl1pPr marL="0" indent="0">
              <a:buNone/>
              <a:defRPr sz="2000" baseline="0">
                <a:solidFill>
                  <a:schemeClr val="bg1"/>
                </a:solidFill>
                <a:latin typeface="Open Sans" panose="020B0606030504020204" pitchFamily="34" charset="0"/>
              </a:defRPr>
            </a:lvl1pPr>
          </a:lstStyle>
          <a:p>
            <a:pPr lvl="0"/>
            <a:r>
              <a:rPr lang="hu-HU" dirty="0"/>
              <a:t>Előadó titulusa</a:t>
            </a:r>
          </a:p>
        </p:txBody>
      </p:sp>
      <p:sp>
        <p:nvSpPr>
          <p:cNvPr id="9" name="Szöveg helye 10">
            <a:extLst>
              <a:ext uri="{FF2B5EF4-FFF2-40B4-BE49-F238E27FC236}">
                <a16:creationId xmlns:a16="http://schemas.microsoft.com/office/drawing/2014/main" id="{91323EAC-BA77-33AC-53B7-F24EA909AB24}"/>
              </a:ext>
            </a:extLst>
          </p:cNvPr>
          <p:cNvSpPr>
            <a:spLocks noGrp="1"/>
          </p:cNvSpPr>
          <p:nvPr>
            <p:ph type="body" idx="17" hasCustomPrompt="1"/>
          </p:nvPr>
        </p:nvSpPr>
        <p:spPr>
          <a:xfrm>
            <a:off x="723900" y="5705856"/>
            <a:ext cx="10744200" cy="649224"/>
          </a:xfrm>
          <a:prstGeom prst="rect">
            <a:avLst/>
          </a:prstGeom>
        </p:spPr>
        <p:txBody>
          <a:bodyPr/>
          <a:lstStyle>
            <a:lvl1pPr marL="0" indent="0">
              <a:buNone/>
              <a:defRPr sz="2000" baseline="0">
                <a:solidFill>
                  <a:schemeClr val="bg1"/>
                </a:solidFill>
                <a:latin typeface="Open Sans" panose="020B0606030504020204" pitchFamily="34" charset="0"/>
              </a:defRPr>
            </a:lvl1pPr>
          </a:lstStyle>
          <a:p>
            <a:pPr lvl="0"/>
            <a:r>
              <a:rPr lang="hu-HU" dirty="0"/>
              <a:t>Rendezvény, dátum</a:t>
            </a:r>
          </a:p>
        </p:txBody>
      </p:sp>
    </p:spTree>
    <p:extLst>
      <p:ext uri="{BB962C8B-B14F-4D97-AF65-F5344CB8AC3E}">
        <p14:creationId xmlns:p14="http://schemas.microsoft.com/office/powerpoint/2010/main" val="1320683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zöveges tartalom">
    <p:spTree>
      <p:nvGrpSpPr>
        <p:cNvPr id="1" name=""/>
        <p:cNvGrpSpPr/>
        <p:nvPr/>
      </p:nvGrpSpPr>
      <p:grpSpPr>
        <a:xfrm>
          <a:off x="0" y="0"/>
          <a:ext cx="0" cy="0"/>
          <a:chOff x="0" y="0"/>
          <a:chExt cx="0" cy="0"/>
        </a:xfrm>
      </p:grpSpPr>
      <p:pic>
        <p:nvPicPr>
          <p:cNvPr id="4" name="Kép 3">
            <a:extLst>
              <a:ext uri="{FF2B5EF4-FFF2-40B4-BE49-F238E27FC236}">
                <a16:creationId xmlns:a16="http://schemas.microsoft.com/office/drawing/2014/main" id="{765AB793-C3EE-75F8-4E4A-2E20E9E0935F}"/>
              </a:ext>
            </a:extLst>
          </p:cNvPr>
          <p:cNvPicPr>
            <a:picLocks noChangeAspect="1"/>
          </p:cNvPicPr>
          <p:nvPr userDrawn="1"/>
        </p:nvPicPr>
        <p:blipFill>
          <a:blip r:embed="rId2"/>
          <a:stretch>
            <a:fillRect/>
          </a:stretch>
        </p:blipFill>
        <p:spPr>
          <a:xfrm>
            <a:off x="0" y="6001196"/>
            <a:ext cx="12192000" cy="856804"/>
          </a:xfrm>
          <a:prstGeom prst="rect">
            <a:avLst/>
          </a:prstGeom>
        </p:spPr>
      </p:pic>
      <p:cxnSp>
        <p:nvCxnSpPr>
          <p:cNvPr id="16" name="Egyenes összekötő 15">
            <a:extLst>
              <a:ext uri="{FF2B5EF4-FFF2-40B4-BE49-F238E27FC236}">
                <a16:creationId xmlns:a16="http://schemas.microsoft.com/office/drawing/2014/main" id="{A933D47C-7F86-9A48-A1AD-EEBD81F9A6A8}"/>
              </a:ext>
            </a:extLst>
          </p:cNvPr>
          <p:cNvCxnSpPr>
            <a:cxnSpLocks/>
          </p:cNvCxnSpPr>
          <p:nvPr userDrawn="1"/>
        </p:nvCxnSpPr>
        <p:spPr>
          <a:xfrm>
            <a:off x="838200" y="1274462"/>
            <a:ext cx="10515600" cy="0"/>
          </a:xfrm>
          <a:prstGeom prst="line">
            <a:avLst/>
          </a:prstGeom>
          <a:ln>
            <a:solidFill>
              <a:srgbClr val="012851"/>
            </a:solidFill>
          </a:ln>
        </p:spPr>
        <p:style>
          <a:lnRef idx="1">
            <a:schemeClr val="accent1"/>
          </a:lnRef>
          <a:fillRef idx="0">
            <a:schemeClr val="accent1"/>
          </a:fillRef>
          <a:effectRef idx="0">
            <a:schemeClr val="accent1"/>
          </a:effectRef>
          <a:fontRef idx="minor">
            <a:schemeClr val="tx1"/>
          </a:fontRef>
        </p:style>
      </p:cxnSp>
      <p:sp>
        <p:nvSpPr>
          <p:cNvPr id="2" name="Szöveg helye 10">
            <a:extLst>
              <a:ext uri="{FF2B5EF4-FFF2-40B4-BE49-F238E27FC236}">
                <a16:creationId xmlns:a16="http://schemas.microsoft.com/office/drawing/2014/main" id="{3940BA6A-A9B7-7219-4D85-FAE0F7D5ABF8}"/>
              </a:ext>
            </a:extLst>
          </p:cNvPr>
          <p:cNvSpPr>
            <a:spLocks noGrp="1"/>
          </p:cNvSpPr>
          <p:nvPr>
            <p:ph type="body" idx="16" hasCustomPrompt="1"/>
          </p:nvPr>
        </p:nvSpPr>
        <p:spPr>
          <a:xfrm>
            <a:off x="838200" y="723315"/>
            <a:ext cx="10515600" cy="529404"/>
          </a:xfrm>
          <a:prstGeom prst="rect">
            <a:avLst/>
          </a:prstGeom>
        </p:spPr>
        <p:txBody>
          <a:bodyPr/>
          <a:lstStyle>
            <a:lvl1pPr marL="0" indent="0">
              <a:buNone/>
              <a:defRPr sz="3000" baseline="0">
                <a:solidFill>
                  <a:srgbClr val="012850"/>
                </a:solidFill>
                <a:latin typeface="Open Sans" panose="020B0606030504020204" pitchFamily="34" charset="0"/>
              </a:defRPr>
            </a:lvl1pPr>
          </a:lstStyle>
          <a:p>
            <a:pPr lvl="0"/>
            <a:r>
              <a:rPr lang="hu-HU" dirty="0"/>
              <a:t>DIA CÍME</a:t>
            </a:r>
          </a:p>
        </p:txBody>
      </p:sp>
      <p:sp>
        <p:nvSpPr>
          <p:cNvPr id="3" name="Szöveg helye 10">
            <a:extLst>
              <a:ext uri="{FF2B5EF4-FFF2-40B4-BE49-F238E27FC236}">
                <a16:creationId xmlns:a16="http://schemas.microsoft.com/office/drawing/2014/main" id="{55729B78-CCC8-F712-B7DB-176E91D2D65F}"/>
              </a:ext>
            </a:extLst>
          </p:cNvPr>
          <p:cNvSpPr>
            <a:spLocks noGrp="1"/>
          </p:cNvSpPr>
          <p:nvPr>
            <p:ph type="body" idx="17"/>
          </p:nvPr>
        </p:nvSpPr>
        <p:spPr>
          <a:xfrm>
            <a:off x="838200" y="1607437"/>
            <a:ext cx="10515600" cy="1846013"/>
          </a:xfrm>
          <a:prstGeom prst="rect">
            <a:avLst/>
          </a:prstGeom>
        </p:spPr>
        <p:txBody>
          <a:bodyPr/>
          <a:lstStyle>
            <a:lvl1pPr marL="0" indent="0">
              <a:buNone/>
              <a:defRPr sz="2000" baseline="0">
                <a:solidFill>
                  <a:schemeClr val="tx1"/>
                </a:solidFill>
                <a:latin typeface="Open Sans" panose="020B0606030504020204" pitchFamily="34" charset="0"/>
              </a:defRPr>
            </a:lvl1pPr>
          </a:lstStyle>
          <a:p>
            <a:pPr lvl="0"/>
            <a:r>
              <a:rPr lang="hu-HU" dirty="0"/>
              <a:t>Mintaszöveg szerkesztése</a:t>
            </a:r>
          </a:p>
        </p:txBody>
      </p:sp>
      <p:sp>
        <p:nvSpPr>
          <p:cNvPr id="5" name="Szöveg helye 10">
            <a:extLst>
              <a:ext uri="{FF2B5EF4-FFF2-40B4-BE49-F238E27FC236}">
                <a16:creationId xmlns:a16="http://schemas.microsoft.com/office/drawing/2014/main" id="{ED6C24E1-FC98-931B-668F-1A2663E54988}"/>
              </a:ext>
            </a:extLst>
          </p:cNvPr>
          <p:cNvSpPr>
            <a:spLocks noGrp="1"/>
          </p:cNvSpPr>
          <p:nvPr>
            <p:ph type="body" idx="18"/>
          </p:nvPr>
        </p:nvSpPr>
        <p:spPr>
          <a:xfrm>
            <a:off x="6282280" y="3786425"/>
            <a:ext cx="5125629" cy="1846014"/>
          </a:xfrm>
          <a:prstGeom prst="rect">
            <a:avLst/>
          </a:prstGeom>
        </p:spPr>
        <p:txBody>
          <a:bodyPr/>
          <a:lstStyle>
            <a:lvl1pPr marL="0" indent="0">
              <a:buNone/>
              <a:defRPr sz="2000" baseline="0">
                <a:solidFill>
                  <a:schemeClr val="tx1"/>
                </a:solidFill>
                <a:latin typeface="Open Sans" panose="020B0606030504020204" pitchFamily="34" charset="0"/>
              </a:defRPr>
            </a:lvl1pPr>
          </a:lstStyle>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Mintaszöveg szerkesztése</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Első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Második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Harmadik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Negyedik szint</a:t>
            </a:r>
          </a:p>
        </p:txBody>
      </p:sp>
      <p:sp>
        <p:nvSpPr>
          <p:cNvPr id="6" name="Szöveg helye 10">
            <a:extLst>
              <a:ext uri="{FF2B5EF4-FFF2-40B4-BE49-F238E27FC236}">
                <a16:creationId xmlns:a16="http://schemas.microsoft.com/office/drawing/2014/main" id="{BA10B23C-BC2C-AA33-C513-FD8B9D46C292}"/>
              </a:ext>
            </a:extLst>
          </p:cNvPr>
          <p:cNvSpPr>
            <a:spLocks noGrp="1"/>
          </p:cNvSpPr>
          <p:nvPr>
            <p:ph type="body" idx="19"/>
          </p:nvPr>
        </p:nvSpPr>
        <p:spPr>
          <a:xfrm>
            <a:off x="838201" y="3786425"/>
            <a:ext cx="5125629" cy="1846014"/>
          </a:xfrm>
          <a:prstGeom prst="rect">
            <a:avLst/>
          </a:prstGeom>
        </p:spPr>
        <p:txBody>
          <a:bodyPr/>
          <a:lstStyle>
            <a:lvl1pPr marL="0" indent="0">
              <a:buNone/>
              <a:defRPr sz="2000" baseline="0">
                <a:solidFill>
                  <a:schemeClr val="tx1"/>
                </a:solidFill>
                <a:latin typeface="Open Sans" panose="020B0606030504020204" pitchFamily="34" charset="0"/>
              </a:defRPr>
            </a:lvl1pPr>
          </a:lstStyle>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Mintaszöveg szerkesztése</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Első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Második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Harmadik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Negyedik szint</a:t>
            </a:r>
          </a:p>
        </p:txBody>
      </p:sp>
      <p:sp>
        <p:nvSpPr>
          <p:cNvPr id="9" name="Szöveg helye 10">
            <a:extLst>
              <a:ext uri="{FF2B5EF4-FFF2-40B4-BE49-F238E27FC236}">
                <a16:creationId xmlns:a16="http://schemas.microsoft.com/office/drawing/2014/main" id="{5098D7CE-AAE8-B095-44BC-D69C66D1F5BE}"/>
              </a:ext>
            </a:extLst>
          </p:cNvPr>
          <p:cNvSpPr>
            <a:spLocks noGrp="1"/>
          </p:cNvSpPr>
          <p:nvPr>
            <p:ph type="body" idx="20" hasCustomPrompt="1"/>
          </p:nvPr>
        </p:nvSpPr>
        <p:spPr>
          <a:xfrm>
            <a:off x="2925371" y="6300874"/>
            <a:ext cx="7985760" cy="337670"/>
          </a:xfrm>
          <a:prstGeom prst="rect">
            <a:avLst/>
          </a:prstGeom>
        </p:spPr>
        <p:txBody>
          <a:bodyPr/>
          <a:lstStyle>
            <a:lvl1pPr marL="0" indent="0">
              <a:buNone/>
              <a:defRPr sz="1200" cap="all" spc="0" baseline="0">
                <a:solidFill>
                  <a:schemeClr val="bg1"/>
                </a:solidFill>
                <a:latin typeface="Open Sans" panose="020B0606030504020204" pitchFamily="34" charset="0"/>
              </a:defRPr>
            </a:lvl1pPr>
          </a:lstStyle>
          <a:p>
            <a:pPr lvl="0"/>
            <a:r>
              <a:rPr lang="hu-HU" dirty="0"/>
              <a:t>Rendezvény, dátum</a:t>
            </a:r>
          </a:p>
        </p:txBody>
      </p:sp>
    </p:spTree>
    <p:extLst>
      <p:ext uri="{BB962C8B-B14F-4D97-AF65-F5344CB8AC3E}">
        <p14:creationId xmlns:p14="http://schemas.microsoft.com/office/powerpoint/2010/main" val="2131341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 szövegblokk - 1 kép">
    <p:spTree>
      <p:nvGrpSpPr>
        <p:cNvPr id="1" name=""/>
        <p:cNvGrpSpPr/>
        <p:nvPr/>
      </p:nvGrpSpPr>
      <p:grpSpPr>
        <a:xfrm>
          <a:off x="0" y="0"/>
          <a:ext cx="0" cy="0"/>
          <a:chOff x="0" y="0"/>
          <a:chExt cx="0" cy="0"/>
        </a:xfrm>
      </p:grpSpPr>
      <p:cxnSp>
        <p:nvCxnSpPr>
          <p:cNvPr id="10" name="Egyenes összekötő 9">
            <a:extLst>
              <a:ext uri="{FF2B5EF4-FFF2-40B4-BE49-F238E27FC236}">
                <a16:creationId xmlns:a16="http://schemas.microsoft.com/office/drawing/2014/main" id="{934CE5A9-19D5-B7FF-F605-96F82FA4FB0B}"/>
              </a:ext>
            </a:extLst>
          </p:cNvPr>
          <p:cNvCxnSpPr>
            <a:cxnSpLocks/>
          </p:cNvCxnSpPr>
          <p:nvPr userDrawn="1"/>
        </p:nvCxnSpPr>
        <p:spPr>
          <a:xfrm>
            <a:off x="838200" y="1274462"/>
            <a:ext cx="10515600" cy="0"/>
          </a:xfrm>
          <a:prstGeom prst="line">
            <a:avLst/>
          </a:prstGeom>
          <a:ln>
            <a:solidFill>
              <a:srgbClr val="012851"/>
            </a:solidFill>
          </a:ln>
        </p:spPr>
        <p:style>
          <a:lnRef idx="1">
            <a:schemeClr val="accent1"/>
          </a:lnRef>
          <a:fillRef idx="0">
            <a:schemeClr val="accent1"/>
          </a:fillRef>
          <a:effectRef idx="0">
            <a:schemeClr val="accent1"/>
          </a:effectRef>
          <a:fontRef idx="minor">
            <a:schemeClr val="tx1"/>
          </a:fontRef>
        </p:style>
      </p:cxnSp>
      <p:sp>
        <p:nvSpPr>
          <p:cNvPr id="15" name="Kép helye 2">
            <a:extLst>
              <a:ext uri="{FF2B5EF4-FFF2-40B4-BE49-F238E27FC236}">
                <a16:creationId xmlns:a16="http://schemas.microsoft.com/office/drawing/2014/main" id="{23D20630-BBCE-AC6F-5896-1CEEB0015497}"/>
              </a:ext>
            </a:extLst>
          </p:cNvPr>
          <p:cNvSpPr>
            <a:spLocks noGrp="1"/>
          </p:cNvSpPr>
          <p:nvPr>
            <p:ph type="pic" idx="1"/>
          </p:nvPr>
        </p:nvSpPr>
        <p:spPr>
          <a:xfrm>
            <a:off x="6027089" y="1579457"/>
            <a:ext cx="5326711" cy="4004081"/>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dirty="0"/>
          </a:p>
        </p:txBody>
      </p:sp>
      <p:sp>
        <p:nvSpPr>
          <p:cNvPr id="2" name="Szöveg helye 10">
            <a:extLst>
              <a:ext uri="{FF2B5EF4-FFF2-40B4-BE49-F238E27FC236}">
                <a16:creationId xmlns:a16="http://schemas.microsoft.com/office/drawing/2014/main" id="{BC05F114-74F4-CAB6-3497-7C63660FE88E}"/>
              </a:ext>
            </a:extLst>
          </p:cNvPr>
          <p:cNvSpPr>
            <a:spLocks noGrp="1"/>
          </p:cNvSpPr>
          <p:nvPr>
            <p:ph type="body" idx="16" hasCustomPrompt="1"/>
          </p:nvPr>
        </p:nvSpPr>
        <p:spPr>
          <a:xfrm>
            <a:off x="838200" y="723315"/>
            <a:ext cx="10515600" cy="529404"/>
          </a:xfrm>
          <a:prstGeom prst="rect">
            <a:avLst/>
          </a:prstGeom>
        </p:spPr>
        <p:txBody>
          <a:bodyPr/>
          <a:lstStyle>
            <a:lvl1pPr marL="0" indent="0">
              <a:buNone/>
              <a:defRPr sz="3000" baseline="0">
                <a:solidFill>
                  <a:srgbClr val="012850"/>
                </a:solidFill>
                <a:latin typeface="Open Sans" panose="020B0606030504020204" pitchFamily="34" charset="0"/>
              </a:defRPr>
            </a:lvl1pPr>
          </a:lstStyle>
          <a:p>
            <a:pPr lvl="0"/>
            <a:r>
              <a:rPr lang="hu-HU" dirty="0"/>
              <a:t>DIA CÍME</a:t>
            </a:r>
          </a:p>
        </p:txBody>
      </p:sp>
      <p:sp>
        <p:nvSpPr>
          <p:cNvPr id="3" name="Szöveg helye 10">
            <a:extLst>
              <a:ext uri="{FF2B5EF4-FFF2-40B4-BE49-F238E27FC236}">
                <a16:creationId xmlns:a16="http://schemas.microsoft.com/office/drawing/2014/main" id="{C43265EB-5A74-13B8-25EF-C234D04EBA7E}"/>
              </a:ext>
            </a:extLst>
          </p:cNvPr>
          <p:cNvSpPr>
            <a:spLocks noGrp="1"/>
          </p:cNvSpPr>
          <p:nvPr>
            <p:ph type="body" idx="19"/>
          </p:nvPr>
        </p:nvSpPr>
        <p:spPr>
          <a:xfrm>
            <a:off x="838201" y="1582985"/>
            <a:ext cx="4287982" cy="3757937"/>
          </a:xfrm>
          <a:prstGeom prst="rect">
            <a:avLst/>
          </a:prstGeom>
        </p:spPr>
        <p:txBody>
          <a:bodyPr/>
          <a:lstStyle>
            <a:lvl1pPr marL="0" indent="0">
              <a:buNone/>
              <a:defRPr sz="2000" baseline="0">
                <a:solidFill>
                  <a:schemeClr val="tx1"/>
                </a:solidFill>
                <a:latin typeface="Open Sans" panose="020B0606030504020204" pitchFamily="34" charset="0"/>
              </a:defRPr>
            </a:lvl1pPr>
          </a:lstStyle>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Mintaszöveg szerkesztése</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Első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Második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Harmadik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Negyedik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Ötödik szint</a:t>
            </a:r>
          </a:p>
        </p:txBody>
      </p:sp>
      <p:pic>
        <p:nvPicPr>
          <p:cNvPr id="5" name="Kép 4">
            <a:extLst>
              <a:ext uri="{FF2B5EF4-FFF2-40B4-BE49-F238E27FC236}">
                <a16:creationId xmlns:a16="http://schemas.microsoft.com/office/drawing/2014/main" id="{F69FC214-A8DF-2334-7247-2170A8AA1740}"/>
              </a:ext>
            </a:extLst>
          </p:cNvPr>
          <p:cNvPicPr>
            <a:picLocks noChangeAspect="1"/>
          </p:cNvPicPr>
          <p:nvPr userDrawn="1"/>
        </p:nvPicPr>
        <p:blipFill>
          <a:blip r:embed="rId2"/>
          <a:stretch>
            <a:fillRect/>
          </a:stretch>
        </p:blipFill>
        <p:spPr>
          <a:xfrm>
            <a:off x="0" y="6001196"/>
            <a:ext cx="12192000" cy="856804"/>
          </a:xfrm>
          <a:prstGeom prst="rect">
            <a:avLst/>
          </a:prstGeom>
        </p:spPr>
      </p:pic>
      <p:sp>
        <p:nvSpPr>
          <p:cNvPr id="6" name="Szöveg helye 10">
            <a:extLst>
              <a:ext uri="{FF2B5EF4-FFF2-40B4-BE49-F238E27FC236}">
                <a16:creationId xmlns:a16="http://schemas.microsoft.com/office/drawing/2014/main" id="{E4F210FC-1016-425F-02B2-E3EE645E1BB4}"/>
              </a:ext>
            </a:extLst>
          </p:cNvPr>
          <p:cNvSpPr>
            <a:spLocks noGrp="1"/>
          </p:cNvSpPr>
          <p:nvPr>
            <p:ph type="body" idx="20" hasCustomPrompt="1"/>
          </p:nvPr>
        </p:nvSpPr>
        <p:spPr>
          <a:xfrm>
            <a:off x="2925371" y="6300874"/>
            <a:ext cx="7985760" cy="337670"/>
          </a:xfrm>
          <a:prstGeom prst="rect">
            <a:avLst/>
          </a:prstGeom>
        </p:spPr>
        <p:txBody>
          <a:bodyPr/>
          <a:lstStyle>
            <a:lvl1pPr marL="0" indent="0">
              <a:buNone/>
              <a:defRPr sz="1200" cap="all" spc="0" baseline="0">
                <a:solidFill>
                  <a:schemeClr val="bg1"/>
                </a:solidFill>
                <a:latin typeface="Open Sans" panose="020B0606030504020204" pitchFamily="34" charset="0"/>
              </a:defRPr>
            </a:lvl1pPr>
          </a:lstStyle>
          <a:p>
            <a:pPr lvl="0"/>
            <a:r>
              <a:rPr lang="hu-HU" dirty="0"/>
              <a:t>Rendezvény, dátum</a:t>
            </a:r>
          </a:p>
        </p:txBody>
      </p:sp>
    </p:spTree>
    <p:extLst>
      <p:ext uri="{BB962C8B-B14F-4D97-AF65-F5344CB8AC3E}">
        <p14:creationId xmlns:p14="http://schemas.microsoft.com/office/powerpoint/2010/main" val="2073395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szövegblokk">
    <p:spTree>
      <p:nvGrpSpPr>
        <p:cNvPr id="1" name=""/>
        <p:cNvGrpSpPr/>
        <p:nvPr/>
      </p:nvGrpSpPr>
      <p:grpSpPr>
        <a:xfrm>
          <a:off x="0" y="0"/>
          <a:ext cx="0" cy="0"/>
          <a:chOff x="0" y="0"/>
          <a:chExt cx="0" cy="0"/>
        </a:xfrm>
      </p:grpSpPr>
      <p:cxnSp>
        <p:nvCxnSpPr>
          <p:cNvPr id="17" name="Egyenes összekötő 16">
            <a:extLst>
              <a:ext uri="{FF2B5EF4-FFF2-40B4-BE49-F238E27FC236}">
                <a16:creationId xmlns:a16="http://schemas.microsoft.com/office/drawing/2014/main" id="{CE5C7C62-306F-C568-AC87-137E9C578BFC}"/>
              </a:ext>
            </a:extLst>
          </p:cNvPr>
          <p:cNvCxnSpPr>
            <a:cxnSpLocks/>
          </p:cNvCxnSpPr>
          <p:nvPr userDrawn="1"/>
        </p:nvCxnSpPr>
        <p:spPr>
          <a:xfrm>
            <a:off x="161924" y="748860"/>
            <a:ext cx="11877675" cy="0"/>
          </a:xfrm>
          <a:prstGeom prst="line">
            <a:avLst/>
          </a:prstGeom>
          <a:ln>
            <a:solidFill>
              <a:srgbClr val="012851"/>
            </a:solidFill>
          </a:ln>
        </p:spPr>
        <p:style>
          <a:lnRef idx="1">
            <a:schemeClr val="accent1"/>
          </a:lnRef>
          <a:fillRef idx="0">
            <a:schemeClr val="accent1"/>
          </a:fillRef>
          <a:effectRef idx="0">
            <a:schemeClr val="accent1"/>
          </a:effectRef>
          <a:fontRef idx="minor">
            <a:schemeClr val="tx1"/>
          </a:fontRef>
        </p:style>
      </p:cxnSp>
      <p:sp>
        <p:nvSpPr>
          <p:cNvPr id="2" name="Szöveg helye 10">
            <a:extLst>
              <a:ext uri="{FF2B5EF4-FFF2-40B4-BE49-F238E27FC236}">
                <a16:creationId xmlns:a16="http://schemas.microsoft.com/office/drawing/2014/main" id="{32B9E13B-D4C6-DDBF-DA2A-ED8F1AEADB59}"/>
              </a:ext>
            </a:extLst>
          </p:cNvPr>
          <p:cNvSpPr>
            <a:spLocks noGrp="1"/>
          </p:cNvSpPr>
          <p:nvPr>
            <p:ph type="body" idx="16" hasCustomPrompt="1"/>
          </p:nvPr>
        </p:nvSpPr>
        <p:spPr>
          <a:xfrm>
            <a:off x="161924" y="219456"/>
            <a:ext cx="11877675" cy="529404"/>
          </a:xfrm>
          <a:prstGeom prst="rect">
            <a:avLst/>
          </a:prstGeom>
        </p:spPr>
        <p:txBody>
          <a:bodyPr/>
          <a:lstStyle>
            <a:lvl1pPr marL="0" indent="0">
              <a:buNone/>
              <a:defRPr sz="3000" baseline="0">
                <a:solidFill>
                  <a:srgbClr val="012850"/>
                </a:solidFill>
                <a:latin typeface="Open Sans" panose="020B0606030504020204" pitchFamily="34" charset="0"/>
              </a:defRPr>
            </a:lvl1pPr>
          </a:lstStyle>
          <a:p>
            <a:pPr lvl="0"/>
            <a:r>
              <a:rPr lang="hu-HU" dirty="0"/>
              <a:t>DIA CÍME</a:t>
            </a:r>
          </a:p>
        </p:txBody>
      </p:sp>
      <p:pic>
        <p:nvPicPr>
          <p:cNvPr id="3" name="Kép 2">
            <a:extLst>
              <a:ext uri="{FF2B5EF4-FFF2-40B4-BE49-F238E27FC236}">
                <a16:creationId xmlns:a16="http://schemas.microsoft.com/office/drawing/2014/main" id="{FA96FDED-1213-82EC-1A9D-4FC90A80FA77}"/>
              </a:ext>
            </a:extLst>
          </p:cNvPr>
          <p:cNvPicPr>
            <a:picLocks noChangeAspect="1"/>
          </p:cNvPicPr>
          <p:nvPr userDrawn="1"/>
        </p:nvPicPr>
        <p:blipFill>
          <a:blip r:embed="rId2"/>
          <a:stretch>
            <a:fillRect/>
          </a:stretch>
        </p:blipFill>
        <p:spPr>
          <a:xfrm>
            <a:off x="0" y="6001196"/>
            <a:ext cx="12192000" cy="856804"/>
          </a:xfrm>
          <a:prstGeom prst="rect">
            <a:avLst/>
          </a:prstGeom>
        </p:spPr>
      </p:pic>
      <p:sp>
        <p:nvSpPr>
          <p:cNvPr id="5" name="Szöveg helye 10">
            <a:extLst>
              <a:ext uri="{FF2B5EF4-FFF2-40B4-BE49-F238E27FC236}">
                <a16:creationId xmlns:a16="http://schemas.microsoft.com/office/drawing/2014/main" id="{0AF073EC-750D-2DFB-C11E-4C39CA8DC2E4}"/>
              </a:ext>
            </a:extLst>
          </p:cNvPr>
          <p:cNvSpPr>
            <a:spLocks noGrp="1"/>
          </p:cNvSpPr>
          <p:nvPr>
            <p:ph type="body" idx="20" hasCustomPrompt="1"/>
          </p:nvPr>
        </p:nvSpPr>
        <p:spPr>
          <a:xfrm>
            <a:off x="2925371" y="6300874"/>
            <a:ext cx="7985760" cy="337670"/>
          </a:xfrm>
          <a:prstGeom prst="rect">
            <a:avLst/>
          </a:prstGeom>
        </p:spPr>
        <p:txBody>
          <a:bodyPr/>
          <a:lstStyle>
            <a:lvl1pPr marL="0" indent="0">
              <a:buNone/>
              <a:defRPr sz="1200" cap="all" spc="0" baseline="0">
                <a:ln>
                  <a:noFill/>
                </a:ln>
                <a:solidFill>
                  <a:schemeClr val="bg1"/>
                </a:solidFill>
                <a:latin typeface="Open Sans" panose="020B0606030504020204" pitchFamily="34" charset="0"/>
              </a:defRPr>
            </a:lvl1pPr>
          </a:lstStyle>
          <a:p>
            <a:pPr lvl="0"/>
            <a:r>
              <a:rPr lang="en-GB" dirty="0"/>
              <a:t>Introduction to Cloud Native Architectures</a:t>
            </a:r>
            <a:r>
              <a:rPr lang="hu-HU" dirty="0"/>
              <a:t> (IPM-24ATICNAEG)</a:t>
            </a:r>
          </a:p>
        </p:txBody>
      </p:sp>
    </p:spTree>
    <p:extLst>
      <p:ext uri="{BB962C8B-B14F-4D97-AF65-F5344CB8AC3E}">
        <p14:creationId xmlns:p14="http://schemas.microsoft.com/office/powerpoint/2010/main" val="3236759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szövegblokk">
    <p:spTree>
      <p:nvGrpSpPr>
        <p:cNvPr id="1" name=""/>
        <p:cNvGrpSpPr/>
        <p:nvPr/>
      </p:nvGrpSpPr>
      <p:grpSpPr>
        <a:xfrm>
          <a:off x="0" y="0"/>
          <a:ext cx="0" cy="0"/>
          <a:chOff x="0" y="0"/>
          <a:chExt cx="0" cy="0"/>
        </a:xfrm>
      </p:grpSpPr>
      <p:cxnSp>
        <p:nvCxnSpPr>
          <p:cNvPr id="16" name="Egyenes összekötő 15">
            <a:extLst>
              <a:ext uri="{FF2B5EF4-FFF2-40B4-BE49-F238E27FC236}">
                <a16:creationId xmlns:a16="http://schemas.microsoft.com/office/drawing/2014/main" id="{E4CEC806-06F8-0A8E-802F-451103EBAC0E}"/>
              </a:ext>
            </a:extLst>
          </p:cNvPr>
          <p:cNvCxnSpPr>
            <a:cxnSpLocks/>
          </p:cNvCxnSpPr>
          <p:nvPr userDrawn="1"/>
        </p:nvCxnSpPr>
        <p:spPr>
          <a:xfrm>
            <a:off x="838200" y="1274462"/>
            <a:ext cx="10515600" cy="0"/>
          </a:xfrm>
          <a:prstGeom prst="line">
            <a:avLst/>
          </a:prstGeom>
          <a:ln>
            <a:solidFill>
              <a:srgbClr val="012851"/>
            </a:solidFill>
          </a:ln>
        </p:spPr>
        <p:style>
          <a:lnRef idx="1">
            <a:schemeClr val="accent1"/>
          </a:lnRef>
          <a:fillRef idx="0">
            <a:schemeClr val="accent1"/>
          </a:fillRef>
          <a:effectRef idx="0">
            <a:schemeClr val="accent1"/>
          </a:effectRef>
          <a:fontRef idx="minor">
            <a:schemeClr val="tx1"/>
          </a:fontRef>
        </p:style>
      </p:cxnSp>
      <p:sp>
        <p:nvSpPr>
          <p:cNvPr id="2" name="Szöveg helye 10">
            <a:extLst>
              <a:ext uri="{FF2B5EF4-FFF2-40B4-BE49-F238E27FC236}">
                <a16:creationId xmlns:a16="http://schemas.microsoft.com/office/drawing/2014/main" id="{737F6A48-F38F-FC31-62D0-11C22537C648}"/>
              </a:ext>
            </a:extLst>
          </p:cNvPr>
          <p:cNvSpPr>
            <a:spLocks noGrp="1"/>
          </p:cNvSpPr>
          <p:nvPr>
            <p:ph type="body" idx="16" hasCustomPrompt="1"/>
          </p:nvPr>
        </p:nvSpPr>
        <p:spPr>
          <a:xfrm>
            <a:off x="838200" y="723315"/>
            <a:ext cx="10515600" cy="529404"/>
          </a:xfrm>
          <a:prstGeom prst="rect">
            <a:avLst/>
          </a:prstGeom>
        </p:spPr>
        <p:txBody>
          <a:bodyPr/>
          <a:lstStyle>
            <a:lvl1pPr marL="0" indent="0">
              <a:buNone/>
              <a:defRPr sz="3000" baseline="0">
                <a:solidFill>
                  <a:srgbClr val="012850"/>
                </a:solidFill>
                <a:latin typeface="Open Sans" panose="020B0606030504020204" pitchFamily="34" charset="0"/>
              </a:defRPr>
            </a:lvl1pPr>
          </a:lstStyle>
          <a:p>
            <a:pPr lvl="0"/>
            <a:r>
              <a:rPr lang="hu-HU" dirty="0"/>
              <a:t>DIA CÍME</a:t>
            </a:r>
          </a:p>
        </p:txBody>
      </p:sp>
      <p:sp>
        <p:nvSpPr>
          <p:cNvPr id="3" name="Szöveg helye 10">
            <a:extLst>
              <a:ext uri="{FF2B5EF4-FFF2-40B4-BE49-F238E27FC236}">
                <a16:creationId xmlns:a16="http://schemas.microsoft.com/office/drawing/2014/main" id="{1E6D20BC-2EF9-211F-E045-74EB3321F442}"/>
              </a:ext>
            </a:extLst>
          </p:cNvPr>
          <p:cNvSpPr>
            <a:spLocks noGrp="1"/>
          </p:cNvSpPr>
          <p:nvPr>
            <p:ph type="body" idx="19"/>
          </p:nvPr>
        </p:nvSpPr>
        <p:spPr>
          <a:xfrm>
            <a:off x="838201" y="1579456"/>
            <a:ext cx="3212591" cy="4068779"/>
          </a:xfrm>
          <a:prstGeom prst="rect">
            <a:avLst/>
          </a:prstGeom>
        </p:spPr>
        <p:txBody>
          <a:bodyPr/>
          <a:lstStyle>
            <a:lvl1pPr marL="0" indent="0">
              <a:buNone/>
              <a:defRPr sz="2000" baseline="0">
                <a:solidFill>
                  <a:schemeClr val="tx1"/>
                </a:solidFill>
                <a:latin typeface="Open Sans" panose="020B0606030504020204" pitchFamily="34" charset="0"/>
              </a:defRPr>
            </a:lvl1pPr>
          </a:lstStyle>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Mintaszöveg szerkesztése</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Első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Második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Harmadik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Negyedik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Ötödik szint</a:t>
            </a:r>
          </a:p>
        </p:txBody>
      </p:sp>
      <p:sp>
        <p:nvSpPr>
          <p:cNvPr id="10" name="Szöveg helye 10">
            <a:extLst>
              <a:ext uri="{FF2B5EF4-FFF2-40B4-BE49-F238E27FC236}">
                <a16:creationId xmlns:a16="http://schemas.microsoft.com/office/drawing/2014/main" id="{0AB37620-467A-3358-9635-1AE991B29903}"/>
              </a:ext>
            </a:extLst>
          </p:cNvPr>
          <p:cNvSpPr>
            <a:spLocks noGrp="1"/>
          </p:cNvSpPr>
          <p:nvPr>
            <p:ph type="body" idx="20"/>
          </p:nvPr>
        </p:nvSpPr>
        <p:spPr>
          <a:xfrm>
            <a:off x="4489704" y="1579456"/>
            <a:ext cx="3212591" cy="4068779"/>
          </a:xfrm>
          <a:prstGeom prst="rect">
            <a:avLst/>
          </a:prstGeom>
        </p:spPr>
        <p:txBody>
          <a:bodyPr/>
          <a:lstStyle>
            <a:lvl1pPr marL="0" indent="0">
              <a:buNone/>
              <a:defRPr sz="2000" baseline="0">
                <a:solidFill>
                  <a:schemeClr val="tx1"/>
                </a:solidFill>
                <a:latin typeface="Open Sans" panose="020B0606030504020204" pitchFamily="34" charset="0"/>
              </a:defRPr>
            </a:lvl1pPr>
          </a:lstStyle>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Mintaszöveg szerkesztése</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Első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Második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Harmadik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Negyedik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Ötödik szint</a:t>
            </a:r>
          </a:p>
        </p:txBody>
      </p:sp>
      <p:sp>
        <p:nvSpPr>
          <p:cNvPr id="11" name="Szöveg helye 10">
            <a:extLst>
              <a:ext uri="{FF2B5EF4-FFF2-40B4-BE49-F238E27FC236}">
                <a16:creationId xmlns:a16="http://schemas.microsoft.com/office/drawing/2014/main" id="{44317DED-74F7-596D-46E5-4EFCB5B1B45F}"/>
              </a:ext>
            </a:extLst>
          </p:cNvPr>
          <p:cNvSpPr>
            <a:spLocks noGrp="1"/>
          </p:cNvSpPr>
          <p:nvPr>
            <p:ph type="body" idx="21"/>
          </p:nvPr>
        </p:nvSpPr>
        <p:spPr>
          <a:xfrm>
            <a:off x="8141207" y="1579456"/>
            <a:ext cx="3212591" cy="4068779"/>
          </a:xfrm>
          <a:prstGeom prst="rect">
            <a:avLst/>
          </a:prstGeom>
        </p:spPr>
        <p:txBody>
          <a:bodyPr/>
          <a:lstStyle>
            <a:lvl1pPr marL="0" indent="0">
              <a:buNone/>
              <a:defRPr sz="2000" baseline="0">
                <a:solidFill>
                  <a:schemeClr val="tx1"/>
                </a:solidFill>
                <a:latin typeface="Open Sans" panose="020B0606030504020204" pitchFamily="34" charset="0"/>
              </a:defRPr>
            </a:lvl1pPr>
          </a:lstStyle>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Mintaszöveg szerkesztése</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Első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Második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Harmadik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Negyedik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Ötödik szint</a:t>
            </a:r>
          </a:p>
        </p:txBody>
      </p:sp>
      <p:pic>
        <p:nvPicPr>
          <p:cNvPr id="4" name="Kép 3">
            <a:extLst>
              <a:ext uri="{FF2B5EF4-FFF2-40B4-BE49-F238E27FC236}">
                <a16:creationId xmlns:a16="http://schemas.microsoft.com/office/drawing/2014/main" id="{936141E3-2650-7309-36C7-ECD2E619BF86}"/>
              </a:ext>
            </a:extLst>
          </p:cNvPr>
          <p:cNvPicPr>
            <a:picLocks noChangeAspect="1"/>
          </p:cNvPicPr>
          <p:nvPr userDrawn="1"/>
        </p:nvPicPr>
        <p:blipFill>
          <a:blip r:embed="rId2"/>
          <a:stretch>
            <a:fillRect/>
          </a:stretch>
        </p:blipFill>
        <p:spPr>
          <a:xfrm>
            <a:off x="0" y="6001196"/>
            <a:ext cx="12192000" cy="856804"/>
          </a:xfrm>
          <a:prstGeom prst="rect">
            <a:avLst/>
          </a:prstGeom>
        </p:spPr>
      </p:pic>
      <p:sp>
        <p:nvSpPr>
          <p:cNvPr id="5" name="Szöveg helye 10">
            <a:extLst>
              <a:ext uri="{FF2B5EF4-FFF2-40B4-BE49-F238E27FC236}">
                <a16:creationId xmlns:a16="http://schemas.microsoft.com/office/drawing/2014/main" id="{0614727D-5F43-1091-F059-56358E383047}"/>
              </a:ext>
            </a:extLst>
          </p:cNvPr>
          <p:cNvSpPr>
            <a:spLocks noGrp="1"/>
          </p:cNvSpPr>
          <p:nvPr>
            <p:ph type="body" idx="22" hasCustomPrompt="1"/>
          </p:nvPr>
        </p:nvSpPr>
        <p:spPr>
          <a:xfrm>
            <a:off x="2925371" y="6300874"/>
            <a:ext cx="7985760" cy="337670"/>
          </a:xfrm>
          <a:prstGeom prst="rect">
            <a:avLst/>
          </a:prstGeom>
        </p:spPr>
        <p:txBody>
          <a:bodyPr/>
          <a:lstStyle>
            <a:lvl1pPr marL="0" indent="0">
              <a:buNone/>
              <a:defRPr sz="1200" cap="all" spc="0" baseline="0">
                <a:solidFill>
                  <a:schemeClr val="bg1"/>
                </a:solidFill>
                <a:latin typeface="Open Sans" panose="020B0606030504020204" pitchFamily="34" charset="0"/>
              </a:defRPr>
            </a:lvl1pPr>
          </a:lstStyle>
          <a:p>
            <a:pPr lvl="0"/>
            <a:r>
              <a:rPr lang="hu-HU" dirty="0"/>
              <a:t>Rendezvény, dátum</a:t>
            </a:r>
          </a:p>
        </p:txBody>
      </p:sp>
    </p:spTree>
    <p:extLst>
      <p:ext uri="{BB962C8B-B14F-4D97-AF65-F5344CB8AC3E}">
        <p14:creationId xmlns:p14="http://schemas.microsoft.com/office/powerpoint/2010/main" val="1253035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képes tartalom">
    <p:spTree>
      <p:nvGrpSpPr>
        <p:cNvPr id="1" name=""/>
        <p:cNvGrpSpPr/>
        <p:nvPr/>
      </p:nvGrpSpPr>
      <p:grpSpPr>
        <a:xfrm>
          <a:off x="0" y="0"/>
          <a:ext cx="0" cy="0"/>
          <a:chOff x="0" y="0"/>
          <a:chExt cx="0" cy="0"/>
        </a:xfrm>
      </p:grpSpPr>
      <p:cxnSp>
        <p:nvCxnSpPr>
          <p:cNvPr id="12" name="Egyenes összekötő 11">
            <a:extLst>
              <a:ext uri="{FF2B5EF4-FFF2-40B4-BE49-F238E27FC236}">
                <a16:creationId xmlns:a16="http://schemas.microsoft.com/office/drawing/2014/main" id="{FDFD7BA7-C2A9-595B-15D6-EDE5F7DAE2D1}"/>
              </a:ext>
            </a:extLst>
          </p:cNvPr>
          <p:cNvCxnSpPr>
            <a:cxnSpLocks/>
          </p:cNvCxnSpPr>
          <p:nvPr userDrawn="1"/>
        </p:nvCxnSpPr>
        <p:spPr>
          <a:xfrm>
            <a:off x="838200" y="1274462"/>
            <a:ext cx="10515600" cy="0"/>
          </a:xfrm>
          <a:prstGeom prst="line">
            <a:avLst/>
          </a:prstGeom>
          <a:ln>
            <a:solidFill>
              <a:srgbClr val="012851"/>
            </a:solidFill>
          </a:ln>
        </p:spPr>
        <p:style>
          <a:lnRef idx="1">
            <a:schemeClr val="accent1"/>
          </a:lnRef>
          <a:fillRef idx="0">
            <a:schemeClr val="accent1"/>
          </a:fillRef>
          <a:effectRef idx="0">
            <a:schemeClr val="accent1"/>
          </a:effectRef>
          <a:fontRef idx="minor">
            <a:schemeClr val="tx1"/>
          </a:fontRef>
        </p:style>
      </p:cxnSp>
      <p:sp>
        <p:nvSpPr>
          <p:cNvPr id="19" name="Kép helye 2">
            <a:extLst>
              <a:ext uri="{FF2B5EF4-FFF2-40B4-BE49-F238E27FC236}">
                <a16:creationId xmlns:a16="http://schemas.microsoft.com/office/drawing/2014/main" id="{9E45454F-C86C-2D65-C04B-55E626DA88AE}"/>
              </a:ext>
            </a:extLst>
          </p:cNvPr>
          <p:cNvSpPr>
            <a:spLocks noGrp="1"/>
          </p:cNvSpPr>
          <p:nvPr>
            <p:ph type="pic" idx="11"/>
          </p:nvPr>
        </p:nvSpPr>
        <p:spPr>
          <a:xfrm>
            <a:off x="6265629" y="1579456"/>
            <a:ext cx="5067632" cy="4068777"/>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dirty="0"/>
          </a:p>
        </p:txBody>
      </p:sp>
      <p:sp>
        <p:nvSpPr>
          <p:cNvPr id="20" name="Kép helye 2">
            <a:extLst>
              <a:ext uri="{FF2B5EF4-FFF2-40B4-BE49-F238E27FC236}">
                <a16:creationId xmlns:a16="http://schemas.microsoft.com/office/drawing/2014/main" id="{176350A7-3ED8-9325-46CB-CA499869403F}"/>
              </a:ext>
            </a:extLst>
          </p:cNvPr>
          <p:cNvSpPr>
            <a:spLocks noGrp="1"/>
          </p:cNvSpPr>
          <p:nvPr>
            <p:ph type="pic" idx="12"/>
          </p:nvPr>
        </p:nvSpPr>
        <p:spPr>
          <a:xfrm>
            <a:off x="838200" y="1579456"/>
            <a:ext cx="5011973" cy="4068777"/>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dirty="0"/>
          </a:p>
        </p:txBody>
      </p:sp>
      <p:sp>
        <p:nvSpPr>
          <p:cNvPr id="2" name="Szöveg helye 10">
            <a:extLst>
              <a:ext uri="{FF2B5EF4-FFF2-40B4-BE49-F238E27FC236}">
                <a16:creationId xmlns:a16="http://schemas.microsoft.com/office/drawing/2014/main" id="{1BFA0AC3-D5FA-244D-2DF5-5874C6467C5D}"/>
              </a:ext>
            </a:extLst>
          </p:cNvPr>
          <p:cNvSpPr>
            <a:spLocks noGrp="1"/>
          </p:cNvSpPr>
          <p:nvPr>
            <p:ph type="body" idx="16" hasCustomPrompt="1"/>
          </p:nvPr>
        </p:nvSpPr>
        <p:spPr>
          <a:xfrm>
            <a:off x="838200" y="723315"/>
            <a:ext cx="10515600" cy="529404"/>
          </a:xfrm>
          <a:prstGeom prst="rect">
            <a:avLst/>
          </a:prstGeom>
        </p:spPr>
        <p:txBody>
          <a:bodyPr/>
          <a:lstStyle>
            <a:lvl1pPr marL="0" indent="0">
              <a:buNone/>
              <a:defRPr sz="3000" baseline="0">
                <a:solidFill>
                  <a:srgbClr val="012850"/>
                </a:solidFill>
                <a:latin typeface="Open Sans" panose="020B0606030504020204" pitchFamily="34" charset="0"/>
              </a:defRPr>
            </a:lvl1pPr>
          </a:lstStyle>
          <a:p>
            <a:pPr lvl="0"/>
            <a:r>
              <a:rPr lang="hu-HU" dirty="0"/>
              <a:t>DIA CÍME</a:t>
            </a:r>
          </a:p>
        </p:txBody>
      </p:sp>
      <p:pic>
        <p:nvPicPr>
          <p:cNvPr id="4" name="Kép 3">
            <a:extLst>
              <a:ext uri="{FF2B5EF4-FFF2-40B4-BE49-F238E27FC236}">
                <a16:creationId xmlns:a16="http://schemas.microsoft.com/office/drawing/2014/main" id="{245C0CEC-C383-42CB-7D7B-C253C37D1EFF}"/>
              </a:ext>
            </a:extLst>
          </p:cNvPr>
          <p:cNvPicPr>
            <a:picLocks noChangeAspect="1"/>
          </p:cNvPicPr>
          <p:nvPr userDrawn="1"/>
        </p:nvPicPr>
        <p:blipFill>
          <a:blip r:embed="rId2"/>
          <a:stretch>
            <a:fillRect/>
          </a:stretch>
        </p:blipFill>
        <p:spPr>
          <a:xfrm>
            <a:off x="0" y="6001196"/>
            <a:ext cx="12192000" cy="856804"/>
          </a:xfrm>
          <a:prstGeom prst="rect">
            <a:avLst/>
          </a:prstGeom>
        </p:spPr>
      </p:pic>
      <p:sp>
        <p:nvSpPr>
          <p:cNvPr id="5" name="Szöveg helye 10">
            <a:extLst>
              <a:ext uri="{FF2B5EF4-FFF2-40B4-BE49-F238E27FC236}">
                <a16:creationId xmlns:a16="http://schemas.microsoft.com/office/drawing/2014/main" id="{6D82DBE0-A887-D830-B4E0-50498F0CA4CC}"/>
              </a:ext>
            </a:extLst>
          </p:cNvPr>
          <p:cNvSpPr>
            <a:spLocks noGrp="1"/>
          </p:cNvSpPr>
          <p:nvPr>
            <p:ph type="body" idx="20" hasCustomPrompt="1"/>
          </p:nvPr>
        </p:nvSpPr>
        <p:spPr>
          <a:xfrm>
            <a:off x="2925371" y="6300874"/>
            <a:ext cx="7985760" cy="337670"/>
          </a:xfrm>
          <a:prstGeom prst="rect">
            <a:avLst/>
          </a:prstGeom>
        </p:spPr>
        <p:txBody>
          <a:bodyPr/>
          <a:lstStyle>
            <a:lvl1pPr marL="0" indent="0">
              <a:buNone/>
              <a:defRPr sz="1200" cap="all" spc="0" baseline="0">
                <a:solidFill>
                  <a:schemeClr val="bg1"/>
                </a:solidFill>
                <a:latin typeface="Open Sans" panose="020B0606030504020204" pitchFamily="34" charset="0"/>
              </a:defRPr>
            </a:lvl1pPr>
          </a:lstStyle>
          <a:p>
            <a:pPr lvl="0"/>
            <a:r>
              <a:rPr lang="hu-HU" dirty="0"/>
              <a:t>Rendezvény, dátum</a:t>
            </a:r>
          </a:p>
        </p:txBody>
      </p:sp>
    </p:spTree>
    <p:extLst>
      <p:ext uri="{BB962C8B-B14F-4D97-AF65-F5344CB8AC3E}">
        <p14:creationId xmlns:p14="http://schemas.microsoft.com/office/powerpoint/2010/main" val="4151485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képes tartalom">
    <p:spTree>
      <p:nvGrpSpPr>
        <p:cNvPr id="1" name=""/>
        <p:cNvGrpSpPr/>
        <p:nvPr/>
      </p:nvGrpSpPr>
      <p:grpSpPr>
        <a:xfrm>
          <a:off x="0" y="0"/>
          <a:ext cx="0" cy="0"/>
          <a:chOff x="0" y="0"/>
          <a:chExt cx="0" cy="0"/>
        </a:xfrm>
      </p:grpSpPr>
      <p:cxnSp>
        <p:nvCxnSpPr>
          <p:cNvPr id="6" name="Egyenes összekötő 5">
            <a:extLst>
              <a:ext uri="{FF2B5EF4-FFF2-40B4-BE49-F238E27FC236}">
                <a16:creationId xmlns:a16="http://schemas.microsoft.com/office/drawing/2014/main" id="{A371C297-1CA5-94ED-2895-3B1AF69D27B3}"/>
              </a:ext>
            </a:extLst>
          </p:cNvPr>
          <p:cNvCxnSpPr>
            <a:cxnSpLocks/>
          </p:cNvCxnSpPr>
          <p:nvPr userDrawn="1"/>
        </p:nvCxnSpPr>
        <p:spPr>
          <a:xfrm>
            <a:off x="838200" y="1274462"/>
            <a:ext cx="10515600" cy="0"/>
          </a:xfrm>
          <a:prstGeom prst="line">
            <a:avLst/>
          </a:prstGeom>
          <a:ln>
            <a:solidFill>
              <a:srgbClr val="012851"/>
            </a:solidFill>
          </a:ln>
        </p:spPr>
        <p:style>
          <a:lnRef idx="1">
            <a:schemeClr val="accent1"/>
          </a:lnRef>
          <a:fillRef idx="0">
            <a:schemeClr val="accent1"/>
          </a:fillRef>
          <a:effectRef idx="0">
            <a:schemeClr val="accent1"/>
          </a:effectRef>
          <a:fontRef idx="minor">
            <a:schemeClr val="tx1"/>
          </a:fontRef>
        </p:style>
      </p:cxnSp>
      <p:sp>
        <p:nvSpPr>
          <p:cNvPr id="9" name="Kép helye 2">
            <a:extLst>
              <a:ext uri="{FF2B5EF4-FFF2-40B4-BE49-F238E27FC236}">
                <a16:creationId xmlns:a16="http://schemas.microsoft.com/office/drawing/2014/main" id="{B4B0655C-B169-D423-90AB-F5CB238B3C4B}"/>
              </a:ext>
            </a:extLst>
          </p:cNvPr>
          <p:cNvSpPr>
            <a:spLocks noGrp="1"/>
          </p:cNvSpPr>
          <p:nvPr>
            <p:ph type="pic" idx="10"/>
          </p:nvPr>
        </p:nvSpPr>
        <p:spPr>
          <a:xfrm>
            <a:off x="838199" y="1579456"/>
            <a:ext cx="2564928" cy="412541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dirty="0"/>
          </a:p>
        </p:txBody>
      </p:sp>
      <p:sp>
        <p:nvSpPr>
          <p:cNvPr id="10" name="Kép helye 2">
            <a:extLst>
              <a:ext uri="{FF2B5EF4-FFF2-40B4-BE49-F238E27FC236}">
                <a16:creationId xmlns:a16="http://schemas.microsoft.com/office/drawing/2014/main" id="{88B1D7E9-B3E8-D3A3-7C3B-46B669E00D44}"/>
              </a:ext>
            </a:extLst>
          </p:cNvPr>
          <p:cNvSpPr>
            <a:spLocks noGrp="1"/>
          </p:cNvSpPr>
          <p:nvPr>
            <p:ph type="pic" idx="11"/>
          </p:nvPr>
        </p:nvSpPr>
        <p:spPr>
          <a:xfrm>
            <a:off x="6639338" y="1579457"/>
            <a:ext cx="4693921" cy="4125428"/>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dirty="0"/>
          </a:p>
        </p:txBody>
      </p:sp>
      <p:sp>
        <p:nvSpPr>
          <p:cNvPr id="13" name="Kép helye 2">
            <a:extLst>
              <a:ext uri="{FF2B5EF4-FFF2-40B4-BE49-F238E27FC236}">
                <a16:creationId xmlns:a16="http://schemas.microsoft.com/office/drawing/2014/main" id="{DE50A8AD-DAA0-C470-251A-FB13BCEC03F1}"/>
              </a:ext>
            </a:extLst>
          </p:cNvPr>
          <p:cNvSpPr>
            <a:spLocks noGrp="1"/>
          </p:cNvSpPr>
          <p:nvPr>
            <p:ph type="pic" idx="12"/>
          </p:nvPr>
        </p:nvSpPr>
        <p:spPr>
          <a:xfrm>
            <a:off x="3738768" y="1579456"/>
            <a:ext cx="2564928" cy="412541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dirty="0"/>
          </a:p>
        </p:txBody>
      </p:sp>
      <p:sp>
        <p:nvSpPr>
          <p:cNvPr id="2" name="Szöveg helye 10">
            <a:extLst>
              <a:ext uri="{FF2B5EF4-FFF2-40B4-BE49-F238E27FC236}">
                <a16:creationId xmlns:a16="http://schemas.microsoft.com/office/drawing/2014/main" id="{8A66C65D-5136-21C7-C4AA-39F449F6F4AF}"/>
              </a:ext>
            </a:extLst>
          </p:cNvPr>
          <p:cNvSpPr>
            <a:spLocks noGrp="1"/>
          </p:cNvSpPr>
          <p:nvPr>
            <p:ph type="body" idx="16" hasCustomPrompt="1"/>
          </p:nvPr>
        </p:nvSpPr>
        <p:spPr>
          <a:xfrm>
            <a:off x="838200" y="723315"/>
            <a:ext cx="10515600" cy="529404"/>
          </a:xfrm>
          <a:prstGeom prst="rect">
            <a:avLst/>
          </a:prstGeom>
        </p:spPr>
        <p:txBody>
          <a:bodyPr/>
          <a:lstStyle>
            <a:lvl1pPr marL="0" indent="0">
              <a:buNone/>
              <a:defRPr sz="3000" baseline="0">
                <a:solidFill>
                  <a:srgbClr val="012850"/>
                </a:solidFill>
                <a:latin typeface="Open Sans" panose="020B0606030504020204" pitchFamily="34" charset="0"/>
              </a:defRPr>
            </a:lvl1pPr>
          </a:lstStyle>
          <a:p>
            <a:pPr lvl="0"/>
            <a:r>
              <a:rPr lang="hu-HU" dirty="0"/>
              <a:t>DIA CÍME</a:t>
            </a:r>
          </a:p>
        </p:txBody>
      </p:sp>
      <p:pic>
        <p:nvPicPr>
          <p:cNvPr id="3" name="Kép 2">
            <a:extLst>
              <a:ext uri="{FF2B5EF4-FFF2-40B4-BE49-F238E27FC236}">
                <a16:creationId xmlns:a16="http://schemas.microsoft.com/office/drawing/2014/main" id="{8DC4FBAE-8E6D-4D61-C7ED-3B8AA103C94A}"/>
              </a:ext>
            </a:extLst>
          </p:cNvPr>
          <p:cNvPicPr>
            <a:picLocks noChangeAspect="1"/>
          </p:cNvPicPr>
          <p:nvPr userDrawn="1"/>
        </p:nvPicPr>
        <p:blipFill>
          <a:blip r:embed="rId2"/>
          <a:stretch>
            <a:fillRect/>
          </a:stretch>
        </p:blipFill>
        <p:spPr>
          <a:xfrm>
            <a:off x="0" y="6001196"/>
            <a:ext cx="12192000" cy="856804"/>
          </a:xfrm>
          <a:prstGeom prst="rect">
            <a:avLst/>
          </a:prstGeom>
        </p:spPr>
      </p:pic>
      <p:sp>
        <p:nvSpPr>
          <p:cNvPr id="5" name="Szöveg helye 10">
            <a:extLst>
              <a:ext uri="{FF2B5EF4-FFF2-40B4-BE49-F238E27FC236}">
                <a16:creationId xmlns:a16="http://schemas.microsoft.com/office/drawing/2014/main" id="{765D96AD-EB0E-433E-7DD3-3FEB95FE9F4C}"/>
              </a:ext>
            </a:extLst>
          </p:cNvPr>
          <p:cNvSpPr>
            <a:spLocks noGrp="1"/>
          </p:cNvSpPr>
          <p:nvPr>
            <p:ph type="body" idx="20" hasCustomPrompt="1"/>
          </p:nvPr>
        </p:nvSpPr>
        <p:spPr>
          <a:xfrm>
            <a:off x="2925371" y="6300874"/>
            <a:ext cx="7985760" cy="337670"/>
          </a:xfrm>
          <a:prstGeom prst="rect">
            <a:avLst/>
          </a:prstGeom>
        </p:spPr>
        <p:txBody>
          <a:bodyPr/>
          <a:lstStyle>
            <a:lvl1pPr marL="0" indent="0">
              <a:buNone/>
              <a:defRPr sz="1200" cap="all" spc="0" baseline="0">
                <a:solidFill>
                  <a:schemeClr val="bg1"/>
                </a:solidFill>
                <a:latin typeface="Open Sans" panose="020B0606030504020204" pitchFamily="34" charset="0"/>
              </a:defRPr>
            </a:lvl1pPr>
          </a:lstStyle>
          <a:p>
            <a:pPr lvl="0"/>
            <a:r>
              <a:rPr lang="hu-HU" dirty="0"/>
              <a:t>Rendezvény, dátum</a:t>
            </a:r>
          </a:p>
        </p:txBody>
      </p:sp>
    </p:spTree>
    <p:extLst>
      <p:ext uri="{BB962C8B-B14F-4D97-AF65-F5344CB8AC3E}">
        <p14:creationId xmlns:p14="http://schemas.microsoft.com/office/powerpoint/2010/main" val="411759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kép címmel">
    <p:spTree>
      <p:nvGrpSpPr>
        <p:cNvPr id="1" name=""/>
        <p:cNvGrpSpPr/>
        <p:nvPr/>
      </p:nvGrpSpPr>
      <p:grpSpPr>
        <a:xfrm>
          <a:off x="0" y="0"/>
          <a:ext cx="0" cy="0"/>
          <a:chOff x="0" y="0"/>
          <a:chExt cx="0" cy="0"/>
        </a:xfrm>
      </p:grpSpPr>
      <p:cxnSp>
        <p:nvCxnSpPr>
          <p:cNvPr id="14" name="Egyenes összekötő 13">
            <a:extLst>
              <a:ext uri="{FF2B5EF4-FFF2-40B4-BE49-F238E27FC236}">
                <a16:creationId xmlns:a16="http://schemas.microsoft.com/office/drawing/2014/main" id="{D3B63919-F8C0-E45C-09D0-60059DD85486}"/>
              </a:ext>
            </a:extLst>
          </p:cNvPr>
          <p:cNvCxnSpPr>
            <a:cxnSpLocks/>
          </p:cNvCxnSpPr>
          <p:nvPr userDrawn="1"/>
        </p:nvCxnSpPr>
        <p:spPr>
          <a:xfrm>
            <a:off x="838200" y="1274462"/>
            <a:ext cx="10515600" cy="0"/>
          </a:xfrm>
          <a:prstGeom prst="line">
            <a:avLst/>
          </a:prstGeom>
          <a:ln>
            <a:solidFill>
              <a:srgbClr val="012851"/>
            </a:solidFill>
          </a:ln>
        </p:spPr>
        <p:style>
          <a:lnRef idx="1">
            <a:schemeClr val="accent1"/>
          </a:lnRef>
          <a:fillRef idx="0">
            <a:schemeClr val="accent1"/>
          </a:fillRef>
          <a:effectRef idx="0">
            <a:schemeClr val="accent1"/>
          </a:effectRef>
          <a:fontRef idx="minor">
            <a:schemeClr val="tx1"/>
          </a:fontRef>
        </p:style>
      </p:cxnSp>
      <p:sp>
        <p:nvSpPr>
          <p:cNvPr id="18" name="Kép helye 2">
            <a:extLst>
              <a:ext uri="{FF2B5EF4-FFF2-40B4-BE49-F238E27FC236}">
                <a16:creationId xmlns:a16="http://schemas.microsoft.com/office/drawing/2014/main" id="{885801D2-AD3D-65D3-7B5C-D11229926A42}"/>
              </a:ext>
            </a:extLst>
          </p:cNvPr>
          <p:cNvSpPr>
            <a:spLocks noGrp="1"/>
          </p:cNvSpPr>
          <p:nvPr>
            <p:ph type="pic" idx="13"/>
          </p:nvPr>
        </p:nvSpPr>
        <p:spPr>
          <a:xfrm>
            <a:off x="838200" y="1557713"/>
            <a:ext cx="5021911" cy="328561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dirty="0"/>
          </a:p>
        </p:txBody>
      </p:sp>
      <p:sp>
        <p:nvSpPr>
          <p:cNvPr id="31" name="Kép helye 2">
            <a:extLst>
              <a:ext uri="{FF2B5EF4-FFF2-40B4-BE49-F238E27FC236}">
                <a16:creationId xmlns:a16="http://schemas.microsoft.com/office/drawing/2014/main" id="{BA351229-7C81-1BF9-C349-D053BA83B114}"/>
              </a:ext>
            </a:extLst>
          </p:cNvPr>
          <p:cNvSpPr>
            <a:spLocks noGrp="1"/>
          </p:cNvSpPr>
          <p:nvPr>
            <p:ph type="pic" idx="14"/>
          </p:nvPr>
        </p:nvSpPr>
        <p:spPr>
          <a:xfrm>
            <a:off x="6331888" y="1557713"/>
            <a:ext cx="5021911" cy="328561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dirty="0"/>
          </a:p>
        </p:txBody>
      </p:sp>
      <p:sp>
        <p:nvSpPr>
          <p:cNvPr id="2" name="Szöveg helye 10">
            <a:extLst>
              <a:ext uri="{FF2B5EF4-FFF2-40B4-BE49-F238E27FC236}">
                <a16:creationId xmlns:a16="http://schemas.microsoft.com/office/drawing/2014/main" id="{567F4794-7128-84D5-187A-87B98CBB4B75}"/>
              </a:ext>
            </a:extLst>
          </p:cNvPr>
          <p:cNvSpPr>
            <a:spLocks noGrp="1"/>
          </p:cNvSpPr>
          <p:nvPr>
            <p:ph type="body" idx="16" hasCustomPrompt="1"/>
          </p:nvPr>
        </p:nvSpPr>
        <p:spPr>
          <a:xfrm>
            <a:off x="838200" y="723315"/>
            <a:ext cx="10515600" cy="529404"/>
          </a:xfrm>
          <a:prstGeom prst="rect">
            <a:avLst/>
          </a:prstGeom>
        </p:spPr>
        <p:txBody>
          <a:bodyPr/>
          <a:lstStyle>
            <a:lvl1pPr marL="0" indent="0">
              <a:buNone/>
              <a:defRPr sz="3000" baseline="0">
                <a:solidFill>
                  <a:srgbClr val="012850"/>
                </a:solidFill>
                <a:latin typeface="Open Sans" panose="020B0606030504020204" pitchFamily="34" charset="0"/>
              </a:defRPr>
            </a:lvl1pPr>
          </a:lstStyle>
          <a:p>
            <a:pPr lvl="0"/>
            <a:r>
              <a:rPr lang="hu-HU" dirty="0"/>
              <a:t>DIA CÍME</a:t>
            </a:r>
          </a:p>
        </p:txBody>
      </p:sp>
      <p:sp>
        <p:nvSpPr>
          <p:cNvPr id="10" name="Szöveg helye 10">
            <a:extLst>
              <a:ext uri="{FF2B5EF4-FFF2-40B4-BE49-F238E27FC236}">
                <a16:creationId xmlns:a16="http://schemas.microsoft.com/office/drawing/2014/main" id="{12964550-01B5-19AF-9500-49E3DD0D5A13}"/>
              </a:ext>
            </a:extLst>
          </p:cNvPr>
          <p:cNvSpPr>
            <a:spLocks noGrp="1"/>
          </p:cNvSpPr>
          <p:nvPr>
            <p:ph type="body" idx="21" hasCustomPrompt="1"/>
          </p:nvPr>
        </p:nvSpPr>
        <p:spPr>
          <a:xfrm>
            <a:off x="838200" y="5118900"/>
            <a:ext cx="5021911" cy="529404"/>
          </a:xfrm>
          <a:prstGeom prst="rect">
            <a:avLst/>
          </a:prstGeom>
        </p:spPr>
        <p:txBody>
          <a:bodyPr/>
          <a:lstStyle>
            <a:lvl1pPr marL="0" indent="0">
              <a:buNone/>
              <a:defRPr sz="2400" baseline="0">
                <a:solidFill>
                  <a:schemeClr val="tx1"/>
                </a:solidFill>
                <a:latin typeface="Open Sans" panose="020B0606030504020204" pitchFamily="34" charset="0"/>
              </a:defRPr>
            </a:lvl1pPr>
          </a:lstStyle>
          <a:p>
            <a:pPr lvl="0"/>
            <a:r>
              <a:rPr lang="hu-HU" dirty="0"/>
              <a:t>Kép címe</a:t>
            </a:r>
          </a:p>
        </p:txBody>
      </p:sp>
      <p:sp>
        <p:nvSpPr>
          <p:cNvPr id="12" name="Szöveg helye 10">
            <a:extLst>
              <a:ext uri="{FF2B5EF4-FFF2-40B4-BE49-F238E27FC236}">
                <a16:creationId xmlns:a16="http://schemas.microsoft.com/office/drawing/2014/main" id="{9BE9CAC6-C1B1-88DE-E91F-5DF606EBF5F2}"/>
              </a:ext>
            </a:extLst>
          </p:cNvPr>
          <p:cNvSpPr>
            <a:spLocks noGrp="1"/>
          </p:cNvSpPr>
          <p:nvPr>
            <p:ph type="body" idx="22" hasCustomPrompt="1"/>
          </p:nvPr>
        </p:nvSpPr>
        <p:spPr>
          <a:xfrm>
            <a:off x="6332692" y="5118900"/>
            <a:ext cx="5021911" cy="529404"/>
          </a:xfrm>
          <a:prstGeom prst="rect">
            <a:avLst/>
          </a:prstGeom>
        </p:spPr>
        <p:txBody>
          <a:bodyPr/>
          <a:lstStyle>
            <a:lvl1pPr marL="0" indent="0">
              <a:buNone/>
              <a:defRPr sz="2400" baseline="0">
                <a:solidFill>
                  <a:schemeClr val="tx1"/>
                </a:solidFill>
                <a:latin typeface="Open Sans" panose="020B0606030504020204" pitchFamily="34" charset="0"/>
              </a:defRPr>
            </a:lvl1pPr>
          </a:lstStyle>
          <a:p>
            <a:pPr lvl="0"/>
            <a:r>
              <a:rPr lang="hu-HU" dirty="0"/>
              <a:t>Kép címe</a:t>
            </a:r>
          </a:p>
        </p:txBody>
      </p:sp>
      <p:pic>
        <p:nvPicPr>
          <p:cNvPr id="4" name="Kép 3">
            <a:extLst>
              <a:ext uri="{FF2B5EF4-FFF2-40B4-BE49-F238E27FC236}">
                <a16:creationId xmlns:a16="http://schemas.microsoft.com/office/drawing/2014/main" id="{36C96EAD-3920-32E6-9EF2-4122439611EB}"/>
              </a:ext>
            </a:extLst>
          </p:cNvPr>
          <p:cNvPicPr>
            <a:picLocks noChangeAspect="1"/>
          </p:cNvPicPr>
          <p:nvPr userDrawn="1"/>
        </p:nvPicPr>
        <p:blipFill>
          <a:blip r:embed="rId2"/>
          <a:stretch>
            <a:fillRect/>
          </a:stretch>
        </p:blipFill>
        <p:spPr>
          <a:xfrm>
            <a:off x="0" y="6001196"/>
            <a:ext cx="12192000" cy="856804"/>
          </a:xfrm>
          <a:prstGeom prst="rect">
            <a:avLst/>
          </a:prstGeom>
        </p:spPr>
      </p:pic>
      <p:sp>
        <p:nvSpPr>
          <p:cNvPr id="5" name="Szöveg helye 10">
            <a:extLst>
              <a:ext uri="{FF2B5EF4-FFF2-40B4-BE49-F238E27FC236}">
                <a16:creationId xmlns:a16="http://schemas.microsoft.com/office/drawing/2014/main" id="{728694AA-87CB-BD28-118C-72EAD9263FD0}"/>
              </a:ext>
            </a:extLst>
          </p:cNvPr>
          <p:cNvSpPr>
            <a:spLocks noGrp="1"/>
          </p:cNvSpPr>
          <p:nvPr>
            <p:ph type="body" idx="20" hasCustomPrompt="1"/>
          </p:nvPr>
        </p:nvSpPr>
        <p:spPr>
          <a:xfrm>
            <a:off x="2925371" y="6300874"/>
            <a:ext cx="7985760" cy="337670"/>
          </a:xfrm>
          <a:prstGeom prst="rect">
            <a:avLst/>
          </a:prstGeom>
        </p:spPr>
        <p:txBody>
          <a:bodyPr/>
          <a:lstStyle>
            <a:lvl1pPr marL="0" indent="0">
              <a:buNone/>
              <a:defRPr sz="1200" cap="all" spc="0" baseline="0">
                <a:solidFill>
                  <a:schemeClr val="bg1"/>
                </a:solidFill>
                <a:latin typeface="Open Sans" panose="020B0606030504020204" pitchFamily="34" charset="0"/>
              </a:defRPr>
            </a:lvl1pPr>
          </a:lstStyle>
          <a:p>
            <a:pPr lvl="0"/>
            <a:r>
              <a:rPr lang="hu-HU" dirty="0"/>
              <a:t>Rendezvény, dátum</a:t>
            </a:r>
          </a:p>
        </p:txBody>
      </p:sp>
    </p:spTree>
    <p:extLst>
      <p:ext uri="{BB962C8B-B14F-4D97-AF65-F5344CB8AC3E}">
        <p14:creationId xmlns:p14="http://schemas.microsoft.com/office/powerpoint/2010/main" val="1640834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zöveg és diagram">
    <p:spTree>
      <p:nvGrpSpPr>
        <p:cNvPr id="1" name=""/>
        <p:cNvGrpSpPr/>
        <p:nvPr/>
      </p:nvGrpSpPr>
      <p:grpSpPr>
        <a:xfrm>
          <a:off x="0" y="0"/>
          <a:ext cx="0" cy="0"/>
          <a:chOff x="0" y="0"/>
          <a:chExt cx="0" cy="0"/>
        </a:xfrm>
      </p:grpSpPr>
      <p:cxnSp>
        <p:nvCxnSpPr>
          <p:cNvPr id="12" name="Egyenes összekötő 11">
            <a:extLst>
              <a:ext uri="{FF2B5EF4-FFF2-40B4-BE49-F238E27FC236}">
                <a16:creationId xmlns:a16="http://schemas.microsoft.com/office/drawing/2014/main" id="{0CA8BCE7-0004-CA11-4864-2FBA560C6C6E}"/>
              </a:ext>
            </a:extLst>
          </p:cNvPr>
          <p:cNvCxnSpPr>
            <a:cxnSpLocks/>
          </p:cNvCxnSpPr>
          <p:nvPr userDrawn="1"/>
        </p:nvCxnSpPr>
        <p:spPr>
          <a:xfrm>
            <a:off x="838200" y="1274462"/>
            <a:ext cx="10515600" cy="0"/>
          </a:xfrm>
          <a:prstGeom prst="line">
            <a:avLst/>
          </a:prstGeom>
          <a:ln>
            <a:solidFill>
              <a:srgbClr val="012851"/>
            </a:solidFill>
          </a:ln>
        </p:spPr>
        <p:style>
          <a:lnRef idx="1">
            <a:schemeClr val="accent1"/>
          </a:lnRef>
          <a:fillRef idx="0">
            <a:schemeClr val="accent1"/>
          </a:fillRef>
          <a:effectRef idx="0">
            <a:schemeClr val="accent1"/>
          </a:effectRef>
          <a:fontRef idx="minor">
            <a:schemeClr val="tx1"/>
          </a:fontRef>
        </p:style>
      </p:cxnSp>
      <p:sp>
        <p:nvSpPr>
          <p:cNvPr id="2" name="Szöveg helye 10">
            <a:extLst>
              <a:ext uri="{FF2B5EF4-FFF2-40B4-BE49-F238E27FC236}">
                <a16:creationId xmlns:a16="http://schemas.microsoft.com/office/drawing/2014/main" id="{30FAA482-BFF6-CAB1-8393-9DB2C3435DC2}"/>
              </a:ext>
            </a:extLst>
          </p:cNvPr>
          <p:cNvSpPr>
            <a:spLocks noGrp="1"/>
          </p:cNvSpPr>
          <p:nvPr>
            <p:ph type="body" idx="16" hasCustomPrompt="1"/>
          </p:nvPr>
        </p:nvSpPr>
        <p:spPr>
          <a:xfrm>
            <a:off x="838200" y="723315"/>
            <a:ext cx="10515600" cy="529404"/>
          </a:xfrm>
          <a:prstGeom prst="rect">
            <a:avLst/>
          </a:prstGeom>
        </p:spPr>
        <p:txBody>
          <a:bodyPr/>
          <a:lstStyle>
            <a:lvl1pPr marL="0" indent="0">
              <a:buNone/>
              <a:defRPr sz="3000" baseline="0">
                <a:solidFill>
                  <a:srgbClr val="012850"/>
                </a:solidFill>
                <a:latin typeface="Open Sans" panose="020B0606030504020204" pitchFamily="34" charset="0"/>
              </a:defRPr>
            </a:lvl1pPr>
          </a:lstStyle>
          <a:p>
            <a:pPr lvl="0"/>
            <a:r>
              <a:rPr lang="hu-HU" dirty="0"/>
              <a:t>DIA CÍME</a:t>
            </a:r>
          </a:p>
        </p:txBody>
      </p:sp>
      <p:sp>
        <p:nvSpPr>
          <p:cNvPr id="4" name="Szöveg helye 10">
            <a:extLst>
              <a:ext uri="{FF2B5EF4-FFF2-40B4-BE49-F238E27FC236}">
                <a16:creationId xmlns:a16="http://schemas.microsoft.com/office/drawing/2014/main" id="{ACFC1F6F-F293-C843-538C-5B5685FD46B2}"/>
              </a:ext>
            </a:extLst>
          </p:cNvPr>
          <p:cNvSpPr>
            <a:spLocks noGrp="1"/>
          </p:cNvSpPr>
          <p:nvPr>
            <p:ph type="body" idx="19"/>
          </p:nvPr>
        </p:nvSpPr>
        <p:spPr>
          <a:xfrm>
            <a:off x="838201" y="1579456"/>
            <a:ext cx="3212591" cy="4060689"/>
          </a:xfrm>
          <a:prstGeom prst="rect">
            <a:avLst/>
          </a:prstGeom>
        </p:spPr>
        <p:txBody>
          <a:bodyPr/>
          <a:lstStyle>
            <a:lvl1pPr marL="0" indent="0">
              <a:buNone/>
              <a:defRPr sz="2000" baseline="0">
                <a:solidFill>
                  <a:schemeClr val="tx1"/>
                </a:solidFill>
                <a:latin typeface="Open Sans" panose="020B0606030504020204" pitchFamily="34" charset="0"/>
              </a:defRPr>
            </a:lvl1pPr>
          </a:lstStyle>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Mintaszöveg szerkesztése</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Első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Második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Harmadik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Negyedik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Ötödik szint</a:t>
            </a:r>
          </a:p>
        </p:txBody>
      </p:sp>
      <p:sp>
        <p:nvSpPr>
          <p:cNvPr id="11" name="Diagram helye 10">
            <a:extLst>
              <a:ext uri="{FF2B5EF4-FFF2-40B4-BE49-F238E27FC236}">
                <a16:creationId xmlns:a16="http://schemas.microsoft.com/office/drawing/2014/main" id="{B11D781D-DBC5-AFF1-5464-03EB686EDB38}"/>
              </a:ext>
            </a:extLst>
          </p:cNvPr>
          <p:cNvSpPr>
            <a:spLocks noGrp="1"/>
          </p:cNvSpPr>
          <p:nvPr>
            <p:ph type="chart" sz="quarter" idx="21"/>
          </p:nvPr>
        </p:nvSpPr>
        <p:spPr>
          <a:xfrm>
            <a:off x="4426343" y="1579563"/>
            <a:ext cx="6927457" cy="4060579"/>
          </a:xfrm>
          <a:prstGeom prst="rect">
            <a:avLst/>
          </a:prstGeom>
        </p:spPr>
        <p:txBody>
          <a:bodyPr/>
          <a:lstStyle>
            <a:lvl1pPr>
              <a:defRPr baseline="0">
                <a:latin typeface="Open Sans" panose="020B0606030504020204" pitchFamily="34" charset="0"/>
              </a:defRPr>
            </a:lvl1pPr>
          </a:lstStyle>
          <a:p>
            <a:endParaRPr lang="hu-HU" dirty="0"/>
          </a:p>
        </p:txBody>
      </p:sp>
      <p:pic>
        <p:nvPicPr>
          <p:cNvPr id="5" name="Kép 4">
            <a:extLst>
              <a:ext uri="{FF2B5EF4-FFF2-40B4-BE49-F238E27FC236}">
                <a16:creationId xmlns:a16="http://schemas.microsoft.com/office/drawing/2014/main" id="{441EA52C-1E9D-EA5E-B2CC-17EFCB175F28}"/>
              </a:ext>
            </a:extLst>
          </p:cNvPr>
          <p:cNvPicPr>
            <a:picLocks noChangeAspect="1"/>
          </p:cNvPicPr>
          <p:nvPr userDrawn="1"/>
        </p:nvPicPr>
        <p:blipFill>
          <a:blip r:embed="rId2"/>
          <a:stretch>
            <a:fillRect/>
          </a:stretch>
        </p:blipFill>
        <p:spPr>
          <a:xfrm>
            <a:off x="0" y="6001196"/>
            <a:ext cx="12192000" cy="856804"/>
          </a:xfrm>
          <a:prstGeom prst="rect">
            <a:avLst/>
          </a:prstGeom>
        </p:spPr>
      </p:pic>
      <p:sp>
        <p:nvSpPr>
          <p:cNvPr id="6" name="Szöveg helye 10">
            <a:extLst>
              <a:ext uri="{FF2B5EF4-FFF2-40B4-BE49-F238E27FC236}">
                <a16:creationId xmlns:a16="http://schemas.microsoft.com/office/drawing/2014/main" id="{D9D13E09-0F82-5456-63BF-CA3E8480C879}"/>
              </a:ext>
            </a:extLst>
          </p:cNvPr>
          <p:cNvSpPr>
            <a:spLocks noGrp="1"/>
          </p:cNvSpPr>
          <p:nvPr>
            <p:ph type="body" idx="20" hasCustomPrompt="1"/>
          </p:nvPr>
        </p:nvSpPr>
        <p:spPr>
          <a:xfrm>
            <a:off x="2925371" y="6300874"/>
            <a:ext cx="7985760" cy="337670"/>
          </a:xfrm>
          <a:prstGeom prst="rect">
            <a:avLst/>
          </a:prstGeom>
        </p:spPr>
        <p:txBody>
          <a:bodyPr/>
          <a:lstStyle>
            <a:lvl1pPr marL="0" indent="0">
              <a:buNone/>
              <a:defRPr sz="1200" cap="all" spc="0" baseline="0">
                <a:solidFill>
                  <a:schemeClr val="bg1"/>
                </a:solidFill>
                <a:latin typeface="Open Sans" panose="020B0606030504020204" pitchFamily="34" charset="0"/>
              </a:defRPr>
            </a:lvl1pPr>
          </a:lstStyle>
          <a:p>
            <a:pPr lvl="0"/>
            <a:r>
              <a:rPr lang="hu-HU" dirty="0"/>
              <a:t>Rendezvény, dátum</a:t>
            </a:r>
          </a:p>
        </p:txBody>
      </p:sp>
    </p:spTree>
    <p:extLst>
      <p:ext uri="{BB962C8B-B14F-4D97-AF65-F5344CB8AC3E}">
        <p14:creationId xmlns:p14="http://schemas.microsoft.com/office/powerpoint/2010/main" val="569136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ejléc nélküli dia">
    <p:spTree>
      <p:nvGrpSpPr>
        <p:cNvPr id="1" name=""/>
        <p:cNvGrpSpPr/>
        <p:nvPr/>
      </p:nvGrpSpPr>
      <p:grpSpPr>
        <a:xfrm>
          <a:off x="0" y="0"/>
          <a:ext cx="0" cy="0"/>
          <a:chOff x="0" y="0"/>
          <a:chExt cx="0" cy="0"/>
        </a:xfrm>
      </p:grpSpPr>
      <p:sp>
        <p:nvSpPr>
          <p:cNvPr id="4" name="Szöveg helye 10">
            <a:extLst>
              <a:ext uri="{FF2B5EF4-FFF2-40B4-BE49-F238E27FC236}">
                <a16:creationId xmlns:a16="http://schemas.microsoft.com/office/drawing/2014/main" id="{ACFC1F6F-F293-C843-538C-5B5685FD46B2}"/>
              </a:ext>
            </a:extLst>
          </p:cNvPr>
          <p:cNvSpPr>
            <a:spLocks noGrp="1"/>
          </p:cNvSpPr>
          <p:nvPr>
            <p:ph type="body" idx="19"/>
          </p:nvPr>
        </p:nvSpPr>
        <p:spPr>
          <a:xfrm>
            <a:off x="838201" y="824948"/>
            <a:ext cx="3212591" cy="4815197"/>
          </a:xfrm>
          <a:prstGeom prst="rect">
            <a:avLst/>
          </a:prstGeom>
        </p:spPr>
        <p:txBody>
          <a:bodyPr/>
          <a:lstStyle>
            <a:lvl1pPr marL="0" indent="0">
              <a:buNone/>
              <a:defRPr sz="2000" baseline="0">
                <a:solidFill>
                  <a:schemeClr val="tx1"/>
                </a:solidFill>
                <a:latin typeface="Open Sans" panose="020B0606030504020204" pitchFamily="34" charset="0"/>
              </a:defRPr>
            </a:lvl1pPr>
          </a:lstStyle>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Mintaszöveg szerkesztése</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Első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Második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Harmadik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Negyedik szint</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hu-HU" sz="2000" b="0" i="0" u="none" strike="noStrike" kern="1200" cap="none" spc="0" normalizeH="0" baseline="0" noProof="0" dirty="0">
                <a:ln>
                  <a:noFill/>
                </a:ln>
                <a:solidFill>
                  <a:srgbClr val="012851"/>
                </a:solidFill>
                <a:effectLst/>
                <a:uLnTx/>
                <a:uFillTx/>
                <a:latin typeface="Open Sans" panose="020B0606030504020204" pitchFamily="34" charset="0"/>
                <a:ea typeface="Open Sans" panose="020B0606030504020204" pitchFamily="34" charset="0"/>
                <a:cs typeface="Open Sans" panose="020B0606030504020204" pitchFamily="34" charset="0"/>
              </a:rPr>
              <a:t>Ötödik szint</a:t>
            </a:r>
          </a:p>
        </p:txBody>
      </p:sp>
      <p:pic>
        <p:nvPicPr>
          <p:cNvPr id="5" name="Kép 4">
            <a:extLst>
              <a:ext uri="{FF2B5EF4-FFF2-40B4-BE49-F238E27FC236}">
                <a16:creationId xmlns:a16="http://schemas.microsoft.com/office/drawing/2014/main" id="{441EA52C-1E9D-EA5E-B2CC-17EFCB175F28}"/>
              </a:ext>
            </a:extLst>
          </p:cNvPr>
          <p:cNvPicPr>
            <a:picLocks noChangeAspect="1"/>
          </p:cNvPicPr>
          <p:nvPr userDrawn="1"/>
        </p:nvPicPr>
        <p:blipFill>
          <a:blip r:embed="rId2"/>
          <a:stretch>
            <a:fillRect/>
          </a:stretch>
        </p:blipFill>
        <p:spPr>
          <a:xfrm>
            <a:off x="0" y="6001196"/>
            <a:ext cx="12192000" cy="856804"/>
          </a:xfrm>
          <a:prstGeom prst="rect">
            <a:avLst/>
          </a:prstGeom>
        </p:spPr>
      </p:pic>
      <p:sp>
        <p:nvSpPr>
          <p:cNvPr id="6" name="Szöveg helye 10">
            <a:extLst>
              <a:ext uri="{FF2B5EF4-FFF2-40B4-BE49-F238E27FC236}">
                <a16:creationId xmlns:a16="http://schemas.microsoft.com/office/drawing/2014/main" id="{D9D13E09-0F82-5456-63BF-CA3E8480C879}"/>
              </a:ext>
            </a:extLst>
          </p:cNvPr>
          <p:cNvSpPr>
            <a:spLocks noGrp="1"/>
          </p:cNvSpPr>
          <p:nvPr>
            <p:ph type="body" idx="20" hasCustomPrompt="1"/>
          </p:nvPr>
        </p:nvSpPr>
        <p:spPr>
          <a:xfrm>
            <a:off x="2925371" y="6300874"/>
            <a:ext cx="7985760" cy="337670"/>
          </a:xfrm>
          <a:prstGeom prst="rect">
            <a:avLst/>
          </a:prstGeom>
        </p:spPr>
        <p:txBody>
          <a:bodyPr/>
          <a:lstStyle>
            <a:lvl1pPr marL="0" indent="0">
              <a:buNone/>
              <a:defRPr sz="1200" cap="all" spc="0" baseline="0">
                <a:solidFill>
                  <a:schemeClr val="bg1"/>
                </a:solidFill>
                <a:latin typeface="Open Sans" panose="020B0606030504020204" pitchFamily="34" charset="0"/>
              </a:defRPr>
            </a:lvl1pPr>
          </a:lstStyle>
          <a:p>
            <a:pPr lvl="0"/>
            <a:r>
              <a:rPr lang="hu-HU" dirty="0"/>
              <a:t>Rendezvény, dátum</a:t>
            </a:r>
          </a:p>
        </p:txBody>
      </p:sp>
      <p:sp>
        <p:nvSpPr>
          <p:cNvPr id="3" name="Kép helye 2">
            <a:extLst>
              <a:ext uri="{FF2B5EF4-FFF2-40B4-BE49-F238E27FC236}">
                <a16:creationId xmlns:a16="http://schemas.microsoft.com/office/drawing/2014/main" id="{8B18A01D-AB8A-1A1D-4805-AABE921EF477}"/>
              </a:ext>
            </a:extLst>
          </p:cNvPr>
          <p:cNvSpPr>
            <a:spLocks noGrp="1"/>
          </p:cNvSpPr>
          <p:nvPr>
            <p:ph type="pic" idx="1"/>
          </p:nvPr>
        </p:nvSpPr>
        <p:spPr>
          <a:xfrm>
            <a:off x="4522305" y="824949"/>
            <a:ext cx="6831496" cy="475859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dirty="0"/>
          </a:p>
        </p:txBody>
      </p:sp>
    </p:spTree>
    <p:extLst>
      <p:ext uri="{BB962C8B-B14F-4D97-AF65-F5344CB8AC3E}">
        <p14:creationId xmlns:p14="http://schemas.microsoft.com/office/powerpoint/2010/main" val="2984417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áblázat">
    <p:spTree>
      <p:nvGrpSpPr>
        <p:cNvPr id="1" name=""/>
        <p:cNvGrpSpPr/>
        <p:nvPr/>
      </p:nvGrpSpPr>
      <p:grpSpPr>
        <a:xfrm>
          <a:off x="0" y="0"/>
          <a:ext cx="0" cy="0"/>
          <a:chOff x="0" y="0"/>
          <a:chExt cx="0" cy="0"/>
        </a:xfrm>
      </p:grpSpPr>
      <p:sp>
        <p:nvSpPr>
          <p:cNvPr id="6" name="Táblázat helye 5">
            <a:extLst>
              <a:ext uri="{FF2B5EF4-FFF2-40B4-BE49-F238E27FC236}">
                <a16:creationId xmlns:a16="http://schemas.microsoft.com/office/drawing/2014/main" id="{A3ADE164-0269-1AA2-004B-8C8A82051E1B}"/>
              </a:ext>
            </a:extLst>
          </p:cNvPr>
          <p:cNvSpPr>
            <a:spLocks noGrp="1"/>
          </p:cNvSpPr>
          <p:nvPr>
            <p:ph type="tbl" sz="quarter" idx="10"/>
          </p:nvPr>
        </p:nvSpPr>
        <p:spPr>
          <a:xfrm>
            <a:off x="838200" y="1579457"/>
            <a:ext cx="10515598" cy="3855829"/>
          </a:xfrm>
          <a:prstGeom prst="rect">
            <a:avLst/>
          </a:prstGeom>
        </p:spPr>
        <p:txBody>
          <a:bodyPr/>
          <a:lstStyle>
            <a:lvl1pPr marL="0" indent="0">
              <a:buNone/>
              <a:defRPr baseline="0">
                <a:latin typeface="Open Sans" panose="020B0606030504020204" pitchFamily="34" charset="0"/>
              </a:defRPr>
            </a:lvl1pPr>
          </a:lstStyle>
          <a:p>
            <a:endParaRPr lang="hu-HU" dirty="0"/>
          </a:p>
        </p:txBody>
      </p:sp>
      <p:cxnSp>
        <p:nvCxnSpPr>
          <p:cNvPr id="8" name="Egyenes összekötő 7">
            <a:extLst>
              <a:ext uri="{FF2B5EF4-FFF2-40B4-BE49-F238E27FC236}">
                <a16:creationId xmlns:a16="http://schemas.microsoft.com/office/drawing/2014/main" id="{BF8F6AA8-C013-1657-CB5A-D3067FF15D45}"/>
              </a:ext>
            </a:extLst>
          </p:cNvPr>
          <p:cNvCxnSpPr>
            <a:cxnSpLocks/>
          </p:cNvCxnSpPr>
          <p:nvPr userDrawn="1"/>
        </p:nvCxnSpPr>
        <p:spPr>
          <a:xfrm>
            <a:off x="838200" y="1274462"/>
            <a:ext cx="10515600" cy="0"/>
          </a:xfrm>
          <a:prstGeom prst="line">
            <a:avLst/>
          </a:prstGeom>
          <a:ln>
            <a:solidFill>
              <a:srgbClr val="012851"/>
            </a:solidFill>
          </a:ln>
        </p:spPr>
        <p:style>
          <a:lnRef idx="1">
            <a:schemeClr val="accent1"/>
          </a:lnRef>
          <a:fillRef idx="0">
            <a:schemeClr val="accent1"/>
          </a:fillRef>
          <a:effectRef idx="0">
            <a:schemeClr val="accent1"/>
          </a:effectRef>
          <a:fontRef idx="minor">
            <a:schemeClr val="tx1"/>
          </a:fontRef>
        </p:style>
      </p:cxnSp>
      <p:sp>
        <p:nvSpPr>
          <p:cNvPr id="9" name="Szöveg helye 10">
            <a:extLst>
              <a:ext uri="{FF2B5EF4-FFF2-40B4-BE49-F238E27FC236}">
                <a16:creationId xmlns:a16="http://schemas.microsoft.com/office/drawing/2014/main" id="{D8E6700D-6881-9CCD-3252-E02F5676557B}"/>
              </a:ext>
            </a:extLst>
          </p:cNvPr>
          <p:cNvSpPr>
            <a:spLocks noGrp="1"/>
          </p:cNvSpPr>
          <p:nvPr>
            <p:ph type="body" idx="16" hasCustomPrompt="1"/>
          </p:nvPr>
        </p:nvSpPr>
        <p:spPr>
          <a:xfrm>
            <a:off x="838200" y="723315"/>
            <a:ext cx="10515598" cy="529404"/>
          </a:xfrm>
          <a:prstGeom prst="rect">
            <a:avLst/>
          </a:prstGeom>
        </p:spPr>
        <p:txBody>
          <a:bodyPr/>
          <a:lstStyle>
            <a:lvl1pPr marL="0" indent="0">
              <a:buNone/>
              <a:defRPr sz="3000" baseline="0">
                <a:solidFill>
                  <a:srgbClr val="012850"/>
                </a:solidFill>
                <a:latin typeface="Open Sans" panose="020B0606030504020204" pitchFamily="34" charset="0"/>
              </a:defRPr>
            </a:lvl1pPr>
          </a:lstStyle>
          <a:p>
            <a:pPr lvl="0"/>
            <a:r>
              <a:rPr lang="hu-HU" dirty="0"/>
              <a:t>DIA CÍME</a:t>
            </a:r>
          </a:p>
        </p:txBody>
      </p:sp>
      <p:pic>
        <p:nvPicPr>
          <p:cNvPr id="2" name="Kép 1">
            <a:extLst>
              <a:ext uri="{FF2B5EF4-FFF2-40B4-BE49-F238E27FC236}">
                <a16:creationId xmlns:a16="http://schemas.microsoft.com/office/drawing/2014/main" id="{2DEAFE30-1B1B-962C-732B-E5BEF7917E66}"/>
              </a:ext>
            </a:extLst>
          </p:cNvPr>
          <p:cNvPicPr>
            <a:picLocks noChangeAspect="1"/>
          </p:cNvPicPr>
          <p:nvPr userDrawn="1"/>
        </p:nvPicPr>
        <p:blipFill>
          <a:blip r:embed="rId2"/>
          <a:stretch>
            <a:fillRect/>
          </a:stretch>
        </p:blipFill>
        <p:spPr>
          <a:xfrm>
            <a:off x="0" y="6001196"/>
            <a:ext cx="12192000" cy="856804"/>
          </a:xfrm>
          <a:prstGeom prst="rect">
            <a:avLst/>
          </a:prstGeom>
        </p:spPr>
      </p:pic>
      <p:sp>
        <p:nvSpPr>
          <p:cNvPr id="3" name="Szöveg helye 10">
            <a:extLst>
              <a:ext uri="{FF2B5EF4-FFF2-40B4-BE49-F238E27FC236}">
                <a16:creationId xmlns:a16="http://schemas.microsoft.com/office/drawing/2014/main" id="{11CE3FB9-7112-50B3-73CE-4614F7CA6107}"/>
              </a:ext>
            </a:extLst>
          </p:cNvPr>
          <p:cNvSpPr>
            <a:spLocks noGrp="1"/>
          </p:cNvSpPr>
          <p:nvPr>
            <p:ph type="body" idx="20" hasCustomPrompt="1"/>
          </p:nvPr>
        </p:nvSpPr>
        <p:spPr>
          <a:xfrm>
            <a:off x="2925371" y="6300874"/>
            <a:ext cx="7985760" cy="337670"/>
          </a:xfrm>
          <a:prstGeom prst="rect">
            <a:avLst/>
          </a:prstGeom>
        </p:spPr>
        <p:txBody>
          <a:bodyPr/>
          <a:lstStyle>
            <a:lvl1pPr marL="0" indent="0">
              <a:buNone/>
              <a:defRPr sz="1200" cap="all" spc="0" baseline="0">
                <a:solidFill>
                  <a:schemeClr val="bg1"/>
                </a:solidFill>
                <a:latin typeface="Open Sans" panose="020B0606030504020204" pitchFamily="34" charset="0"/>
              </a:defRPr>
            </a:lvl1pPr>
          </a:lstStyle>
          <a:p>
            <a:pPr lvl="0"/>
            <a:r>
              <a:rPr lang="hu-HU" dirty="0"/>
              <a:t>Rendezvény, dátum</a:t>
            </a:r>
          </a:p>
        </p:txBody>
      </p:sp>
    </p:spTree>
    <p:extLst>
      <p:ext uri="{BB962C8B-B14F-4D97-AF65-F5344CB8AC3E}">
        <p14:creationId xmlns:p14="http://schemas.microsoft.com/office/powerpoint/2010/main" val="25092713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Záródia">
    <p:spTree>
      <p:nvGrpSpPr>
        <p:cNvPr id="1" name=""/>
        <p:cNvGrpSpPr/>
        <p:nvPr/>
      </p:nvGrpSpPr>
      <p:grpSpPr>
        <a:xfrm>
          <a:off x="0" y="0"/>
          <a:ext cx="0" cy="0"/>
          <a:chOff x="0" y="0"/>
          <a:chExt cx="0" cy="0"/>
        </a:xfrm>
      </p:grpSpPr>
      <p:pic>
        <p:nvPicPr>
          <p:cNvPr id="2" name="Kép 1">
            <a:extLst>
              <a:ext uri="{FF2B5EF4-FFF2-40B4-BE49-F238E27FC236}">
                <a16:creationId xmlns:a16="http://schemas.microsoft.com/office/drawing/2014/main" id="{71AF9BE7-CB87-3DFD-D2D3-1899D1D30D5B}"/>
              </a:ext>
            </a:extLst>
          </p:cNvPr>
          <p:cNvPicPr>
            <a:picLocks noChangeAspect="1"/>
          </p:cNvPicPr>
          <p:nvPr userDrawn="1"/>
        </p:nvPicPr>
        <p:blipFill>
          <a:blip r:embed="rId2"/>
          <a:stretch>
            <a:fillRect/>
          </a:stretch>
        </p:blipFill>
        <p:spPr>
          <a:xfrm>
            <a:off x="2467" y="0"/>
            <a:ext cx="12187066" cy="6858000"/>
          </a:xfrm>
          <a:prstGeom prst="rect">
            <a:avLst/>
          </a:prstGeom>
        </p:spPr>
      </p:pic>
      <p:sp>
        <p:nvSpPr>
          <p:cNvPr id="11" name="Szöveg helye 10">
            <a:extLst>
              <a:ext uri="{FF2B5EF4-FFF2-40B4-BE49-F238E27FC236}">
                <a16:creationId xmlns:a16="http://schemas.microsoft.com/office/drawing/2014/main" id="{27654B00-1ACA-72E8-4C79-A237BB0FAEA5}"/>
              </a:ext>
            </a:extLst>
          </p:cNvPr>
          <p:cNvSpPr>
            <a:spLocks noGrp="1"/>
          </p:cNvSpPr>
          <p:nvPr>
            <p:ph type="body" idx="10" hasCustomPrompt="1"/>
          </p:nvPr>
        </p:nvSpPr>
        <p:spPr>
          <a:xfrm>
            <a:off x="723900" y="2191523"/>
            <a:ext cx="10744200" cy="1710626"/>
          </a:xfrm>
          <a:prstGeom prst="rect">
            <a:avLst/>
          </a:prstGeom>
        </p:spPr>
        <p:txBody>
          <a:bodyPr/>
          <a:lstStyle>
            <a:lvl1pPr marL="0" indent="0">
              <a:buNone/>
              <a:defRPr sz="5500" baseline="0">
                <a:solidFill>
                  <a:schemeClr val="bg1"/>
                </a:solidFill>
              </a:defRPr>
            </a:lvl1pPr>
          </a:lstStyle>
          <a:p>
            <a:pPr lvl="0"/>
            <a:r>
              <a:rPr lang="hu-HU" dirty="0"/>
              <a:t>Köszönjük a figyelmet!</a:t>
            </a:r>
          </a:p>
        </p:txBody>
      </p:sp>
      <p:sp>
        <p:nvSpPr>
          <p:cNvPr id="12" name="Szöveg helye 10">
            <a:extLst>
              <a:ext uri="{FF2B5EF4-FFF2-40B4-BE49-F238E27FC236}">
                <a16:creationId xmlns:a16="http://schemas.microsoft.com/office/drawing/2014/main" id="{1B1DEF9F-AC4A-3457-057F-560795FA384B}"/>
              </a:ext>
            </a:extLst>
          </p:cNvPr>
          <p:cNvSpPr>
            <a:spLocks noGrp="1"/>
          </p:cNvSpPr>
          <p:nvPr>
            <p:ph type="body" idx="15" hasCustomPrompt="1"/>
          </p:nvPr>
        </p:nvSpPr>
        <p:spPr>
          <a:xfrm>
            <a:off x="723900" y="4301824"/>
            <a:ext cx="10744200" cy="649224"/>
          </a:xfrm>
          <a:prstGeom prst="rect">
            <a:avLst/>
          </a:prstGeom>
        </p:spPr>
        <p:txBody>
          <a:bodyPr/>
          <a:lstStyle>
            <a:lvl1pPr marL="0" indent="0">
              <a:buNone/>
              <a:defRPr sz="4000" baseline="0">
                <a:solidFill>
                  <a:schemeClr val="bg1"/>
                </a:solidFill>
                <a:latin typeface="Open Sans" panose="020B0606030504020204" pitchFamily="34" charset="0"/>
              </a:defRPr>
            </a:lvl1pPr>
          </a:lstStyle>
          <a:p>
            <a:pPr lvl="0"/>
            <a:r>
              <a:rPr lang="hu-HU" dirty="0"/>
              <a:t>Előadó neve</a:t>
            </a:r>
          </a:p>
        </p:txBody>
      </p:sp>
      <p:sp>
        <p:nvSpPr>
          <p:cNvPr id="13" name="Szöveg helye 10">
            <a:extLst>
              <a:ext uri="{FF2B5EF4-FFF2-40B4-BE49-F238E27FC236}">
                <a16:creationId xmlns:a16="http://schemas.microsoft.com/office/drawing/2014/main" id="{D2769BC2-6B1C-E731-CB6F-BC48B5D77D55}"/>
              </a:ext>
            </a:extLst>
          </p:cNvPr>
          <p:cNvSpPr>
            <a:spLocks noGrp="1"/>
          </p:cNvSpPr>
          <p:nvPr>
            <p:ph type="body" idx="16" hasCustomPrompt="1"/>
          </p:nvPr>
        </p:nvSpPr>
        <p:spPr>
          <a:xfrm>
            <a:off x="723900" y="5005912"/>
            <a:ext cx="10744200" cy="649224"/>
          </a:xfrm>
          <a:prstGeom prst="rect">
            <a:avLst/>
          </a:prstGeom>
        </p:spPr>
        <p:txBody>
          <a:bodyPr/>
          <a:lstStyle>
            <a:lvl1pPr marL="0" indent="0">
              <a:buNone/>
              <a:defRPr sz="2000" baseline="0">
                <a:solidFill>
                  <a:schemeClr val="bg1"/>
                </a:solidFill>
                <a:latin typeface="Open Sans" panose="020B0606030504020204" pitchFamily="34" charset="0"/>
              </a:defRPr>
            </a:lvl1pPr>
          </a:lstStyle>
          <a:p>
            <a:pPr lvl="0"/>
            <a:r>
              <a:rPr lang="hu-HU" dirty="0"/>
              <a:t>Előadó titulusa</a:t>
            </a:r>
          </a:p>
        </p:txBody>
      </p:sp>
      <p:sp>
        <p:nvSpPr>
          <p:cNvPr id="14" name="Szöveg helye 10">
            <a:extLst>
              <a:ext uri="{FF2B5EF4-FFF2-40B4-BE49-F238E27FC236}">
                <a16:creationId xmlns:a16="http://schemas.microsoft.com/office/drawing/2014/main" id="{A35D0690-9E41-0FD7-2C21-CAE7926EAC53}"/>
              </a:ext>
            </a:extLst>
          </p:cNvPr>
          <p:cNvSpPr>
            <a:spLocks noGrp="1"/>
          </p:cNvSpPr>
          <p:nvPr>
            <p:ph type="body" idx="17" hasCustomPrompt="1"/>
          </p:nvPr>
        </p:nvSpPr>
        <p:spPr>
          <a:xfrm>
            <a:off x="723900" y="5705856"/>
            <a:ext cx="10744200" cy="649224"/>
          </a:xfrm>
          <a:prstGeom prst="rect">
            <a:avLst/>
          </a:prstGeom>
        </p:spPr>
        <p:txBody>
          <a:bodyPr/>
          <a:lstStyle>
            <a:lvl1pPr marL="0" indent="0">
              <a:buNone/>
              <a:defRPr sz="2000" baseline="0">
                <a:solidFill>
                  <a:schemeClr val="bg1"/>
                </a:solidFill>
                <a:latin typeface="Open Sans" panose="020B0606030504020204" pitchFamily="34" charset="0"/>
              </a:defRPr>
            </a:lvl1pPr>
          </a:lstStyle>
          <a:p>
            <a:pPr lvl="0"/>
            <a:r>
              <a:rPr lang="hu-HU" dirty="0"/>
              <a:t>Rendezvény, dátum</a:t>
            </a:r>
          </a:p>
        </p:txBody>
      </p:sp>
    </p:spTree>
    <p:extLst>
      <p:ext uri="{BB962C8B-B14F-4D97-AF65-F5344CB8AC3E}">
        <p14:creationId xmlns:p14="http://schemas.microsoft.com/office/powerpoint/2010/main" val="15294803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lvl1pPr>
              <a:defRPr sz="3000">
                <a:solidFill>
                  <a:srgbClr val="012850"/>
                </a:solidFill>
                <a:latin typeface="Open Sans" panose="020B0606030504020204" pitchFamily="34" charset="0"/>
                <a:ea typeface="Open Sans" panose="020B0606030504020204" pitchFamily="34" charset="0"/>
                <a:cs typeface="Open Sans" panose="020B0606030504020204" pitchFamily="34" charset="0"/>
              </a:defRPr>
            </a:lvl1pPr>
          </a:lstStyle>
          <a:p>
            <a:r>
              <a:rPr lang="hu-HU" dirty="0"/>
              <a:t>Mintacím szerkesztése</a:t>
            </a:r>
            <a:endParaRPr lang="en-US" dirty="0"/>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8098774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30959016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23905834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42344059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28487359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6190304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40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28878449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6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26009834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ímdia 1" type="title">
  <p:cSld name="Címdia 1">
    <p:spTree>
      <p:nvGrpSpPr>
        <p:cNvPr id="1" name="Shape 89"/>
        <p:cNvGrpSpPr/>
        <p:nvPr/>
      </p:nvGrpSpPr>
      <p:grpSpPr>
        <a:xfrm>
          <a:off x="0" y="0"/>
          <a:ext cx="0" cy="0"/>
          <a:chOff x="0" y="0"/>
          <a:chExt cx="0" cy="0"/>
        </a:xfrm>
      </p:grpSpPr>
      <p:sp>
        <p:nvSpPr>
          <p:cNvPr id="90" name="Google Shape;90;p13"/>
          <p:cNvSpPr txBox="1">
            <a:spLocks noGrp="1"/>
          </p:cNvSpPr>
          <p:nvPr>
            <p:ph type="ctrTitle"/>
          </p:nvPr>
        </p:nvSpPr>
        <p:spPr>
          <a:xfrm>
            <a:off x="415611" y="992767"/>
            <a:ext cx="11360800" cy="2736800"/>
          </a:xfrm>
          <a:prstGeom prst="rect">
            <a:avLst/>
          </a:prstGeom>
        </p:spPr>
        <p:txBody>
          <a:bodyPr spcFirstLastPara="1" wrap="square" lIns="68575" tIns="34275" rIns="68575" bIns="34275" anchor="b" anchorCtr="0">
            <a:normAutofit/>
          </a:bodyPr>
          <a:lstStyle>
            <a:lvl1pPr lvl="0" algn="ctr" rtl="0">
              <a:spcBef>
                <a:spcPts val="0"/>
              </a:spcBef>
              <a:spcAft>
                <a:spcPts val="0"/>
              </a:spcAft>
              <a:buSzPts val="5200"/>
              <a:buNone/>
              <a:defRPr sz="6933"/>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91" name="Google Shape;91;p13"/>
          <p:cNvSpPr txBox="1">
            <a:spLocks noGrp="1"/>
          </p:cNvSpPr>
          <p:nvPr>
            <p:ph type="subTitle" idx="1"/>
          </p:nvPr>
        </p:nvSpPr>
        <p:spPr>
          <a:xfrm>
            <a:off x="415600" y="3778833"/>
            <a:ext cx="11360800" cy="1056800"/>
          </a:xfrm>
          <a:prstGeom prst="rect">
            <a:avLst/>
          </a:prstGeom>
        </p:spPr>
        <p:txBody>
          <a:bodyPr spcFirstLastPara="1" wrap="square" lIns="68575" tIns="34275" rIns="68575" bIns="34275" anchor="t" anchorCtr="0">
            <a:normAutofit/>
          </a:bodyPr>
          <a:lstStyle>
            <a:lvl1pPr lvl="0" algn="ctr" rtl="0">
              <a:lnSpc>
                <a:spcPct val="100000"/>
              </a:lnSpc>
              <a:spcBef>
                <a:spcPts val="667"/>
              </a:spcBef>
              <a:spcAft>
                <a:spcPts val="0"/>
              </a:spcAft>
              <a:buSzPts val="2800"/>
              <a:buNone/>
              <a:defRPr sz="3733"/>
            </a:lvl1pPr>
            <a:lvl2pPr lvl="1" algn="ctr" rtl="0">
              <a:lnSpc>
                <a:spcPct val="100000"/>
              </a:lnSpc>
              <a:spcBef>
                <a:spcPts val="533"/>
              </a:spcBef>
              <a:spcAft>
                <a:spcPts val="0"/>
              </a:spcAft>
              <a:buSzPts val="2800"/>
              <a:buNone/>
              <a:defRPr sz="3733"/>
            </a:lvl2pPr>
            <a:lvl3pPr lvl="2" algn="ctr" rtl="0">
              <a:lnSpc>
                <a:spcPct val="100000"/>
              </a:lnSpc>
              <a:spcBef>
                <a:spcPts val="533"/>
              </a:spcBef>
              <a:spcAft>
                <a:spcPts val="0"/>
              </a:spcAft>
              <a:buSzPts val="2800"/>
              <a:buNone/>
              <a:defRPr sz="3733"/>
            </a:lvl3pPr>
            <a:lvl4pPr lvl="3" algn="ctr" rtl="0">
              <a:lnSpc>
                <a:spcPct val="100000"/>
              </a:lnSpc>
              <a:spcBef>
                <a:spcPts val="400"/>
              </a:spcBef>
              <a:spcAft>
                <a:spcPts val="0"/>
              </a:spcAft>
              <a:buSzPts val="2800"/>
              <a:buNone/>
              <a:defRPr sz="3733"/>
            </a:lvl4pPr>
            <a:lvl5pPr lvl="4" algn="ctr" rtl="0">
              <a:lnSpc>
                <a:spcPct val="100000"/>
              </a:lnSpc>
              <a:spcBef>
                <a:spcPts val="400"/>
              </a:spcBef>
              <a:spcAft>
                <a:spcPts val="0"/>
              </a:spcAft>
              <a:buSzPts val="2800"/>
              <a:buNone/>
              <a:defRPr sz="3733"/>
            </a:lvl5pPr>
            <a:lvl6pPr lvl="5" algn="ctr" rtl="0">
              <a:lnSpc>
                <a:spcPct val="100000"/>
              </a:lnSpc>
              <a:spcBef>
                <a:spcPts val="400"/>
              </a:spcBef>
              <a:spcAft>
                <a:spcPts val="0"/>
              </a:spcAft>
              <a:buSzPts val="2800"/>
              <a:buNone/>
              <a:defRPr sz="3733"/>
            </a:lvl6pPr>
            <a:lvl7pPr lvl="6" algn="ctr" rtl="0">
              <a:lnSpc>
                <a:spcPct val="100000"/>
              </a:lnSpc>
              <a:spcBef>
                <a:spcPts val="400"/>
              </a:spcBef>
              <a:spcAft>
                <a:spcPts val="0"/>
              </a:spcAft>
              <a:buSzPts val="2800"/>
              <a:buNone/>
              <a:defRPr sz="3733"/>
            </a:lvl7pPr>
            <a:lvl8pPr lvl="7" algn="ctr" rtl="0">
              <a:lnSpc>
                <a:spcPct val="100000"/>
              </a:lnSpc>
              <a:spcBef>
                <a:spcPts val="400"/>
              </a:spcBef>
              <a:spcAft>
                <a:spcPts val="0"/>
              </a:spcAft>
              <a:buSzPts val="2800"/>
              <a:buNone/>
              <a:defRPr sz="3733"/>
            </a:lvl8pPr>
            <a:lvl9pPr lvl="8" algn="ctr" rtl="0">
              <a:lnSpc>
                <a:spcPct val="100000"/>
              </a:lnSpc>
              <a:spcBef>
                <a:spcPts val="400"/>
              </a:spcBef>
              <a:spcAft>
                <a:spcPts val="0"/>
              </a:spcAft>
              <a:buSzPts val="2800"/>
              <a:buNone/>
              <a:defRPr sz="3733"/>
            </a:lvl9pPr>
          </a:lstStyle>
          <a:p>
            <a:endParaRPr/>
          </a:p>
        </p:txBody>
      </p:sp>
      <p:sp>
        <p:nvSpPr>
          <p:cNvPr id="92" name="Google Shape;92;p13"/>
          <p:cNvSpPr txBox="1">
            <a:spLocks noGrp="1"/>
          </p:cNvSpPr>
          <p:nvPr>
            <p:ph type="sldNum" idx="12"/>
          </p:nvPr>
        </p:nvSpPr>
        <p:spPr>
          <a:xfrm>
            <a:off x="11296611" y="6217623"/>
            <a:ext cx="731600" cy="524800"/>
          </a:xfrm>
          <a:prstGeom prst="rect">
            <a:avLst/>
          </a:prstGeom>
        </p:spPr>
        <p:txBody>
          <a:bodyPr spcFirstLastPara="1" wrap="square" lIns="68575" tIns="34275" rIns="68575" bIns="3427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algn="r"/>
            <a:fld id="{00000000-1234-1234-1234-123412341234}" type="slidenum">
              <a:rPr lang="hu" smtClean="0"/>
              <a:pPr algn="r"/>
              <a:t>‹#›</a:t>
            </a:fld>
            <a:endParaRPr lang="hu"/>
          </a:p>
        </p:txBody>
      </p:sp>
    </p:spTree>
    <p:extLst>
      <p:ext uri="{BB962C8B-B14F-4D97-AF65-F5344CB8AC3E}">
        <p14:creationId xmlns:p14="http://schemas.microsoft.com/office/powerpoint/2010/main" val="28560996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43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34936958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9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2523951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33521957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4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25975141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45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603157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47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9447869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48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27816155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49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4244328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50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7787671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64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6456978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5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2111279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66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5845877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67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33474320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68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6186269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69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39996571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70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0076459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71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66712128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72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394921011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73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406764736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74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38038078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75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33009749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76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9581703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77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8747748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78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8956720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79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2602292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80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27202415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81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3675691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82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97511514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83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67869882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84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26576047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88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93915652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85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339275288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86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80779653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87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425059317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94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39855664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95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353386499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96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17914432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97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9626254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98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209777228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04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p>
            <a:r>
              <a:rPr lang="hu-HU"/>
              <a:t>Mintacím szerkesztése</a:t>
            </a:r>
            <a:endParaRPr lang="en-US"/>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86999069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2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lvl1pPr algn="l">
              <a:defRPr sz="2800">
                <a:solidFill>
                  <a:schemeClr val="bg1">
                    <a:lumMod val="95000"/>
                  </a:schemeClr>
                </a:solidFill>
              </a:defRPr>
            </a:lvl1pPr>
          </a:lstStyle>
          <a:p>
            <a:r>
              <a:rPr lang="hu-HU" dirty="0"/>
              <a:t>Mintacím szerkesztése</a:t>
            </a:r>
            <a:endParaRPr lang="en-US" dirty="0"/>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384765109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3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lvl1pPr algn="l">
              <a:defRPr sz="2800">
                <a:solidFill>
                  <a:schemeClr val="bg1">
                    <a:lumMod val="95000"/>
                  </a:schemeClr>
                </a:solidFill>
              </a:defRPr>
            </a:lvl1pPr>
          </a:lstStyle>
          <a:p>
            <a:r>
              <a:rPr lang="hu-HU" dirty="0"/>
              <a:t>Mintacím szerkesztése</a:t>
            </a:r>
            <a:endParaRPr lang="en-US" dirty="0"/>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266232157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4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lvl1pPr algn="l">
              <a:defRPr sz="2800">
                <a:solidFill>
                  <a:schemeClr val="bg1">
                    <a:lumMod val="95000"/>
                  </a:schemeClr>
                </a:solidFill>
              </a:defRPr>
            </a:lvl1pPr>
          </a:lstStyle>
          <a:p>
            <a:r>
              <a:rPr lang="hu-HU" dirty="0"/>
              <a:t>Mintacím szerkesztése</a:t>
            </a:r>
            <a:endParaRPr lang="en-US" dirty="0"/>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147846943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6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lvl1pPr algn="l">
              <a:defRPr sz="2800">
                <a:solidFill>
                  <a:schemeClr val="bg1">
                    <a:lumMod val="95000"/>
                  </a:schemeClr>
                </a:solidFill>
              </a:defRPr>
            </a:lvl1pPr>
          </a:lstStyle>
          <a:p>
            <a:r>
              <a:rPr lang="hu-HU" dirty="0"/>
              <a:t>Mintacím szerkesztése</a:t>
            </a:r>
            <a:endParaRPr lang="en-US" dirty="0"/>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238973080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8_Címdia">
    <p:spTree>
      <p:nvGrpSpPr>
        <p:cNvPr id="1" name=""/>
        <p:cNvGrpSpPr/>
        <p:nvPr/>
      </p:nvGrpSpPr>
      <p:grpSpPr>
        <a:xfrm>
          <a:off x="0" y="0"/>
          <a:ext cx="0" cy="0"/>
          <a:chOff x="0" y="0"/>
          <a:chExt cx="0" cy="0"/>
        </a:xfrm>
      </p:grpSpPr>
      <p:sp>
        <p:nvSpPr>
          <p:cNvPr id="3" name="Alcím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hu-HU"/>
              <a:t>Alcím mintájának szerkesztése</a:t>
            </a:r>
          </a:p>
        </p:txBody>
      </p:sp>
      <p:sp>
        <p:nvSpPr>
          <p:cNvPr id="7" name="Cím 6"/>
          <p:cNvSpPr>
            <a:spLocks noGrp="1"/>
          </p:cNvSpPr>
          <p:nvPr>
            <p:ph type="title"/>
          </p:nvPr>
        </p:nvSpPr>
        <p:spPr/>
        <p:txBody>
          <a:bodyPr/>
          <a:lstStyle>
            <a:lvl1pPr algn="l">
              <a:defRPr sz="2800">
                <a:solidFill>
                  <a:schemeClr val="bg1">
                    <a:lumMod val="95000"/>
                  </a:schemeClr>
                </a:solidFill>
              </a:defRPr>
            </a:lvl1pPr>
          </a:lstStyle>
          <a:p>
            <a:r>
              <a:rPr lang="hu-HU" dirty="0"/>
              <a:t>Mintacím szerkesztése</a:t>
            </a:r>
            <a:endParaRPr lang="en-US" dirty="0"/>
          </a:p>
        </p:txBody>
      </p:sp>
      <p:sp>
        <p:nvSpPr>
          <p:cNvPr id="8" name="Dátum helye 7"/>
          <p:cNvSpPr>
            <a:spLocks noGrp="1"/>
          </p:cNvSpPr>
          <p:nvPr>
            <p:ph type="dt" sz="half" idx="10"/>
          </p:nvPr>
        </p:nvSpPr>
        <p:spPr/>
        <p:txBody>
          <a:bodyPr/>
          <a:lstStyle/>
          <a:p>
            <a:fld id="{7EEDB08A-2EEF-4077-BDDA-D2BF2F02C0E2}" type="datetimeFigureOut">
              <a:rPr lang="hu-HU" smtClean="0"/>
              <a:pPr/>
              <a:t>2024. 09. 07.</a:t>
            </a:fld>
            <a:endParaRPr lang="hu-HU" dirty="0"/>
          </a:p>
        </p:txBody>
      </p:sp>
      <p:sp>
        <p:nvSpPr>
          <p:cNvPr id="9" name="Élőláb helye 8"/>
          <p:cNvSpPr>
            <a:spLocks noGrp="1"/>
          </p:cNvSpPr>
          <p:nvPr>
            <p:ph type="ftr" sz="quarter" idx="11"/>
          </p:nvPr>
        </p:nvSpPr>
        <p:spPr/>
        <p:txBody>
          <a:bodyPr/>
          <a:lstStyle/>
          <a:p>
            <a:endParaRPr lang="hu-HU"/>
          </a:p>
        </p:txBody>
      </p:sp>
      <p:sp>
        <p:nvSpPr>
          <p:cNvPr id="10" name="Dia számának helye 9"/>
          <p:cNvSpPr>
            <a:spLocks noGrp="1"/>
          </p:cNvSpPr>
          <p:nvPr>
            <p:ph type="sldNum" sz="quarter" idx="12"/>
          </p:nvPr>
        </p:nvSpPr>
        <p:spPr/>
        <p:txBody>
          <a:bodyPr/>
          <a:lstStyle/>
          <a:p>
            <a:fld id="{8EB3C54C-9CE6-47BC-B290-0EA782513D0E}" type="slidenum">
              <a:rPr lang="hu-HU" smtClean="0"/>
              <a:pPr/>
              <a:t>‹#›</a:t>
            </a:fld>
            <a:endParaRPr lang="hu-HU"/>
          </a:p>
        </p:txBody>
      </p:sp>
    </p:spTree>
    <p:extLst>
      <p:ext uri="{BB962C8B-B14F-4D97-AF65-F5344CB8AC3E}">
        <p14:creationId xmlns:p14="http://schemas.microsoft.com/office/powerpoint/2010/main" val="396152670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Cím és tartalom" type="obj">
  <p:cSld name="Cím és tartalom">
    <p:spTree>
      <p:nvGrpSpPr>
        <p:cNvPr id="1" name="Shape 31"/>
        <p:cNvGrpSpPr/>
        <p:nvPr/>
      </p:nvGrpSpPr>
      <p:grpSpPr>
        <a:xfrm>
          <a:off x="0" y="0"/>
          <a:ext cx="0" cy="0"/>
          <a:chOff x="0" y="0"/>
          <a:chExt cx="0" cy="0"/>
        </a:xfrm>
      </p:grpSpPr>
      <p:sp>
        <p:nvSpPr>
          <p:cNvPr id="32" name="Google Shape;32;p4"/>
          <p:cNvSpPr txBox="1">
            <a:spLocks noGrp="1"/>
          </p:cNvSpPr>
          <p:nvPr>
            <p:ph type="title"/>
          </p:nvPr>
        </p:nvSpPr>
        <p:spPr>
          <a:xfrm>
            <a:off x="119336" y="116632"/>
            <a:ext cx="11953200" cy="669200"/>
          </a:xfrm>
          <a:prstGeom prst="rect">
            <a:avLst/>
          </a:prstGeom>
          <a:noFill/>
          <a:ln>
            <a:noFill/>
          </a:ln>
        </p:spPr>
        <p:txBody>
          <a:bodyPr spcFirstLastPara="1" wrap="square" lIns="68575" tIns="34275" rIns="68575" bIns="34275" anchor="ctr" anchorCtr="0">
            <a:normAutofit/>
          </a:bodyPr>
          <a:lstStyle>
            <a:lvl1pPr lvl="0" algn="l">
              <a:spcBef>
                <a:spcPts val="0"/>
              </a:spcBef>
              <a:spcAft>
                <a:spcPts val="0"/>
              </a:spcAft>
              <a:buClr>
                <a:srgbClr val="F2F2F2"/>
              </a:buClr>
              <a:buSzPts val="2100"/>
              <a:buFont typeface="Calibri"/>
              <a:buNone/>
              <a:defRPr sz="2800">
                <a:solidFill>
                  <a:srgbClr val="F2F2F2"/>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3" name="Google Shape;33;p4"/>
          <p:cNvSpPr txBox="1">
            <a:spLocks noGrp="1"/>
          </p:cNvSpPr>
          <p:nvPr>
            <p:ph type="body" idx="1"/>
          </p:nvPr>
        </p:nvSpPr>
        <p:spPr>
          <a:xfrm>
            <a:off x="119336" y="1052737"/>
            <a:ext cx="11953200" cy="5303600"/>
          </a:xfrm>
          <a:prstGeom prst="rect">
            <a:avLst/>
          </a:prstGeom>
          <a:noFill/>
          <a:ln>
            <a:noFill/>
          </a:ln>
        </p:spPr>
        <p:txBody>
          <a:bodyPr spcFirstLastPara="1" wrap="square" lIns="68575" tIns="34275" rIns="68575" bIns="34275" anchor="t" anchorCtr="0">
            <a:normAutofit/>
          </a:bodyPr>
          <a:lstStyle>
            <a:lvl1pPr marL="609585" lvl="0" indent="-448722" algn="l">
              <a:spcBef>
                <a:spcPts val="400"/>
              </a:spcBef>
              <a:spcAft>
                <a:spcPts val="0"/>
              </a:spcAft>
              <a:buClr>
                <a:schemeClr val="dk1"/>
              </a:buClr>
              <a:buSzPts val="1700"/>
              <a:buChar char="▪"/>
              <a:defRPr sz="2267"/>
            </a:lvl1pPr>
            <a:lvl2pPr marL="1219170" lvl="1" indent="-380990" algn="l">
              <a:spcBef>
                <a:spcPts val="400"/>
              </a:spcBef>
              <a:spcAft>
                <a:spcPts val="0"/>
              </a:spcAft>
              <a:buClr>
                <a:schemeClr val="dk1"/>
              </a:buClr>
              <a:buSzPts val="900"/>
              <a:buChar char="❑"/>
              <a:defRPr sz="2000"/>
            </a:lvl2pPr>
            <a:lvl3pPr marL="1828754" lvl="2" indent="-423323" algn="l">
              <a:spcBef>
                <a:spcPts val="400"/>
              </a:spcBef>
              <a:spcAft>
                <a:spcPts val="0"/>
              </a:spcAft>
              <a:buClr>
                <a:schemeClr val="dk1"/>
              </a:buClr>
              <a:buSzPts val="1400"/>
              <a:buChar char="•"/>
              <a:defRPr sz="1867"/>
            </a:lvl3pPr>
            <a:lvl4pPr marL="2438339" lvl="3" indent="-364058" algn="l">
              <a:spcBef>
                <a:spcPts val="267"/>
              </a:spcBef>
              <a:spcAft>
                <a:spcPts val="0"/>
              </a:spcAft>
              <a:buClr>
                <a:schemeClr val="dk1"/>
              </a:buClr>
              <a:buSzPts val="700"/>
              <a:buChar char="❑"/>
              <a:defRPr sz="1600"/>
            </a:lvl4pPr>
            <a:lvl5pPr marL="3047924" lvl="4" indent="-406390" algn="l">
              <a:spcBef>
                <a:spcPts val="267"/>
              </a:spcBef>
              <a:spcAft>
                <a:spcPts val="0"/>
              </a:spcAft>
              <a:buClr>
                <a:schemeClr val="dk1"/>
              </a:buClr>
              <a:buSzPts val="1200"/>
              <a:buChar char="»"/>
              <a:defRPr sz="1600"/>
            </a:lvl5pPr>
            <a:lvl6pPr marL="3657509" lvl="5" indent="-423323" algn="l">
              <a:spcBef>
                <a:spcPts val="400"/>
              </a:spcBef>
              <a:spcAft>
                <a:spcPts val="0"/>
              </a:spcAft>
              <a:buClr>
                <a:schemeClr val="dk1"/>
              </a:buClr>
              <a:buSzPts val="1400"/>
              <a:buChar char="•"/>
              <a:defRPr/>
            </a:lvl6pPr>
            <a:lvl7pPr marL="4267093" lvl="6" indent="-423323" algn="l">
              <a:spcBef>
                <a:spcPts val="400"/>
              </a:spcBef>
              <a:spcAft>
                <a:spcPts val="0"/>
              </a:spcAft>
              <a:buClr>
                <a:schemeClr val="dk1"/>
              </a:buClr>
              <a:buSzPts val="1400"/>
              <a:buChar char="•"/>
              <a:defRPr/>
            </a:lvl7pPr>
            <a:lvl8pPr marL="4876678" lvl="7" indent="-423323" algn="l">
              <a:spcBef>
                <a:spcPts val="400"/>
              </a:spcBef>
              <a:spcAft>
                <a:spcPts val="0"/>
              </a:spcAft>
              <a:buClr>
                <a:schemeClr val="dk1"/>
              </a:buClr>
              <a:buSzPts val="1400"/>
              <a:buChar char="•"/>
              <a:defRPr/>
            </a:lvl8pPr>
            <a:lvl9pPr marL="5486263" lvl="8" indent="-423323" algn="l">
              <a:spcBef>
                <a:spcPts val="400"/>
              </a:spcBef>
              <a:spcAft>
                <a:spcPts val="0"/>
              </a:spcAft>
              <a:buClr>
                <a:schemeClr val="dk1"/>
              </a:buClr>
              <a:buSzPts val="1400"/>
              <a:buChar char="•"/>
              <a:defRPr/>
            </a:lvl9pPr>
          </a:lstStyle>
          <a:p>
            <a:endParaRPr/>
          </a:p>
        </p:txBody>
      </p:sp>
      <p:sp>
        <p:nvSpPr>
          <p:cNvPr id="34" name="Google Shape;34;p4"/>
          <p:cNvSpPr txBox="1">
            <a:spLocks noGrp="1"/>
          </p:cNvSpPr>
          <p:nvPr>
            <p:ph type="dt" idx="10"/>
          </p:nvPr>
        </p:nvSpPr>
        <p:spPr>
          <a:xfrm>
            <a:off x="609600" y="6356351"/>
            <a:ext cx="28448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Google Shape;35;p4"/>
          <p:cNvSpPr txBox="1">
            <a:spLocks noGrp="1"/>
          </p:cNvSpPr>
          <p:nvPr>
            <p:ph type="ftr" idx="11"/>
          </p:nvPr>
        </p:nvSpPr>
        <p:spPr>
          <a:xfrm>
            <a:off x="4165600" y="6356351"/>
            <a:ext cx="3860800" cy="3652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6" name="Google Shape;36;p4"/>
          <p:cNvSpPr txBox="1">
            <a:spLocks noGrp="1"/>
          </p:cNvSpPr>
          <p:nvPr>
            <p:ph type="sldNum" idx="12"/>
          </p:nvPr>
        </p:nvSpPr>
        <p:spPr>
          <a:xfrm>
            <a:off x="8737600" y="6356351"/>
            <a:ext cx="28448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hu" smtClean="0"/>
              <a:pPr/>
              <a:t>‹#›</a:t>
            </a:fld>
            <a:endParaRPr lang="hu"/>
          </a:p>
        </p:txBody>
      </p:sp>
    </p:spTree>
    <p:extLst>
      <p:ext uri="{BB962C8B-B14F-4D97-AF65-F5344CB8AC3E}">
        <p14:creationId xmlns:p14="http://schemas.microsoft.com/office/powerpoint/2010/main" val="3718964854"/>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1.jp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Kép 10">
            <a:extLst>
              <a:ext uri="{FF2B5EF4-FFF2-40B4-BE49-F238E27FC236}">
                <a16:creationId xmlns:a16="http://schemas.microsoft.com/office/drawing/2014/main" id="{57D4C47A-2193-1E1C-C527-D199048B9135}"/>
              </a:ext>
            </a:extLst>
          </p:cNvPr>
          <p:cNvPicPr>
            <a:picLocks noChangeAspect="1"/>
          </p:cNvPicPr>
          <p:nvPr userDrawn="1"/>
        </p:nvPicPr>
        <p:blipFill>
          <a:blip r:embed="rId69"/>
          <a:stretch>
            <a:fillRect/>
          </a:stretch>
        </p:blipFill>
        <p:spPr>
          <a:xfrm>
            <a:off x="0" y="6001196"/>
            <a:ext cx="12192000" cy="856804"/>
          </a:xfrm>
          <a:prstGeom prst="rect">
            <a:avLst/>
          </a:prstGeom>
        </p:spPr>
      </p:pic>
      <p:sp>
        <p:nvSpPr>
          <p:cNvPr id="12" name="Szöveg helye 10">
            <a:extLst>
              <a:ext uri="{FF2B5EF4-FFF2-40B4-BE49-F238E27FC236}">
                <a16:creationId xmlns:a16="http://schemas.microsoft.com/office/drawing/2014/main" id="{E2ED8300-EC47-B420-AA1E-F31A9E3AB399}"/>
              </a:ext>
            </a:extLst>
          </p:cNvPr>
          <p:cNvSpPr txBox="1">
            <a:spLocks/>
          </p:cNvSpPr>
          <p:nvPr userDrawn="1"/>
        </p:nvSpPr>
        <p:spPr>
          <a:xfrm>
            <a:off x="2925371" y="6300874"/>
            <a:ext cx="7985760" cy="33767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200" kern="1200" cap="all" spc="0" baseline="0">
                <a:solidFill>
                  <a:schemeClr val="bg1"/>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Introduction to Cloud Native Architectures</a:t>
            </a:r>
            <a:r>
              <a:rPr lang="hu-HU" dirty="0"/>
              <a:t> (IPM-24ATICNAEG)</a:t>
            </a:r>
          </a:p>
        </p:txBody>
      </p:sp>
      <p:cxnSp>
        <p:nvCxnSpPr>
          <p:cNvPr id="18" name="Egyenes összekötő 17">
            <a:extLst>
              <a:ext uri="{FF2B5EF4-FFF2-40B4-BE49-F238E27FC236}">
                <a16:creationId xmlns:a16="http://schemas.microsoft.com/office/drawing/2014/main" id="{CEB0D6F3-4369-B4B9-91C5-B2C85A7817E2}"/>
              </a:ext>
            </a:extLst>
          </p:cNvPr>
          <p:cNvCxnSpPr>
            <a:cxnSpLocks/>
          </p:cNvCxnSpPr>
          <p:nvPr userDrawn="1"/>
        </p:nvCxnSpPr>
        <p:spPr>
          <a:xfrm>
            <a:off x="161924" y="748860"/>
            <a:ext cx="11877675" cy="0"/>
          </a:xfrm>
          <a:prstGeom prst="line">
            <a:avLst/>
          </a:prstGeom>
          <a:ln>
            <a:solidFill>
              <a:srgbClr val="012851"/>
            </a:solidFill>
          </a:ln>
        </p:spPr>
        <p:style>
          <a:lnRef idx="1">
            <a:schemeClr val="accent1"/>
          </a:lnRef>
          <a:fillRef idx="0">
            <a:schemeClr val="accent1"/>
          </a:fillRef>
          <a:effectRef idx="0">
            <a:schemeClr val="accent1"/>
          </a:effectRef>
          <a:fontRef idx="minor">
            <a:schemeClr val="tx1"/>
          </a:fontRef>
        </p:style>
      </p:cxnSp>
      <p:sp>
        <p:nvSpPr>
          <p:cNvPr id="19" name="Szöveg helye 10">
            <a:extLst>
              <a:ext uri="{FF2B5EF4-FFF2-40B4-BE49-F238E27FC236}">
                <a16:creationId xmlns:a16="http://schemas.microsoft.com/office/drawing/2014/main" id="{E2DA373B-8C60-A31F-BB19-86559B139F26}"/>
              </a:ext>
            </a:extLst>
          </p:cNvPr>
          <p:cNvSpPr txBox="1">
            <a:spLocks/>
          </p:cNvSpPr>
          <p:nvPr userDrawn="1"/>
        </p:nvSpPr>
        <p:spPr>
          <a:xfrm>
            <a:off x="161924" y="219456"/>
            <a:ext cx="11877675" cy="529404"/>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000" kern="1200" baseline="0">
                <a:solidFill>
                  <a:srgbClr val="012850"/>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hu-HU" dirty="0"/>
          </a:p>
        </p:txBody>
      </p:sp>
    </p:spTree>
    <p:extLst>
      <p:ext uri="{BB962C8B-B14F-4D97-AF65-F5344CB8AC3E}">
        <p14:creationId xmlns:p14="http://schemas.microsoft.com/office/powerpoint/2010/main" val="2162292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3" r:id="rId6"/>
    <p:sldLayoutId id="2147483655" r:id="rId7"/>
    <p:sldLayoutId id="2147483656" r:id="rId8"/>
    <p:sldLayoutId id="2147483657" r:id="rId9"/>
    <p:sldLayoutId id="2147483660" r:id="rId10"/>
    <p:sldLayoutId id="2147483659" r:id="rId11"/>
    <p:sldLayoutId id="2147483658" r:id="rId12"/>
    <p:sldLayoutId id="2147483661"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 id="2147483703" r:id="rId53"/>
    <p:sldLayoutId id="2147483704" r:id="rId54"/>
    <p:sldLayoutId id="2147483705" r:id="rId55"/>
    <p:sldLayoutId id="2147483706" r:id="rId56"/>
    <p:sldLayoutId id="2147483707" r:id="rId57"/>
    <p:sldLayoutId id="2147483708" r:id="rId58"/>
    <p:sldLayoutId id="2147483709" r:id="rId59"/>
    <p:sldLayoutId id="2147483710" r:id="rId60"/>
    <p:sldLayoutId id="2147483711" r:id="rId61"/>
    <p:sldLayoutId id="2147483712" r:id="rId62"/>
    <p:sldLayoutId id="2147483713" r:id="rId63"/>
    <p:sldLayoutId id="2147483714" r:id="rId64"/>
    <p:sldLayoutId id="2147483715" r:id="rId65"/>
    <p:sldLayoutId id="2147483716" r:id="rId66"/>
    <p:sldLayoutId id="2147483717" r:id="rId6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6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9.png"/><Relationship Id="rId7"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9.png"/><Relationship Id="rId7"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9.png"/><Relationship Id="rId7"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67.xml"/><Relationship Id="rId6" Type="http://schemas.openxmlformats.org/officeDocument/2006/relationships/image" Target="../media/image9.png"/><Relationship Id="rId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20.png"/><Relationship Id="rId9" Type="http://schemas.openxmlformats.org/officeDocument/2006/relationships/image" Target="../media/image13.png"/></Relationships>
</file>

<file path=ppt/slides/_rels/slide1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9.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67.xml"/><Relationship Id="rId6" Type="http://schemas.openxmlformats.org/officeDocument/2006/relationships/image" Target="../media/image9.png"/><Relationship Id="rId11" Type="http://schemas.openxmlformats.org/officeDocument/2006/relationships/image" Target="../media/image14.jpeg"/><Relationship Id="rId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20.png"/><Relationship Id="rId9"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7.xml"/></Relationships>
</file>

<file path=ppt/slides/_rels/slide2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9.png"/><Relationship Id="rId7"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67.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zöveg helye 1">
            <a:extLst>
              <a:ext uri="{FF2B5EF4-FFF2-40B4-BE49-F238E27FC236}">
                <a16:creationId xmlns:a16="http://schemas.microsoft.com/office/drawing/2014/main" id="{2A7E8302-AC9C-A66D-07A6-1A5B9DE4A499}"/>
              </a:ext>
            </a:extLst>
          </p:cNvPr>
          <p:cNvSpPr>
            <a:spLocks noGrp="1"/>
          </p:cNvSpPr>
          <p:nvPr>
            <p:ph type="body" idx="13"/>
          </p:nvPr>
        </p:nvSpPr>
        <p:spPr/>
        <p:txBody>
          <a:bodyPr/>
          <a:lstStyle/>
          <a:p>
            <a:r>
              <a:rPr lang="en-US" noProof="0" dirty="0"/>
              <a:t>Cloud Native Architecture</a:t>
            </a:r>
          </a:p>
        </p:txBody>
      </p:sp>
      <p:sp>
        <p:nvSpPr>
          <p:cNvPr id="3" name="Szöveg helye 2">
            <a:extLst>
              <a:ext uri="{FF2B5EF4-FFF2-40B4-BE49-F238E27FC236}">
                <a16:creationId xmlns:a16="http://schemas.microsoft.com/office/drawing/2014/main" id="{AC3FF51C-1377-99D6-D639-C9342D916796}"/>
              </a:ext>
            </a:extLst>
          </p:cNvPr>
          <p:cNvSpPr>
            <a:spLocks noGrp="1"/>
          </p:cNvSpPr>
          <p:nvPr>
            <p:ph type="body" idx="14"/>
          </p:nvPr>
        </p:nvSpPr>
        <p:spPr/>
        <p:txBody>
          <a:bodyPr/>
          <a:lstStyle/>
          <a:p>
            <a:r>
              <a:rPr lang="en-US" noProof="0" dirty="0"/>
              <a:t>Introduction </a:t>
            </a:r>
          </a:p>
        </p:txBody>
      </p:sp>
      <p:sp>
        <p:nvSpPr>
          <p:cNvPr id="4" name="Szöveg helye 3">
            <a:extLst>
              <a:ext uri="{FF2B5EF4-FFF2-40B4-BE49-F238E27FC236}">
                <a16:creationId xmlns:a16="http://schemas.microsoft.com/office/drawing/2014/main" id="{2A0576B3-4A8D-B0CB-EE63-AE28551463E8}"/>
              </a:ext>
            </a:extLst>
          </p:cNvPr>
          <p:cNvSpPr>
            <a:spLocks noGrp="1"/>
          </p:cNvSpPr>
          <p:nvPr>
            <p:ph type="body" idx="15"/>
          </p:nvPr>
        </p:nvSpPr>
        <p:spPr/>
        <p:txBody>
          <a:bodyPr/>
          <a:lstStyle/>
          <a:p>
            <a:r>
              <a:rPr lang="en-US" noProof="0" dirty="0"/>
              <a:t>Péter Megyesi, Dávid Szabó, Attila Papp</a:t>
            </a:r>
          </a:p>
        </p:txBody>
      </p:sp>
      <p:sp>
        <p:nvSpPr>
          <p:cNvPr id="5" name="Szöveg helye 4">
            <a:extLst>
              <a:ext uri="{FF2B5EF4-FFF2-40B4-BE49-F238E27FC236}">
                <a16:creationId xmlns:a16="http://schemas.microsoft.com/office/drawing/2014/main" id="{8B3461CE-3807-2ADD-A4F6-83F5C4B6A2F8}"/>
              </a:ext>
            </a:extLst>
          </p:cNvPr>
          <p:cNvSpPr>
            <a:spLocks noGrp="1"/>
          </p:cNvSpPr>
          <p:nvPr>
            <p:ph type="body" idx="16"/>
          </p:nvPr>
        </p:nvSpPr>
        <p:spPr/>
        <p:txBody>
          <a:bodyPr/>
          <a:lstStyle/>
          <a:p>
            <a:endParaRPr lang="hu-HU" dirty="0"/>
          </a:p>
        </p:txBody>
      </p:sp>
      <p:sp>
        <p:nvSpPr>
          <p:cNvPr id="6" name="Szöveg helye 5">
            <a:extLst>
              <a:ext uri="{FF2B5EF4-FFF2-40B4-BE49-F238E27FC236}">
                <a16:creationId xmlns:a16="http://schemas.microsoft.com/office/drawing/2014/main" id="{AD8B80AF-C083-C9ED-7D4F-EC1393814896}"/>
              </a:ext>
            </a:extLst>
          </p:cNvPr>
          <p:cNvSpPr>
            <a:spLocks noGrp="1"/>
          </p:cNvSpPr>
          <p:nvPr>
            <p:ph type="body" idx="17"/>
          </p:nvPr>
        </p:nvSpPr>
        <p:spPr/>
        <p:txBody>
          <a:bodyPr/>
          <a:lstStyle/>
          <a:p>
            <a:endParaRPr lang="hu-HU" dirty="0"/>
          </a:p>
        </p:txBody>
      </p:sp>
    </p:spTree>
    <p:extLst>
      <p:ext uri="{BB962C8B-B14F-4D97-AF65-F5344CB8AC3E}">
        <p14:creationId xmlns:p14="http://schemas.microsoft.com/office/powerpoint/2010/main" val="2020286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3" name="Cím 2">
            <a:extLst>
              <a:ext uri="{FF2B5EF4-FFF2-40B4-BE49-F238E27FC236}">
                <a16:creationId xmlns:a16="http://schemas.microsoft.com/office/drawing/2014/main" id="{09FC04C1-F5C3-EA57-5F90-92AB554EE963}"/>
              </a:ext>
            </a:extLst>
          </p:cNvPr>
          <p:cNvSpPr>
            <a:spLocks noGrp="1"/>
          </p:cNvSpPr>
          <p:nvPr>
            <p:ph type="ctrTitle"/>
          </p:nvPr>
        </p:nvSpPr>
        <p:spPr/>
        <p:txBody>
          <a:bodyPr/>
          <a:lstStyle/>
          <a:p>
            <a:r>
              <a:rPr lang="hu-HU" dirty="0" err="1"/>
              <a:t>Lab</a:t>
            </a:r>
            <a:r>
              <a:rPr lang="hu-HU" dirty="0"/>
              <a:t> 1</a:t>
            </a:r>
            <a:endParaRPr lang="en-GB" dirty="0"/>
          </a:p>
        </p:txBody>
      </p:sp>
      <p:sp>
        <p:nvSpPr>
          <p:cNvPr id="107" name="Google Shape;107;p16"/>
          <p:cNvSpPr txBox="1">
            <a:spLocks noGrp="1"/>
          </p:cNvSpPr>
          <p:nvPr>
            <p:ph type="subTitle" idx="1"/>
          </p:nvPr>
        </p:nvSpPr>
        <p:spPr>
          <a:prstGeom prst="rect">
            <a:avLst/>
          </a:prstGeom>
        </p:spPr>
        <p:txBody>
          <a:bodyPr spcFirstLastPara="1" wrap="square" lIns="91433" tIns="45700" rIns="91433" bIns="45700" anchor="ctr" anchorCtr="0">
            <a:normAutofit/>
          </a:bodyPr>
          <a:lstStyle/>
          <a:p>
            <a:pPr marL="0" indent="0"/>
            <a:r>
              <a:rPr lang="hu-HU" dirty="0" err="1"/>
              <a:t>Introduction</a:t>
            </a:r>
            <a:r>
              <a:rPr lang="hu-HU" dirty="0"/>
              <a:t> </a:t>
            </a:r>
            <a:r>
              <a:rPr lang="hu-HU" dirty="0" err="1"/>
              <a:t>to</a:t>
            </a:r>
            <a:r>
              <a:rPr lang="hu-HU" dirty="0"/>
              <a:t> </a:t>
            </a:r>
            <a:r>
              <a:rPr lang="hu-HU" dirty="0" err="1"/>
              <a:t>the</a:t>
            </a:r>
            <a:r>
              <a:rPr lang="hu-HU" dirty="0"/>
              <a:t> </a:t>
            </a:r>
            <a:r>
              <a:rPr lang="hu-HU" dirty="0" err="1"/>
              <a:t>Azure</a:t>
            </a:r>
            <a:r>
              <a:rPr lang="hu-HU" dirty="0"/>
              <a:t> </a:t>
            </a:r>
            <a:r>
              <a:rPr lang="hu-HU" dirty="0" err="1"/>
              <a:t>Cloud</a:t>
            </a:r>
            <a:endParaRPr dirty="0"/>
          </a:p>
        </p:txBody>
      </p:sp>
    </p:spTree>
    <p:extLst>
      <p:ext uri="{BB962C8B-B14F-4D97-AF65-F5344CB8AC3E}">
        <p14:creationId xmlns:p14="http://schemas.microsoft.com/office/powerpoint/2010/main" val="179220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zöveg helye 2">
            <a:extLst>
              <a:ext uri="{FF2B5EF4-FFF2-40B4-BE49-F238E27FC236}">
                <a16:creationId xmlns:a16="http://schemas.microsoft.com/office/drawing/2014/main" id="{9D4F69F4-F0A6-3005-BFE3-53FAC49EADE9}"/>
              </a:ext>
            </a:extLst>
          </p:cNvPr>
          <p:cNvSpPr>
            <a:spLocks noGrp="1"/>
          </p:cNvSpPr>
          <p:nvPr>
            <p:ph type="body" idx="16"/>
          </p:nvPr>
        </p:nvSpPr>
        <p:spPr/>
        <p:txBody>
          <a:bodyPr/>
          <a:lstStyle/>
          <a:p>
            <a:r>
              <a:rPr lang="en-GB" dirty="0"/>
              <a:t>What is Microsoft Azure?</a:t>
            </a:r>
          </a:p>
        </p:txBody>
      </p:sp>
      <p:sp>
        <p:nvSpPr>
          <p:cNvPr id="5" name="Szöveg helye 4">
            <a:extLst>
              <a:ext uri="{FF2B5EF4-FFF2-40B4-BE49-F238E27FC236}">
                <a16:creationId xmlns:a16="http://schemas.microsoft.com/office/drawing/2014/main" id="{72D89217-6E52-4D88-1F29-7FAEC1C22B85}"/>
              </a:ext>
            </a:extLst>
          </p:cNvPr>
          <p:cNvSpPr>
            <a:spLocks noGrp="1"/>
          </p:cNvSpPr>
          <p:nvPr>
            <p:ph type="body" idx="20"/>
          </p:nvPr>
        </p:nvSpPr>
        <p:spPr/>
        <p:txBody>
          <a:bodyPr/>
          <a:lstStyle/>
          <a:p>
            <a:endParaRPr lang="en-GB"/>
          </a:p>
        </p:txBody>
      </p:sp>
      <p:sp>
        <p:nvSpPr>
          <p:cNvPr id="4" name="Alcím 2"/>
          <p:cNvSpPr txBox="1">
            <a:spLocks/>
          </p:cNvSpPr>
          <p:nvPr/>
        </p:nvSpPr>
        <p:spPr>
          <a:xfrm>
            <a:off x="214282" y="928669"/>
            <a:ext cx="11977719" cy="5596675"/>
          </a:xfrm>
          <a:prstGeom prst="rect">
            <a:avLst/>
          </a:prstGeom>
        </p:spPr>
        <p:txBody>
          <a:bodyPr vert="horz" lIns="91440" tIns="45720" rIns="91440" bIns="45720" rtlCol="0">
            <a:normAutofit/>
          </a:bodyPr>
          <a:lstStyle/>
          <a:p>
            <a:pPr marL="342891" indent="-342891">
              <a:spcBef>
                <a:spcPts val="600"/>
              </a:spcBef>
              <a:buFont typeface="Wingdings" panose="05000000000000000000" pitchFamily="2" charset="2"/>
              <a:buChar char="§"/>
            </a:pPr>
            <a:r>
              <a:rPr lang="en-AU" sz="2000" dirty="0"/>
              <a:t>Microsoft’s public cloud computing platform</a:t>
            </a:r>
          </a:p>
          <a:p>
            <a:pPr marL="342891" indent="-342891">
              <a:spcBef>
                <a:spcPts val="600"/>
              </a:spcBef>
              <a:buFont typeface="Wingdings" panose="05000000000000000000" pitchFamily="2" charset="2"/>
              <a:buChar char="§"/>
            </a:pPr>
            <a:endParaRPr lang="en-AU" sz="2000" dirty="0"/>
          </a:p>
          <a:p>
            <a:pPr marL="342891" indent="-342891">
              <a:spcBef>
                <a:spcPts val="600"/>
              </a:spcBef>
              <a:buFont typeface="Wingdings" panose="05000000000000000000" pitchFamily="2" charset="2"/>
              <a:buChar char="§"/>
            </a:pPr>
            <a:r>
              <a:rPr lang="en-AU" sz="2000" dirty="0"/>
              <a:t>Over 200 individual product and services</a:t>
            </a:r>
          </a:p>
          <a:p>
            <a:pPr marL="342891" indent="-342891">
              <a:spcBef>
                <a:spcPts val="600"/>
              </a:spcBef>
              <a:buFont typeface="Wingdings" panose="05000000000000000000" pitchFamily="2" charset="2"/>
              <a:buChar char="§"/>
            </a:pPr>
            <a:endParaRPr lang="en-AU" sz="2000" dirty="0"/>
          </a:p>
          <a:p>
            <a:pPr marL="342891" indent="-342891">
              <a:spcBef>
                <a:spcPts val="600"/>
              </a:spcBef>
              <a:buFont typeface="Wingdings" panose="05000000000000000000" pitchFamily="2" charset="2"/>
              <a:buChar char="§"/>
            </a:pPr>
            <a:r>
              <a:rPr lang="en-AU" sz="2000" dirty="0"/>
              <a:t>Build, run and manage application on Microsoft’s </a:t>
            </a:r>
            <a:r>
              <a:rPr lang="en-AU" sz="2000" b="1" dirty="0"/>
              <a:t>global</a:t>
            </a:r>
            <a:r>
              <a:rPr lang="en-AU" sz="2000" dirty="0"/>
              <a:t> infrastructure</a:t>
            </a:r>
          </a:p>
          <a:p>
            <a:pPr marL="800080" lvl="1" indent="-342891">
              <a:lnSpc>
                <a:spcPct val="90000"/>
              </a:lnSpc>
              <a:spcBef>
                <a:spcPts val="600"/>
              </a:spcBef>
              <a:buSzPct val="60000"/>
              <a:buFont typeface="Wingdings" panose="05000000000000000000" pitchFamily="2" charset="2"/>
              <a:buChar char="q"/>
            </a:pPr>
            <a:r>
              <a:rPr lang="en-AU" sz="2000" dirty="0"/>
              <a:t>Infrastructure as a Service (IaaS)</a:t>
            </a:r>
          </a:p>
          <a:p>
            <a:pPr marL="800080" lvl="1" indent="-342891">
              <a:lnSpc>
                <a:spcPct val="90000"/>
              </a:lnSpc>
              <a:spcBef>
                <a:spcPts val="600"/>
              </a:spcBef>
              <a:buSzPct val="60000"/>
              <a:buFont typeface="Wingdings" panose="05000000000000000000" pitchFamily="2" charset="2"/>
              <a:buChar char="q"/>
            </a:pPr>
            <a:r>
              <a:rPr lang="en-AU" sz="2000" dirty="0"/>
              <a:t>Platform as a Service (PaaS)</a:t>
            </a:r>
          </a:p>
          <a:p>
            <a:pPr marL="800080" lvl="1" indent="-342891">
              <a:lnSpc>
                <a:spcPct val="90000"/>
              </a:lnSpc>
              <a:spcBef>
                <a:spcPts val="600"/>
              </a:spcBef>
              <a:buSzPct val="60000"/>
              <a:buFont typeface="Wingdings" panose="05000000000000000000" pitchFamily="2" charset="2"/>
              <a:buChar char="q"/>
            </a:pPr>
            <a:r>
              <a:rPr lang="en-AU" sz="2000" dirty="0"/>
              <a:t>Software as a Service (SaaS)</a:t>
            </a:r>
          </a:p>
          <a:p>
            <a:pPr marL="800080" indent="-342891">
              <a:spcBef>
                <a:spcPts val="600"/>
              </a:spcBef>
              <a:buFont typeface="Wingdings" panose="05000000000000000000" pitchFamily="2" charset="2"/>
              <a:buChar char="§"/>
            </a:pPr>
            <a:endParaRPr lang="hu-HU" sz="1900" dirty="0"/>
          </a:p>
          <a:p>
            <a:pPr marL="342891" indent="-342891">
              <a:spcBef>
                <a:spcPts val="600"/>
              </a:spcBef>
              <a:buFont typeface="Wingdings" panose="05000000000000000000" pitchFamily="2" charset="2"/>
              <a:buChar char="§"/>
            </a:pPr>
            <a:r>
              <a:rPr lang="en-US" sz="2000" dirty="0"/>
              <a:t>Supplement or replace existing on-premises applications</a:t>
            </a:r>
          </a:p>
          <a:p>
            <a:pPr marL="800080" indent="-342891">
              <a:spcBef>
                <a:spcPts val="600"/>
              </a:spcBef>
              <a:buFont typeface="Wingdings" panose="05000000000000000000" pitchFamily="2" charset="2"/>
              <a:buChar char="§"/>
            </a:pPr>
            <a:endParaRPr lang="en-AU" sz="1900" dirty="0"/>
          </a:p>
        </p:txBody>
      </p:sp>
      <p:pic>
        <p:nvPicPr>
          <p:cNvPr id="1026" name="Picture 2" descr="Microsoft Azure - Wikidat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53723" y="890575"/>
            <a:ext cx="3619227" cy="1046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5059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zöveg helye 3">
            <a:extLst>
              <a:ext uri="{FF2B5EF4-FFF2-40B4-BE49-F238E27FC236}">
                <a16:creationId xmlns:a16="http://schemas.microsoft.com/office/drawing/2014/main" id="{B0DF163E-F30F-547D-3EF4-6D44CD8DD3F7}"/>
              </a:ext>
            </a:extLst>
          </p:cNvPr>
          <p:cNvSpPr>
            <a:spLocks noGrp="1"/>
          </p:cNvSpPr>
          <p:nvPr>
            <p:ph type="body" idx="16"/>
          </p:nvPr>
        </p:nvSpPr>
        <p:spPr/>
        <p:txBody>
          <a:bodyPr/>
          <a:lstStyle/>
          <a:p>
            <a:r>
              <a:rPr lang="en-GB" dirty="0"/>
              <a:t>Azure Global Infrastructure</a:t>
            </a:r>
          </a:p>
        </p:txBody>
      </p:sp>
      <p:sp>
        <p:nvSpPr>
          <p:cNvPr id="5" name="Szöveg helye 4">
            <a:extLst>
              <a:ext uri="{FF2B5EF4-FFF2-40B4-BE49-F238E27FC236}">
                <a16:creationId xmlns:a16="http://schemas.microsoft.com/office/drawing/2014/main" id="{C367CEF6-F8FC-8CE5-BC86-712283C5C4A6}"/>
              </a:ext>
            </a:extLst>
          </p:cNvPr>
          <p:cNvSpPr>
            <a:spLocks noGrp="1"/>
          </p:cNvSpPr>
          <p:nvPr>
            <p:ph type="body" idx="20"/>
          </p:nvPr>
        </p:nvSpPr>
        <p:spPr/>
        <p:txBody>
          <a:bodyPr/>
          <a:lstStyle/>
          <a:p>
            <a:endParaRPr lang="en-GB"/>
          </a:p>
        </p:txBody>
      </p:sp>
      <p:pic>
        <p:nvPicPr>
          <p:cNvPr id="3" name="Kép 2"/>
          <p:cNvPicPr>
            <a:picLocks noChangeAspect="1"/>
          </p:cNvPicPr>
          <p:nvPr/>
        </p:nvPicPr>
        <p:blipFill>
          <a:blip r:embed="rId3">
            <a:clrChange>
              <a:clrFrom>
                <a:srgbClr val="FFFFFF"/>
              </a:clrFrom>
              <a:clrTo>
                <a:srgbClr val="FFFFFF">
                  <a:alpha val="0"/>
                </a:srgbClr>
              </a:clrTo>
            </a:clrChange>
          </a:blip>
          <a:stretch>
            <a:fillRect/>
          </a:stretch>
        </p:blipFill>
        <p:spPr>
          <a:xfrm>
            <a:off x="0" y="486417"/>
            <a:ext cx="11891946" cy="5888983"/>
          </a:xfrm>
          <a:prstGeom prst="rect">
            <a:avLst/>
          </a:prstGeom>
        </p:spPr>
      </p:pic>
    </p:spTree>
    <p:extLst>
      <p:ext uri="{BB962C8B-B14F-4D97-AF65-F5344CB8AC3E}">
        <p14:creationId xmlns:p14="http://schemas.microsoft.com/office/powerpoint/2010/main" val="1279759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3" name="Szöveg helye 2">
            <a:extLst>
              <a:ext uri="{FF2B5EF4-FFF2-40B4-BE49-F238E27FC236}">
                <a16:creationId xmlns:a16="http://schemas.microsoft.com/office/drawing/2014/main" id="{B4DD9257-ABA1-1DBC-9D0B-4CEBBA9C00F2}"/>
              </a:ext>
            </a:extLst>
          </p:cNvPr>
          <p:cNvSpPr>
            <a:spLocks noGrp="1"/>
          </p:cNvSpPr>
          <p:nvPr>
            <p:ph type="body" idx="20"/>
          </p:nvPr>
        </p:nvSpPr>
        <p:spPr/>
        <p:txBody>
          <a:bodyPr/>
          <a:lstStyle/>
          <a:p>
            <a:endParaRPr lang="en-GB"/>
          </a:p>
        </p:txBody>
      </p:sp>
      <p:pic>
        <p:nvPicPr>
          <p:cNvPr id="173" name="Google Shape;173;p25"/>
          <p:cNvPicPr preferRelativeResize="0"/>
          <p:nvPr/>
        </p:nvPicPr>
        <p:blipFill>
          <a:blip r:embed="rId3">
            <a:alphaModFix/>
          </a:blip>
          <a:stretch>
            <a:fillRect/>
          </a:stretch>
        </p:blipFill>
        <p:spPr>
          <a:xfrm>
            <a:off x="7713069" y="1249266"/>
            <a:ext cx="4359465" cy="4359465"/>
          </a:xfrm>
          <a:prstGeom prst="rect">
            <a:avLst/>
          </a:prstGeom>
          <a:noFill/>
          <a:ln>
            <a:noFill/>
          </a:ln>
        </p:spPr>
      </p:pic>
      <p:sp>
        <p:nvSpPr>
          <p:cNvPr id="5" name="Szöveg helye 4">
            <a:extLst>
              <a:ext uri="{FF2B5EF4-FFF2-40B4-BE49-F238E27FC236}">
                <a16:creationId xmlns:a16="http://schemas.microsoft.com/office/drawing/2014/main" id="{2C03BAE8-38F5-8F05-5CED-35B8AF652EB0}"/>
              </a:ext>
            </a:extLst>
          </p:cNvPr>
          <p:cNvSpPr>
            <a:spLocks noGrp="1"/>
          </p:cNvSpPr>
          <p:nvPr>
            <p:ph type="body" idx="16"/>
          </p:nvPr>
        </p:nvSpPr>
        <p:spPr/>
        <p:txBody>
          <a:bodyPr/>
          <a:lstStyle/>
          <a:p>
            <a:r>
              <a:rPr lang="hu" dirty="0"/>
              <a:t>Azure Availability Zones</a:t>
            </a:r>
            <a:endParaRPr lang="en-GB" dirty="0"/>
          </a:p>
        </p:txBody>
      </p:sp>
      <p:sp>
        <p:nvSpPr>
          <p:cNvPr id="6" name="Google Shape;172;p25">
            <a:extLst>
              <a:ext uri="{FF2B5EF4-FFF2-40B4-BE49-F238E27FC236}">
                <a16:creationId xmlns:a16="http://schemas.microsoft.com/office/drawing/2014/main" id="{FB6808EF-83A4-3B42-D7BA-6173299CFF8C}"/>
              </a:ext>
            </a:extLst>
          </p:cNvPr>
          <p:cNvSpPr txBox="1">
            <a:spLocks/>
          </p:cNvSpPr>
          <p:nvPr/>
        </p:nvSpPr>
        <p:spPr>
          <a:xfrm>
            <a:off x="89500" y="789550"/>
            <a:ext cx="7543200" cy="4912750"/>
          </a:xfrm>
          <a:prstGeom prst="rect">
            <a:avLst/>
          </a:prstGeom>
        </p:spPr>
        <p:txBody>
          <a:bodyPr spcFirstLastPara="1" wrap="square" lIns="68575" tIns="34275" rIns="68575" bIns="34275"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36550">
              <a:spcBef>
                <a:spcPts val="300"/>
              </a:spcBef>
              <a:buSzPts val="1700"/>
              <a:buFont typeface="Arial" panose="020B0604020202020204" pitchFamily="34" charset="0"/>
              <a:buChar char="▪"/>
            </a:pPr>
            <a:r>
              <a:rPr lang="en-GB" sz="2000" dirty="0"/>
              <a:t>Physically separate </a:t>
            </a:r>
            <a:r>
              <a:rPr lang="en-GB" sz="2000" dirty="0" err="1"/>
              <a:t>datacenters</a:t>
            </a:r>
            <a:r>
              <a:rPr lang="en-GB" sz="2000" dirty="0"/>
              <a:t> within an Azure region</a:t>
            </a:r>
          </a:p>
          <a:p>
            <a:pPr marL="914400" lvl="1" indent="-285750">
              <a:spcBef>
                <a:spcPts val="0"/>
              </a:spcBef>
              <a:buSzPts val="900"/>
              <a:buFont typeface="Arial" panose="020B0604020202020204" pitchFamily="34" charset="0"/>
              <a:buChar char="❑"/>
            </a:pPr>
            <a:r>
              <a:rPr lang="en-GB" sz="2000" dirty="0" err="1"/>
              <a:t>Datacenters</a:t>
            </a:r>
            <a:r>
              <a:rPr lang="en-GB" sz="2000" dirty="0"/>
              <a:t> equipped with independent power, cooling, and networking</a:t>
            </a:r>
            <a:endParaRPr lang="hu-HU" sz="2000" dirty="0"/>
          </a:p>
          <a:p>
            <a:pPr marL="914400" lvl="1" indent="-285750">
              <a:spcBef>
                <a:spcPts val="0"/>
              </a:spcBef>
              <a:buSzPts val="900"/>
              <a:buFont typeface="Arial" panose="020B0604020202020204" pitchFamily="34" charset="0"/>
              <a:buChar char="❑"/>
            </a:pPr>
            <a:endParaRPr lang="en-GB" sz="2000" dirty="0"/>
          </a:p>
          <a:p>
            <a:pPr marL="457200" indent="-336550">
              <a:spcBef>
                <a:spcPts val="0"/>
              </a:spcBef>
              <a:buSzPts val="1700"/>
              <a:buFont typeface="Arial" panose="020B0604020202020204" pitchFamily="34" charset="0"/>
              <a:buChar char="▪"/>
            </a:pPr>
            <a:r>
              <a:rPr lang="en-GB" sz="2000" dirty="0"/>
              <a:t>Ensure your services &amp; data are redundant (in case of failure)</a:t>
            </a:r>
            <a:endParaRPr lang="hu-HU" sz="2000" dirty="0"/>
          </a:p>
          <a:p>
            <a:pPr marL="457200" indent="-336550">
              <a:spcBef>
                <a:spcPts val="0"/>
              </a:spcBef>
              <a:buSzPts val="1700"/>
              <a:buFont typeface="Arial" panose="020B0604020202020204" pitchFamily="34" charset="0"/>
              <a:buChar char="▪"/>
            </a:pPr>
            <a:endParaRPr lang="en-GB" sz="2000" dirty="0"/>
          </a:p>
          <a:p>
            <a:pPr marL="457200" indent="-336550">
              <a:spcBef>
                <a:spcPts val="0"/>
              </a:spcBef>
              <a:buSzPts val="1700"/>
              <a:buFont typeface="Arial" panose="020B0604020202020204" pitchFamily="34" charset="0"/>
              <a:buChar char="▪"/>
            </a:pPr>
            <a:r>
              <a:rPr lang="en-GB" sz="2000" dirty="0"/>
              <a:t>Minimum three zones within a single region</a:t>
            </a:r>
            <a:endParaRPr lang="hu-HU" sz="2000" dirty="0"/>
          </a:p>
          <a:p>
            <a:pPr marL="457200" indent="-336550">
              <a:spcBef>
                <a:spcPts val="0"/>
              </a:spcBef>
              <a:buSzPts val="1700"/>
              <a:buFont typeface="Arial" panose="020B0604020202020204" pitchFamily="34" charset="0"/>
              <a:buChar char="▪"/>
            </a:pPr>
            <a:endParaRPr lang="en-GB" sz="2000" dirty="0"/>
          </a:p>
          <a:p>
            <a:pPr marL="457200" indent="-336550">
              <a:spcBef>
                <a:spcPts val="0"/>
              </a:spcBef>
              <a:buSzPts val="1700"/>
              <a:buFont typeface="Arial" panose="020B0604020202020204" pitchFamily="34" charset="0"/>
              <a:buChar char="▪"/>
            </a:pPr>
            <a:r>
              <a:rPr lang="en-GB" sz="2000" dirty="0"/>
              <a:t>Connected through high-speed</a:t>
            </a:r>
            <a:endParaRPr lang="hu-HU" sz="2000" dirty="0"/>
          </a:p>
          <a:p>
            <a:pPr marL="457200" indent="-336550">
              <a:spcBef>
                <a:spcPts val="0"/>
              </a:spcBef>
              <a:buSzPts val="1700"/>
              <a:buFont typeface="Arial" panose="020B0604020202020204" pitchFamily="34" charset="0"/>
              <a:buChar char="▪"/>
            </a:pPr>
            <a:endParaRPr lang="en-GB" sz="2000" dirty="0"/>
          </a:p>
          <a:p>
            <a:pPr marL="457200" indent="-336550">
              <a:spcBef>
                <a:spcPts val="0"/>
              </a:spcBef>
              <a:buSzPts val="1700"/>
              <a:buFont typeface="Arial" panose="020B0604020202020204" pitchFamily="34" charset="0"/>
              <a:buChar char="▪"/>
            </a:pPr>
            <a:r>
              <a:rPr lang="en-GB" sz="2000" dirty="0"/>
              <a:t>Availability zones are primarily for: </a:t>
            </a:r>
          </a:p>
          <a:p>
            <a:pPr marL="914400" lvl="1" indent="-285750">
              <a:spcBef>
                <a:spcPts val="0"/>
              </a:spcBef>
              <a:buSzPts val="900"/>
              <a:buFont typeface="Arial" panose="020B0604020202020204" pitchFamily="34" charset="0"/>
              <a:buChar char="❑"/>
            </a:pPr>
            <a:r>
              <a:rPr lang="en-GB" sz="2000" dirty="0"/>
              <a:t>VMs, managed disks, load balancers, SQL databases</a:t>
            </a:r>
          </a:p>
          <a:p>
            <a:pPr marL="457200" indent="-336550">
              <a:spcBef>
                <a:spcPts val="0"/>
              </a:spcBef>
              <a:buSzPts val="1700"/>
              <a:buFont typeface="Arial" panose="020B0604020202020204" pitchFamily="34" charset="0"/>
              <a:buChar char="▪"/>
            </a:pPr>
            <a:endParaRPr lang="hu-HU" sz="2000" dirty="0"/>
          </a:p>
          <a:p>
            <a:pPr marL="457200" indent="-336550">
              <a:spcBef>
                <a:spcPts val="0"/>
              </a:spcBef>
              <a:buSzPts val="1700"/>
              <a:buFont typeface="Arial" panose="020B0604020202020204" pitchFamily="34" charset="0"/>
              <a:buChar char="▪"/>
            </a:pPr>
            <a:r>
              <a:rPr lang="en-GB" sz="2000" dirty="0"/>
              <a:t>Not every region has support for availability zones</a:t>
            </a:r>
            <a:endParaRPr lang="hu-HU" sz="2000" dirty="0"/>
          </a:p>
          <a:p>
            <a:pPr marL="457200" indent="-336550">
              <a:spcBef>
                <a:spcPts val="0"/>
              </a:spcBef>
              <a:buSzPts val="1700"/>
              <a:buFont typeface="Arial" panose="020B0604020202020204" pitchFamily="34" charset="0"/>
              <a:buChar char="▪"/>
            </a:pPr>
            <a:endParaRPr lang="hu-HU"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2" name="Szöveg helye 1">
            <a:extLst>
              <a:ext uri="{FF2B5EF4-FFF2-40B4-BE49-F238E27FC236}">
                <a16:creationId xmlns:a16="http://schemas.microsoft.com/office/drawing/2014/main" id="{B36EB4BA-7109-23F7-1412-B1B07A5A9829}"/>
              </a:ext>
            </a:extLst>
          </p:cNvPr>
          <p:cNvSpPr>
            <a:spLocks noGrp="1"/>
          </p:cNvSpPr>
          <p:nvPr>
            <p:ph type="body" idx="20"/>
          </p:nvPr>
        </p:nvSpPr>
        <p:spPr/>
        <p:txBody>
          <a:bodyPr/>
          <a:lstStyle/>
          <a:p>
            <a:endParaRPr lang="en-GB"/>
          </a:p>
        </p:txBody>
      </p:sp>
      <p:pic>
        <p:nvPicPr>
          <p:cNvPr id="180" name="Google Shape;180;p26"/>
          <p:cNvPicPr preferRelativeResize="0"/>
          <p:nvPr/>
        </p:nvPicPr>
        <p:blipFill>
          <a:blip r:embed="rId3">
            <a:alphaModFix/>
          </a:blip>
          <a:stretch>
            <a:fillRect/>
          </a:stretch>
        </p:blipFill>
        <p:spPr>
          <a:xfrm>
            <a:off x="688817" y="2562883"/>
            <a:ext cx="10814232" cy="3390800"/>
          </a:xfrm>
          <a:prstGeom prst="rect">
            <a:avLst/>
          </a:prstGeom>
          <a:noFill/>
          <a:ln>
            <a:noFill/>
          </a:ln>
        </p:spPr>
      </p:pic>
      <p:sp>
        <p:nvSpPr>
          <p:cNvPr id="4" name="Szöveg helye 3">
            <a:extLst>
              <a:ext uri="{FF2B5EF4-FFF2-40B4-BE49-F238E27FC236}">
                <a16:creationId xmlns:a16="http://schemas.microsoft.com/office/drawing/2014/main" id="{7DBEAC36-B526-8558-9868-A1B2C53D9664}"/>
              </a:ext>
            </a:extLst>
          </p:cNvPr>
          <p:cNvSpPr>
            <a:spLocks noGrp="1"/>
          </p:cNvSpPr>
          <p:nvPr>
            <p:ph type="body" idx="16"/>
          </p:nvPr>
        </p:nvSpPr>
        <p:spPr/>
        <p:txBody>
          <a:bodyPr/>
          <a:lstStyle/>
          <a:p>
            <a:r>
              <a:rPr lang="hu" dirty="0"/>
              <a:t>Azure Region Pairs</a:t>
            </a:r>
            <a:endParaRPr lang="en-GB" dirty="0"/>
          </a:p>
        </p:txBody>
      </p:sp>
      <p:sp>
        <p:nvSpPr>
          <p:cNvPr id="5" name="Google Shape;178;p26">
            <a:extLst>
              <a:ext uri="{FF2B5EF4-FFF2-40B4-BE49-F238E27FC236}">
                <a16:creationId xmlns:a16="http://schemas.microsoft.com/office/drawing/2014/main" id="{516FE69D-9D18-5B85-0651-FAB24F3E5255}"/>
              </a:ext>
            </a:extLst>
          </p:cNvPr>
          <p:cNvSpPr txBox="1">
            <a:spLocks/>
          </p:cNvSpPr>
          <p:nvPr/>
        </p:nvSpPr>
        <p:spPr>
          <a:xfrm>
            <a:off x="89500" y="789550"/>
            <a:ext cx="11492900" cy="1648850"/>
          </a:xfrm>
          <a:prstGeom prst="rect">
            <a:avLst/>
          </a:prstGeom>
        </p:spPr>
        <p:txBody>
          <a:bodyPr spcFirstLastPara="1" wrap="square" lIns="68575" tIns="34275" rIns="68575" bIns="34275" anchor="t" anchorCtr="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36550">
              <a:spcBef>
                <a:spcPts val="300"/>
              </a:spcBef>
              <a:buSzPts val="1700"/>
              <a:buFont typeface="Arial" panose="020B0604020202020204" pitchFamily="34" charset="0"/>
              <a:buChar char="▪"/>
            </a:pPr>
            <a:r>
              <a:rPr lang="en-GB" sz="2600" dirty="0"/>
              <a:t>Large disaster →  outage big enough to affect even two </a:t>
            </a:r>
            <a:r>
              <a:rPr lang="en-GB" sz="2600" dirty="0" err="1"/>
              <a:t>datacenters</a:t>
            </a:r>
            <a:endParaRPr lang="en-GB" sz="2600" dirty="0"/>
          </a:p>
          <a:p>
            <a:pPr marL="457200" indent="-336550">
              <a:spcBef>
                <a:spcPts val="0"/>
              </a:spcBef>
              <a:buSzPts val="1700"/>
              <a:buFont typeface="Arial" panose="020B0604020202020204" pitchFamily="34" charset="0"/>
              <a:buChar char="▪"/>
            </a:pPr>
            <a:r>
              <a:rPr lang="en-GB" sz="2600" dirty="0"/>
              <a:t>Region is always paired with another region:</a:t>
            </a:r>
            <a:endParaRPr lang="en-GB" dirty="0"/>
          </a:p>
          <a:p>
            <a:pPr marL="914400" lvl="1" indent="-285750">
              <a:spcBef>
                <a:spcPts val="0"/>
              </a:spcBef>
              <a:buSzPts val="900"/>
              <a:buFont typeface="Arial" panose="020B0604020202020204" pitchFamily="34" charset="0"/>
              <a:buChar char="❑"/>
            </a:pPr>
            <a:r>
              <a:rPr lang="en-GB" dirty="0"/>
              <a:t>Within the same geography (such as US, Europe, or Asia)</a:t>
            </a:r>
          </a:p>
          <a:p>
            <a:pPr marL="914400" lvl="1" indent="-285750">
              <a:spcBef>
                <a:spcPts val="0"/>
              </a:spcBef>
              <a:buSzPts val="900"/>
              <a:buFont typeface="Arial" panose="020B0604020202020204" pitchFamily="34" charset="0"/>
              <a:buChar char="❑"/>
            </a:pPr>
            <a:r>
              <a:rPr lang="en-GB" dirty="0"/>
              <a:t>At least 300 miles away</a:t>
            </a:r>
          </a:p>
          <a:p>
            <a:pPr marL="457200" indent="-336550">
              <a:spcBef>
                <a:spcPts val="0"/>
              </a:spcBef>
              <a:buSzPts val="1700"/>
              <a:buFont typeface="Arial" panose="020B0604020202020204" pitchFamily="34" charset="0"/>
              <a:buChar char="▪"/>
            </a:pPr>
            <a:r>
              <a:rPr lang="en-GB" sz="2600" dirty="0"/>
              <a:t>Provide reliable services and data redundancy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zöveg helye 2">
            <a:extLst>
              <a:ext uri="{FF2B5EF4-FFF2-40B4-BE49-F238E27FC236}">
                <a16:creationId xmlns:a16="http://schemas.microsoft.com/office/drawing/2014/main" id="{9F689687-5E5B-4483-8EF7-2B0959D37DC1}"/>
              </a:ext>
            </a:extLst>
          </p:cNvPr>
          <p:cNvSpPr>
            <a:spLocks noGrp="1"/>
          </p:cNvSpPr>
          <p:nvPr>
            <p:ph type="body" idx="16"/>
          </p:nvPr>
        </p:nvSpPr>
        <p:spPr/>
        <p:txBody>
          <a:bodyPr/>
          <a:lstStyle/>
          <a:p>
            <a:r>
              <a:rPr lang="en-GB" dirty="0"/>
              <a:t>How to Access Azure?</a:t>
            </a:r>
          </a:p>
        </p:txBody>
      </p:sp>
      <p:sp>
        <p:nvSpPr>
          <p:cNvPr id="5" name="Szöveg helye 4">
            <a:extLst>
              <a:ext uri="{FF2B5EF4-FFF2-40B4-BE49-F238E27FC236}">
                <a16:creationId xmlns:a16="http://schemas.microsoft.com/office/drawing/2014/main" id="{95A8336C-1F0A-C9E8-FD50-3EEA0282E72C}"/>
              </a:ext>
            </a:extLst>
          </p:cNvPr>
          <p:cNvSpPr>
            <a:spLocks noGrp="1"/>
          </p:cNvSpPr>
          <p:nvPr>
            <p:ph type="body" idx="20"/>
          </p:nvPr>
        </p:nvSpPr>
        <p:spPr/>
        <p:txBody>
          <a:bodyPr/>
          <a:lstStyle/>
          <a:p>
            <a:endParaRPr lang="en-GB"/>
          </a:p>
        </p:txBody>
      </p:sp>
      <p:sp>
        <p:nvSpPr>
          <p:cNvPr id="4" name="Alcím 2"/>
          <p:cNvSpPr txBox="1">
            <a:spLocks/>
          </p:cNvSpPr>
          <p:nvPr/>
        </p:nvSpPr>
        <p:spPr>
          <a:xfrm>
            <a:off x="214282" y="928669"/>
            <a:ext cx="11977719" cy="5596675"/>
          </a:xfrm>
          <a:prstGeom prst="rect">
            <a:avLst/>
          </a:prstGeom>
        </p:spPr>
        <p:txBody>
          <a:bodyPr vert="horz" lIns="91440" tIns="45720" rIns="91440" bIns="45720" rtlCol="0">
            <a:normAutofit/>
          </a:bodyPr>
          <a:lstStyle/>
          <a:p>
            <a:pPr marL="342891" indent="-342891">
              <a:spcBef>
                <a:spcPts val="600"/>
              </a:spcBef>
              <a:buFont typeface="Wingdings" panose="05000000000000000000" pitchFamily="2" charset="2"/>
              <a:buChar char="§"/>
            </a:pPr>
            <a:r>
              <a:rPr lang="en-US" sz="2000" dirty="0"/>
              <a:t>Graphical web interface</a:t>
            </a:r>
          </a:p>
          <a:p>
            <a:pPr marL="800080" lvl="1" indent="-342891">
              <a:lnSpc>
                <a:spcPct val="90000"/>
              </a:lnSpc>
              <a:spcBef>
                <a:spcPts val="600"/>
              </a:spcBef>
              <a:buSzPct val="60000"/>
              <a:buFont typeface="Wingdings" panose="05000000000000000000" pitchFamily="2" charset="2"/>
              <a:buChar char="q"/>
            </a:pPr>
            <a:r>
              <a:rPr lang="en-US" sz="2400" dirty="0"/>
              <a:t>Azure Portal</a:t>
            </a:r>
          </a:p>
          <a:p>
            <a:pPr>
              <a:spcBef>
                <a:spcPts val="600"/>
              </a:spcBef>
            </a:pPr>
            <a:endParaRPr lang="en-US" sz="2000" dirty="0"/>
          </a:p>
          <a:p>
            <a:pPr marL="342891" indent="-342891">
              <a:spcBef>
                <a:spcPts val="600"/>
              </a:spcBef>
              <a:buFont typeface="Wingdings" panose="05000000000000000000" pitchFamily="2" charset="2"/>
              <a:buChar char="§"/>
            </a:pPr>
            <a:r>
              <a:rPr lang="en-US" sz="2000" dirty="0"/>
              <a:t>CLI tools</a:t>
            </a:r>
          </a:p>
          <a:p>
            <a:pPr marL="800080" lvl="1" indent="-342891">
              <a:lnSpc>
                <a:spcPct val="90000"/>
              </a:lnSpc>
              <a:spcBef>
                <a:spcPts val="600"/>
              </a:spcBef>
              <a:buSzPct val="60000"/>
              <a:buFont typeface="Wingdings" panose="05000000000000000000" pitchFamily="2" charset="2"/>
              <a:buChar char="q"/>
            </a:pPr>
            <a:r>
              <a:rPr lang="en-US" sz="2400" dirty="0"/>
              <a:t>Azure CLI: Bash / POSIX compatible (usually used under Linux)</a:t>
            </a:r>
          </a:p>
          <a:p>
            <a:pPr marL="800080" lvl="1" indent="-342891">
              <a:lnSpc>
                <a:spcPct val="90000"/>
              </a:lnSpc>
              <a:spcBef>
                <a:spcPts val="600"/>
              </a:spcBef>
              <a:buSzPct val="60000"/>
              <a:buFont typeface="Wingdings" panose="05000000000000000000" pitchFamily="2" charset="2"/>
              <a:buChar char="q"/>
            </a:pPr>
            <a:r>
              <a:rPr lang="en-US" sz="2400" dirty="0"/>
              <a:t>Azure PowerShell (usually used by Windows admins)</a:t>
            </a:r>
          </a:p>
          <a:p>
            <a:pPr marL="342891" indent="-342891">
              <a:spcBef>
                <a:spcPts val="600"/>
              </a:spcBef>
              <a:buFont typeface="Wingdings" panose="05000000000000000000" pitchFamily="2" charset="2"/>
              <a:buChar char="§"/>
            </a:pPr>
            <a:endParaRPr lang="en-US" sz="2000" dirty="0"/>
          </a:p>
          <a:p>
            <a:pPr marL="342891" indent="-342891">
              <a:spcBef>
                <a:spcPts val="600"/>
              </a:spcBef>
              <a:buFont typeface="Wingdings" panose="05000000000000000000" pitchFamily="2" charset="2"/>
              <a:buChar char="§"/>
            </a:pPr>
            <a:r>
              <a:rPr lang="en-US" sz="2000" dirty="0"/>
              <a:t>REST API</a:t>
            </a:r>
          </a:p>
          <a:p>
            <a:pPr marL="800080" lvl="1" indent="-342891">
              <a:lnSpc>
                <a:spcPct val="90000"/>
              </a:lnSpc>
              <a:spcBef>
                <a:spcPts val="600"/>
              </a:spcBef>
              <a:buSzPct val="60000"/>
              <a:buFont typeface="Wingdings" panose="05000000000000000000" pitchFamily="2" charset="2"/>
              <a:buChar char="q"/>
            </a:pPr>
            <a:r>
              <a:rPr lang="en-US" sz="2400" dirty="0"/>
              <a:t>SKD available in multiple languages</a:t>
            </a:r>
          </a:p>
          <a:p>
            <a:pPr marL="800080" lvl="1" indent="-342891">
              <a:lnSpc>
                <a:spcPct val="90000"/>
              </a:lnSpc>
              <a:spcBef>
                <a:spcPts val="600"/>
              </a:spcBef>
              <a:buSzPct val="60000"/>
              <a:buFont typeface="Wingdings" panose="05000000000000000000" pitchFamily="2" charset="2"/>
              <a:buChar char="q"/>
            </a:pPr>
            <a:r>
              <a:rPr lang="en-US" sz="2400" dirty="0"/>
              <a:t>.NET, Node.js, Java, PHP, Python, Ruby, Go</a:t>
            </a:r>
          </a:p>
          <a:p>
            <a:pPr marL="457189" lvl="8">
              <a:lnSpc>
                <a:spcPct val="90000"/>
              </a:lnSpc>
              <a:spcBef>
                <a:spcPts val="600"/>
              </a:spcBef>
              <a:buSzPct val="60000"/>
            </a:pPr>
            <a:endParaRPr lang="en-US" sz="2400" dirty="0"/>
          </a:p>
          <a:p>
            <a:pPr marL="800080" indent="-342891">
              <a:spcBef>
                <a:spcPts val="600"/>
              </a:spcBef>
              <a:buFont typeface="Wingdings" panose="05000000000000000000" pitchFamily="2" charset="2"/>
              <a:buChar char="§"/>
            </a:pPr>
            <a:endParaRPr lang="en-US" sz="1900" dirty="0"/>
          </a:p>
          <a:p>
            <a:pPr marL="800080" indent="-342891">
              <a:spcBef>
                <a:spcPts val="600"/>
              </a:spcBef>
              <a:buFont typeface="Wingdings" panose="05000000000000000000" pitchFamily="2" charset="2"/>
              <a:buChar char="§"/>
            </a:pPr>
            <a:endParaRPr lang="en-US" sz="1900" dirty="0"/>
          </a:p>
        </p:txBody>
      </p:sp>
      <p:pic>
        <p:nvPicPr>
          <p:cNvPr id="1026" name="Picture 2" descr="Microsoft Azure - Wikidat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53723" y="890575"/>
            <a:ext cx="3619227" cy="1046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1657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2" name="Szöveg helye 1">
            <a:extLst>
              <a:ext uri="{FF2B5EF4-FFF2-40B4-BE49-F238E27FC236}">
                <a16:creationId xmlns:a16="http://schemas.microsoft.com/office/drawing/2014/main" id="{1C76A2ED-9B0B-901F-7065-5E08A05283E5}"/>
              </a:ext>
            </a:extLst>
          </p:cNvPr>
          <p:cNvSpPr>
            <a:spLocks noGrp="1"/>
          </p:cNvSpPr>
          <p:nvPr>
            <p:ph type="body" idx="20"/>
          </p:nvPr>
        </p:nvSpPr>
        <p:spPr/>
        <p:txBody>
          <a:bodyPr/>
          <a:lstStyle/>
          <a:p>
            <a:endParaRPr lang="en-GB"/>
          </a:p>
        </p:txBody>
      </p:sp>
      <p:pic>
        <p:nvPicPr>
          <p:cNvPr id="146" name="Google Shape;146;p21"/>
          <p:cNvPicPr preferRelativeResize="0"/>
          <p:nvPr/>
        </p:nvPicPr>
        <p:blipFill>
          <a:blip r:embed="rId3">
            <a:alphaModFix/>
          </a:blip>
          <a:stretch>
            <a:fillRect/>
          </a:stretch>
        </p:blipFill>
        <p:spPr>
          <a:xfrm>
            <a:off x="6677401" y="1052734"/>
            <a:ext cx="5443567" cy="4151401"/>
          </a:xfrm>
          <a:prstGeom prst="rect">
            <a:avLst/>
          </a:prstGeom>
          <a:noFill/>
          <a:ln>
            <a:noFill/>
          </a:ln>
        </p:spPr>
      </p:pic>
      <p:sp>
        <p:nvSpPr>
          <p:cNvPr id="4" name="Szöveg helye 3">
            <a:extLst>
              <a:ext uri="{FF2B5EF4-FFF2-40B4-BE49-F238E27FC236}">
                <a16:creationId xmlns:a16="http://schemas.microsoft.com/office/drawing/2014/main" id="{10D07086-3A3C-FE5B-61D4-72F4720C0A3F}"/>
              </a:ext>
            </a:extLst>
          </p:cNvPr>
          <p:cNvSpPr>
            <a:spLocks noGrp="1"/>
          </p:cNvSpPr>
          <p:nvPr>
            <p:ph type="body" idx="16"/>
          </p:nvPr>
        </p:nvSpPr>
        <p:spPr/>
        <p:txBody>
          <a:bodyPr/>
          <a:lstStyle/>
          <a:p>
            <a:r>
              <a:rPr lang="hu-HU" dirty="0" err="1"/>
              <a:t>Azure</a:t>
            </a:r>
            <a:r>
              <a:rPr lang="hu-HU" dirty="0"/>
              <a:t> </a:t>
            </a:r>
            <a:r>
              <a:rPr lang="hu-HU" dirty="0" err="1"/>
              <a:t>Portal</a:t>
            </a:r>
            <a:endParaRPr lang="en-GB" dirty="0"/>
          </a:p>
        </p:txBody>
      </p:sp>
      <p:sp>
        <p:nvSpPr>
          <p:cNvPr id="5" name="Google Shape;145;p21">
            <a:extLst>
              <a:ext uri="{FF2B5EF4-FFF2-40B4-BE49-F238E27FC236}">
                <a16:creationId xmlns:a16="http://schemas.microsoft.com/office/drawing/2014/main" id="{6A352DED-E672-9877-6092-A0E9709A27EF}"/>
              </a:ext>
            </a:extLst>
          </p:cNvPr>
          <p:cNvSpPr txBox="1">
            <a:spLocks/>
          </p:cNvSpPr>
          <p:nvPr/>
        </p:nvSpPr>
        <p:spPr>
          <a:xfrm>
            <a:off x="89500" y="789550"/>
            <a:ext cx="6501799" cy="4874650"/>
          </a:xfrm>
          <a:prstGeom prst="rect">
            <a:avLst/>
          </a:prstGeom>
        </p:spPr>
        <p:txBody>
          <a:bodyPr spcFirstLastPara="1" wrap="square" lIns="68575" tIns="34275" rIns="68575" bIns="34275"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36550">
              <a:spcBef>
                <a:spcPts val="300"/>
              </a:spcBef>
              <a:buSzPts val="1700"/>
              <a:buFont typeface="Arial" panose="020B0604020202020204" pitchFamily="34" charset="0"/>
              <a:buChar char="▪"/>
            </a:pPr>
            <a:r>
              <a:rPr lang="en-GB" sz="2400" dirty="0"/>
              <a:t>Web-based, unified console (alternative to command-line tools)</a:t>
            </a:r>
          </a:p>
          <a:p>
            <a:pPr marL="914400" lvl="1" indent="-285750">
              <a:spcBef>
                <a:spcPts val="0"/>
              </a:spcBef>
              <a:buSzPts val="900"/>
              <a:buFont typeface="Arial" panose="020B0604020202020204" pitchFamily="34" charset="0"/>
              <a:buChar char="❑"/>
            </a:pPr>
            <a:r>
              <a:rPr lang="en-GB" dirty="0"/>
              <a:t>Build, manage, and monitor everything</a:t>
            </a:r>
          </a:p>
          <a:p>
            <a:pPr marL="914400" lvl="1" indent="-285750">
              <a:spcBef>
                <a:spcPts val="0"/>
              </a:spcBef>
              <a:buSzPts val="900"/>
              <a:buFont typeface="Arial" panose="020B0604020202020204" pitchFamily="34" charset="0"/>
              <a:buChar char="❑"/>
            </a:pPr>
            <a:r>
              <a:rPr lang="en-GB" dirty="0"/>
              <a:t>Create custom dashboards</a:t>
            </a:r>
            <a:endParaRPr lang="hu-HU" dirty="0"/>
          </a:p>
          <a:p>
            <a:pPr marL="914400" lvl="1" indent="-285750">
              <a:spcBef>
                <a:spcPts val="0"/>
              </a:spcBef>
              <a:buSzPts val="900"/>
              <a:buFont typeface="Arial" panose="020B0604020202020204" pitchFamily="34" charset="0"/>
              <a:buChar char="❑"/>
            </a:pPr>
            <a:endParaRPr lang="en-GB" dirty="0"/>
          </a:p>
          <a:p>
            <a:pPr marL="457200" indent="-336550">
              <a:spcBef>
                <a:spcPts val="0"/>
              </a:spcBef>
              <a:buSzPts val="1700"/>
              <a:buFont typeface="Arial" panose="020B0604020202020204" pitchFamily="34" charset="0"/>
              <a:buChar char="▪"/>
            </a:pPr>
            <a:r>
              <a:rPr lang="en-GB" sz="2400" dirty="0"/>
              <a:t>Designed for resiliency and continuous availability</a:t>
            </a:r>
          </a:p>
          <a:p>
            <a:pPr marL="914400" lvl="1" indent="-285750">
              <a:spcBef>
                <a:spcPts val="0"/>
              </a:spcBef>
              <a:buSzPts val="900"/>
              <a:buFont typeface="Arial" panose="020B0604020202020204" pitchFamily="34" charset="0"/>
              <a:buChar char="❑"/>
            </a:pPr>
            <a:r>
              <a:rPr lang="en-GB" dirty="0"/>
              <a:t>Individual </a:t>
            </a:r>
            <a:r>
              <a:rPr lang="en-GB" dirty="0" err="1"/>
              <a:t>datacenter</a:t>
            </a:r>
            <a:r>
              <a:rPr lang="en-GB" dirty="0"/>
              <a:t> failures and avoids network slowdowns</a:t>
            </a:r>
          </a:p>
          <a:p>
            <a:pPr marL="914400" lvl="1" indent="-285750">
              <a:spcBef>
                <a:spcPts val="0"/>
              </a:spcBef>
              <a:buSzPts val="900"/>
              <a:buFont typeface="Arial" panose="020B0604020202020204" pitchFamily="34" charset="0"/>
              <a:buChar char="❑"/>
            </a:pPr>
            <a:r>
              <a:rPr lang="en-GB" dirty="0"/>
              <a:t>Updates continuously and requires no downtime for maintenance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2" name="Szöveg helye 1">
            <a:extLst>
              <a:ext uri="{FF2B5EF4-FFF2-40B4-BE49-F238E27FC236}">
                <a16:creationId xmlns:a16="http://schemas.microsoft.com/office/drawing/2014/main" id="{70BF17FE-182E-4A2C-A6EE-6E6EAA0C6BFE}"/>
              </a:ext>
            </a:extLst>
          </p:cNvPr>
          <p:cNvSpPr>
            <a:spLocks noGrp="1"/>
          </p:cNvSpPr>
          <p:nvPr>
            <p:ph type="body" idx="20"/>
          </p:nvPr>
        </p:nvSpPr>
        <p:spPr/>
        <p:txBody>
          <a:bodyPr/>
          <a:lstStyle/>
          <a:p>
            <a:endParaRPr lang="en-GB"/>
          </a:p>
        </p:txBody>
      </p:sp>
      <p:pic>
        <p:nvPicPr>
          <p:cNvPr id="153" name="Google Shape;153;p22"/>
          <p:cNvPicPr preferRelativeResize="0"/>
          <p:nvPr/>
        </p:nvPicPr>
        <p:blipFill>
          <a:blip r:embed="rId3">
            <a:alphaModFix/>
          </a:blip>
          <a:stretch>
            <a:fillRect/>
          </a:stretch>
        </p:blipFill>
        <p:spPr>
          <a:xfrm>
            <a:off x="7334250" y="2012950"/>
            <a:ext cx="4768248" cy="3888733"/>
          </a:xfrm>
          <a:prstGeom prst="rect">
            <a:avLst/>
          </a:prstGeom>
          <a:noFill/>
          <a:ln>
            <a:noFill/>
          </a:ln>
        </p:spPr>
      </p:pic>
      <p:sp>
        <p:nvSpPr>
          <p:cNvPr id="4" name="Szöveg helye 3">
            <a:extLst>
              <a:ext uri="{FF2B5EF4-FFF2-40B4-BE49-F238E27FC236}">
                <a16:creationId xmlns:a16="http://schemas.microsoft.com/office/drawing/2014/main" id="{640B9044-DCD6-0982-AA12-BD7274781B3F}"/>
              </a:ext>
            </a:extLst>
          </p:cNvPr>
          <p:cNvSpPr>
            <a:spLocks noGrp="1"/>
          </p:cNvSpPr>
          <p:nvPr>
            <p:ph type="body" idx="16"/>
          </p:nvPr>
        </p:nvSpPr>
        <p:spPr/>
        <p:txBody>
          <a:bodyPr/>
          <a:lstStyle/>
          <a:p>
            <a:r>
              <a:rPr lang="hu" dirty="0"/>
              <a:t>Azure Marketplace</a:t>
            </a:r>
            <a:endParaRPr lang="en-GB" dirty="0"/>
          </a:p>
        </p:txBody>
      </p:sp>
      <p:sp>
        <p:nvSpPr>
          <p:cNvPr id="5" name="Google Shape;152;p22">
            <a:extLst>
              <a:ext uri="{FF2B5EF4-FFF2-40B4-BE49-F238E27FC236}">
                <a16:creationId xmlns:a16="http://schemas.microsoft.com/office/drawing/2014/main" id="{4AEAA741-FB14-A729-6699-FC67709728F9}"/>
              </a:ext>
            </a:extLst>
          </p:cNvPr>
          <p:cNvSpPr txBox="1">
            <a:spLocks/>
          </p:cNvSpPr>
          <p:nvPr/>
        </p:nvSpPr>
        <p:spPr>
          <a:xfrm>
            <a:off x="89502" y="789552"/>
            <a:ext cx="8964900" cy="4430147"/>
          </a:xfrm>
          <a:prstGeom prst="rect">
            <a:avLst/>
          </a:prstGeom>
        </p:spPr>
        <p:txBody>
          <a:bodyPr spcFirstLastPara="1" wrap="square" lIns="68575" tIns="34275" rIns="68575" bIns="34275"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36550">
              <a:spcBef>
                <a:spcPts val="300"/>
              </a:spcBef>
              <a:buSzPts val="1700"/>
              <a:buFont typeface="Arial" panose="020B0604020202020204" pitchFamily="34" charset="0"/>
              <a:buChar char="▪"/>
            </a:pPr>
            <a:r>
              <a:rPr lang="en-GB" dirty="0" err="1"/>
              <a:t>Softwares</a:t>
            </a:r>
            <a:r>
              <a:rPr lang="en-GB" dirty="0"/>
              <a:t> certified and optimized to run on Azure</a:t>
            </a:r>
            <a:endParaRPr lang="hu-HU" dirty="0"/>
          </a:p>
          <a:p>
            <a:pPr marL="457200" indent="-336550">
              <a:spcBef>
                <a:spcPts val="300"/>
              </a:spcBef>
              <a:buSzPts val="1700"/>
              <a:buFont typeface="Arial" panose="020B0604020202020204" pitchFamily="34" charset="0"/>
              <a:buChar char="▪"/>
            </a:pPr>
            <a:endParaRPr lang="en-GB" dirty="0"/>
          </a:p>
          <a:p>
            <a:pPr marL="457200" indent="-336550">
              <a:spcBef>
                <a:spcPts val="0"/>
              </a:spcBef>
              <a:buSzPts val="1700"/>
              <a:buFont typeface="Arial" panose="020B0604020202020204" pitchFamily="34" charset="0"/>
              <a:buChar char="▪"/>
            </a:pPr>
            <a:r>
              <a:rPr lang="en-GB" dirty="0"/>
              <a:t>Find solutions you want</a:t>
            </a:r>
          </a:p>
          <a:p>
            <a:pPr marL="914400" lvl="1" indent="-285750">
              <a:spcBef>
                <a:spcPts val="0"/>
              </a:spcBef>
              <a:buSzPts val="900"/>
              <a:buFont typeface="Arial" panose="020B0604020202020204" pitchFamily="34" charset="0"/>
              <a:buChar char="❑"/>
            </a:pPr>
            <a:r>
              <a:rPr lang="en-GB" dirty="0"/>
              <a:t>from open source container platforms to threat </a:t>
            </a:r>
            <a:br>
              <a:rPr lang="hu-HU" dirty="0"/>
            </a:br>
            <a:r>
              <a:rPr lang="en-GB" dirty="0"/>
              <a:t>detection to blockchain</a:t>
            </a:r>
            <a:endParaRPr lang="hu-HU" dirty="0"/>
          </a:p>
          <a:p>
            <a:pPr marL="914400" lvl="1" indent="-285750">
              <a:spcBef>
                <a:spcPts val="0"/>
              </a:spcBef>
              <a:buSzPts val="900"/>
              <a:buFont typeface="Arial" panose="020B0604020202020204" pitchFamily="34" charset="0"/>
              <a:buChar char="❑"/>
            </a:pPr>
            <a:endParaRPr lang="en-GB" dirty="0"/>
          </a:p>
          <a:p>
            <a:pPr marL="457200" indent="-336550">
              <a:spcBef>
                <a:spcPts val="0"/>
              </a:spcBef>
              <a:buSzPts val="1700"/>
              <a:buFont typeface="Arial" panose="020B0604020202020204" pitchFamily="34" charset="0"/>
              <a:buChar char="▪"/>
            </a:pPr>
            <a:r>
              <a:rPr lang="en-GB" dirty="0"/>
              <a:t>Provision end-to-end solutions </a:t>
            </a:r>
            <a:br>
              <a:rPr lang="hu-HU" dirty="0"/>
            </a:br>
            <a:r>
              <a:rPr lang="en-GB" dirty="0"/>
              <a:t>quickly and reliably</a:t>
            </a:r>
            <a:endParaRPr lang="hu-HU" dirty="0"/>
          </a:p>
          <a:p>
            <a:pPr marL="457200" indent="-336550">
              <a:spcBef>
                <a:spcPts val="0"/>
              </a:spcBef>
              <a:buSzPts val="1700"/>
              <a:buFont typeface="Arial" panose="020B0604020202020204" pitchFamily="34" charset="0"/>
              <a:buChar char="▪"/>
            </a:pPr>
            <a:endParaRPr lang="en-GB" dirty="0"/>
          </a:p>
          <a:p>
            <a:pPr marL="457200" indent="-336550">
              <a:spcBef>
                <a:spcPts val="0"/>
              </a:spcBef>
              <a:buSzPts val="1700"/>
              <a:buFont typeface="Arial" panose="020B0604020202020204" pitchFamily="34" charset="0"/>
              <a:buChar char="▪"/>
            </a:pPr>
            <a:r>
              <a:rPr lang="en-GB" dirty="0"/>
              <a:t>Use Test drives to try out pre-configured </a:t>
            </a:r>
            <a:br>
              <a:rPr lang="hu-HU" dirty="0"/>
            </a:br>
            <a:r>
              <a:rPr lang="en-GB" dirty="0"/>
              <a:t>applications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Szöveg helye 1">
            <a:extLst>
              <a:ext uri="{FF2B5EF4-FFF2-40B4-BE49-F238E27FC236}">
                <a16:creationId xmlns:a16="http://schemas.microsoft.com/office/drawing/2014/main" id="{CF4B2EB4-DB29-1779-51A9-0E9C17AF5FDB}"/>
              </a:ext>
            </a:extLst>
          </p:cNvPr>
          <p:cNvSpPr>
            <a:spLocks noGrp="1"/>
          </p:cNvSpPr>
          <p:nvPr>
            <p:ph type="body" idx="20"/>
          </p:nvPr>
        </p:nvSpPr>
        <p:spPr/>
        <p:txBody>
          <a:bodyPr/>
          <a:lstStyle/>
          <a:p>
            <a:endParaRPr lang="en-GB"/>
          </a:p>
        </p:txBody>
      </p:sp>
      <p:sp>
        <p:nvSpPr>
          <p:cNvPr id="4" name="Szöveg helye 3">
            <a:extLst>
              <a:ext uri="{FF2B5EF4-FFF2-40B4-BE49-F238E27FC236}">
                <a16:creationId xmlns:a16="http://schemas.microsoft.com/office/drawing/2014/main" id="{82A22D6C-9701-49F4-BAFE-51CAD9CA48CA}"/>
              </a:ext>
            </a:extLst>
          </p:cNvPr>
          <p:cNvSpPr>
            <a:spLocks noGrp="1"/>
          </p:cNvSpPr>
          <p:nvPr>
            <p:ph type="body" idx="16"/>
          </p:nvPr>
        </p:nvSpPr>
        <p:spPr/>
        <p:txBody>
          <a:bodyPr/>
          <a:lstStyle/>
          <a:p>
            <a:r>
              <a:rPr lang="hu" dirty="0"/>
              <a:t>Azure Subscriptions</a:t>
            </a:r>
            <a:endParaRPr lang="en-GB" dirty="0"/>
          </a:p>
        </p:txBody>
      </p:sp>
      <p:sp>
        <p:nvSpPr>
          <p:cNvPr id="5" name="Google Shape;199;p29">
            <a:extLst>
              <a:ext uri="{FF2B5EF4-FFF2-40B4-BE49-F238E27FC236}">
                <a16:creationId xmlns:a16="http://schemas.microsoft.com/office/drawing/2014/main" id="{0D4BAD9F-D766-7FF6-5651-1DCA7A7E7ECF}"/>
              </a:ext>
            </a:extLst>
          </p:cNvPr>
          <p:cNvSpPr txBox="1">
            <a:spLocks/>
          </p:cNvSpPr>
          <p:nvPr/>
        </p:nvSpPr>
        <p:spPr>
          <a:xfrm>
            <a:off x="89502" y="789552"/>
            <a:ext cx="12038998" cy="4677798"/>
          </a:xfrm>
          <a:prstGeom prst="rect">
            <a:avLst/>
          </a:prstGeom>
        </p:spPr>
        <p:txBody>
          <a:bodyPr spcFirstLastPara="1" wrap="square" lIns="68575" tIns="34275" rIns="68575" bIns="34275"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36550">
              <a:spcBef>
                <a:spcPts val="300"/>
              </a:spcBef>
              <a:buSzPts val="1700"/>
              <a:buFont typeface="Arial" panose="020B0604020202020204" pitchFamily="34" charset="0"/>
              <a:buChar char="▪"/>
            </a:pPr>
            <a:r>
              <a:rPr lang="en-GB" dirty="0"/>
              <a:t>Using Azure requires a subscription</a:t>
            </a:r>
          </a:p>
          <a:p>
            <a:pPr marL="457200" indent="-336550">
              <a:spcBef>
                <a:spcPts val="300"/>
              </a:spcBef>
              <a:buSzPts val="1700"/>
              <a:buFont typeface="Arial" panose="020B0604020202020204" pitchFamily="34" charset="0"/>
              <a:buChar char="▪"/>
            </a:pPr>
            <a:endParaRPr lang="en-GB" dirty="0"/>
          </a:p>
          <a:p>
            <a:pPr marL="457200" indent="-336550">
              <a:spcBef>
                <a:spcPts val="0"/>
              </a:spcBef>
              <a:buSzPts val="1700"/>
              <a:buFont typeface="Arial" panose="020B0604020202020204" pitchFamily="34" charset="0"/>
              <a:buChar char="▪"/>
            </a:pPr>
            <a:r>
              <a:rPr lang="en-GB" dirty="0"/>
              <a:t>Subscription provides you access to Azure products and services</a:t>
            </a:r>
          </a:p>
          <a:p>
            <a:pPr marL="914400" lvl="1" indent="-285750">
              <a:spcBef>
                <a:spcPts val="0"/>
              </a:spcBef>
              <a:buSzPts val="900"/>
              <a:buFont typeface="Arial" panose="020B0604020202020204" pitchFamily="34" charset="0"/>
              <a:buChar char="❑"/>
            </a:pPr>
            <a:r>
              <a:rPr lang="en-GB" dirty="0"/>
              <a:t>authenticate and authorize</a:t>
            </a:r>
          </a:p>
          <a:p>
            <a:pPr marL="914400" lvl="1" indent="-285750">
              <a:spcBef>
                <a:spcPts val="0"/>
              </a:spcBef>
              <a:buSzPts val="900"/>
              <a:buFont typeface="Arial" panose="020B0604020202020204" pitchFamily="34" charset="0"/>
              <a:buChar char="❑"/>
            </a:pPr>
            <a:endParaRPr lang="en-GB" sz="1700" dirty="0"/>
          </a:p>
          <a:p>
            <a:pPr marL="457200" indent="-336550">
              <a:spcBef>
                <a:spcPts val="0"/>
              </a:spcBef>
              <a:buSzPts val="1700"/>
              <a:buFont typeface="Arial" panose="020B0604020202020204" pitchFamily="34" charset="0"/>
              <a:buChar char="▪"/>
            </a:pPr>
            <a:r>
              <a:rPr lang="en-GB" dirty="0"/>
              <a:t>Subscription is a logical unit of Azure services that links to an Azure account</a:t>
            </a:r>
          </a:p>
          <a:p>
            <a:pPr marL="457200" indent="-336550">
              <a:spcBef>
                <a:spcPts val="0"/>
              </a:spcBef>
              <a:buSzPts val="1700"/>
              <a:buFont typeface="Arial" panose="020B0604020202020204" pitchFamily="34" charset="0"/>
              <a:buChar char="▪"/>
            </a:pPr>
            <a:endParaRPr lang="en-GB" dirty="0"/>
          </a:p>
          <a:p>
            <a:pPr marL="457200" indent="-336550">
              <a:spcBef>
                <a:spcPts val="0"/>
              </a:spcBef>
              <a:buSzPts val="1700"/>
              <a:buFont typeface="Arial" panose="020B0604020202020204" pitchFamily="34" charset="0"/>
              <a:buChar char="▪"/>
            </a:pPr>
            <a:r>
              <a:rPr lang="en-GB" dirty="0"/>
              <a:t>An account can have multiple subscriptions</a:t>
            </a:r>
          </a:p>
          <a:p>
            <a:pPr marL="457200" indent="0">
              <a:spcBef>
                <a:spcPts val="300"/>
              </a:spcBef>
              <a:buFont typeface="Arial" panose="020B0604020202020204" pitchFamily="34" charset="0"/>
              <a:buNone/>
            </a:pPr>
            <a:endParaRPr lang="en-GB"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9"/>
          <p:cNvSpPr txBox="1">
            <a:spLocks noGrp="1"/>
          </p:cNvSpPr>
          <p:nvPr>
            <p:ph type="title"/>
          </p:nvPr>
        </p:nvSpPr>
        <p:spPr>
          <a:xfrm>
            <a:off x="119336" y="116632"/>
            <a:ext cx="11953200" cy="669200"/>
          </a:xfrm>
          <a:prstGeom prst="rect">
            <a:avLst/>
          </a:prstGeom>
        </p:spPr>
        <p:txBody>
          <a:bodyPr spcFirstLastPara="1" wrap="square" lIns="91433" tIns="45700" rIns="91433" bIns="45700" anchor="ctr" anchorCtr="0">
            <a:normAutofit/>
          </a:bodyPr>
          <a:lstStyle/>
          <a:p>
            <a:r>
              <a:rPr lang="hu" sz="3000" dirty="0">
                <a:solidFill>
                  <a:srgbClr val="012850"/>
                </a:solidFill>
                <a:latin typeface="Open Sans" panose="020B0606030504020204" pitchFamily="34" charset="0"/>
                <a:ea typeface="Open Sans" panose="020B0606030504020204" pitchFamily="34" charset="0"/>
                <a:cs typeface="Open Sans" panose="020B0606030504020204" pitchFamily="34" charset="0"/>
              </a:rPr>
              <a:t>Azure subscriptions</a:t>
            </a:r>
            <a:endParaRPr sz="3000" dirty="0">
              <a:solidFill>
                <a:srgbClr val="0128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9" name="Google Shape;199;p29"/>
          <p:cNvSpPr txBox="1">
            <a:spLocks noGrp="1"/>
          </p:cNvSpPr>
          <p:nvPr>
            <p:ph type="body" idx="1"/>
          </p:nvPr>
        </p:nvSpPr>
        <p:spPr>
          <a:xfrm>
            <a:off x="119337" y="1052737"/>
            <a:ext cx="5863739" cy="5303600"/>
          </a:xfrm>
          <a:prstGeom prst="rect">
            <a:avLst/>
          </a:prstGeom>
        </p:spPr>
        <p:txBody>
          <a:bodyPr spcFirstLastPara="1" wrap="square" lIns="91433" tIns="45700" rIns="91433" bIns="45700" anchor="t" anchorCtr="0">
            <a:normAutofit/>
          </a:bodyPr>
          <a:lstStyle/>
          <a:p>
            <a:r>
              <a:rPr lang="hu-HU" dirty="0"/>
              <a:t>Billing unit </a:t>
            </a:r>
            <a:r>
              <a:rPr lang="hu-HU" dirty="0" err="1"/>
              <a:t>that</a:t>
            </a:r>
            <a:r>
              <a:rPr lang="hu-HU" dirty="0"/>
              <a:t> </a:t>
            </a:r>
            <a:r>
              <a:rPr lang="hu-HU" dirty="0" err="1"/>
              <a:t>aggregates</a:t>
            </a:r>
            <a:r>
              <a:rPr lang="hu-HU" dirty="0"/>
              <a:t> </a:t>
            </a:r>
            <a:r>
              <a:rPr lang="hu-HU" dirty="0" err="1"/>
              <a:t>all</a:t>
            </a:r>
            <a:r>
              <a:rPr lang="hu-HU" dirty="0"/>
              <a:t> </a:t>
            </a:r>
            <a:r>
              <a:rPr lang="hu-HU" dirty="0" err="1"/>
              <a:t>costs</a:t>
            </a:r>
            <a:r>
              <a:rPr lang="hu-HU" dirty="0"/>
              <a:t> of </a:t>
            </a:r>
            <a:r>
              <a:rPr lang="hu-HU" dirty="0" err="1"/>
              <a:t>underlying</a:t>
            </a:r>
            <a:r>
              <a:rPr lang="hu-HU" dirty="0"/>
              <a:t> </a:t>
            </a:r>
            <a:r>
              <a:rPr lang="hu-HU" dirty="0" err="1"/>
              <a:t>resources</a:t>
            </a:r>
            <a:endParaRPr lang="hu-HU" dirty="0"/>
          </a:p>
          <a:p>
            <a:pPr marL="160863" indent="0">
              <a:buNone/>
            </a:pPr>
            <a:endParaRPr lang="hu-HU" dirty="0"/>
          </a:p>
          <a:p>
            <a:r>
              <a:rPr lang="hu-HU" dirty="0" err="1"/>
              <a:t>Contain</a:t>
            </a:r>
            <a:r>
              <a:rPr lang="hu-HU" dirty="0"/>
              <a:t> </a:t>
            </a:r>
            <a:r>
              <a:rPr lang="hu-HU" dirty="0" err="1"/>
              <a:t>resoure</a:t>
            </a:r>
            <a:r>
              <a:rPr lang="hu-HU" dirty="0"/>
              <a:t> </a:t>
            </a:r>
            <a:r>
              <a:rPr lang="hu-HU" dirty="0" err="1"/>
              <a:t>groups</a:t>
            </a:r>
            <a:r>
              <a:rPr lang="hu-HU" dirty="0"/>
              <a:t> (</a:t>
            </a:r>
            <a:r>
              <a:rPr lang="hu-HU" dirty="0" err="1"/>
              <a:t>logical</a:t>
            </a:r>
            <a:r>
              <a:rPr lang="hu-HU" dirty="0"/>
              <a:t> </a:t>
            </a:r>
            <a:r>
              <a:rPr lang="hu-HU" dirty="0" err="1"/>
              <a:t>containers</a:t>
            </a:r>
            <a:r>
              <a:rPr lang="hu-HU" dirty="0"/>
              <a:t>) and </a:t>
            </a:r>
            <a:r>
              <a:rPr lang="hu-HU" dirty="0" err="1"/>
              <a:t>their</a:t>
            </a:r>
            <a:r>
              <a:rPr lang="hu-HU" dirty="0"/>
              <a:t> </a:t>
            </a:r>
            <a:r>
              <a:rPr lang="hu-HU" dirty="0" err="1"/>
              <a:t>associated</a:t>
            </a:r>
            <a:r>
              <a:rPr lang="hu-HU" dirty="0"/>
              <a:t> </a:t>
            </a:r>
            <a:r>
              <a:rPr lang="hu-HU" dirty="0" err="1"/>
              <a:t>resources</a:t>
            </a:r>
            <a:r>
              <a:rPr lang="hu-HU" dirty="0"/>
              <a:t> </a:t>
            </a:r>
          </a:p>
          <a:p>
            <a:pPr marL="160863" indent="0">
              <a:buNone/>
            </a:pPr>
            <a:endParaRPr lang="hu-HU" dirty="0"/>
          </a:p>
          <a:p>
            <a:r>
              <a:rPr lang="hu-HU" dirty="0" err="1"/>
              <a:t>Scoping</a:t>
            </a:r>
            <a:r>
              <a:rPr lang="hu-HU" dirty="0"/>
              <a:t> </a:t>
            </a:r>
            <a:r>
              <a:rPr lang="hu-HU" dirty="0" err="1"/>
              <a:t>level</a:t>
            </a:r>
            <a:r>
              <a:rPr lang="hu-HU" dirty="0"/>
              <a:t>  </a:t>
            </a:r>
            <a:r>
              <a:rPr lang="hu-HU" dirty="0" err="1"/>
              <a:t>for</a:t>
            </a:r>
            <a:r>
              <a:rPr lang="hu-HU" dirty="0"/>
              <a:t> </a:t>
            </a:r>
            <a:r>
              <a:rPr lang="hu-HU" dirty="0" err="1"/>
              <a:t>governance</a:t>
            </a:r>
            <a:r>
              <a:rPr lang="hu-HU" dirty="0"/>
              <a:t> and </a:t>
            </a:r>
            <a:r>
              <a:rPr lang="hu-HU" dirty="0" err="1"/>
              <a:t>security</a:t>
            </a:r>
            <a:endParaRPr lang="hu" dirty="0"/>
          </a:p>
          <a:p>
            <a:pPr indent="0">
              <a:buNone/>
            </a:pPr>
            <a:endParaRPr dirty="0"/>
          </a:p>
        </p:txBody>
      </p:sp>
      <p:sp>
        <p:nvSpPr>
          <p:cNvPr id="16" name="Rectangle: Rounded Corners 15">
            <a:extLst>
              <a:ext uri="{FF2B5EF4-FFF2-40B4-BE49-F238E27FC236}">
                <a16:creationId xmlns:a16="http://schemas.microsoft.com/office/drawing/2014/main" id="{E70C6EE3-DDC7-358B-9720-D2A0187198A8}"/>
              </a:ext>
            </a:extLst>
          </p:cNvPr>
          <p:cNvSpPr/>
          <p:nvPr/>
        </p:nvSpPr>
        <p:spPr>
          <a:xfrm>
            <a:off x="6930036" y="1513136"/>
            <a:ext cx="3692936" cy="2571185"/>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7" name="Picture 16">
            <a:extLst>
              <a:ext uri="{FF2B5EF4-FFF2-40B4-BE49-F238E27FC236}">
                <a16:creationId xmlns:a16="http://schemas.microsoft.com/office/drawing/2014/main" id="{93999074-229A-1B4B-8016-91A965E59815}"/>
              </a:ext>
            </a:extLst>
          </p:cNvPr>
          <p:cNvPicPr>
            <a:picLocks noChangeAspect="1"/>
          </p:cNvPicPr>
          <p:nvPr/>
        </p:nvPicPr>
        <p:blipFill>
          <a:blip r:embed="rId3"/>
          <a:stretch>
            <a:fillRect/>
          </a:stretch>
        </p:blipFill>
        <p:spPr>
          <a:xfrm>
            <a:off x="7065862" y="1264484"/>
            <a:ext cx="419100" cy="584200"/>
          </a:xfrm>
          <a:prstGeom prst="rect">
            <a:avLst/>
          </a:prstGeom>
        </p:spPr>
      </p:pic>
      <p:sp>
        <p:nvSpPr>
          <p:cNvPr id="18" name="Rectangle: Rounded Corners 17">
            <a:extLst>
              <a:ext uri="{FF2B5EF4-FFF2-40B4-BE49-F238E27FC236}">
                <a16:creationId xmlns:a16="http://schemas.microsoft.com/office/drawing/2014/main" id="{439D7B8A-808C-8BFC-0EA9-D351FAC34E69}"/>
              </a:ext>
            </a:extLst>
          </p:cNvPr>
          <p:cNvSpPr/>
          <p:nvPr/>
        </p:nvSpPr>
        <p:spPr>
          <a:xfrm>
            <a:off x="7569777" y="2216079"/>
            <a:ext cx="2427799" cy="124707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2" name="TextBox 21">
            <a:extLst>
              <a:ext uri="{FF2B5EF4-FFF2-40B4-BE49-F238E27FC236}">
                <a16:creationId xmlns:a16="http://schemas.microsoft.com/office/drawing/2014/main" id="{0547FE06-71FA-AB95-96E7-7581D267FD5F}"/>
              </a:ext>
            </a:extLst>
          </p:cNvPr>
          <p:cNvSpPr txBox="1"/>
          <p:nvPr/>
        </p:nvSpPr>
        <p:spPr>
          <a:xfrm>
            <a:off x="7981584" y="1003717"/>
            <a:ext cx="2257817" cy="461665"/>
          </a:xfrm>
          <a:prstGeom prst="rect">
            <a:avLst/>
          </a:prstGeom>
          <a:noFill/>
        </p:spPr>
        <p:txBody>
          <a:bodyPr wrap="square" rtlCol="0">
            <a:spAutoFit/>
          </a:bodyPr>
          <a:lstStyle/>
          <a:p>
            <a:r>
              <a:rPr lang="hu-HU" sz="2400" dirty="0" err="1"/>
              <a:t>Subscription</a:t>
            </a:r>
            <a:endParaRPr lang="en-US" sz="2400" dirty="0"/>
          </a:p>
        </p:txBody>
      </p:sp>
      <p:sp>
        <p:nvSpPr>
          <p:cNvPr id="23" name="TextBox 22">
            <a:extLst>
              <a:ext uri="{FF2B5EF4-FFF2-40B4-BE49-F238E27FC236}">
                <a16:creationId xmlns:a16="http://schemas.microsoft.com/office/drawing/2014/main" id="{80F0DBE4-A51D-6228-B294-5920AE5D3E1C}"/>
              </a:ext>
            </a:extLst>
          </p:cNvPr>
          <p:cNvSpPr txBox="1"/>
          <p:nvPr/>
        </p:nvSpPr>
        <p:spPr>
          <a:xfrm>
            <a:off x="7955685" y="1870286"/>
            <a:ext cx="1957095" cy="338554"/>
          </a:xfrm>
          <a:prstGeom prst="rect">
            <a:avLst/>
          </a:prstGeom>
          <a:noFill/>
        </p:spPr>
        <p:txBody>
          <a:bodyPr wrap="square" rtlCol="0">
            <a:spAutoFit/>
          </a:bodyPr>
          <a:lstStyle/>
          <a:p>
            <a:r>
              <a:rPr lang="hu-HU" sz="1600" dirty="0" err="1"/>
              <a:t>Resource</a:t>
            </a:r>
            <a:r>
              <a:rPr lang="hu-HU" sz="1600" dirty="0"/>
              <a:t> </a:t>
            </a:r>
            <a:r>
              <a:rPr lang="hu-HU" sz="1600" dirty="0" err="1"/>
              <a:t>Groups</a:t>
            </a:r>
            <a:r>
              <a:rPr lang="hu-HU" sz="1600" dirty="0"/>
              <a:t> </a:t>
            </a:r>
            <a:endParaRPr lang="en-US" sz="1600" dirty="0"/>
          </a:p>
        </p:txBody>
      </p:sp>
      <p:grpSp>
        <p:nvGrpSpPr>
          <p:cNvPr id="24" name="Group 23">
            <a:extLst>
              <a:ext uri="{FF2B5EF4-FFF2-40B4-BE49-F238E27FC236}">
                <a16:creationId xmlns:a16="http://schemas.microsoft.com/office/drawing/2014/main" id="{02AFFECB-163F-65E4-1ABF-A33E052A17E5}"/>
              </a:ext>
            </a:extLst>
          </p:cNvPr>
          <p:cNvGrpSpPr/>
          <p:nvPr/>
        </p:nvGrpSpPr>
        <p:grpSpPr>
          <a:xfrm>
            <a:off x="8421625" y="1406697"/>
            <a:ext cx="724100" cy="393072"/>
            <a:chOff x="1364974" y="1701289"/>
            <a:chExt cx="543075" cy="294804"/>
          </a:xfrm>
        </p:grpSpPr>
        <p:pic>
          <p:nvPicPr>
            <p:cNvPr id="25" name="Picture 24">
              <a:extLst>
                <a:ext uri="{FF2B5EF4-FFF2-40B4-BE49-F238E27FC236}">
                  <a16:creationId xmlns:a16="http://schemas.microsoft.com/office/drawing/2014/main" id="{B13B80AE-FB62-060C-1428-EFF026DB4AA0}"/>
                </a:ext>
              </a:extLst>
            </p:cNvPr>
            <p:cNvPicPr>
              <a:picLocks noChangeAspect="1"/>
            </p:cNvPicPr>
            <p:nvPr/>
          </p:nvPicPr>
          <p:blipFill>
            <a:blip r:embed="rId4"/>
            <a:stretch>
              <a:fillRect/>
            </a:stretch>
          </p:blipFill>
          <p:spPr>
            <a:xfrm>
              <a:off x="1364974" y="1701289"/>
              <a:ext cx="454825" cy="214976"/>
            </a:xfrm>
            <a:prstGeom prst="rect">
              <a:avLst/>
            </a:prstGeom>
          </p:spPr>
        </p:pic>
        <p:pic>
          <p:nvPicPr>
            <p:cNvPr id="26" name="Picture 25">
              <a:extLst>
                <a:ext uri="{FF2B5EF4-FFF2-40B4-BE49-F238E27FC236}">
                  <a16:creationId xmlns:a16="http://schemas.microsoft.com/office/drawing/2014/main" id="{9DEF1E37-E2EF-29D3-BCFF-F95C413771A7}"/>
                </a:ext>
              </a:extLst>
            </p:cNvPr>
            <p:cNvPicPr>
              <a:picLocks noChangeAspect="1"/>
            </p:cNvPicPr>
            <p:nvPr/>
          </p:nvPicPr>
          <p:blipFill>
            <a:blip r:embed="rId4"/>
            <a:stretch>
              <a:fillRect/>
            </a:stretch>
          </p:blipFill>
          <p:spPr>
            <a:xfrm>
              <a:off x="1407079" y="1741203"/>
              <a:ext cx="454825" cy="214976"/>
            </a:xfrm>
            <a:prstGeom prst="rect">
              <a:avLst/>
            </a:prstGeom>
          </p:spPr>
        </p:pic>
        <p:pic>
          <p:nvPicPr>
            <p:cNvPr id="27" name="Picture 26">
              <a:extLst>
                <a:ext uri="{FF2B5EF4-FFF2-40B4-BE49-F238E27FC236}">
                  <a16:creationId xmlns:a16="http://schemas.microsoft.com/office/drawing/2014/main" id="{6DD26861-D5F7-5E78-2A28-00FBFBCD787E}"/>
                </a:ext>
              </a:extLst>
            </p:cNvPr>
            <p:cNvPicPr>
              <a:picLocks noChangeAspect="1"/>
            </p:cNvPicPr>
            <p:nvPr/>
          </p:nvPicPr>
          <p:blipFill>
            <a:blip r:embed="rId4"/>
            <a:stretch>
              <a:fillRect/>
            </a:stretch>
          </p:blipFill>
          <p:spPr>
            <a:xfrm>
              <a:off x="1453224" y="1781117"/>
              <a:ext cx="454825" cy="214976"/>
            </a:xfrm>
            <a:prstGeom prst="rect">
              <a:avLst/>
            </a:prstGeom>
          </p:spPr>
        </p:pic>
      </p:grpSp>
      <p:pic>
        <p:nvPicPr>
          <p:cNvPr id="28" name="Picture 27">
            <a:extLst>
              <a:ext uri="{FF2B5EF4-FFF2-40B4-BE49-F238E27FC236}">
                <a16:creationId xmlns:a16="http://schemas.microsoft.com/office/drawing/2014/main" id="{6B5FD881-2BB9-D2E6-4BD9-52923E15295E}"/>
              </a:ext>
            </a:extLst>
          </p:cNvPr>
          <p:cNvPicPr>
            <a:picLocks noChangeAspect="1"/>
          </p:cNvPicPr>
          <p:nvPr/>
        </p:nvPicPr>
        <p:blipFill>
          <a:blip r:embed="rId5"/>
          <a:stretch>
            <a:fillRect/>
          </a:stretch>
        </p:blipFill>
        <p:spPr>
          <a:xfrm>
            <a:off x="7593960" y="2021075"/>
            <a:ext cx="417928" cy="369332"/>
          </a:xfrm>
          <a:prstGeom prst="rect">
            <a:avLst/>
          </a:prstGeom>
        </p:spPr>
      </p:pic>
      <p:pic>
        <p:nvPicPr>
          <p:cNvPr id="193" name="Picture 192">
            <a:extLst>
              <a:ext uri="{FF2B5EF4-FFF2-40B4-BE49-F238E27FC236}">
                <a16:creationId xmlns:a16="http://schemas.microsoft.com/office/drawing/2014/main" id="{1C982623-051A-DE5A-2774-4A173F38D91C}"/>
              </a:ext>
            </a:extLst>
          </p:cNvPr>
          <p:cNvPicPr>
            <a:picLocks noChangeAspect="1"/>
          </p:cNvPicPr>
          <p:nvPr/>
        </p:nvPicPr>
        <p:blipFill>
          <a:blip r:embed="rId4"/>
          <a:stretch>
            <a:fillRect/>
          </a:stretch>
        </p:blipFill>
        <p:spPr>
          <a:xfrm>
            <a:off x="218679" y="1216503"/>
            <a:ext cx="468612" cy="221492"/>
          </a:xfrm>
          <a:prstGeom prst="rect">
            <a:avLst/>
          </a:prstGeom>
        </p:spPr>
      </p:pic>
      <p:pic>
        <p:nvPicPr>
          <p:cNvPr id="194" name="Picture 193">
            <a:extLst>
              <a:ext uri="{FF2B5EF4-FFF2-40B4-BE49-F238E27FC236}">
                <a16:creationId xmlns:a16="http://schemas.microsoft.com/office/drawing/2014/main" id="{CDD7834B-1112-A0FC-94C8-FCA6D64A479C}"/>
              </a:ext>
            </a:extLst>
          </p:cNvPr>
          <p:cNvPicPr>
            <a:picLocks noChangeAspect="1"/>
          </p:cNvPicPr>
          <p:nvPr/>
        </p:nvPicPr>
        <p:blipFill>
          <a:blip r:embed="rId5"/>
          <a:stretch>
            <a:fillRect/>
          </a:stretch>
        </p:blipFill>
        <p:spPr>
          <a:xfrm>
            <a:off x="218679" y="2296510"/>
            <a:ext cx="417928" cy="369332"/>
          </a:xfrm>
          <a:prstGeom prst="rect">
            <a:avLst/>
          </a:prstGeom>
        </p:spPr>
      </p:pic>
      <p:pic>
        <p:nvPicPr>
          <p:cNvPr id="1026" name="Picture 2" descr="Magnifying glass - Free Tools and utensils icons">
            <a:extLst>
              <a:ext uri="{FF2B5EF4-FFF2-40B4-BE49-F238E27FC236}">
                <a16:creationId xmlns:a16="http://schemas.microsoft.com/office/drawing/2014/main" id="{3DF4C7B2-606A-20CC-175B-0BF57129137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2973" y="3284330"/>
            <a:ext cx="289340" cy="28934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0DA0E2D5-4491-2B06-1944-037A7A56E221}"/>
              </a:ext>
            </a:extLst>
          </p:cNvPr>
          <p:cNvPicPr>
            <a:picLocks noChangeAspect="1"/>
          </p:cNvPicPr>
          <p:nvPr/>
        </p:nvPicPr>
        <p:blipFill>
          <a:blip r:embed="rId7"/>
          <a:stretch>
            <a:fillRect/>
          </a:stretch>
        </p:blipFill>
        <p:spPr>
          <a:xfrm>
            <a:off x="7812809" y="2378638"/>
            <a:ext cx="2099971" cy="812892"/>
          </a:xfrm>
          <a:prstGeom prst="rect">
            <a:avLst/>
          </a:prstGeom>
        </p:spPr>
      </p:pic>
      <p:pic>
        <p:nvPicPr>
          <p:cNvPr id="19" name="Picture 18">
            <a:extLst>
              <a:ext uri="{FF2B5EF4-FFF2-40B4-BE49-F238E27FC236}">
                <a16:creationId xmlns:a16="http://schemas.microsoft.com/office/drawing/2014/main" id="{07EAE906-426A-59D7-1D98-BDA6357D9318}"/>
              </a:ext>
            </a:extLst>
          </p:cNvPr>
          <p:cNvPicPr>
            <a:picLocks noChangeAspect="1"/>
          </p:cNvPicPr>
          <p:nvPr/>
        </p:nvPicPr>
        <p:blipFill>
          <a:blip r:embed="rId4"/>
          <a:stretch>
            <a:fillRect/>
          </a:stretch>
        </p:blipFill>
        <p:spPr>
          <a:xfrm>
            <a:off x="7936746" y="3108177"/>
            <a:ext cx="468612" cy="221492"/>
          </a:xfrm>
          <a:prstGeom prst="rect">
            <a:avLst/>
          </a:prstGeom>
        </p:spPr>
      </p:pic>
      <p:pic>
        <p:nvPicPr>
          <p:cNvPr id="20" name="Picture 19">
            <a:extLst>
              <a:ext uri="{FF2B5EF4-FFF2-40B4-BE49-F238E27FC236}">
                <a16:creationId xmlns:a16="http://schemas.microsoft.com/office/drawing/2014/main" id="{0D4AEED0-F3FD-5BC9-E09C-EDE942F58593}"/>
              </a:ext>
            </a:extLst>
          </p:cNvPr>
          <p:cNvPicPr>
            <a:picLocks noChangeAspect="1"/>
          </p:cNvPicPr>
          <p:nvPr/>
        </p:nvPicPr>
        <p:blipFill>
          <a:blip r:embed="rId4"/>
          <a:stretch>
            <a:fillRect/>
          </a:stretch>
        </p:blipFill>
        <p:spPr>
          <a:xfrm>
            <a:off x="8597846" y="3108175"/>
            <a:ext cx="468612" cy="221492"/>
          </a:xfrm>
          <a:prstGeom prst="rect">
            <a:avLst/>
          </a:prstGeom>
        </p:spPr>
      </p:pic>
      <p:pic>
        <p:nvPicPr>
          <p:cNvPr id="21" name="Picture 20">
            <a:extLst>
              <a:ext uri="{FF2B5EF4-FFF2-40B4-BE49-F238E27FC236}">
                <a16:creationId xmlns:a16="http://schemas.microsoft.com/office/drawing/2014/main" id="{5E0E5401-1D80-5884-ACFA-F0A10EDD1F3D}"/>
              </a:ext>
            </a:extLst>
          </p:cNvPr>
          <p:cNvPicPr>
            <a:picLocks noChangeAspect="1"/>
          </p:cNvPicPr>
          <p:nvPr/>
        </p:nvPicPr>
        <p:blipFill>
          <a:blip r:embed="rId4"/>
          <a:stretch>
            <a:fillRect/>
          </a:stretch>
        </p:blipFill>
        <p:spPr>
          <a:xfrm>
            <a:off x="9230910" y="3108174"/>
            <a:ext cx="468612" cy="221492"/>
          </a:xfrm>
          <a:prstGeom prst="rect">
            <a:avLst/>
          </a:prstGeom>
        </p:spPr>
      </p:pic>
      <p:grpSp>
        <p:nvGrpSpPr>
          <p:cNvPr id="211" name="Group 210">
            <a:extLst>
              <a:ext uri="{FF2B5EF4-FFF2-40B4-BE49-F238E27FC236}">
                <a16:creationId xmlns:a16="http://schemas.microsoft.com/office/drawing/2014/main" id="{88E747EE-2186-F5FC-2280-68FB8D7D1582}"/>
              </a:ext>
            </a:extLst>
          </p:cNvPr>
          <p:cNvGrpSpPr/>
          <p:nvPr/>
        </p:nvGrpSpPr>
        <p:grpSpPr>
          <a:xfrm>
            <a:off x="7748435" y="2265622"/>
            <a:ext cx="2427799" cy="1442081"/>
            <a:chOff x="5829732" y="1668206"/>
            <a:chExt cx="1820849" cy="1081561"/>
          </a:xfrm>
        </p:grpSpPr>
        <p:sp>
          <p:nvSpPr>
            <p:cNvPr id="204" name="Rectangle: Rounded Corners 203">
              <a:extLst>
                <a:ext uri="{FF2B5EF4-FFF2-40B4-BE49-F238E27FC236}">
                  <a16:creationId xmlns:a16="http://schemas.microsoft.com/office/drawing/2014/main" id="{278568F5-ADAC-D7BF-D20B-EE89F241AED2}"/>
                </a:ext>
              </a:extLst>
            </p:cNvPr>
            <p:cNvSpPr/>
            <p:nvPr/>
          </p:nvSpPr>
          <p:spPr>
            <a:xfrm>
              <a:off x="5829732" y="1814459"/>
              <a:ext cx="1820849" cy="93530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pic>
          <p:nvPicPr>
            <p:cNvPr id="206" name="Picture 205">
              <a:extLst>
                <a:ext uri="{FF2B5EF4-FFF2-40B4-BE49-F238E27FC236}">
                  <a16:creationId xmlns:a16="http://schemas.microsoft.com/office/drawing/2014/main" id="{EECB892E-8CC0-0E41-A0B4-BDB25ED43613}"/>
                </a:ext>
              </a:extLst>
            </p:cNvPr>
            <p:cNvPicPr>
              <a:picLocks noChangeAspect="1"/>
            </p:cNvPicPr>
            <p:nvPr/>
          </p:nvPicPr>
          <p:blipFill>
            <a:blip r:embed="rId5"/>
            <a:stretch>
              <a:fillRect/>
            </a:stretch>
          </p:blipFill>
          <p:spPr>
            <a:xfrm>
              <a:off x="5847870" y="1668206"/>
              <a:ext cx="313446" cy="276999"/>
            </a:xfrm>
            <a:prstGeom prst="rect">
              <a:avLst/>
            </a:prstGeom>
          </p:spPr>
        </p:pic>
        <p:pic>
          <p:nvPicPr>
            <p:cNvPr id="207" name="Picture 206">
              <a:extLst>
                <a:ext uri="{FF2B5EF4-FFF2-40B4-BE49-F238E27FC236}">
                  <a16:creationId xmlns:a16="http://schemas.microsoft.com/office/drawing/2014/main" id="{DE22A0D4-05F9-D2CC-E8E1-A18E637405C5}"/>
                </a:ext>
              </a:extLst>
            </p:cNvPr>
            <p:cNvPicPr>
              <a:picLocks noChangeAspect="1"/>
            </p:cNvPicPr>
            <p:nvPr/>
          </p:nvPicPr>
          <p:blipFill>
            <a:blip r:embed="rId7"/>
            <a:stretch>
              <a:fillRect/>
            </a:stretch>
          </p:blipFill>
          <p:spPr>
            <a:xfrm>
              <a:off x="6011205" y="1936378"/>
              <a:ext cx="1574978" cy="609669"/>
            </a:xfrm>
            <a:prstGeom prst="rect">
              <a:avLst/>
            </a:prstGeom>
          </p:spPr>
        </p:pic>
        <p:pic>
          <p:nvPicPr>
            <p:cNvPr id="208" name="Picture 207">
              <a:extLst>
                <a:ext uri="{FF2B5EF4-FFF2-40B4-BE49-F238E27FC236}">
                  <a16:creationId xmlns:a16="http://schemas.microsoft.com/office/drawing/2014/main" id="{1884577D-1ADB-99AA-A830-C7C1D4B15AFC}"/>
                </a:ext>
              </a:extLst>
            </p:cNvPr>
            <p:cNvPicPr>
              <a:picLocks noChangeAspect="1"/>
            </p:cNvPicPr>
            <p:nvPr/>
          </p:nvPicPr>
          <p:blipFill>
            <a:blip r:embed="rId4"/>
            <a:stretch>
              <a:fillRect/>
            </a:stretch>
          </p:blipFill>
          <p:spPr>
            <a:xfrm>
              <a:off x="6104959" y="2483532"/>
              <a:ext cx="351459" cy="166119"/>
            </a:xfrm>
            <a:prstGeom prst="rect">
              <a:avLst/>
            </a:prstGeom>
          </p:spPr>
        </p:pic>
        <p:pic>
          <p:nvPicPr>
            <p:cNvPr id="209" name="Picture 208">
              <a:extLst>
                <a:ext uri="{FF2B5EF4-FFF2-40B4-BE49-F238E27FC236}">
                  <a16:creationId xmlns:a16="http://schemas.microsoft.com/office/drawing/2014/main" id="{CFA9E71D-6548-3E6E-69B9-6463926D1312}"/>
                </a:ext>
              </a:extLst>
            </p:cNvPr>
            <p:cNvPicPr>
              <a:picLocks noChangeAspect="1"/>
            </p:cNvPicPr>
            <p:nvPr/>
          </p:nvPicPr>
          <p:blipFill>
            <a:blip r:embed="rId4"/>
            <a:stretch>
              <a:fillRect/>
            </a:stretch>
          </p:blipFill>
          <p:spPr>
            <a:xfrm>
              <a:off x="6600784" y="2483531"/>
              <a:ext cx="351459" cy="166119"/>
            </a:xfrm>
            <a:prstGeom prst="rect">
              <a:avLst/>
            </a:prstGeom>
          </p:spPr>
        </p:pic>
        <p:pic>
          <p:nvPicPr>
            <p:cNvPr id="210" name="Picture 209">
              <a:extLst>
                <a:ext uri="{FF2B5EF4-FFF2-40B4-BE49-F238E27FC236}">
                  <a16:creationId xmlns:a16="http://schemas.microsoft.com/office/drawing/2014/main" id="{0A6DB0CD-EABB-1BA2-87D6-0E08DD974DBF}"/>
                </a:ext>
              </a:extLst>
            </p:cNvPr>
            <p:cNvPicPr>
              <a:picLocks noChangeAspect="1"/>
            </p:cNvPicPr>
            <p:nvPr/>
          </p:nvPicPr>
          <p:blipFill>
            <a:blip r:embed="rId4"/>
            <a:stretch>
              <a:fillRect/>
            </a:stretch>
          </p:blipFill>
          <p:spPr>
            <a:xfrm>
              <a:off x="7075582" y="2483530"/>
              <a:ext cx="351459" cy="166119"/>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1"/>
                                        </p:tgtEl>
                                        <p:attrNameLst>
                                          <p:attrName>style.visibility</p:attrName>
                                        </p:attrNameLst>
                                      </p:cBhvr>
                                      <p:to>
                                        <p:strVal val="visible"/>
                                      </p:to>
                                    </p:set>
                                    <p:animEffect transition="in" filter="fade">
                                      <p:cBhvr>
                                        <p:cTn id="7" dur="500"/>
                                        <p:tgtEl>
                                          <p:spTgt spid="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Szöveg helye 1">
            <a:extLst>
              <a:ext uri="{FF2B5EF4-FFF2-40B4-BE49-F238E27FC236}">
                <a16:creationId xmlns:a16="http://schemas.microsoft.com/office/drawing/2014/main" id="{3C15A630-48D1-42DC-9EE9-A56F2E13C57D}"/>
              </a:ext>
            </a:extLst>
          </p:cNvPr>
          <p:cNvSpPr>
            <a:spLocks noGrp="1"/>
          </p:cNvSpPr>
          <p:nvPr>
            <p:ph type="body" idx="20"/>
          </p:nvPr>
        </p:nvSpPr>
        <p:spPr/>
        <p:txBody>
          <a:bodyPr/>
          <a:lstStyle/>
          <a:p>
            <a:endParaRPr lang="en-GB"/>
          </a:p>
        </p:txBody>
      </p:sp>
      <p:sp>
        <p:nvSpPr>
          <p:cNvPr id="16" name="Rectangle: Rounded Corners 15">
            <a:extLst>
              <a:ext uri="{FF2B5EF4-FFF2-40B4-BE49-F238E27FC236}">
                <a16:creationId xmlns:a16="http://schemas.microsoft.com/office/drawing/2014/main" id="{E70C6EE3-DDC7-358B-9720-D2A0187198A8}"/>
              </a:ext>
            </a:extLst>
          </p:cNvPr>
          <p:cNvSpPr/>
          <p:nvPr/>
        </p:nvSpPr>
        <p:spPr>
          <a:xfrm>
            <a:off x="8118736" y="3729292"/>
            <a:ext cx="3692936" cy="2571185"/>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7" name="Picture 16">
            <a:extLst>
              <a:ext uri="{FF2B5EF4-FFF2-40B4-BE49-F238E27FC236}">
                <a16:creationId xmlns:a16="http://schemas.microsoft.com/office/drawing/2014/main" id="{93999074-229A-1B4B-8016-91A965E59815}"/>
              </a:ext>
            </a:extLst>
          </p:cNvPr>
          <p:cNvPicPr>
            <a:picLocks noChangeAspect="1"/>
          </p:cNvPicPr>
          <p:nvPr/>
        </p:nvPicPr>
        <p:blipFill>
          <a:blip r:embed="rId3"/>
          <a:stretch>
            <a:fillRect/>
          </a:stretch>
        </p:blipFill>
        <p:spPr>
          <a:xfrm>
            <a:off x="8254562" y="3480640"/>
            <a:ext cx="419100" cy="584200"/>
          </a:xfrm>
          <a:prstGeom prst="rect">
            <a:avLst/>
          </a:prstGeom>
        </p:spPr>
      </p:pic>
      <p:sp>
        <p:nvSpPr>
          <p:cNvPr id="18" name="Rectangle: Rounded Corners 17">
            <a:extLst>
              <a:ext uri="{FF2B5EF4-FFF2-40B4-BE49-F238E27FC236}">
                <a16:creationId xmlns:a16="http://schemas.microsoft.com/office/drawing/2014/main" id="{439D7B8A-808C-8BFC-0EA9-D351FAC34E69}"/>
              </a:ext>
            </a:extLst>
          </p:cNvPr>
          <p:cNvSpPr/>
          <p:nvPr/>
        </p:nvSpPr>
        <p:spPr>
          <a:xfrm>
            <a:off x="8758477" y="4432235"/>
            <a:ext cx="2427799" cy="124707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2" name="TextBox 21">
            <a:extLst>
              <a:ext uri="{FF2B5EF4-FFF2-40B4-BE49-F238E27FC236}">
                <a16:creationId xmlns:a16="http://schemas.microsoft.com/office/drawing/2014/main" id="{0547FE06-71FA-AB95-96E7-7581D267FD5F}"/>
              </a:ext>
            </a:extLst>
          </p:cNvPr>
          <p:cNvSpPr txBox="1"/>
          <p:nvPr/>
        </p:nvSpPr>
        <p:spPr>
          <a:xfrm>
            <a:off x="8599082" y="3230445"/>
            <a:ext cx="2257817" cy="461665"/>
          </a:xfrm>
          <a:prstGeom prst="rect">
            <a:avLst/>
          </a:prstGeom>
          <a:noFill/>
        </p:spPr>
        <p:txBody>
          <a:bodyPr wrap="square" rtlCol="0">
            <a:spAutoFit/>
          </a:bodyPr>
          <a:lstStyle/>
          <a:p>
            <a:r>
              <a:rPr lang="hu-HU" sz="2400" dirty="0" err="1"/>
              <a:t>Engineering</a:t>
            </a:r>
            <a:endParaRPr lang="en-US" sz="2400" dirty="0"/>
          </a:p>
        </p:txBody>
      </p:sp>
      <p:sp>
        <p:nvSpPr>
          <p:cNvPr id="23" name="TextBox 22">
            <a:extLst>
              <a:ext uri="{FF2B5EF4-FFF2-40B4-BE49-F238E27FC236}">
                <a16:creationId xmlns:a16="http://schemas.microsoft.com/office/drawing/2014/main" id="{80F0DBE4-A51D-6228-B294-5920AE5D3E1C}"/>
              </a:ext>
            </a:extLst>
          </p:cNvPr>
          <p:cNvSpPr txBox="1"/>
          <p:nvPr/>
        </p:nvSpPr>
        <p:spPr>
          <a:xfrm>
            <a:off x="9144385" y="4086442"/>
            <a:ext cx="1957095" cy="338554"/>
          </a:xfrm>
          <a:prstGeom prst="rect">
            <a:avLst/>
          </a:prstGeom>
          <a:noFill/>
        </p:spPr>
        <p:txBody>
          <a:bodyPr wrap="square" rtlCol="0">
            <a:spAutoFit/>
          </a:bodyPr>
          <a:lstStyle/>
          <a:p>
            <a:r>
              <a:rPr lang="hu-HU" sz="1600" dirty="0" err="1"/>
              <a:t>Resource</a:t>
            </a:r>
            <a:r>
              <a:rPr lang="hu-HU" sz="1600" dirty="0"/>
              <a:t> </a:t>
            </a:r>
            <a:r>
              <a:rPr lang="hu-HU" sz="1600" dirty="0" err="1"/>
              <a:t>Groups</a:t>
            </a:r>
            <a:r>
              <a:rPr lang="hu-HU" sz="1600" dirty="0"/>
              <a:t> </a:t>
            </a:r>
            <a:endParaRPr lang="en-US" sz="1600" dirty="0"/>
          </a:p>
        </p:txBody>
      </p:sp>
      <p:grpSp>
        <p:nvGrpSpPr>
          <p:cNvPr id="24" name="Group 23">
            <a:extLst>
              <a:ext uri="{FF2B5EF4-FFF2-40B4-BE49-F238E27FC236}">
                <a16:creationId xmlns:a16="http://schemas.microsoft.com/office/drawing/2014/main" id="{02AFFECB-163F-65E4-1ABF-A33E052A17E5}"/>
              </a:ext>
            </a:extLst>
          </p:cNvPr>
          <p:cNvGrpSpPr/>
          <p:nvPr/>
        </p:nvGrpSpPr>
        <p:grpSpPr>
          <a:xfrm>
            <a:off x="9610325" y="3622853"/>
            <a:ext cx="724100" cy="393072"/>
            <a:chOff x="1364974" y="1701289"/>
            <a:chExt cx="543075" cy="294804"/>
          </a:xfrm>
        </p:grpSpPr>
        <p:pic>
          <p:nvPicPr>
            <p:cNvPr id="25" name="Picture 24">
              <a:extLst>
                <a:ext uri="{FF2B5EF4-FFF2-40B4-BE49-F238E27FC236}">
                  <a16:creationId xmlns:a16="http://schemas.microsoft.com/office/drawing/2014/main" id="{B13B80AE-FB62-060C-1428-EFF026DB4AA0}"/>
                </a:ext>
              </a:extLst>
            </p:cNvPr>
            <p:cNvPicPr>
              <a:picLocks noChangeAspect="1"/>
            </p:cNvPicPr>
            <p:nvPr/>
          </p:nvPicPr>
          <p:blipFill>
            <a:blip r:embed="rId4"/>
            <a:stretch>
              <a:fillRect/>
            </a:stretch>
          </p:blipFill>
          <p:spPr>
            <a:xfrm>
              <a:off x="1364974" y="1701289"/>
              <a:ext cx="454825" cy="214976"/>
            </a:xfrm>
            <a:prstGeom prst="rect">
              <a:avLst/>
            </a:prstGeom>
          </p:spPr>
        </p:pic>
        <p:pic>
          <p:nvPicPr>
            <p:cNvPr id="26" name="Picture 25">
              <a:extLst>
                <a:ext uri="{FF2B5EF4-FFF2-40B4-BE49-F238E27FC236}">
                  <a16:creationId xmlns:a16="http://schemas.microsoft.com/office/drawing/2014/main" id="{9DEF1E37-E2EF-29D3-BCFF-F95C413771A7}"/>
                </a:ext>
              </a:extLst>
            </p:cNvPr>
            <p:cNvPicPr>
              <a:picLocks noChangeAspect="1"/>
            </p:cNvPicPr>
            <p:nvPr/>
          </p:nvPicPr>
          <p:blipFill>
            <a:blip r:embed="rId4"/>
            <a:stretch>
              <a:fillRect/>
            </a:stretch>
          </p:blipFill>
          <p:spPr>
            <a:xfrm>
              <a:off x="1407079" y="1741203"/>
              <a:ext cx="454825" cy="214976"/>
            </a:xfrm>
            <a:prstGeom prst="rect">
              <a:avLst/>
            </a:prstGeom>
          </p:spPr>
        </p:pic>
        <p:pic>
          <p:nvPicPr>
            <p:cNvPr id="27" name="Picture 26">
              <a:extLst>
                <a:ext uri="{FF2B5EF4-FFF2-40B4-BE49-F238E27FC236}">
                  <a16:creationId xmlns:a16="http://schemas.microsoft.com/office/drawing/2014/main" id="{6DD26861-D5F7-5E78-2A28-00FBFBCD787E}"/>
                </a:ext>
              </a:extLst>
            </p:cNvPr>
            <p:cNvPicPr>
              <a:picLocks noChangeAspect="1"/>
            </p:cNvPicPr>
            <p:nvPr/>
          </p:nvPicPr>
          <p:blipFill>
            <a:blip r:embed="rId4"/>
            <a:stretch>
              <a:fillRect/>
            </a:stretch>
          </p:blipFill>
          <p:spPr>
            <a:xfrm>
              <a:off x="1453224" y="1781117"/>
              <a:ext cx="454825" cy="214976"/>
            </a:xfrm>
            <a:prstGeom prst="rect">
              <a:avLst/>
            </a:prstGeom>
          </p:spPr>
        </p:pic>
      </p:grpSp>
      <p:pic>
        <p:nvPicPr>
          <p:cNvPr id="28" name="Picture 27">
            <a:extLst>
              <a:ext uri="{FF2B5EF4-FFF2-40B4-BE49-F238E27FC236}">
                <a16:creationId xmlns:a16="http://schemas.microsoft.com/office/drawing/2014/main" id="{6B5FD881-2BB9-D2E6-4BD9-52923E15295E}"/>
              </a:ext>
            </a:extLst>
          </p:cNvPr>
          <p:cNvPicPr>
            <a:picLocks noChangeAspect="1"/>
          </p:cNvPicPr>
          <p:nvPr/>
        </p:nvPicPr>
        <p:blipFill>
          <a:blip r:embed="rId5"/>
          <a:stretch>
            <a:fillRect/>
          </a:stretch>
        </p:blipFill>
        <p:spPr>
          <a:xfrm>
            <a:off x="8782660" y="4237231"/>
            <a:ext cx="417928" cy="369332"/>
          </a:xfrm>
          <a:prstGeom prst="rect">
            <a:avLst/>
          </a:prstGeom>
        </p:spPr>
      </p:pic>
      <p:pic>
        <p:nvPicPr>
          <p:cNvPr id="15" name="Picture 14">
            <a:extLst>
              <a:ext uri="{FF2B5EF4-FFF2-40B4-BE49-F238E27FC236}">
                <a16:creationId xmlns:a16="http://schemas.microsoft.com/office/drawing/2014/main" id="{0DA0E2D5-4491-2B06-1944-037A7A56E221}"/>
              </a:ext>
            </a:extLst>
          </p:cNvPr>
          <p:cNvPicPr>
            <a:picLocks noChangeAspect="1"/>
          </p:cNvPicPr>
          <p:nvPr/>
        </p:nvPicPr>
        <p:blipFill>
          <a:blip r:embed="rId6"/>
          <a:stretch>
            <a:fillRect/>
          </a:stretch>
        </p:blipFill>
        <p:spPr>
          <a:xfrm>
            <a:off x="9001509" y="4594794"/>
            <a:ext cx="2099971" cy="812892"/>
          </a:xfrm>
          <a:prstGeom prst="rect">
            <a:avLst/>
          </a:prstGeom>
        </p:spPr>
      </p:pic>
      <p:pic>
        <p:nvPicPr>
          <p:cNvPr id="19" name="Picture 18">
            <a:extLst>
              <a:ext uri="{FF2B5EF4-FFF2-40B4-BE49-F238E27FC236}">
                <a16:creationId xmlns:a16="http://schemas.microsoft.com/office/drawing/2014/main" id="{07EAE906-426A-59D7-1D98-BDA6357D9318}"/>
              </a:ext>
            </a:extLst>
          </p:cNvPr>
          <p:cNvPicPr>
            <a:picLocks noChangeAspect="1"/>
          </p:cNvPicPr>
          <p:nvPr/>
        </p:nvPicPr>
        <p:blipFill>
          <a:blip r:embed="rId4"/>
          <a:stretch>
            <a:fillRect/>
          </a:stretch>
        </p:blipFill>
        <p:spPr>
          <a:xfrm>
            <a:off x="9125446" y="5324333"/>
            <a:ext cx="468612" cy="221492"/>
          </a:xfrm>
          <a:prstGeom prst="rect">
            <a:avLst/>
          </a:prstGeom>
        </p:spPr>
      </p:pic>
      <p:pic>
        <p:nvPicPr>
          <p:cNvPr id="20" name="Picture 19">
            <a:extLst>
              <a:ext uri="{FF2B5EF4-FFF2-40B4-BE49-F238E27FC236}">
                <a16:creationId xmlns:a16="http://schemas.microsoft.com/office/drawing/2014/main" id="{0D4AEED0-F3FD-5BC9-E09C-EDE942F58593}"/>
              </a:ext>
            </a:extLst>
          </p:cNvPr>
          <p:cNvPicPr>
            <a:picLocks noChangeAspect="1"/>
          </p:cNvPicPr>
          <p:nvPr/>
        </p:nvPicPr>
        <p:blipFill>
          <a:blip r:embed="rId4"/>
          <a:stretch>
            <a:fillRect/>
          </a:stretch>
        </p:blipFill>
        <p:spPr>
          <a:xfrm>
            <a:off x="9786546" y="5324331"/>
            <a:ext cx="468612" cy="221492"/>
          </a:xfrm>
          <a:prstGeom prst="rect">
            <a:avLst/>
          </a:prstGeom>
        </p:spPr>
      </p:pic>
      <p:pic>
        <p:nvPicPr>
          <p:cNvPr id="21" name="Picture 20">
            <a:extLst>
              <a:ext uri="{FF2B5EF4-FFF2-40B4-BE49-F238E27FC236}">
                <a16:creationId xmlns:a16="http://schemas.microsoft.com/office/drawing/2014/main" id="{5E0E5401-1D80-5884-ACFA-F0A10EDD1F3D}"/>
              </a:ext>
            </a:extLst>
          </p:cNvPr>
          <p:cNvPicPr>
            <a:picLocks noChangeAspect="1"/>
          </p:cNvPicPr>
          <p:nvPr/>
        </p:nvPicPr>
        <p:blipFill>
          <a:blip r:embed="rId4"/>
          <a:stretch>
            <a:fillRect/>
          </a:stretch>
        </p:blipFill>
        <p:spPr>
          <a:xfrm>
            <a:off x="10419610" y="5324330"/>
            <a:ext cx="468612" cy="221492"/>
          </a:xfrm>
          <a:prstGeom prst="rect">
            <a:avLst/>
          </a:prstGeom>
        </p:spPr>
      </p:pic>
      <p:grpSp>
        <p:nvGrpSpPr>
          <p:cNvPr id="2057" name="Group 2056">
            <a:extLst>
              <a:ext uri="{FF2B5EF4-FFF2-40B4-BE49-F238E27FC236}">
                <a16:creationId xmlns:a16="http://schemas.microsoft.com/office/drawing/2014/main" id="{D73E8F9E-A701-966F-459B-851B5FE411D2}"/>
              </a:ext>
            </a:extLst>
          </p:cNvPr>
          <p:cNvGrpSpPr/>
          <p:nvPr/>
        </p:nvGrpSpPr>
        <p:grpSpPr>
          <a:xfrm>
            <a:off x="4173759" y="3177225"/>
            <a:ext cx="3692936" cy="3070032"/>
            <a:chOff x="3130319" y="2382919"/>
            <a:chExt cx="2769702" cy="2302524"/>
          </a:xfrm>
        </p:grpSpPr>
        <p:sp>
          <p:nvSpPr>
            <p:cNvPr id="31" name="Rectangle: Rounded Corners 30">
              <a:extLst>
                <a:ext uri="{FF2B5EF4-FFF2-40B4-BE49-F238E27FC236}">
                  <a16:creationId xmlns:a16="http://schemas.microsoft.com/office/drawing/2014/main" id="{AD0CF5E1-32DF-616F-F1B9-7E11CBABFC8E}"/>
                </a:ext>
              </a:extLst>
            </p:cNvPr>
            <p:cNvSpPr/>
            <p:nvPr/>
          </p:nvSpPr>
          <p:spPr>
            <a:xfrm>
              <a:off x="3130319" y="2757054"/>
              <a:ext cx="2769702" cy="1928389"/>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pic>
          <p:nvPicPr>
            <p:cNvPr id="1024" name="Picture 1023">
              <a:extLst>
                <a:ext uri="{FF2B5EF4-FFF2-40B4-BE49-F238E27FC236}">
                  <a16:creationId xmlns:a16="http://schemas.microsoft.com/office/drawing/2014/main" id="{905C3615-998B-4F6D-1577-A6A4E115D19D}"/>
                </a:ext>
              </a:extLst>
            </p:cNvPr>
            <p:cNvPicPr>
              <a:picLocks noChangeAspect="1"/>
            </p:cNvPicPr>
            <p:nvPr/>
          </p:nvPicPr>
          <p:blipFill>
            <a:blip r:embed="rId3"/>
            <a:stretch>
              <a:fillRect/>
            </a:stretch>
          </p:blipFill>
          <p:spPr>
            <a:xfrm>
              <a:off x="3232188" y="2570566"/>
              <a:ext cx="314325" cy="438150"/>
            </a:xfrm>
            <a:prstGeom prst="rect">
              <a:avLst/>
            </a:prstGeom>
          </p:spPr>
        </p:pic>
        <p:sp>
          <p:nvSpPr>
            <p:cNvPr id="1025" name="Rectangle: Rounded Corners 1024">
              <a:extLst>
                <a:ext uri="{FF2B5EF4-FFF2-40B4-BE49-F238E27FC236}">
                  <a16:creationId xmlns:a16="http://schemas.microsoft.com/office/drawing/2014/main" id="{0231AD67-DE49-C7AB-3733-03FFE8B5F439}"/>
                </a:ext>
              </a:extLst>
            </p:cNvPr>
            <p:cNvSpPr/>
            <p:nvPr/>
          </p:nvSpPr>
          <p:spPr>
            <a:xfrm>
              <a:off x="3610124" y="3284262"/>
              <a:ext cx="1820849" cy="93530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27" name="TextBox 1026">
              <a:extLst>
                <a:ext uri="{FF2B5EF4-FFF2-40B4-BE49-F238E27FC236}">
                  <a16:creationId xmlns:a16="http://schemas.microsoft.com/office/drawing/2014/main" id="{1C07D665-CB34-EE09-AC7D-CACEAC278C8B}"/>
                </a:ext>
              </a:extLst>
            </p:cNvPr>
            <p:cNvSpPr txBox="1"/>
            <p:nvPr/>
          </p:nvSpPr>
          <p:spPr>
            <a:xfrm>
              <a:off x="3490578" y="2382919"/>
              <a:ext cx="1693363" cy="346249"/>
            </a:xfrm>
            <a:prstGeom prst="rect">
              <a:avLst/>
            </a:prstGeom>
            <a:noFill/>
          </p:spPr>
          <p:txBody>
            <a:bodyPr wrap="square" rtlCol="0">
              <a:spAutoFit/>
            </a:bodyPr>
            <a:lstStyle/>
            <a:p>
              <a:r>
                <a:rPr lang="hu-HU" sz="2400" dirty="0"/>
                <a:t>Marketing</a:t>
              </a:r>
              <a:endParaRPr lang="en-US" sz="2400" dirty="0"/>
            </a:p>
          </p:txBody>
        </p:sp>
        <p:sp>
          <p:nvSpPr>
            <p:cNvPr id="1028" name="TextBox 1027">
              <a:extLst>
                <a:ext uri="{FF2B5EF4-FFF2-40B4-BE49-F238E27FC236}">
                  <a16:creationId xmlns:a16="http://schemas.microsoft.com/office/drawing/2014/main" id="{1CF47610-F663-50BE-7EA7-D83FE1DB69CB}"/>
                </a:ext>
              </a:extLst>
            </p:cNvPr>
            <p:cNvSpPr txBox="1"/>
            <p:nvPr/>
          </p:nvSpPr>
          <p:spPr>
            <a:xfrm>
              <a:off x="3899555" y="3024917"/>
              <a:ext cx="1467821" cy="253916"/>
            </a:xfrm>
            <a:prstGeom prst="rect">
              <a:avLst/>
            </a:prstGeom>
            <a:noFill/>
          </p:spPr>
          <p:txBody>
            <a:bodyPr wrap="square" rtlCol="0">
              <a:spAutoFit/>
            </a:bodyPr>
            <a:lstStyle/>
            <a:p>
              <a:r>
                <a:rPr lang="hu-HU" sz="1600" dirty="0" err="1"/>
                <a:t>Resource</a:t>
              </a:r>
              <a:r>
                <a:rPr lang="hu-HU" sz="1600" dirty="0"/>
                <a:t> </a:t>
              </a:r>
              <a:r>
                <a:rPr lang="hu-HU" sz="1600" dirty="0" err="1"/>
                <a:t>Groups</a:t>
              </a:r>
              <a:r>
                <a:rPr lang="hu-HU" sz="1600" dirty="0"/>
                <a:t> </a:t>
              </a:r>
              <a:endParaRPr lang="en-US" sz="1600" dirty="0"/>
            </a:p>
          </p:txBody>
        </p:sp>
        <p:grpSp>
          <p:nvGrpSpPr>
            <p:cNvPr id="1029" name="Group 1028">
              <a:extLst>
                <a:ext uri="{FF2B5EF4-FFF2-40B4-BE49-F238E27FC236}">
                  <a16:creationId xmlns:a16="http://schemas.microsoft.com/office/drawing/2014/main" id="{193197AA-9421-459A-43C0-EF3A9D2173AA}"/>
                </a:ext>
              </a:extLst>
            </p:cNvPr>
            <p:cNvGrpSpPr/>
            <p:nvPr/>
          </p:nvGrpSpPr>
          <p:grpSpPr>
            <a:xfrm>
              <a:off x="4249010" y="2677226"/>
              <a:ext cx="543075" cy="294804"/>
              <a:chOff x="1364974" y="1701289"/>
              <a:chExt cx="543075" cy="294804"/>
            </a:xfrm>
          </p:grpSpPr>
          <p:pic>
            <p:nvPicPr>
              <p:cNvPr id="1030" name="Picture 1029">
                <a:extLst>
                  <a:ext uri="{FF2B5EF4-FFF2-40B4-BE49-F238E27FC236}">
                    <a16:creationId xmlns:a16="http://schemas.microsoft.com/office/drawing/2014/main" id="{209F8AC1-0440-A811-68A9-268D77530D2B}"/>
                  </a:ext>
                </a:extLst>
              </p:cNvPr>
              <p:cNvPicPr>
                <a:picLocks noChangeAspect="1"/>
              </p:cNvPicPr>
              <p:nvPr/>
            </p:nvPicPr>
            <p:blipFill>
              <a:blip r:embed="rId4"/>
              <a:stretch>
                <a:fillRect/>
              </a:stretch>
            </p:blipFill>
            <p:spPr>
              <a:xfrm>
                <a:off x="1364974" y="1701289"/>
                <a:ext cx="454825" cy="214976"/>
              </a:xfrm>
              <a:prstGeom prst="rect">
                <a:avLst/>
              </a:prstGeom>
            </p:spPr>
          </p:pic>
          <p:pic>
            <p:nvPicPr>
              <p:cNvPr id="1031" name="Picture 1030">
                <a:extLst>
                  <a:ext uri="{FF2B5EF4-FFF2-40B4-BE49-F238E27FC236}">
                    <a16:creationId xmlns:a16="http://schemas.microsoft.com/office/drawing/2014/main" id="{41874CAD-4A4C-27BB-4021-B7BC75ACEF1E}"/>
                  </a:ext>
                </a:extLst>
              </p:cNvPr>
              <p:cNvPicPr>
                <a:picLocks noChangeAspect="1"/>
              </p:cNvPicPr>
              <p:nvPr/>
            </p:nvPicPr>
            <p:blipFill>
              <a:blip r:embed="rId4"/>
              <a:stretch>
                <a:fillRect/>
              </a:stretch>
            </p:blipFill>
            <p:spPr>
              <a:xfrm>
                <a:off x="1407079" y="1741203"/>
                <a:ext cx="454825" cy="214976"/>
              </a:xfrm>
              <a:prstGeom prst="rect">
                <a:avLst/>
              </a:prstGeom>
            </p:spPr>
          </p:pic>
          <p:pic>
            <p:nvPicPr>
              <p:cNvPr id="1032" name="Picture 1031">
                <a:extLst>
                  <a:ext uri="{FF2B5EF4-FFF2-40B4-BE49-F238E27FC236}">
                    <a16:creationId xmlns:a16="http://schemas.microsoft.com/office/drawing/2014/main" id="{B03E798D-8932-31B8-341E-1687D2F60C30}"/>
                  </a:ext>
                </a:extLst>
              </p:cNvPr>
              <p:cNvPicPr>
                <a:picLocks noChangeAspect="1"/>
              </p:cNvPicPr>
              <p:nvPr/>
            </p:nvPicPr>
            <p:blipFill>
              <a:blip r:embed="rId4"/>
              <a:stretch>
                <a:fillRect/>
              </a:stretch>
            </p:blipFill>
            <p:spPr>
              <a:xfrm>
                <a:off x="1453224" y="1781117"/>
                <a:ext cx="454825" cy="214976"/>
              </a:xfrm>
              <a:prstGeom prst="rect">
                <a:avLst/>
              </a:prstGeom>
            </p:spPr>
          </p:pic>
        </p:grpSp>
        <p:pic>
          <p:nvPicPr>
            <p:cNvPr id="1033" name="Picture 1032">
              <a:extLst>
                <a:ext uri="{FF2B5EF4-FFF2-40B4-BE49-F238E27FC236}">
                  <a16:creationId xmlns:a16="http://schemas.microsoft.com/office/drawing/2014/main" id="{360B3189-2A92-2001-25F6-27CF652336AA}"/>
                </a:ext>
              </a:extLst>
            </p:cNvPr>
            <p:cNvPicPr>
              <a:picLocks noChangeAspect="1"/>
            </p:cNvPicPr>
            <p:nvPr/>
          </p:nvPicPr>
          <p:blipFill>
            <a:blip r:embed="rId5"/>
            <a:stretch>
              <a:fillRect/>
            </a:stretch>
          </p:blipFill>
          <p:spPr>
            <a:xfrm>
              <a:off x="3628262" y="3138009"/>
              <a:ext cx="313446" cy="276999"/>
            </a:xfrm>
            <a:prstGeom prst="rect">
              <a:avLst/>
            </a:prstGeom>
          </p:spPr>
        </p:pic>
        <p:pic>
          <p:nvPicPr>
            <p:cNvPr id="1034" name="Picture 1033">
              <a:extLst>
                <a:ext uri="{FF2B5EF4-FFF2-40B4-BE49-F238E27FC236}">
                  <a16:creationId xmlns:a16="http://schemas.microsoft.com/office/drawing/2014/main" id="{439026B0-531C-AF15-EB3C-154842212B37}"/>
                </a:ext>
              </a:extLst>
            </p:cNvPr>
            <p:cNvPicPr>
              <a:picLocks noChangeAspect="1"/>
            </p:cNvPicPr>
            <p:nvPr/>
          </p:nvPicPr>
          <p:blipFill>
            <a:blip r:embed="rId6"/>
            <a:stretch>
              <a:fillRect/>
            </a:stretch>
          </p:blipFill>
          <p:spPr>
            <a:xfrm>
              <a:off x="3792399" y="3406181"/>
              <a:ext cx="1574978" cy="609669"/>
            </a:xfrm>
            <a:prstGeom prst="rect">
              <a:avLst/>
            </a:prstGeom>
          </p:spPr>
        </p:pic>
        <p:pic>
          <p:nvPicPr>
            <p:cNvPr id="1035" name="Picture 1034">
              <a:extLst>
                <a:ext uri="{FF2B5EF4-FFF2-40B4-BE49-F238E27FC236}">
                  <a16:creationId xmlns:a16="http://schemas.microsoft.com/office/drawing/2014/main" id="{06BA46E0-5731-4C69-E7AE-C3C2D08F5F8B}"/>
                </a:ext>
              </a:extLst>
            </p:cNvPr>
            <p:cNvPicPr>
              <a:picLocks noChangeAspect="1"/>
            </p:cNvPicPr>
            <p:nvPr/>
          </p:nvPicPr>
          <p:blipFill>
            <a:blip r:embed="rId4"/>
            <a:stretch>
              <a:fillRect/>
            </a:stretch>
          </p:blipFill>
          <p:spPr>
            <a:xfrm>
              <a:off x="3885351" y="3953335"/>
              <a:ext cx="351459" cy="166119"/>
            </a:xfrm>
            <a:prstGeom prst="rect">
              <a:avLst/>
            </a:prstGeom>
          </p:spPr>
        </p:pic>
        <p:pic>
          <p:nvPicPr>
            <p:cNvPr id="1036" name="Picture 1035">
              <a:extLst>
                <a:ext uri="{FF2B5EF4-FFF2-40B4-BE49-F238E27FC236}">
                  <a16:creationId xmlns:a16="http://schemas.microsoft.com/office/drawing/2014/main" id="{339A2298-69DC-7FF6-33A6-5CD7FFC6A65D}"/>
                </a:ext>
              </a:extLst>
            </p:cNvPr>
            <p:cNvPicPr>
              <a:picLocks noChangeAspect="1"/>
            </p:cNvPicPr>
            <p:nvPr/>
          </p:nvPicPr>
          <p:blipFill>
            <a:blip r:embed="rId4"/>
            <a:stretch>
              <a:fillRect/>
            </a:stretch>
          </p:blipFill>
          <p:spPr>
            <a:xfrm>
              <a:off x="4381176" y="3953334"/>
              <a:ext cx="351459" cy="166119"/>
            </a:xfrm>
            <a:prstGeom prst="rect">
              <a:avLst/>
            </a:prstGeom>
          </p:spPr>
        </p:pic>
        <p:pic>
          <p:nvPicPr>
            <p:cNvPr id="1037" name="Picture 1036">
              <a:extLst>
                <a:ext uri="{FF2B5EF4-FFF2-40B4-BE49-F238E27FC236}">
                  <a16:creationId xmlns:a16="http://schemas.microsoft.com/office/drawing/2014/main" id="{C8EA505A-CD39-391D-E506-265744E4FC09}"/>
                </a:ext>
              </a:extLst>
            </p:cNvPr>
            <p:cNvPicPr>
              <a:picLocks noChangeAspect="1"/>
            </p:cNvPicPr>
            <p:nvPr/>
          </p:nvPicPr>
          <p:blipFill>
            <a:blip r:embed="rId4"/>
            <a:stretch>
              <a:fillRect/>
            </a:stretch>
          </p:blipFill>
          <p:spPr>
            <a:xfrm>
              <a:off x="4855974" y="3953333"/>
              <a:ext cx="351459" cy="166119"/>
            </a:xfrm>
            <a:prstGeom prst="rect">
              <a:avLst/>
            </a:prstGeom>
          </p:spPr>
        </p:pic>
        <p:grpSp>
          <p:nvGrpSpPr>
            <p:cNvPr id="1038" name="Group 1037">
              <a:extLst>
                <a:ext uri="{FF2B5EF4-FFF2-40B4-BE49-F238E27FC236}">
                  <a16:creationId xmlns:a16="http://schemas.microsoft.com/office/drawing/2014/main" id="{7ED70A7A-B81A-E47F-B818-BD4AB6B14A83}"/>
                </a:ext>
              </a:extLst>
            </p:cNvPr>
            <p:cNvGrpSpPr/>
            <p:nvPr/>
          </p:nvGrpSpPr>
          <p:grpSpPr>
            <a:xfrm>
              <a:off x="3721894" y="3301916"/>
              <a:ext cx="1820849" cy="1081561"/>
              <a:chOff x="5829732" y="1668206"/>
              <a:chExt cx="1820849" cy="1081561"/>
            </a:xfrm>
          </p:grpSpPr>
          <p:sp>
            <p:nvSpPr>
              <p:cNvPr id="1039" name="Rectangle: Rounded Corners 1038">
                <a:extLst>
                  <a:ext uri="{FF2B5EF4-FFF2-40B4-BE49-F238E27FC236}">
                    <a16:creationId xmlns:a16="http://schemas.microsoft.com/office/drawing/2014/main" id="{B56A1605-EE58-3F8A-E009-D27DBEB1E5B6}"/>
                  </a:ext>
                </a:extLst>
              </p:cNvPr>
              <p:cNvSpPr/>
              <p:nvPr/>
            </p:nvSpPr>
            <p:spPr>
              <a:xfrm>
                <a:off x="5829732" y="1814459"/>
                <a:ext cx="1820849" cy="93530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pic>
            <p:nvPicPr>
              <p:cNvPr id="1040" name="Picture 1039">
                <a:extLst>
                  <a:ext uri="{FF2B5EF4-FFF2-40B4-BE49-F238E27FC236}">
                    <a16:creationId xmlns:a16="http://schemas.microsoft.com/office/drawing/2014/main" id="{F62B7B81-7076-2060-5099-455EFEF9459D}"/>
                  </a:ext>
                </a:extLst>
              </p:cNvPr>
              <p:cNvPicPr>
                <a:picLocks noChangeAspect="1"/>
              </p:cNvPicPr>
              <p:nvPr/>
            </p:nvPicPr>
            <p:blipFill>
              <a:blip r:embed="rId5"/>
              <a:stretch>
                <a:fillRect/>
              </a:stretch>
            </p:blipFill>
            <p:spPr>
              <a:xfrm>
                <a:off x="5847870" y="1668206"/>
                <a:ext cx="313446" cy="276999"/>
              </a:xfrm>
              <a:prstGeom prst="rect">
                <a:avLst/>
              </a:prstGeom>
            </p:spPr>
          </p:pic>
          <p:pic>
            <p:nvPicPr>
              <p:cNvPr id="1041" name="Picture 1040">
                <a:extLst>
                  <a:ext uri="{FF2B5EF4-FFF2-40B4-BE49-F238E27FC236}">
                    <a16:creationId xmlns:a16="http://schemas.microsoft.com/office/drawing/2014/main" id="{763ED260-2BF1-FBAE-A72A-DFF1152E6592}"/>
                  </a:ext>
                </a:extLst>
              </p:cNvPr>
              <p:cNvPicPr>
                <a:picLocks noChangeAspect="1"/>
              </p:cNvPicPr>
              <p:nvPr/>
            </p:nvPicPr>
            <p:blipFill>
              <a:blip r:embed="rId6"/>
              <a:stretch>
                <a:fillRect/>
              </a:stretch>
            </p:blipFill>
            <p:spPr>
              <a:xfrm>
                <a:off x="6011205" y="1936378"/>
                <a:ext cx="1574978" cy="609669"/>
              </a:xfrm>
              <a:prstGeom prst="rect">
                <a:avLst/>
              </a:prstGeom>
            </p:spPr>
          </p:pic>
          <p:pic>
            <p:nvPicPr>
              <p:cNvPr id="1042" name="Picture 1041">
                <a:extLst>
                  <a:ext uri="{FF2B5EF4-FFF2-40B4-BE49-F238E27FC236}">
                    <a16:creationId xmlns:a16="http://schemas.microsoft.com/office/drawing/2014/main" id="{77AA6637-534F-3388-15E5-1F9EB44FA9ED}"/>
                  </a:ext>
                </a:extLst>
              </p:cNvPr>
              <p:cNvPicPr>
                <a:picLocks noChangeAspect="1"/>
              </p:cNvPicPr>
              <p:nvPr/>
            </p:nvPicPr>
            <p:blipFill>
              <a:blip r:embed="rId4"/>
              <a:stretch>
                <a:fillRect/>
              </a:stretch>
            </p:blipFill>
            <p:spPr>
              <a:xfrm>
                <a:off x="6104959" y="2483532"/>
                <a:ext cx="351459" cy="166119"/>
              </a:xfrm>
              <a:prstGeom prst="rect">
                <a:avLst/>
              </a:prstGeom>
            </p:spPr>
          </p:pic>
          <p:pic>
            <p:nvPicPr>
              <p:cNvPr id="1043" name="Picture 1042">
                <a:extLst>
                  <a:ext uri="{FF2B5EF4-FFF2-40B4-BE49-F238E27FC236}">
                    <a16:creationId xmlns:a16="http://schemas.microsoft.com/office/drawing/2014/main" id="{8B0B2788-7F46-F8C8-7FEC-632281BD1150}"/>
                  </a:ext>
                </a:extLst>
              </p:cNvPr>
              <p:cNvPicPr>
                <a:picLocks noChangeAspect="1"/>
              </p:cNvPicPr>
              <p:nvPr/>
            </p:nvPicPr>
            <p:blipFill>
              <a:blip r:embed="rId4"/>
              <a:stretch>
                <a:fillRect/>
              </a:stretch>
            </p:blipFill>
            <p:spPr>
              <a:xfrm>
                <a:off x="6600784" y="2483531"/>
                <a:ext cx="351459" cy="166119"/>
              </a:xfrm>
              <a:prstGeom prst="rect">
                <a:avLst/>
              </a:prstGeom>
            </p:spPr>
          </p:pic>
          <p:pic>
            <p:nvPicPr>
              <p:cNvPr id="1044" name="Picture 1043">
                <a:extLst>
                  <a:ext uri="{FF2B5EF4-FFF2-40B4-BE49-F238E27FC236}">
                    <a16:creationId xmlns:a16="http://schemas.microsoft.com/office/drawing/2014/main" id="{3AF08A13-A16D-2C1D-11F9-BB1919952BF7}"/>
                  </a:ext>
                </a:extLst>
              </p:cNvPr>
              <p:cNvPicPr>
                <a:picLocks noChangeAspect="1"/>
              </p:cNvPicPr>
              <p:nvPr/>
            </p:nvPicPr>
            <p:blipFill>
              <a:blip r:embed="rId4"/>
              <a:stretch>
                <a:fillRect/>
              </a:stretch>
            </p:blipFill>
            <p:spPr>
              <a:xfrm>
                <a:off x="7075582" y="2483530"/>
                <a:ext cx="351459" cy="166119"/>
              </a:xfrm>
              <a:prstGeom prst="rect">
                <a:avLst/>
              </a:prstGeom>
            </p:spPr>
          </p:pic>
        </p:grpSp>
      </p:grpSp>
      <p:grpSp>
        <p:nvGrpSpPr>
          <p:cNvPr id="1045" name="Group 1044">
            <a:extLst>
              <a:ext uri="{FF2B5EF4-FFF2-40B4-BE49-F238E27FC236}">
                <a16:creationId xmlns:a16="http://schemas.microsoft.com/office/drawing/2014/main" id="{01BFD820-1A7D-11BF-C941-31A525C6F989}"/>
              </a:ext>
            </a:extLst>
          </p:cNvPr>
          <p:cNvGrpSpPr/>
          <p:nvPr/>
        </p:nvGrpSpPr>
        <p:grpSpPr>
          <a:xfrm>
            <a:off x="8909031" y="4455774"/>
            <a:ext cx="2427799" cy="1442081"/>
            <a:chOff x="5829732" y="1668206"/>
            <a:chExt cx="1820849" cy="1081561"/>
          </a:xfrm>
        </p:grpSpPr>
        <p:sp>
          <p:nvSpPr>
            <p:cNvPr id="1046" name="Rectangle: Rounded Corners 1045">
              <a:extLst>
                <a:ext uri="{FF2B5EF4-FFF2-40B4-BE49-F238E27FC236}">
                  <a16:creationId xmlns:a16="http://schemas.microsoft.com/office/drawing/2014/main" id="{9BE1C7E3-71E1-3D41-8B76-B2654046077C}"/>
                </a:ext>
              </a:extLst>
            </p:cNvPr>
            <p:cNvSpPr/>
            <p:nvPr/>
          </p:nvSpPr>
          <p:spPr>
            <a:xfrm>
              <a:off x="5829732" y="1814459"/>
              <a:ext cx="1820849" cy="93530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pic>
          <p:nvPicPr>
            <p:cNvPr id="1047" name="Picture 1046">
              <a:extLst>
                <a:ext uri="{FF2B5EF4-FFF2-40B4-BE49-F238E27FC236}">
                  <a16:creationId xmlns:a16="http://schemas.microsoft.com/office/drawing/2014/main" id="{220A4DE5-E808-2DB2-504B-ED7CFAD8E0B9}"/>
                </a:ext>
              </a:extLst>
            </p:cNvPr>
            <p:cNvPicPr>
              <a:picLocks noChangeAspect="1"/>
            </p:cNvPicPr>
            <p:nvPr/>
          </p:nvPicPr>
          <p:blipFill>
            <a:blip r:embed="rId5"/>
            <a:stretch>
              <a:fillRect/>
            </a:stretch>
          </p:blipFill>
          <p:spPr>
            <a:xfrm>
              <a:off x="5847870" y="1668206"/>
              <a:ext cx="313446" cy="276999"/>
            </a:xfrm>
            <a:prstGeom prst="rect">
              <a:avLst/>
            </a:prstGeom>
          </p:spPr>
        </p:pic>
        <p:pic>
          <p:nvPicPr>
            <p:cNvPr id="1048" name="Picture 1047">
              <a:extLst>
                <a:ext uri="{FF2B5EF4-FFF2-40B4-BE49-F238E27FC236}">
                  <a16:creationId xmlns:a16="http://schemas.microsoft.com/office/drawing/2014/main" id="{A3C08507-19A0-05E8-2DEF-0C9CCAF87683}"/>
                </a:ext>
              </a:extLst>
            </p:cNvPr>
            <p:cNvPicPr>
              <a:picLocks noChangeAspect="1"/>
            </p:cNvPicPr>
            <p:nvPr/>
          </p:nvPicPr>
          <p:blipFill>
            <a:blip r:embed="rId6"/>
            <a:stretch>
              <a:fillRect/>
            </a:stretch>
          </p:blipFill>
          <p:spPr>
            <a:xfrm>
              <a:off x="6011205" y="1936378"/>
              <a:ext cx="1574978" cy="609669"/>
            </a:xfrm>
            <a:prstGeom prst="rect">
              <a:avLst/>
            </a:prstGeom>
          </p:spPr>
        </p:pic>
        <p:pic>
          <p:nvPicPr>
            <p:cNvPr id="1049" name="Picture 1048">
              <a:extLst>
                <a:ext uri="{FF2B5EF4-FFF2-40B4-BE49-F238E27FC236}">
                  <a16:creationId xmlns:a16="http://schemas.microsoft.com/office/drawing/2014/main" id="{BFE88876-FC3A-A69B-A960-FA237C923BE5}"/>
                </a:ext>
              </a:extLst>
            </p:cNvPr>
            <p:cNvPicPr>
              <a:picLocks noChangeAspect="1"/>
            </p:cNvPicPr>
            <p:nvPr/>
          </p:nvPicPr>
          <p:blipFill>
            <a:blip r:embed="rId4"/>
            <a:stretch>
              <a:fillRect/>
            </a:stretch>
          </p:blipFill>
          <p:spPr>
            <a:xfrm>
              <a:off x="6104959" y="2483532"/>
              <a:ext cx="351459" cy="166119"/>
            </a:xfrm>
            <a:prstGeom prst="rect">
              <a:avLst/>
            </a:prstGeom>
          </p:spPr>
        </p:pic>
        <p:pic>
          <p:nvPicPr>
            <p:cNvPr id="1050" name="Picture 1049">
              <a:extLst>
                <a:ext uri="{FF2B5EF4-FFF2-40B4-BE49-F238E27FC236}">
                  <a16:creationId xmlns:a16="http://schemas.microsoft.com/office/drawing/2014/main" id="{40451E1A-DE74-34B5-5B26-607003D3F126}"/>
                </a:ext>
              </a:extLst>
            </p:cNvPr>
            <p:cNvPicPr>
              <a:picLocks noChangeAspect="1"/>
            </p:cNvPicPr>
            <p:nvPr/>
          </p:nvPicPr>
          <p:blipFill>
            <a:blip r:embed="rId4"/>
            <a:stretch>
              <a:fillRect/>
            </a:stretch>
          </p:blipFill>
          <p:spPr>
            <a:xfrm>
              <a:off x="6600784" y="2483531"/>
              <a:ext cx="351459" cy="166119"/>
            </a:xfrm>
            <a:prstGeom prst="rect">
              <a:avLst/>
            </a:prstGeom>
          </p:spPr>
        </p:pic>
        <p:pic>
          <p:nvPicPr>
            <p:cNvPr id="1051" name="Picture 1050">
              <a:extLst>
                <a:ext uri="{FF2B5EF4-FFF2-40B4-BE49-F238E27FC236}">
                  <a16:creationId xmlns:a16="http://schemas.microsoft.com/office/drawing/2014/main" id="{43743ED0-7BCD-9D14-5430-78DD736D037E}"/>
                </a:ext>
              </a:extLst>
            </p:cNvPr>
            <p:cNvPicPr>
              <a:picLocks noChangeAspect="1"/>
            </p:cNvPicPr>
            <p:nvPr/>
          </p:nvPicPr>
          <p:blipFill>
            <a:blip r:embed="rId4"/>
            <a:stretch>
              <a:fillRect/>
            </a:stretch>
          </p:blipFill>
          <p:spPr>
            <a:xfrm>
              <a:off x="7075582" y="2483530"/>
              <a:ext cx="351459" cy="166119"/>
            </a:xfrm>
            <a:prstGeom prst="rect">
              <a:avLst/>
            </a:prstGeom>
          </p:spPr>
        </p:pic>
      </p:grpSp>
      <p:pic>
        <p:nvPicPr>
          <p:cNvPr id="2050" name="Picture 2" descr="Official Azure Icon Set">
            <a:extLst>
              <a:ext uri="{FF2B5EF4-FFF2-40B4-BE49-F238E27FC236}">
                <a16:creationId xmlns:a16="http://schemas.microsoft.com/office/drawing/2014/main" id="{B1E1EACB-02B8-63E8-AB8C-A9CE37E5E5D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66893" y="949305"/>
            <a:ext cx="669201" cy="669201"/>
          </a:xfrm>
          <a:prstGeom prst="rect">
            <a:avLst/>
          </a:prstGeom>
          <a:noFill/>
          <a:extLst>
            <a:ext uri="{909E8E84-426E-40DD-AFC4-6F175D3DCCD1}">
              <a14:hiddenFill xmlns:a14="http://schemas.microsoft.com/office/drawing/2010/main">
                <a:solidFill>
                  <a:srgbClr val="FFFFFF"/>
                </a:solidFill>
              </a14:hiddenFill>
            </a:ext>
          </a:extLst>
        </p:spPr>
      </p:pic>
      <p:sp>
        <p:nvSpPr>
          <p:cNvPr id="1054" name="TextBox 1053">
            <a:extLst>
              <a:ext uri="{FF2B5EF4-FFF2-40B4-BE49-F238E27FC236}">
                <a16:creationId xmlns:a16="http://schemas.microsoft.com/office/drawing/2014/main" id="{B4B5EE34-9F94-4D99-922C-9325FA948E68}"/>
              </a:ext>
            </a:extLst>
          </p:cNvPr>
          <p:cNvSpPr txBox="1"/>
          <p:nvPr/>
        </p:nvSpPr>
        <p:spPr>
          <a:xfrm>
            <a:off x="6598515" y="1592401"/>
            <a:ext cx="3299487" cy="461665"/>
          </a:xfrm>
          <a:prstGeom prst="rect">
            <a:avLst/>
          </a:prstGeom>
          <a:noFill/>
        </p:spPr>
        <p:txBody>
          <a:bodyPr wrap="square" rtlCol="0">
            <a:spAutoFit/>
          </a:bodyPr>
          <a:lstStyle/>
          <a:p>
            <a:r>
              <a:rPr lang="hu-HU" sz="2400" dirty="0" err="1"/>
              <a:t>Azure</a:t>
            </a:r>
            <a:r>
              <a:rPr lang="hu-HU" sz="2400" dirty="0"/>
              <a:t> </a:t>
            </a:r>
            <a:r>
              <a:rPr lang="hu-HU" sz="2400" dirty="0" err="1"/>
              <a:t>Active</a:t>
            </a:r>
            <a:r>
              <a:rPr lang="hu-HU" sz="2400" dirty="0"/>
              <a:t> </a:t>
            </a:r>
            <a:r>
              <a:rPr lang="hu-HU" sz="2400" dirty="0" err="1"/>
              <a:t>Directory</a:t>
            </a:r>
            <a:endParaRPr lang="en-US" sz="2400" dirty="0"/>
          </a:p>
        </p:txBody>
      </p:sp>
      <p:grpSp>
        <p:nvGrpSpPr>
          <p:cNvPr id="2048" name="Group 2047">
            <a:extLst>
              <a:ext uri="{FF2B5EF4-FFF2-40B4-BE49-F238E27FC236}">
                <a16:creationId xmlns:a16="http://schemas.microsoft.com/office/drawing/2014/main" id="{7A9CE1BA-AF5B-F810-0B9C-DFFA0946442B}"/>
              </a:ext>
            </a:extLst>
          </p:cNvPr>
          <p:cNvGrpSpPr/>
          <p:nvPr/>
        </p:nvGrpSpPr>
        <p:grpSpPr>
          <a:xfrm>
            <a:off x="9666464" y="884257"/>
            <a:ext cx="2058176" cy="1205618"/>
            <a:chOff x="249004" y="1683131"/>
            <a:chExt cx="1543632" cy="904214"/>
          </a:xfrm>
        </p:grpSpPr>
        <p:pic>
          <p:nvPicPr>
            <p:cNvPr id="1053" name="Picture 1052">
              <a:extLst>
                <a:ext uri="{FF2B5EF4-FFF2-40B4-BE49-F238E27FC236}">
                  <a16:creationId xmlns:a16="http://schemas.microsoft.com/office/drawing/2014/main" id="{FC1FF694-4B6D-1F0A-F3E3-78CC57EC8DAA}"/>
                </a:ext>
              </a:extLst>
            </p:cNvPr>
            <p:cNvPicPr>
              <a:picLocks noChangeAspect="1"/>
            </p:cNvPicPr>
            <p:nvPr/>
          </p:nvPicPr>
          <p:blipFill>
            <a:blip r:embed="rId8"/>
            <a:stretch>
              <a:fillRect/>
            </a:stretch>
          </p:blipFill>
          <p:spPr>
            <a:xfrm>
              <a:off x="578064" y="1683131"/>
              <a:ext cx="495300" cy="628650"/>
            </a:xfrm>
            <a:prstGeom prst="rect">
              <a:avLst/>
            </a:prstGeom>
          </p:spPr>
        </p:pic>
        <p:sp>
          <p:nvSpPr>
            <p:cNvPr id="1055" name="TextBox 1054">
              <a:extLst>
                <a:ext uri="{FF2B5EF4-FFF2-40B4-BE49-F238E27FC236}">
                  <a16:creationId xmlns:a16="http://schemas.microsoft.com/office/drawing/2014/main" id="{307502A0-B5AF-490C-7458-837012DBAFDE}"/>
                </a:ext>
              </a:extLst>
            </p:cNvPr>
            <p:cNvSpPr txBox="1"/>
            <p:nvPr/>
          </p:nvSpPr>
          <p:spPr>
            <a:xfrm>
              <a:off x="249004" y="2241096"/>
              <a:ext cx="1543632" cy="346249"/>
            </a:xfrm>
            <a:prstGeom prst="rect">
              <a:avLst/>
            </a:prstGeom>
            <a:noFill/>
          </p:spPr>
          <p:txBody>
            <a:bodyPr wrap="square" rtlCol="0">
              <a:spAutoFit/>
            </a:bodyPr>
            <a:lstStyle/>
            <a:p>
              <a:r>
                <a:rPr lang="hu-HU" sz="2400" dirty="0"/>
                <a:t>Billing </a:t>
              </a:r>
              <a:r>
                <a:rPr lang="hu-HU" sz="2400" dirty="0" err="1"/>
                <a:t>Admin</a:t>
              </a:r>
              <a:endParaRPr lang="en-US" sz="2400" dirty="0"/>
            </a:p>
          </p:txBody>
        </p:sp>
      </p:grpSp>
      <p:cxnSp>
        <p:nvCxnSpPr>
          <p:cNvPr id="2053" name="Straight Arrow Connector 2052">
            <a:extLst>
              <a:ext uri="{FF2B5EF4-FFF2-40B4-BE49-F238E27FC236}">
                <a16:creationId xmlns:a16="http://schemas.microsoft.com/office/drawing/2014/main" id="{12ECCF2F-1248-AB83-B983-C1CCD9E4202C}"/>
              </a:ext>
            </a:extLst>
          </p:cNvPr>
          <p:cNvCxnSpPr>
            <a:cxnSpLocks/>
            <a:stCxn id="1055" idx="2"/>
            <a:endCxn id="1027" idx="0"/>
          </p:cNvCxnSpPr>
          <p:nvPr/>
        </p:nvCxnSpPr>
        <p:spPr>
          <a:xfrm flipH="1">
            <a:off x="5783013" y="2089875"/>
            <a:ext cx="4912539" cy="1087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55" name="Straight Arrow Connector 2054">
            <a:extLst>
              <a:ext uri="{FF2B5EF4-FFF2-40B4-BE49-F238E27FC236}">
                <a16:creationId xmlns:a16="http://schemas.microsoft.com/office/drawing/2014/main" id="{00FDABCB-38D8-A956-052D-B92ED68DBBBA}"/>
              </a:ext>
            </a:extLst>
          </p:cNvPr>
          <p:cNvCxnSpPr>
            <a:cxnSpLocks/>
            <a:stCxn id="1055" idx="2"/>
            <a:endCxn id="22" idx="0"/>
          </p:cNvCxnSpPr>
          <p:nvPr/>
        </p:nvCxnSpPr>
        <p:spPr>
          <a:xfrm flipH="1">
            <a:off x="9727991" y="2089875"/>
            <a:ext cx="967561" cy="11405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Szöveg helye 3">
            <a:extLst>
              <a:ext uri="{FF2B5EF4-FFF2-40B4-BE49-F238E27FC236}">
                <a16:creationId xmlns:a16="http://schemas.microsoft.com/office/drawing/2014/main" id="{BC960DE2-E900-A414-7F86-3EE7C4F00278}"/>
              </a:ext>
            </a:extLst>
          </p:cNvPr>
          <p:cNvSpPr>
            <a:spLocks noGrp="1"/>
          </p:cNvSpPr>
          <p:nvPr>
            <p:ph type="body" idx="16"/>
          </p:nvPr>
        </p:nvSpPr>
        <p:spPr/>
        <p:txBody>
          <a:bodyPr/>
          <a:lstStyle/>
          <a:p>
            <a:r>
              <a:rPr lang="en-GB" dirty="0"/>
              <a:t>Azure subscriptions</a:t>
            </a:r>
          </a:p>
        </p:txBody>
      </p:sp>
      <p:sp>
        <p:nvSpPr>
          <p:cNvPr id="9" name="Google Shape;199;p29">
            <a:extLst>
              <a:ext uri="{FF2B5EF4-FFF2-40B4-BE49-F238E27FC236}">
                <a16:creationId xmlns:a16="http://schemas.microsoft.com/office/drawing/2014/main" id="{C509A510-0C63-4F64-9FBB-2A1946BA6AA0}"/>
              </a:ext>
            </a:extLst>
          </p:cNvPr>
          <p:cNvSpPr txBox="1">
            <a:spLocks/>
          </p:cNvSpPr>
          <p:nvPr/>
        </p:nvSpPr>
        <p:spPr>
          <a:xfrm>
            <a:off x="89503" y="808118"/>
            <a:ext cx="4587341" cy="3977700"/>
          </a:xfrm>
          <a:prstGeom prst="rect">
            <a:avLst/>
          </a:prstGeom>
        </p:spPr>
        <p:txBody>
          <a:bodyPr spcFirstLastPara="1" wrap="square" lIns="68575" tIns="34275" rIns="68575" bIns="34275"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0650" indent="0">
              <a:spcBef>
                <a:spcPts val="300"/>
              </a:spcBef>
              <a:buSzPts val="1700"/>
              <a:buNone/>
            </a:pPr>
            <a:r>
              <a:rPr lang="en-GB" sz="1600" dirty="0"/>
              <a:t>Reflects the organization billing hierarchy</a:t>
            </a:r>
          </a:p>
          <a:p>
            <a:pPr lvl="1" indent="-336550">
              <a:buSzPts val="1700"/>
              <a:buFont typeface="Arial" panose="020B0604020202020204" pitchFamily="34" charset="0"/>
              <a:buChar char="▪"/>
            </a:pPr>
            <a:r>
              <a:rPr lang="en-GB" sz="1400" dirty="0"/>
              <a:t>Transparent way of billing for groups</a:t>
            </a:r>
            <a:endParaRPr lang="hu-HU" sz="1400" dirty="0"/>
          </a:p>
          <a:p>
            <a:pPr lvl="1" indent="-336550">
              <a:buSzPts val="1700"/>
              <a:buFont typeface="Arial" panose="020B0604020202020204" pitchFamily="34" charset="0"/>
              <a:buChar char="▪"/>
            </a:pPr>
            <a:endParaRPr lang="en-GB" sz="1400" dirty="0"/>
          </a:p>
          <a:p>
            <a:pPr marL="120650" indent="0">
              <a:spcBef>
                <a:spcPts val="300"/>
              </a:spcBef>
              <a:buSzPts val="1700"/>
              <a:buNone/>
            </a:pPr>
            <a:r>
              <a:rPr lang="en-GB" sz="1600" dirty="0"/>
              <a:t>Types: </a:t>
            </a:r>
          </a:p>
          <a:p>
            <a:pPr lvl="1" indent="-336550">
              <a:buSzPts val="1700"/>
              <a:buFont typeface="Noto Sans Symbols"/>
              <a:buChar char="▪"/>
            </a:pPr>
            <a:r>
              <a:rPr lang="en-GB" sz="1400" dirty="0"/>
              <a:t>Free Trial, Azure for Students, Pay-As-You-Go, …</a:t>
            </a:r>
          </a:p>
          <a:p>
            <a:pPr marL="120650" indent="0">
              <a:spcBef>
                <a:spcPts val="300"/>
              </a:spcBef>
              <a:buSzPts val="1700"/>
              <a:buFont typeface="Arial" panose="020B0604020202020204" pitchFamily="34" charset="0"/>
              <a:buNone/>
            </a:pPr>
            <a:endParaRPr lang="en-GB" sz="1600" dirty="0"/>
          </a:p>
          <a:p>
            <a:pPr marL="457200" indent="0">
              <a:spcBef>
                <a:spcPts val="300"/>
              </a:spcBef>
              <a:buFont typeface="Arial" panose="020B0604020202020204" pitchFamily="34" charset="0"/>
              <a:buNone/>
            </a:pPr>
            <a:endParaRPr lang="en-GB" sz="1600" dirty="0"/>
          </a:p>
        </p:txBody>
      </p:sp>
    </p:spTree>
    <p:extLst>
      <p:ext uri="{BB962C8B-B14F-4D97-AF65-F5344CB8AC3E}">
        <p14:creationId xmlns:p14="http://schemas.microsoft.com/office/powerpoint/2010/main" val="1728060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fade">
                                      <p:cBhvr>
                                        <p:cTn id="7" dur="500"/>
                                        <p:tgtEl>
                                          <p:spTgt spid="205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3"/>
                                        </p:tgtEl>
                                        <p:attrNameLst>
                                          <p:attrName>style.visibility</p:attrName>
                                        </p:attrNameLst>
                                      </p:cBhvr>
                                      <p:to>
                                        <p:strVal val="visible"/>
                                      </p:to>
                                    </p:set>
                                    <p:animEffect transition="in" filter="fade">
                                      <p:cBhvr>
                                        <p:cTn id="12" dur="500"/>
                                        <p:tgtEl>
                                          <p:spTgt spid="2053"/>
                                        </p:tgtEl>
                                      </p:cBhvr>
                                    </p:animEffect>
                                  </p:childTnLst>
                                </p:cTn>
                              </p:par>
                              <p:par>
                                <p:cTn id="13" presetID="10" presetClass="entr" presetSubtype="0" fill="hold" nodeType="withEffect">
                                  <p:stCondLst>
                                    <p:cond delay="0"/>
                                  </p:stCondLst>
                                  <p:childTnLst>
                                    <p:set>
                                      <p:cBhvr>
                                        <p:cTn id="14" dur="1" fill="hold">
                                          <p:stCondLst>
                                            <p:cond delay="0"/>
                                          </p:stCondLst>
                                        </p:cTn>
                                        <p:tgtEl>
                                          <p:spTgt spid="2055"/>
                                        </p:tgtEl>
                                        <p:attrNameLst>
                                          <p:attrName>style.visibility</p:attrName>
                                        </p:attrNameLst>
                                      </p:cBhvr>
                                      <p:to>
                                        <p:strVal val="visible"/>
                                      </p:to>
                                    </p:set>
                                    <p:animEffect transition="in" filter="fade">
                                      <p:cBhvr>
                                        <p:cTn id="15" dur="500"/>
                                        <p:tgtEl>
                                          <p:spTgt spid="2055"/>
                                        </p:tgtEl>
                                      </p:cBhvr>
                                    </p:animEffect>
                                  </p:childTnLst>
                                </p:cTn>
                              </p:par>
                              <p:par>
                                <p:cTn id="16" presetID="10" presetClass="entr" presetSubtype="0" fill="hold" nodeType="withEffect">
                                  <p:stCondLst>
                                    <p:cond delay="0"/>
                                  </p:stCondLst>
                                  <p:childTnLst>
                                    <p:set>
                                      <p:cBhvr>
                                        <p:cTn id="17" dur="1" fill="hold">
                                          <p:stCondLst>
                                            <p:cond delay="0"/>
                                          </p:stCondLst>
                                        </p:cTn>
                                        <p:tgtEl>
                                          <p:spTgt spid="2048"/>
                                        </p:tgtEl>
                                        <p:attrNameLst>
                                          <p:attrName>style.visibility</p:attrName>
                                        </p:attrNameLst>
                                      </p:cBhvr>
                                      <p:to>
                                        <p:strVal val="visible"/>
                                      </p:to>
                                    </p:set>
                                    <p:animEffect transition="in" filter="fade">
                                      <p:cBhvr>
                                        <p:cTn id="18" dur="500"/>
                                        <p:tgtEl>
                                          <p:spTgt spid="2048"/>
                                        </p:tgtEl>
                                      </p:cBhvr>
                                    </p:animEffect>
                                  </p:childTnLst>
                                </p:cTn>
                              </p:par>
                              <p:par>
                                <p:cTn id="19" presetID="10" presetClass="entr" presetSubtype="0" fill="hold" nodeType="withEffect">
                                  <p:stCondLst>
                                    <p:cond delay="0"/>
                                  </p:stCondLst>
                                  <p:childTnLst>
                                    <p:set>
                                      <p:cBhvr>
                                        <p:cTn id="20" dur="1" fill="hold">
                                          <p:stCondLst>
                                            <p:cond delay="0"/>
                                          </p:stCondLst>
                                        </p:cTn>
                                        <p:tgtEl>
                                          <p:spTgt spid="2050"/>
                                        </p:tgtEl>
                                        <p:attrNameLst>
                                          <p:attrName>style.visibility</p:attrName>
                                        </p:attrNameLst>
                                      </p:cBhvr>
                                      <p:to>
                                        <p:strVal val="visible"/>
                                      </p:to>
                                    </p:set>
                                    <p:animEffect transition="in" filter="fade">
                                      <p:cBhvr>
                                        <p:cTn id="21" dur="500"/>
                                        <p:tgtEl>
                                          <p:spTgt spid="205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54"/>
                                        </p:tgtEl>
                                        <p:attrNameLst>
                                          <p:attrName>style.visibility</p:attrName>
                                        </p:attrNameLst>
                                      </p:cBhvr>
                                      <p:to>
                                        <p:strVal val="visible"/>
                                      </p:to>
                                    </p:set>
                                    <p:animEffect transition="in" filter="fade">
                                      <p:cBhvr>
                                        <p:cTn id="24" dur="500"/>
                                        <p:tgtEl>
                                          <p:spTgt spid="1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Szöveg helye 1">
            <a:extLst>
              <a:ext uri="{FF2B5EF4-FFF2-40B4-BE49-F238E27FC236}">
                <a16:creationId xmlns:a16="http://schemas.microsoft.com/office/drawing/2014/main" id="{3C15A630-48D1-42DC-9EE9-A56F2E13C57D}"/>
              </a:ext>
            </a:extLst>
          </p:cNvPr>
          <p:cNvSpPr>
            <a:spLocks noGrp="1"/>
          </p:cNvSpPr>
          <p:nvPr>
            <p:ph type="body" idx="20"/>
          </p:nvPr>
        </p:nvSpPr>
        <p:spPr/>
        <p:txBody>
          <a:bodyPr/>
          <a:lstStyle/>
          <a:p>
            <a:endParaRPr lang="en-GB"/>
          </a:p>
        </p:txBody>
      </p:sp>
      <p:sp>
        <p:nvSpPr>
          <p:cNvPr id="16" name="Rectangle: Rounded Corners 15">
            <a:extLst>
              <a:ext uri="{FF2B5EF4-FFF2-40B4-BE49-F238E27FC236}">
                <a16:creationId xmlns:a16="http://schemas.microsoft.com/office/drawing/2014/main" id="{E70C6EE3-DDC7-358B-9720-D2A0187198A8}"/>
              </a:ext>
            </a:extLst>
          </p:cNvPr>
          <p:cNvSpPr/>
          <p:nvPr/>
        </p:nvSpPr>
        <p:spPr>
          <a:xfrm>
            <a:off x="8118736" y="3729292"/>
            <a:ext cx="3692936" cy="2571185"/>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7" name="Picture 16">
            <a:extLst>
              <a:ext uri="{FF2B5EF4-FFF2-40B4-BE49-F238E27FC236}">
                <a16:creationId xmlns:a16="http://schemas.microsoft.com/office/drawing/2014/main" id="{93999074-229A-1B4B-8016-91A965E59815}"/>
              </a:ext>
            </a:extLst>
          </p:cNvPr>
          <p:cNvPicPr>
            <a:picLocks noChangeAspect="1"/>
          </p:cNvPicPr>
          <p:nvPr/>
        </p:nvPicPr>
        <p:blipFill>
          <a:blip r:embed="rId3"/>
          <a:stretch>
            <a:fillRect/>
          </a:stretch>
        </p:blipFill>
        <p:spPr>
          <a:xfrm>
            <a:off x="8254562" y="3480640"/>
            <a:ext cx="419100" cy="584200"/>
          </a:xfrm>
          <a:prstGeom prst="rect">
            <a:avLst/>
          </a:prstGeom>
        </p:spPr>
      </p:pic>
      <p:sp>
        <p:nvSpPr>
          <p:cNvPr id="18" name="Rectangle: Rounded Corners 17">
            <a:extLst>
              <a:ext uri="{FF2B5EF4-FFF2-40B4-BE49-F238E27FC236}">
                <a16:creationId xmlns:a16="http://schemas.microsoft.com/office/drawing/2014/main" id="{439D7B8A-808C-8BFC-0EA9-D351FAC34E69}"/>
              </a:ext>
            </a:extLst>
          </p:cNvPr>
          <p:cNvSpPr/>
          <p:nvPr/>
        </p:nvSpPr>
        <p:spPr>
          <a:xfrm>
            <a:off x="8758477" y="4432235"/>
            <a:ext cx="2427799" cy="124707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2" name="TextBox 21">
            <a:extLst>
              <a:ext uri="{FF2B5EF4-FFF2-40B4-BE49-F238E27FC236}">
                <a16:creationId xmlns:a16="http://schemas.microsoft.com/office/drawing/2014/main" id="{0547FE06-71FA-AB95-96E7-7581D267FD5F}"/>
              </a:ext>
            </a:extLst>
          </p:cNvPr>
          <p:cNvSpPr txBox="1"/>
          <p:nvPr/>
        </p:nvSpPr>
        <p:spPr>
          <a:xfrm>
            <a:off x="8599082" y="3230445"/>
            <a:ext cx="2257817" cy="461665"/>
          </a:xfrm>
          <a:prstGeom prst="rect">
            <a:avLst/>
          </a:prstGeom>
          <a:noFill/>
        </p:spPr>
        <p:txBody>
          <a:bodyPr wrap="square" rtlCol="0">
            <a:spAutoFit/>
          </a:bodyPr>
          <a:lstStyle/>
          <a:p>
            <a:r>
              <a:rPr lang="hu-HU" sz="2400" dirty="0" err="1"/>
              <a:t>Engineering</a:t>
            </a:r>
            <a:endParaRPr lang="en-US" sz="2400" dirty="0"/>
          </a:p>
        </p:txBody>
      </p:sp>
      <p:sp>
        <p:nvSpPr>
          <p:cNvPr id="23" name="TextBox 22">
            <a:extLst>
              <a:ext uri="{FF2B5EF4-FFF2-40B4-BE49-F238E27FC236}">
                <a16:creationId xmlns:a16="http://schemas.microsoft.com/office/drawing/2014/main" id="{80F0DBE4-A51D-6228-B294-5920AE5D3E1C}"/>
              </a:ext>
            </a:extLst>
          </p:cNvPr>
          <p:cNvSpPr txBox="1"/>
          <p:nvPr/>
        </p:nvSpPr>
        <p:spPr>
          <a:xfrm>
            <a:off x="9144385" y="4086442"/>
            <a:ext cx="1957095" cy="338554"/>
          </a:xfrm>
          <a:prstGeom prst="rect">
            <a:avLst/>
          </a:prstGeom>
          <a:noFill/>
        </p:spPr>
        <p:txBody>
          <a:bodyPr wrap="square" rtlCol="0">
            <a:spAutoFit/>
          </a:bodyPr>
          <a:lstStyle/>
          <a:p>
            <a:r>
              <a:rPr lang="hu-HU" sz="1600" dirty="0" err="1"/>
              <a:t>Resource</a:t>
            </a:r>
            <a:r>
              <a:rPr lang="hu-HU" sz="1600" dirty="0"/>
              <a:t> </a:t>
            </a:r>
            <a:r>
              <a:rPr lang="hu-HU" sz="1600" dirty="0" err="1"/>
              <a:t>Groups</a:t>
            </a:r>
            <a:r>
              <a:rPr lang="hu-HU" sz="1600" dirty="0"/>
              <a:t> </a:t>
            </a:r>
            <a:endParaRPr lang="en-US" sz="1600" dirty="0"/>
          </a:p>
        </p:txBody>
      </p:sp>
      <p:grpSp>
        <p:nvGrpSpPr>
          <p:cNvPr id="24" name="Group 23">
            <a:extLst>
              <a:ext uri="{FF2B5EF4-FFF2-40B4-BE49-F238E27FC236}">
                <a16:creationId xmlns:a16="http://schemas.microsoft.com/office/drawing/2014/main" id="{02AFFECB-163F-65E4-1ABF-A33E052A17E5}"/>
              </a:ext>
            </a:extLst>
          </p:cNvPr>
          <p:cNvGrpSpPr/>
          <p:nvPr/>
        </p:nvGrpSpPr>
        <p:grpSpPr>
          <a:xfrm>
            <a:off x="9610325" y="3622853"/>
            <a:ext cx="724100" cy="393072"/>
            <a:chOff x="1364974" y="1701289"/>
            <a:chExt cx="543075" cy="294804"/>
          </a:xfrm>
        </p:grpSpPr>
        <p:pic>
          <p:nvPicPr>
            <p:cNvPr id="25" name="Picture 24">
              <a:extLst>
                <a:ext uri="{FF2B5EF4-FFF2-40B4-BE49-F238E27FC236}">
                  <a16:creationId xmlns:a16="http://schemas.microsoft.com/office/drawing/2014/main" id="{B13B80AE-FB62-060C-1428-EFF026DB4AA0}"/>
                </a:ext>
              </a:extLst>
            </p:cNvPr>
            <p:cNvPicPr>
              <a:picLocks noChangeAspect="1"/>
            </p:cNvPicPr>
            <p:nvPr/>
          </p:nvPicPr>
          <p:blipFill>
            <a:blip r:embed="rId4"/>
            <a:stretch>
              <a:fillRect/>
            </a:stretch>
          </p:blipFill>
          <p:spPr>
            <a:xfrm>
              <a:off x="1364974" y="1701289"/>
              <a:ext cx="454825" cy="214976"/>
            </a:xfrm>
            <a:prstGeom prst="rect">
              <a:avLst/>
            </a:prstGeom>
          </p:spPr>
        </p:pic>
        <p:pic>
          <p:nvPicPr>
            <p:cNvPr id="26" name="Picture 25">
              <a:extLst>
                <a:ext uri="{FF2B5EF4-FFF2-40B4-BE49-F238E27FC236}">
                  <a16:creationId xmlns:a16="http://schemas.microsoft.com/office/drawing/2014/main" id="{9DEF1E37-E2EF-29D3-BCFF-F95C413771A7}"/>
                </a:ext>
              </a:extLst>
            </p:cNvPr>
            <p:cNvPicPr>
              <a:picLocks noChangeAspect="1"/>
            </p:cNvPicPr>
            <p:nvPr/>
          </p:nvPicPr>
          <p:blipFill>
            <a:blip r:embed="rId4"/>
            <a:stretch>
              <a:fillRect/>
            </a:stretch>
          </p:blipFill>
          <p:spPr>
            <a:xfrm>
              <a:off x="1407079" y="1741203"/>
              <a:ext cx="454825" cy="214976"/>
            </a:xfrm>
            <a:prstGeom prst="rect">
              <a:avLst/>
            </a:prstGeom>
          </p:spPr>
        </p:pic>
        <p:pic>
          <p:nvPicPr>
            <p:cNvPr id="27" name="Picture 26">
              <a:extLst>
                <a:ext uri="{FF2B5EF4-FFF2-40B4-BE49-F238E27FC236}">
                  <a16:creationId xmlns:a16="http://schemas.microsoft.com/office/drawing/2014/main" id="{6DD26861-D5F7-5E78-2A28-00FBFBCD787E}"/>
                </a:ext>
              </a:extLst>
            </p:cNvPr>
            <p:cNvPicPr>
              <a:picLocks noChangeAspect="1"/>
            </p:cNvPicPr>
            <p:nvPr/>
          </p:nvPicPr>
          <p:blipFill>
            <a:blip r:embed="rId4"/>
            <a:stretch>
              <a:fillRect/>
            </a:stretch>
          </p:blipFill>
          <p:spPr>
            <a:xfrm>
              <a:off x="1453224" y="1781117"/>
              <a:ext cx="454825" cy="214976"/>
            </a:xfrm>
            <a:prstGeom prst="rect">
              <a:avLst/>
            </a:prstGeom>
          </p:spPr>
        </p:pic>
      </p:grpSp>
      <p:pic>
        <p:nvPicPr>
          <p:cNvPr id="28" name="Picture 27">
            <a:extLst>
              <a:ext uri="{FF2B5EF4-FFF2-40B4-BE49-F238E27FC236}">
                <a16:creationId xmlns:a16="http://schemas.microsoft.com/office/drawing/2014/main" id="{6B5FD881-2BB9-D2E6-4BD9-52923E15295E}"/>
              </a:ext>
            </a:extLst>
          </p:cNvPr>
          <p:cNvPicPr>
            <a:picLocks noChangeAspect="1"/>
          </p:cNvPicPr>
          <p:nvPr/>
        </p:nvPicPr>
        <p:blipFill>
          <a:blip r:embed="rId5"/>
          <a:stretch>
            <a:fillRect/>
          </a:stretch>
        </p:blipFill>
        <p:spPr>
          <a:xfrm>
            <a:off x="8782660" y="4237231"/>
            <a:ext cx="417928" cy="369332"/>
          </a:xfrm>
          <a:prstGeom prst="rect">
            <a:avLst/>
          </a:prstGeom>
        </p:spPr>
      </p:pic>
      <p:pic>
        <p:nvPicPr>
          <p:cNvPr id="15" name="Picture 14">
            <a:extLst>
              <a:ext uri="{FF2B5EF4-FFF2-40B4-BE49-F238E27FC236}">
                <a16:creationId xmlns:a16="http://schemas.microsoft.com/office/drawing/2014/main" id="{0DA0E2D5-4491-2B06-1944-037A7A56E221}"/>
              </a:ext>
            </a:extLst>
          </p:cNvPr>
          <p:cNvPicPr>
            <a:picLocks noChangeAspect="1"/>
          </p:cNvPicPr>
          <p:nvPr/>
        </p:nvPicPr>
        <p:blipFill>
          <a:blip r:embed="rId6"/>
          <a:stretch>
            <a:fillRect/>
          </a:stretch>
        </p:blipFill>
        <p:spPr>
          <a:xfrm>
            <a:off x="9001509" y="4594794"/>
            <a:ext cx="2099971" cy="812892"/>
          </a:xfrm>
          <a:prstGeom prst="rect">
            <a:avLst/>
          </a:prstGeom>
        </p:spPr>
      </p:pic>
      <p:pic>
        <p:nvPicPr>
          <p:cNvPr id="19" name="Picture 18">
            <a:extLst>
              <a:ext uri="{FF2B5EF4-FFF2-40B4-BE49-F238E27FC236}">
                <a16:creationId xmlns:a16="http://schemas.microsoft.com/office/drawing/2014/main" id="{07EAE906-426A-59D7-1D98-BDA6357D9318}"/>
              </a:ext>
            </a:extLst>
          </p:cNvPr>
          <p:cNvPicPr>
            <a:picLocks noChangeAspect="1"/>
          </p:cNvPicPr>
          <p:nvPr/>
        </p:nvPicPr>
        <p:blipFill>
          <a:blip r:embed="rId4"/>
          <a:stretch>
            <a:fillRect/>
          </a:stretch>
        </p:blipFill>
        <p:spPr>
          <a:xfrm>
            <a:off x="9125446" y="5324333"/>
            <a:ext cx="468612" cy="221492"/>
          </a:xfrm>
          <a:prstGeom prst="rect">
            <a:avLst/>
          </a:prstGeom>
        </p:spPr>
      </p:pic>
      <p:pic>
        <p:nvPicPr>
          <p:cNvPr id="20" name="Picture 19">
            <a:extLst>
              <a:ext uri="{FF2B5EF4-FFF2-40B4-BE49-F238E27FC236}">
                <a16:creationId xmlns:a16="http://schemas.microsoft.com/office/drawing/2014/main" id="{0D4AEED0-F3FD-5BC9-E09C-EDE942F58593}"/>
              </a:ext>
            </a:extLst>
          </p:cNvPr>
          <p:cNvPicPr>
            <a:picLocks noChangeAspect="1"/>
          </p:cNvPicPr>
          <p:nvPr/>
        </p:nvPicPr>
        <p:blipFill>
          <a:blip r:embed="rId4"/>
          <a:stretch>
            <a:fillRect/>
          </a:stretch>
        </p:blipFill>
        <p:spPr>
          <a:xfrm>
            <a:off x="9786546" y="5324331"/>
            <a:ext cx="468612" cy="221492"/>
          </a:xfrm>
          <a:prstGeom prst="rect">
            <a:avLst/>
          </a:prstGeom>
        </p:spPr>
      </p:pic>
      <p:pic>
        <p:nvPicPr>
          <p:cNvPr id="21" name="Picture 20">
            <a:extLst>
              <a:ext uri="{FF2B5EF4-FFF2-40B4-BE49-F238E27FC236}">
                <a16:creationId xmlns:a16="http://schemas.microsoft.com/office/drawing/2014/main" id="{5E0E5401-1D80-5884-ACFA-F0A10EDD1F3D}"/>
              </a:ext>
            </a:extLst>
          </p:cNvPr>
          <p:cNvPicPr>
            <a:picLocks noChangeAspect="1"/>
          </p:cNvPicPr>
          <p:nvPr/>
        </p:nvPicPr>
        <p:blipFill>
          <a:blip r:embed="rId4"/>
          <a:stretch>
            <a:fillRect/>
          </a:stretch>
        </p:blipFill>
        <p:spPr>
          <a:xfrm>
            <a:off x="10419610" y="5324330"/>
            <a:ext cx="468612" cy="221492"/>
          </a:xfrm>
          <a:prstGeom prst="rect">
            <a:avLst/>
          </a:prstGeom>
        </p:spPr>
      </p:pic>
      <p:grpSp>
        <p:nvGrpSpPr>
          <p:cNvPr id="2057" name="Group 2056">
            <a:extLst>
              <a:ext uri="{FF2B5EF4-FFF2-40B4-BE49-F238E27FC236}">
                <a16:creationId xmlns:a16="http://schemas.microsoft.com/office/drawing/2014/main" id="{D73E8F9E-A701-966F-459B-851B5FE411D2}"/>
              </a:ext>
            </a:extLst>
          </p:cNvPr>
          <p:cNvGrpSpPr/>
          <p:nvPr/>
        </p:nvGrpSpPr>
        <p:grpSpPr>
          <a:xfrm>
            <a:off x="4173759" y="3177225"/>
            <a:ext cx="3692936" cy="3070032"/>
            <a:chOff x="3130319" y="2382919"/>
            <a:chExt cx="2769702" cy="2302524"/>
          </a:xfrm>
        </p:grpSpPr>
        <p:sp>
          <p:nvSpPr>
            <p:cNvPr id="31" name="Rectangle: Rounded Corners 30">
              <a:extLst>
                <a:ext uri="{FF2B5EF4-FFF2-40B4-BE49-F238E27FC236}">
                  <a16:creationId xmlns:a16="http://schemas.microsoft.com/office/drawing/2014/main" id="{AD0CF5E1-32DF-616F-F1B9-7E11CBABFC8E}"/>
                </a:ext>
              </a:extLst>
            </p:cNvPr>
            <p:cNvSpPr/>
            <p:nvPr/>
          </p:nvSpPr>
          <p:spPr>
            <a:xfrm>
              <a:off x="3130319" y="2757054"/>
              <a:ext cx="2769702" cy="1928389"/>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pic>
          <p:nvPicPr>
            <p:cNvPr id="1024" name="Picture 1023">
              <a:extLst>
                <a:ext uri="{FF2B5EF4-FFF2-40B4-BE49-F238E27FC236}">
                  <a16:creationId xmlns:a16="http://schemas.microsoft.com/office/drawing/2014/main" id="{905C3615-998B-4F6D-1577-A6A4E115D19D}"/>
                </a:ext>
              </a:extLst>
            </p:cNvPr>
            <p:cNvPicPr>
              <a:picLocks noChangeAspect="1"/>
            </p:cNvPicPr>
            <p:nvPr/>
          </p:nvPicPr>
          <p:blipFill>
            <a:blip r:embed="rId3"/>
            <a:stretch>
              <a:fillRect/>
            </a:stretch>
          </p:blipFill>
          <p:spPr>
            <a:xfrm>
              <a:off x="3232188" y="2570566"/>
              <a:ext cx="314325" cy="438150"/>
            </a:xfrm>
            <a:prstGeom prst="rect">
              <a:avLst/>
            </a:prstGeom>
          </p:spPr>
        </p:pic>
        <p:sp>
          <p:nvSpPr>
            <p:cNvPr id="1025" name="Rectangle: Rounded Corners 1024">
              <a:extLst>
                <a:ext uri="{FF2B5EF4-FFF2-40B4-BE49-F238E27FC236}">
                  <a16:creationId xmlns:a16="http://schemas.microsoft.com/office/drawing/2014/main" id="{0231AD67-DE49-C7AB-3733-03FFE8B5F439}"/>
                </a:ext>
              </a:extLst>
            </p:cNvPr>
            <p:cNvSpPr/>
            <p:nvPr/>
          </p:nvSpPr>
          <p:spPr>
            <a:xfrm>
              <a:off x="3610124" y="3284262"/>
              <a:ext cx="1820849" cy="93530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27" name="TextBox 1026">
              <a:extLst>
                <a:ext uri="{FF2B5EF4-FFF2-40B4-BE49-F238E27FC236}">
                  <a16:creationId xmlns:a16="http://schemas.microsoft.com/office/drawing/2014/main" id="{1C07D665-CB34-EE09-AC7D-CACEAC278C8B}"/>
                </a:ext>
              </a:extLst>
            </p:cNvPr>
            <p:cNvSpPr txBox="1"/>
            <p:nvPr/>
          </p:nvSpPr>
          <p:spPr>
            <a:xfrm>
              <a:off x="3490578" y="2382919"/>
              <a:ext cx="1693363" cy="346249"/>
            </a:xfrm>
            <a:prstGeom prst="rect">
              <a:avLst/>
            </a:prstGeom>
            <a:noFill/>
          </p:spPr>
          <p:txBody>
            <a:bodyPr wrap="square" rtlCol="0">
              <a:spAutoFit/>
            </a:bodyPr>
            <a:lstStyle/>
            <a:p>
              <a:r>
                <a:rPr lang="hu-HU" sz="2400" dirty="0"/>
                <a:t>Marketing</a:t>
              </a:r>
              <a:endParaRPr lang="en-US" sz="2400" dirty="0"/>
            </a:p>
          </p:txBody>
        </p:sp>
        <p:sp>
          <p:nvSpPr>
            <p:cNvPr id="1028" name="TextBox 1027">
              <a:extLst>
                <a:ext uri="{FF2B5EF4-FFF2-40B4-BE49-F238E27FC236}">
                  <a16:creationId xmlns:a16="http://schemas.microsoft.com/office/drawing/2014/main" id="{1CF47610-F663-50BE-7EA7-D83FE1DB69CB}"/>
                </a:ext>
              </a:extLst>
            </p:cNvPr>
            <p:cNvSpPr txBox="1"/>
            <p:nvPr/>
          </p:nvSpPr>
          <p:spPr>
            <a:xfrm>
              <a:off x="3899555" y="3024917"/>
              <a:ext cx="1467821" cy="253916"/>
            </a:xfrm>
            <a:prstGeom prst="rect">
              <a:avLst/>
            </a:prstGeom>
            <a:noFill/>
          </p:spPr>
          <p:txBody>
            <a:bodyPr wrap="square" rtlCol="0">
              <a:spAutoFit/>
            </a:bodyPr>
            <a:lstStyle/>
            <a:p>
              <a:r>
                <a:rPr lang="hu-HU" sz="1600" dirty="0" err="1"/>
                <a:t>Resource</a:t>
              </a:r>
              <a:r>
                <a:rPr lang="hu-HU" sz="1600" dirty="0"/>
                <a:t> </a:t>
              </a:r>
              <a:r>
                <a:rPr lang="hu-HU" sz="1600" dirty="0" err="1"/>
                <a:t>Groups</a:t>
              </a:r>
              <a:r>
                <a:rPr lang="hu-HU" sz="1600" dirty="0"/>
                <a:t> </a:t>
              </a:r>
              <a:endParaRPr lang="en-US" sz="1600" dirty="0"/>
            </a:p>
          </p:txBody>
        </p:sp>
        <p:grpSp>
          <p:nvGrpSpPr>
            <p:cNvPr id="1029" name="Group 1028">
              <a:extLst>
                <a:ext uri="{FF2B5EF4-FFF2-40B4-BE49-F238E27FC236}">
                  <a16:creationId xmlns:a16="http://schemas.microsoft.com/office/drawing/2014/main" id="{193197AA-9421-459A-43C0-EF3A9D2173AA}"/>
                </a:ext>
              </a:extLst>
            </p:cNvPr>
            <p:cNvGrpSpPr/>
            <p:nvPr/>
          </p:nvGrpSpPr>
          <p:grpSpPr>
            <a:xfrm>
              <a:off x="4249010" y="2677226"/>
              <a:ext cx="543075" cy="294804"/>
              <a:chOff x="1364974" y="1701289"/>
              <a:chExt cx="543075" cy="294804"/>
            </a:xfrm>
          </p:grpSpPr>
          <p:pic>
            <p:nvPicPr>
              <p:cNvPr id="1030" name="Picture 1029">
                <a:extLst>
                  <a:ext uri="{FF2B5EF4-FFF2-40B4-BE49-F238E27FC236}">
                    <a16:creationId xmlns:a16="http://schemas.microsoft.com/office/drawing/2014/main" id="{209F8AC1-0440-A811-68A9-268D77530D2B}"/>
                  </a:ext>
                </a:extLst>
              </p:cNvPr>
              <p:cNvPicPr>
                <a:picLocks noChangeAspect="1"/>
              </p:cNvPicPr>
              <p:nvPr/>
            </p:nvPicPr>
            <p:blipFill>
              <a:blip r:embed="rId4"/>
              <a:stretch>
                <a:fillRect/>
              </a:stretch>
            </p:blipFill>
            <p:spPr>
              <a:xfrm>
                <a:off x="1364974" y="1701289"/>
                <a:ext cx="454825" cy="214976"/>
              </a:xfrm>
              <a:prstGeom prst="rect">
                <a:avLst/>
              </a:prstGeom>
            </p:spPr>
          </p:pic>
          <p:pic>
            <p:nvPicPr>
              <p:cNvPr id="1031" name="Picture 1030">
                <a:extLst>
                  <a:ext uri="{FF2B5EF4-FFF2-40B4-BE49-F238E27FC236}">
                    <a16:creationId xmlns:a16="http://schemas.microsoft.com/office/drawing/2014/main" id="{41874CAD-4A4C-27BB-4021-B7BC75ACEF1E}"/>
                  </a:ext>
                </a:extLst>
              </p:cNvPr>
              <p:cNvPicPr>
                <a:picLocks noChangeAspect="1"/>
              </p:cNvPicPr>
              <p:nvPr/>
            </p:nvPicPr>
            <p:blipFill>
              <a:blip r:embed="rId4"/>
              <a:stretch>
                <a:fillRect/>
              </a:stretch>
            </p:blipFill>
            <p:spPr>
              <a:xfrm>
                <a:off x="1407079" y="1741203"/>
                <a:ext cx="454825" cy="214976"/>
              </a:xfrm>
              <a:prstGeom prst="rect">
                <a:avLst/>
              </a:prstGeom>
            </p:spPr>
          </p:pic>
          <p:pic>
            <p:nvPicPr>
              <p:cNvPr id="1032" name="Picture 1031">
                <a:extLst>
                  <a:ext uri="{FF2B5EF4-FFF2-40B4-BE49-F238E27FC236}">
                    <a16:creationId xmlns:a16="http://schemas.microsoft.com/office/drawing/2014/main" id="{B03E798D-8932-31B8-341E-1687D2F60C30}"/>
                  </a:ext>
                </a:extLst>
              </p:cNvPr>
              <p:cNvPicPr>
                <a:picLocks noChangeAspect="1"/>
              </p:cNvPicPr>
              <p:nvPr/>
            </p:nvPicPr>
            <p:blipFill>
              <a:blip r:embed="rId4"/>
              <a:stretch>
                <a:fillRect/>
              </a:stretch>
            </p:blipFill>
            <p:spPr>
              <a:xfrm>
                <a:off x="1453224" y="1781117"/>
                <a:ext cx="454825" cy="214976"/>
              </a:xfrm>
              <a:prstGeom prst="rect">
                <a:avLst/>
              </a:prstGeom>
            </p:spPr>
          </p:pic>
        </p:grpSp>
        <p:pic>
          <p:nvPicPr>
            <p:cNvPr id="1033" name="Picture 1032">
              <a:extLst>
                <a:ext uri="{FF2B5EF4-FFF2-40B4-BE49-F238E27FC236}">
                  <a16:creationId xmlns:a16="http://schemas.microsoft.com/office/drawing/2014/main" id="{360B3189-2A92-2001-25F6-27CF652336AA}"/>
                </a:ext>
              </a:extLst>
            </p:cNvPr>
            <p:cNvPicPr>
              <a:picLocks noChangeAspect="1"/>
            </p:cNvPicPr>
            <p:nvPr/>
          </p:nvPicPr>
          <p:blipFill>
            <a:blip r:embed="rId5"/>
            <a:stretch>
              <a:fillRect/>
            </a:stretch>
          </p:blipFill>
          <p:spPr>
            <a:xfrm>
              <a:off x="3628262" y="3138009"/>
              <a:ext cx="313446" cy="276999"/>
            </a:xfrm>
            <a:prstGeom prst="rect">
              <a:avLst/>
            </a:prstGeom>
          </p:spPr>
        </p:pic>
        <p:pic>
          <p:nvPicPr>
            <p:cNvPr id="1034" name="Picture 1033">
              <a:extLst>
                <a:ext uri="{FF2B5EF4-FFF2-40B4-BE49-F238E27FC236}">
                  <a16:creationId xmlns:a16="http://schemas.microsoft.com/office/drawing/2014/main" id="{439026B0-531C-AF15-EB3C-154842212B37}"/>
                </a:ext>
              </a:extLst>
            </p:cNvPr>
            <p:cNvPicPr>
              <a:picLocks noChangeAspect="1"/>
            </p:cNvPicPr>
            <p:nvPr/>
          </p:nvPicPr>
          <p:blipFill>
            <a:blip r:embed="rId6"/>
            <a:stretch>
              <a:fillRect/>
            </a:stretch>
          </p:blipFill>
          <p:spPr>
            <a:xfrm>
              <a:off x="3792399" y="3406181"/>
              <a:ext cx="1574978" cy="609669"/>
            </a:xfrm>
            <a:prstGeom prst="rect">
              <a:avLst/>
            </a:prstGeom>
          </p:spPr>
        </p:pic>
        <p:pic>
          <p:nvPicPr>
            <p:cNvPr id="1035" name="Picture 1034">
              <a:extLst>
                <a:ext uri="{FF2B5EF4-FFF2-40B4-BE49-F238E27FC236}">
                  <a16:creationId xmlns:a16="http://schemas.microsoft.com/office/drawing/2014/main" id="{06BA46E0-5731-4C69-E7AE-C3C2D08F5F8B}"/>
                </a:ext>
              </a:extLst>
            </p:cNvPr>
            <p:cNvPicPr>
              <a:picLocks noChangeAspect="1"/>
            </p:cNvPicPr>
            <p:nvPr/>
          </p:nvPicPr>
          <p:blipFill>
            <a:blip r:embed="rId4"/>
            <a:stretch>
              <a:fillRect/>
            </a:stretch>
          </p:blipFill>
          <p:spPr>
            <a:xfrm>
              <a:off x="3885351" y="3953335"/>
              <a:ext cx="351459" cy="166119"/>
            </a:xfrm>
            <a:prstGeom prst="rect">
              <a:avLst/>
            </a:prstGeom>
          </p:spPr>
        </p:pic>
        <p:pic>
          <p:nvPicPr>
            <p:cNvPr id="1036" name="Picture 1035">
              <a:extLst>
                <a:ext uri="{FF2B5EF4-FFF2-40B4-BE49-F238E27FC236}">
                  <a16:creationId xmlns:a16="http://schemas.microsoft.com/office/drawing/2014/main" id="{339A2298-69DC-7FF6-33A6-5CD7FFC6A65D}"/>
                </a:ext>
              </a:extLst>
            </p:cNvPr>
            <p:cNvPicPr>
              <a:picLocks noChangeAspect="1"/>
            </p:cNvPicPr>
            <p:nvPr/>
          </p:nvPicPr>
          <p:blipFill>
            <a:blip r:embed="rId4"/>
            <a:stretch>
              <a:fillRect/>
            </a:stretch>
          </p:blipFill>
          <p:spPr>
            <a:xfrm>
              <a:off x="4381176" y="3953334"/>
              <a:ext cx="351459" cy="166119"/>
            </a:xfrm>
            <a:prstGeom prst="rect">
              <a:avLst/>
            </a:prstGeom>
          </p:spPr>
        </p:pic>
        <p:pic>
          <p:nvPicPr>
            <p:cNvPr id="1037" name="Picture 1036">
              <a:extLst>
                <a:ext uri="{FF2B5EF4-FFF2-40B4-BE49-F238E27FC236}">
                  <a16:creationId xmlns:a16="http://schemas.microsoft.com/office/drawing/2014/main" id="{C8EA505A-CD39-391D-E506-265744E4FC09}"/>
                </a:ext>
              </a:extLst>
            </p:cNvPr>
            <p:cNvPicPr>
              <a:picLocks noChangeAspect="1"/>
            </p:cNvPicPr>
            <p:nvPr/>
          </p:nvPicPr>
          <p:blipFill>
            <a:blip r:embed="rId4"/>
            <a:stretch>
              <a:fillRect/>
            </a:stretch>
          </p:blipFill>
          <p:spPr>
            <a:xfrm>
              <a:off x="4855974" y="3953333"/>
              <a:ext cx="351459" cy="166119"/>
            </a:xfrm>
            <a:prstGeom prst="rect">
              <a:avLst/>
            </a:prstGeom>
          </p:spPr>
        </p:pic>
        <p:grpSp>
          <p:nvGrpSpPr>
            <p:cNvPr id="1038" name="Group 1037">
              <a:extLst>
                <a:ext uri="{FF2B5EF4-FFF2-40B4-BE49-F238E27FC236}">
                  <a16:creationId xmlns:a16="http://schemas.microsoft.com/office/drawing/2014/main" id="{7ED70A7A-B81A-E47F-B818-BD4AB6B14A83}"/>
                </a:ext>
              </a:extLst>
            </p:cNvPr>
            <p:cNvGrpSpPr/>
            <p:nvPr/>
          </p:nvGrpSpPr>
          <p:grpSpPr>
            <a:xfrm>
              <a:off x="3721894" y="3301916"/>
              <a:ext cx="1820849" cy="1081561"/>
              <a:chOff x="5829732" y="1668206"/>
              <a:chExt cx="1820849" cy="1081561"/>
            </a:xfrm>
          </p:grpSpPr>
          <p:sp>
            <p:nvSpPr>
              <p:cNvPr id="1039" name="Rectangle: Rounded Corners 1038">
                <a:extLst>
                  <a:ext uri="{FF2B5EF4-FFF2-40B4-BE49-F238E27FC236}">
                    <a16:creationId xmlns:a16="http://schemas.microsoft.com/office/drawing/2014/main" id="{B56A1605-EE58-3F8A-E009-D27DBEB1E5B6}"/>
                  </a:ext>
                </a:extLst>
              </p:cNvPr>
              <p:cNvSpPr/>
              <p:nvPr/>
            </p:nvSpPr>
            <p:spPr>
              <a:xfrm>
                <a:off x="5829732" y="1814459"/>
                <a:ext cx="1820849" cy="93530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pic>
            <p:nvPicPr>
              <p:cNvPr id="1040" name="Picture 1039">
                <a:extLst>
                  <a:ext uri="{FF2B5EF4-FFF2-40B4-BE49-F238E27FC236}">
                    <a16:creationId xmlns:a16="http://schemas.microsoft.com/office/drawing/2014/main" id="{F62B7B81-7076-2060-5099-455EFEF9459D}"/>
                  </a:ext>
                </a:extLst>
              </p:cNvPr>
              <p:cNvPicPr>
                <a:picLocks noChangeAspect="1"/>
              </p:cNvPicPr>
              <p:nvPr/>
            </p:nvPicPr>
            <p:blipFill>
              <a:blip r:embed="rId5"/>
              <a:stretch>
                <a:fillRect/>
              </a:stretch>
            </p:blipFill>
            <p:spPr>
              <a:xfrm>
                <a:off x="5847870" y="1668206"/>
                <a:ext cx="313446" cy="276999"/>
              </a:xfrm>
              <a:prstGeom prst="rect">
                <a:avLst/>
              </a:prstGeom>
            </p:spPr>
          </p:pic>
          <p:pic>
            <p:nvPicPr>
              <p:cNvPr id="1041" name="Picture 1040">
                <a:extLst>
                  <a:ext uri="{FF2B5EF4-FFF2-40B4-BE49-F238E27FC236}">
                    <a16:creationId xmlns:a16="http://schemas.microsoft.com/office/drawing/2014/main" id="{763ED260-2BF1-FBAE-A72A-DFF1152E6592}"/>
                  </a:ext>
                </a:extLst>
              </p:cNvPr>
              <p:cNvPicPr>
                <a:picLocks noChangeAspect="1"/>
              </p:cNvPicPr>
              <p:nvPr/>
            </p:nvPicPr>
            <p:blipFill>
              <a:blip r:embed="rId6"/>
              <a:stretch>
                <a:fillRect/>
              </a:stretch>
            </p:blipFill>
            <p:spPr>
              <a:xfrm>
                <a:off x="6011205" y="1936378"/>
                <a:ext cx="1574978" cy="609669"/>
              </a:xfrm>
              <a:prstGeom prst="rect">
                <a:avLst/>
              </a:prstGeom>
            </p:spPr>
          </p:pic>
          <p:pic>
            <p:nvPicPr>
              <p:cNvPr id="1042" name="Picture 1041">
                <a:extLst>
                  <a:ext uri="{FF2B5EF4-FFF2-40B4-BE49-F238E27FC236}">
                    <a16:creationId xmlns:a16="http://schemas.microsoft.com/office/drawing/2014/main" id="{77AA6637-534F-3388-15E5-1F9EB44FA9ED}"/>
                  </a:ext>
                </a:extLst>
              </p:cNvPr>
              <p:cNvPicPr>
                <a:picLocks noChangeAspect="1"/>
              </p:cNvPicPr>
              <p:nvPr/>
            </p:nvPicPr>
            <p:blipFill>
              <a:blip r:embed="rId4"/>
              <a:stretch>
                <a:fillRect/>
              </a:stretch>
            </p:blipFill>
            <p:spPr>
              <a:xfrm>
                <a:off x="6104959" y="2483532"/>
                <a:ext cx="351459" cy="166119"/>
              </a:xfrm>
              <a:prstGeom prst="rect">
                <a:avLst/>
              </a:prstGeom>
            </p:spPr>
          </p:pic>
          <p:pic>
            <p:nvPicPr>
              <p:cNvPr id="1043" name="Picture 1042">
                <a:extLst>
                  <a:ext uri="{FF2B5EF4-FFF2-40B4-BE49-F238E27FC236}">
                    <a16:creationId xmlns:a16="http://schemas.microsoft.com/office/drawing/2014/main" id="{8B0B2788-7F46-F8C8-7FEC-632281BD1150}"/>
                  </a:ext>
                </a:extLst>
              </p:cNvPr>
              <p:cNvPicPr>
                <a:picLocks noChangeAspect="1"/>
              </p:cNvPicPr>
              <p:nvPr/>
            </p:nvPicPr>
            <p:blipFill>
              <a:blip r:embed="rId4"/>
              <a:stretch>
                <a:fillRect/>
              </a:stretch>
            </p:blipFill>
            <p:spPr>
              <a:xfrm>
                <a:off x="6600784" y="2483531"/>
                <a:ext cx="351459" cy="166119"/>
              </a:xfrm>
              <a:prstGeom prst="rect">
                <a:avLst/>
              </a:prstGeom>
            </p:spPr>
          </p:pic>
          <p:pic>
            <p:nvPicPr>
              <p:cNvPr id="1044" name="Picture 1043">
                <a:extLst>
                  <a:ext uri="{FF2B5EF4-FFF2-40B4-BE49-F238E27FC236}">
                    <a16:creationId xmlns:a16="http://schemas.microsoft.com/office/drawing/2014/main" id="{3AF08A13-A16D-2C1D-11F9-BB1919952BF7}"/>
                  </a:ext>
                </a:extLst>
              </p:cNvPr>
              <p:cNvPicPr>
                <a:picLocks noChangeAspect="1"/>
              </p:cNvPicPr>
              <p:nvPr/>
            </p:nvPicPr>
            <p:blipFill>
              <a:blip r:embed="rId4"/>
              <a:stretch>
                <a:fillRect/>
              </a:stretch>
            </p:blipFill>
            <p:spPr>
              <a:xfrm>
                <a:off x="7075582" y="2483530"/>
                <a:ext cx="351459" cy="166119"/>
              </a:xfrm>
              <a:prstGeom prst="rect">
                <a:avLst/>
              </a:prstGeom>
            </p:spPr>
          </p:pic>
        </p:grpSp>
      </p:grpSp>
      <p:grpSp>
        <p:nvGrpSpPr>
          <p:cNvPr id="1045" name="Group 1044">
            <a:extLst>
              <a:ext uri="{FF2B5EF4-FFF2-40B4-BE49-F238E27FC236}">
                <a16:creationId xmlns:a16="http://schemas.microsoft.com/office/drawing/2014/main" id="{01BFD820-1A7D-11BF-C941-31A525C6F989}"/>
              </a:ext>
            </a:extLst>
          </p:cNvPr>
          <p:cNvGrpSpPr/>
          <p:nvPr/>
        </p:nvGrpSpPr>
        <p:grpSpPr>
          <a:xfrm>
            <a:off x="8909031" y="4455774"/>
            <a:ext cx="2427799" cy="1442081"/>
            <a:chOff x="5829732" y="1668206"/>
            <a:chExt cx="1820849" cy="1081561"/>
          </a:xfrm>
        </p:grpSpPr>
        <p:sp>
          <p:nvSpPr>
            <p:cNvPr id="1046" name="Rectangle: Rounded Corners 1045">
              <a:extLst>
                <a:ext uri="{FF2B5EF4-FFF2-40B4-BE49-F238E27FC236}">
                  <a16:creationId xmlns:a16="http://schemas.microsoft.com/office/drawing/2014/main" id="{9BE1C7E3-71E1-3D41-8B76-B2654046077C}"/>
                </a:ext>
              </a:extLst>
            </p:cNvPr>
            <p:cNvSpPr/>
            <p:nvPr/>
          </p:nvSpPr>
          <p:spPr>
            <a:xfrm>
              <a:off x="5829732" y="1814459"/>
              <a:ext cx="1820849" cy="93530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pic>
          <p:nvPicPr>
            <p:cNvPr id="1047" name="Picture 1046">
              <a:extLst>
                <a:ext uri="{FF2B5EF4-FFF2-40B4-BE49-F238E27FC236}">
                  <a16:creationId xmlns:a16="http://schemas.microsoft.com/office/drawing/2014/main" id="{220A4DE5-E808-2DB2-504B-ED7CFAD8E0B9}"/>
                </a:ext>
              </a:extLst>
            </p:cNvPr>
            <p:cNvPicPr>
              <a:picLocks noChangeAspect="1"/>
            </p:cNvPicPr>
            <p:nvPr/>
          </p:nvPicPr>
          <p:blipFill>
            <a:blip r:embed="rId5"/>
            <a:stretch>
              <a:fillRect/>
            </a:stretch>
          </p:blipFill>
          <p:spPr>
            <a:xfrm>
              <a:off x="5847870" y="1668206"/>
              <a:ext cx="313446" cy="276999"/>
            </a:xfrm>
            <a:prstGeom prst="rect">
              <a:avLst/>
            </a:prstGeom>
          </p:spPr>
        </p:pic>
        <p:pic>
          <p:nvPicPr>
            <p:cNvPr id="1048" name="Picture 1047">
              <a:extLst>
                <a:ext uri="{FF2B5EF4-FFF2-40B4-BE49-F238E27FC236}">
                  <a16:creationId xmlns:a16="http://schemas.microsoft.com/office/drawing/2014/main" id="{A3C08507-19A0-05E8-2DEF-0C9CCAF87683}"/>
                </a:ext>
              </a:extLst>
            </p:cNvPr>
            <p:cNvPicPr>
              <a:picLocks noChangeAspect="1"/>
            </p:cNvPicPr>
            <p:nvPr/>
          </p:nvPicPr>
          <p:blipFill>
            <a:blip r:embed="rId6"/>
            <a:stretch>
              <a:fillRect/>
            </a:stretch>
          </p:blipFill>
          <p:spPr>
            <a:xfrm>
              <a:off x="6011205" y="1936378"/>
              <a:ext cx="1574978" cy="609669"/>
            </a:xfrm>
            <a:prstGeom prst="rect">
              <a:avLst/>
            </a:prstGeom>
          </p:spPr>
        </p:pic>
        <p:pic>
          <p:nvPicPr>
            <p:cNvPr id="1049" name="Picture 1048">
              <a:extLst>
                <a:ext uri="{FF2B5EF4-FFF2-40B4-BE49-F238E27FC236}">
                  <a16:creationId xmlns:a16="http://schemas.microsoft.com/office/drawing/2014/main" id="{BFE88876-FC3A-A69B-A960-FA237C923BE5}"/>
                </a:ext>
              </a:extLst>
            </p:cNvPr>
            <p:cNvPicPr>
              <a:picLocks noChangeAspect="1"/>
            </p:cNvPicPr>
            <p:nvPr/>
          </p:nvPicPr>
          <p:blipFill>
            <a:blip r:embed="rId4"/>
            <a:stretch>
              <a:fillRect/>
            </a:stretch>
          </p:blipFill>
          <p:spPr>
            <a:xfrm>
              <a:off x="6104959" y="2483532"/>
              <a:ext cx="351459" cy="166119"/>
            </a:xfrm>
            <a:prstGeom prst="rect">
              <a:avLst/>
            </a:prstGeom>
          </p:spPr>
        </p:pic>
        <p:pic>
          <p:nvPicPr>
            <p:cNvPr id="1050" name="Picture 1049">
              <a:extLst>
                <a:ext uri="{FF2B5EF4-FFF2-40B4-BE49-F238E27FC236}">
                  <a16:creationId xmlns:a16="http://schemas.microsoft.com/office/drawing/2014/main" id="{40451E1A-DE74-34B5-5B26-607003D3F126}"/>
                </a:ext>
              </a:extLst>
            </p:cNvPr>
            <p:cNvPicPr>
              <a:picLocks noChangeAspect="1"/>
            </p:cNvPicPr>
            <p:nvPr/>
          </p:nvPicPr>
          <p:blipFill>
            <a:blip r:embed="rId4"/>
            <a:stretch>
              <a:fillRect/>
            </a:stretch>
          </p:blipFill>
          <p:spPr>
            <a:xfrm>
              <a:off x="6600784" y="2483531"/>
              <a:ext cx="351459" cy="166119"/>
            </a:xfrm>
            <a:prstGeom prst="rect">
              <a:avLst/>
            </a:prstGeom>
          </p:spPr>
        </p:pic>
        <p:pic>
          <p:nvPicPr>
            <p:cNvPr id="1051" name="Picture 1050">
              <a:extLst>
                <a:ext uri="{FF2B5EF4-FFF2-40B4-BE49-F238E27FC236}">
                  <a16:creationId xmlns:a16="http://schemas.microsoft.com/office/drawing/2014/main" id="{43743ED0-7BCD-9D14-5430-78DD736D037E}"/>
                </a:ext>
              </a:extLst>
            </p:cNvPr>
            <p:cNvPicPr>
              <a:picLocks noChangeAspect="1"/>
            </p:cNvPicPr>
            <p:nvPr/>
          </p:nvPicPr>
          <p:blipFill>
            <a:blip r:embed="rId4"/>
            <a:stretch>
              <a:fillRect/>
            </a:stretch>
          </p:blipFill>
          <p:spPr>
            <a:xfrm>
              <a:off x="7075582" y="2483530"/>
              <a:ext cx="351459" cy="166119"/>
            </a:xfrm>
            <a:prstGeom prst="rect">
              <a:avLst/>
            </a:prstGeom>
          </p:spPr>
        </p:pic>
      </p:grpSp>
      <p:pic>
        <p:nvPicPr>
          <p:cNvPr id="2050" name="Picture 2" descr="Official Azure Icon Set">
            <a:extLst>
              <a:ext uri="{FF2B5EF4-FFF2-40B4-BE49-F238E27FC236}">
                <a16:creationId xmlns:a16="http://schemas.microsoft.com/office/drawing/2014/main" id="{B1E1EACB-02B8-63E8-AB8C-A9CE37E5E5D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66893" y="949305"/>
            <a:ext cx="669201" cy="669201"/>
          </a:xfrm>
          <a:prstGeom prst="rect">
            <a:avLst/>
          </a:prstGeom>
          <a:noFill/>
          <a:extLst>
            <a:ext uri="{909E8E84-426E-40DD-AFC4-6F175D3DCCD1}">
              <a14:hiddenFill xmlns:a14="http://schemas.microsoft.com/office/drawing/2010/main">
                <a:solidFill>
                  <a:srgbClr val="FFFFFF"/>
                </a:solidFill>
              </a14:hiddenFill>
            </a:ext>
          </a:extLst>
        </p:spPr>
      </p:pic>
      <p:sp>
        <p:nvSpPr>
          <p:cNvPr id="1054" name="TextBox 1053">
            <a:extLst>
              <a:ext uri="{FF2B5EF4-FFF2-40B4-BE49-F238E27FC236}">
                <a16:creationId xmlns:a16="http://schemas.microsoft.com/office/drawing/2014/main" id="{B4B5EE34-9F94-4D99-922C-9325FA948E68}"/>
              </a:ext>
            </a:extLst>
          </p:cNvPr>
          <p:cNvSpPr txBox="1"/>
          <p:nvPr/>
        </p:nvSpPr>
        <p:spPr>
          <a:xfrm>
            <a:off x="6598515" y="1592401"/>
            <a:ext cx="3299487" cy="461665"/>
          </a:xfrm>
          <a:prstGeom prst="rect">
            <a:avLst/>
          </a:prstGeom>
          <a:noFill/>
        </p:spPr>
        <p:txBody>
          <a:bodyPr wrap="square" rtlCol="0">
            <a:spAutoFit/>
          </a:bodyPr>
          <a:lstStyle/>
          <a:p>
            <a:r>
              <a:rPr lang="hu-HU" sz="2400" dirty="0" err="1"/>
              <a:t>Azure</a:t>
            </a:r>
            <a:r>
              <a:rPr lang="hu-HU" sz="2400" dirty="0"/>
              <a:t> </a:t>
            </a:r>
            <a:r>
              <a:rPr lang="hu-HU" sz="2400" dirty="0" err="1"/>
              <a:t>Active</a:t>
            </a:r>
            <a:r>
              <a:rPr lang="hu-HU" sz="2400" dirty="0"/>
              <a:t> </a:t>
            </a:r>
            <a:r>
              <a:rPr lang="hu-HU" sz="2400" dirty="0" err="1"/>
              <a:t>Directory</a:t>
            </a:r>
            <a:endParaRPr lang="en-US" sz="2400" dirty="0"/>
          </a:p>
        </p:txBody>
      </p:sp>
      <p:grpSp>
        <p:nvGrpSpPr>
          <p:cNvPr id="2048" name="Group 2047">
            <a:extLst>
              <a:ext uri="{FF2B5EF4-FFF2-40B4-BE49-F238E27FC236}">
                <a16:creationId xmlns:a16="http://schemas.microsoft.com/office/drawing/2014/main" id="{7A9CE1BA-AF5B-F810-0B9C-DFFA0946442B}"/>
              </a:ext>
            </a:extLst>
          </p:cNvPr>
          <p:cNvGrpSpPr/>
          <p:nvPr/>
        </p:nvGrpSpPr>
        <p:grpSpPr>
          <a:xfrm>
            <a:off x="9666464" y="884257"/>
            <a:ext cx="2058176" cy="1205618"/>
            <a:chOff x="249004" y="1683131"/>
            <a:chExt cx="1543632" cy="904214"/>
          </a:xfrm>
        </p:grpSpPr>
        <p:pic>
          <p:nvPicPr>
            <p:cNvPr id="1053" name="Picture 1052">
              <a:extLst>
                <a:ext uri="{FF2B5EF4-FFF2-40B4-BE49-F238E27FC236}">
                  <a16:creationId xmlns:a16="http://schemas.microsoft.com/office/drawing/2014/main" id="{FC1FF694-4B6D-1F0A-F3E3-78CC57EC8DAA}"/>
                </a:ext>
              </a:extLst>
            </p:cNvPr>
            <p:cNvPicPr>
              <a:picLocks noChangeAspect="1"/>
            </p:cNvPicPr>
            <p:nvPr/>
          </p:nvPicPr>
          <p:blipFill>
            <a:blip r:embed="rId8"/>
            <a:stretch>
              <a:fillRect/>
            </a:stretch>
          </p:blipFill>
          <p:spPr>
            <a:xfrm>
              <a:off x="578064" y="1683131"/>
              <a:ext cx="495300" cy="628650"/>
            </a:xfrm>
            <a:prstGeom prst="rect">
              <a:avLst/>
            </a:prstGeom>
          </p:spPr>
        </p:pic>
        <p:sp>
          <p:nvSpPr>
            <p:cNvPr id="1055" name="TextBox 1054">
              <a:extLst>
                <a:ext uri="{FF2B5EF4-FFF2-40B4-BE49-F238E27FC236}">
                  <a16:creationId xmlns:a16="http://schemas.microsoft.com/office/drawing/2014/main" id="{307502A0-B5AF-490C-7458-837012DBAFDE}"/>
                </a:ext>
              </a:extLst>
            </p:cNvPr>
            <p:cNvSpPr txBox="1"/>
            <p:nvPr/>
          </p:nvSpPr>
          <p:spPr>
            <a:xfrm>
              <a:off x="249004" y="2241096"/>
              <a:ext cx="1543632" cy="346249"/>
            </a:xfrm>
            <a:prstGeom prst="rect">
              <a:avLst/>
            </a:prstGeom>
            <a:noFill/>
          </p:spPr>
          <p:txBody>
            <a:bodyPr wrap="square" rtlCol="0">
              <a:spAutoFit/>
            </a:bodyPr>
            <a:lstStyle/>
            <a:p>
              <a:r>
                <a:rPr lang="hu-HU" sz="2400" dirty="0"/>
                <a:t>Billing </a:t>
              </a:r>
              <a:r>
                <a:rPr lang="hu-HU" sz="2400" dirty="0" err="1"/>
                <a:t>Admin</a:t>
              </a:r>
              <a:endParaRPr lang="en-US" sz="2400" dirty="0"/>
            </a:p>
          </p:txBody>
        </p:sp>
      </p:grpSp>
      <p:cxnSp>
        <p:nvCxnSpPr>
          <p:cNvPr id="2053" name="Straight Arrow Connector 2052">
            <a:extLst>
              <a:ext uri="{FF2B5EF4-FFF2-40B4-BE49-F238E27FC236}">
                <a16:creationId xmlns:a16="http://schemas.microsoft.com/office/drawing/2014/main" id="{12ECCF2F-1248-AB83-B983-C1CCD9E4202C}"/>
              </a:ext>
            </a:extLst>
          </p:cNvPr>
          <p:cNvCxnSpPr>
            <a:cxnSpLocks/>
            <a:stCxn id="1055" idx="2"/>
            <a:endCxn id="1027" idx="0"/>
          </p:cNvCxnSpPr>
          <p:nvPr/>
        </p:nvCxnSpPr>
        <p:spPr>
          <a:xfrm flipH="1">
            <a:off x="5783013" y="2089875"/>
            <a:ext cx="4912539" cy="1087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55" name="Straight Arrow Connector 2054">
            <a:extLst>
              <a:ext uri="{FF2B5EF4-FFF2-40B4-BE49-F238E27FC236}">
                <a16:creationId xmlns:a16="http://schemas.microsoft.com/office/drawing/2014/main" id="{00FDABCB-38D8-A956-052D-B92ED68DBBBA}"/>
              </a:ext>
            </a:extLst>
          </p:cNvPr>
          <p:cNvCxnSpPr>
            <a:cxnSpLocks/>
            <a:stCxn id="1055" idx="2"/>
            <a:endCxn id="22" idx="0"/>
          </p:cNvCxnSpPr>
          <p:nvPr/>
        </p:nvCxnSpPr>
        <p:spPr>
          <a:xfrm flipH="1">
            <a:off x="9727991" y="2089875"/>
            <a:ext cx="967561" cy="11405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Szöveg helye 3">
            <a:extLst>
              <a:ext uri="{FF2B5EF4-FFF2-40B4-BE49-F238E27FC236}">
                <a16:creationId xmlns:a16="http://schemas.microsoft.com/office/drawing/2014/main" id="{BC960DE2-E900-A414-7F86-3EE7C4F00278}"/>
              </a:ext>
            </a:extLst>
          </p:cNvPr>
          <p:cNvSpPr>
            <a:spLocks noGrp="1"/>
          </p:cNvSpPr>
          <p:nvPr>
            <p:ph type="body" idx="16"/>
          </p:nvPr>
        </p:nvSpPr>
        <p:spPr/>
        <p:txBody>
          <a:bodyPr/>
          <a:lstStyle/>
          <a:p>
            <a:r>
              <a:rPr lang="hu" dirty="0"/>
              <a:t>Azure subscriptions – naming/grouping conventions</a:t>
            </a:r>
            <a:endParaRPr lang="en-GB" dirty="0"/>
          </a:p>
        </p:txBody>
      </p:sp>
      <p:sp>
        <p:nvSpPr>
          <p:cNvPr id="3" name="Google Shape;199;p29">
            <a:extLst>
              <a:ext uri="{FF2B5EF4-FFF2-40B4-BE49-F238E27FC236}">
                <a16:creationId xmlns:a16="http://schemas.microsoft.com/office/drawing/2014/main" id="{2DF58331-77A4-E697-F9FF-4FFB4CAF1422}"/>
              </a:ext>
            </a:extLst>
          </p:cNvPr>
          <p:cNvSpPr txBox="1">
            <a:spLocks/>
          </p:cNvSpPr>
          <p:nvPr/>
        </p:nvSpPr>
        <p:spPr>
          <a:xfrm>
            <a:off x="89503" y="808118"/>
            <a:ext cx="4587341" cy="3977700"/>
          </a:xfrm>
          <a:prstGeom prst="rect">
            <a:avLst/>
          </a:prstGeom>
        </p:spPr>
        <p:txBody>
          <a:bodyPr spcFirstLastPara="1" wrap="square" lIns="68575" tIns="34275" rIns="68575" bIns="34275"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0650" indent="0">
              <a:spcBef>
                <a:spcPts val="300"/>
              </a:spcBef>
              <a:buSzPts val="1700"/>
              <a:buNone/>
            </a:pPr>
            <a:r>
              <a:rPr lang="en-GB" sz="2000" dirty="0"/>
              <a:t>By environment: </a:t>
            </a:r>
          </a:p>
          <a:p>
            <a:pPr lvl="1" indent="-336550">
              <a:buSzPts val="1700"/>
              <a:buFont typeface="Arial" panose="020B0604020202020204" pitchFamily="34" charset="0"/>
              <a:buChar char="▪"/>
            </a:pPr>
            <a:r>
              <a:rPr lang="en-GB" sz="1800" dirty="0"/>
              <a:t>Prod/Dev/Staging</a:t>
            </a:r>
            <a:endParaRPr lang="hu-HU" sz="1800" dirty="0"/>
          </a:p>
          <a:p>
            <a:pPr lvl="1" indent="-336550">
              <a:buSzPts val="1700"/>
              <a:buFont typeface="Arial" panose="020B0604020202020204" pitchFamily="34" charset="0"/>
              <a:buChar char="▪"/>
            </a:pPr>
            <a:endParaRPr lang="en-GB" sz="1800" dirty="0"/>
          </a:p>
          <a:p>
            <a:pPr marL="120650" indent="0">
              <a:spcBef>
                <a:spcPts val="300"/>
              </a:spcBef>
              <a:buSzPts val="1700"/>
              <a:buNone/>
            </a:pPr>
            <a:r>
              <a:rPr lang="en-GB" sz="2000" dirty="0"/>
              <a:t>By department/team:  </a:t>
            </a:r>
          </a:p>
          <a:p>
            <a:pPr lvl="1" indent="-336550">
              <a:buSzPts val="1700"/>
              <a:buFont typeface="Arial" panose="020B0604020202020204" pitchFamily="34" charset="0"/>
              <a:buChar char="▪"/>
            </a:pPr>
            <a:r>
              <a:rPr lang="en-GB" sz="1800" dirty="0"/>
              <a:t>Marketing/Engineering</a:t>
            </a:r>
            <a:endParaRPr lang="hu-HU" sz="1800" dirty="0"/>
          </a:p>
          <a:p>
            <a:pPr marL="0" indent="0">
              <a:buNone/>
            </a:pPr>
            <a:r>
              <a:rPr lang="en-GB" sz="2000" dirty="0"/>
              <a:t>By region:</a:t>
            </a:r>
          </a:p>
          <a:p>
            <a:pPr lvl="1" indent="-336550">
              <a:buSzPts val="1700"/>
              <a:buFont typeface="Noto Sans Symbols"/>
              <a:buChar char="▪"/>
            </a:pPr>
            <a:r>
              <a:rPr lang="en-GB" sz="1800" dirty="0"/>
              <a:t>Europe/Asia</a:t>
            </a:r>
          </a:p>
          <a:p>
            <a:pPr marL="120650" indent="0">
              <a:spcBef>
                <a:spcPts val="300"/>
              </a:spcBef>
              <a:buSzPts val="1700"/>
              <a:buFont typeface="Arial" panose="020B0604020202020204" pitchFamily="34" charset="0"/>
              <a:buNone/>
            </a:pPr>
            <a:endParaRPr lang="en-GB" sz="2000" dirty="0"/>
          </a:p>
          <a:p>
            <a:pPr marL="457200" indent="0">
              <a:spcBef>
                <a:spcPts val="300"/>
              </a:spcBef>
              <a:buFont typeface="Arial" panose="020B0604020202020204" pitchFamily="34" charset="0"/>
              <a:buNone/>
            </a:pPr>
            <a:endParaRPr lang="en-GB" sz="2000" dirty="0"/>
          </a:p>
        </p:txBody>
      </p:sp>
    </p:spTree>
    <p:extLst>
      <p:ext uri="{BB962C8B-B14F-4D97-AF65-F5344CB8AC3E}">
        <p14:creationId xmlns:p14="http://schemas.microsoft.com/office/powerpoint/2010/main" val="1576013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fade">
                                      <p:cBhvr>
                                        <p:cTn id="7" dur="500"/>
                                        <p:tgtEl>
                                          <p:spTgt spid="205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3"/>
                                        </p:tgtEl>
                                        <p:attrNameLst>
                                          <p:attrName>style.visibility</p:attrName>
                                        </p:attrNameLst>
                                      </p:cBhvr>
                                      <p:to>
                                        <p:strVal val="visible"/>
                                      </p:to>
                                    </p:set>
                                    <p:animEffect transition="in" filter="fade">
                                      <p:cBhvr>
                                        <p:cTn id="12" dur="500"/>
                                        <p:tgtEl>
                                          <p:spTgt spid="2053"/>
                                        </p:tgtEl>
                                      </p:cBhvr>
                                    </p:animEffect>
                                  </p:childTnLst>
                                </p:cTn>
                              </p:par>
                              <p:par>
                                <p:cTn id="13" presetID="10" presetClass="entr" presetSubtype="0" fill="hold" nodeType="withEffect">
                                  <p:stCondLst>
                                    <p:cond delay="0"/>
                                  </p:stCondLst>
                                  <p:childTnLst>
                                    <p:set>
                                      <p:cBhvr>
                                        <p:cTn id="14" dur="1" fill="hold">
                                          <p:stCondLst>
                                            <p:cond delay="0"/>
                                          </p:stCondLst>
                                        </p:cTn>
                                        <p:tgtEl>
                                          <p:spTgt spid="2055"/>
                                        </p:tgtEl>
                                        <p:attrNameLst>
                                          <p:attrName>style.visibility</p:attrName>
                                        </p:attrNameLst>
                                      </p:cBhvr>
                                      <p:to>
                                        <p:strVal val="visible"/>
                                      </p:to>
                                    </p:set>
                                    <p:animEffect transition="in" filter="fade">
                                      <p:cBhvr>
                                        <p:cTn id="15" dur="500"/>
                                        <p:tgtEl>
                                          <p:spTgt spid="2055"/>
                                        </p:tgtEl>
                                      </p:cBhvr>
                                    </p:animEffect>
                                  </p:childTnLst>
                                </p:cTn>
                              </p:par>
                              <p:par>
                                <p:cTn id="16" presetID="10" presetClass="entr" presetSubtype="0" fill="hold" nodeType="withEffect">
                                  <p:stCondLst>
                                    <p:cond delay="0"/>
                                  </p:stCondLst>
                                  <p:childTnLst>
                                    <p:set>
                                      <p:cBhvr>
                                        <p:cTn id="17" dur="1" fill="hold">
                                          <p:stCondLst>
                                            <p:cond delay="0"/>
                                          </p:stCondLst>
                                        </p:cTn>
                                        <p:tgtEl>
                                          <p:spTgt spid="2048"/>
                                        </p:tgtEl>
                                        <p:attrNameLst>
                                          <p:attrName>style.visibility</p:attrName>
                                        </p:attrNameLst>
                                      </p:cBhvr>
                                      <p:to>
                                        <p:strVal val="visible"/>
                                      </p:to>
                                    </p:set>
                                    <p:animEffect transition="in" filter="fade">
                                      <p:cBhvr>
                                        <p:cTn id="18" dur="500"/>
                                        <p:tgtEl>
                                          <p:spTgt spid="2048"/>
                                        </p:tgtEl>
                                      </p:cBhvr>
                                    </p:animEffect>
                                  </p:childTnLst>
                                </p:cTn>
                              </p:par>
                              <p:par>
                                <p:cTn id="19" presetID="10" presetClass="entr" presetSubtype="0" fill="hold" nodeType="withEffect">
                                  <p:stCondLst>
                                    <p:cond delay="0"/>
                                  </p:stCondLst>
                                  <p:childTnLst>
                                    <p:set>
                                      <p:cBhvr>
                                        <p:cTn id="20" dur="1" fill="hold">
                                          <p:stCondLst>
                                            <p:cond delay="0"/>
                                          </p:stCondLst>
                                        </p:cTn>
                                        <p:tgtEl>
                                          <p:spTgt spid="2050"/>
                                        </p:tgtEl>
                                        <p:attrNameLst>
                                          <p:attrName>style.visibility</p:attrName>
                                        </p:attrNameLst>
                                      </p:cBhvr>
                                      <p:to>
                                        <p:strVal val="visible"/>
                                      </p:to>
                                    </p:set>
                                    <p:animEffect transition="in" filter="fade">
                                      <p:cBhvr>
                                        <p:cTn id="21" dur="500"/>
                                        <p:tgtEl>
                                          <p:spTgt spid="205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54"/>
                                        </p:tgtEl>
                                        <p:attrNameLst>
                                          <p:attrName>style.visibility</p:attrName>
                                        </p:attrNameLst>
                                      </p:cBhvr>
                                      <p:to>
                                        <p:strVal val="visible"/>
                                      </p:to>
                                    </p:set>
                                    <p:animEffect transition="in" filter="fade">
                                      <p:cBhvr>
                                        <p:cTn id="24" dur="500"/>
                                        <p:tgtEl>
                                          <p:spTgt spid="1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0" name="Szöveg helye 9">
            <a:extLst>
              <a:ext uri="{FF2B5EF4-FFF2-40B4-BE49-F238E27FC236}">
                <a16:creationId xmlns:a16="http://schemas.microsoft.com/office/drawing/2014/main" id="{92DA961B-D727-AB0B-3396-73BF8BFF0BD6}"/>
              </a:ext>
            </a:extLst>
          </p:cNvPr>
          <p:cNvSpPr>
            <a:spLocks noGrp="1"/>
          </p:cNvSpPr>
          <p:nvPr>
            <p:ph type="body" idx="20"/>
          </p:nvPr>
        </p:nvSpPr>
        <p:spPr/>
        <p:txBody>
          <a:bodyPr/>
          <a:lstStyle/>
          <a:p>
            <a:endParaRPr lang="en-GB"/>
          </a:p>
        </p:txBody>
      </p:sp>
      <p:grpSp>
        <p:nvGrpSpPr>
          <p:cNvPr id="2073" name="Group 2072">
            <a:extLst>
              <a:ext uri="{FF2B5EF4-FFF2-40B4-BE49-F238E27FC236}">
                <a16:creationId xmlns:a16="http://schemas.microsoft.com/office/drawing/2014/main" id="{EC207448-EF30-0838-99B0-CAD96CE07112}"/>
              </a:ext>
            </a:extLst>
          </p:cNvPr>
          <p:cNvGrpSpPr/>
          <p:nvPr/>
        </p:nvGrpSpPr>
        <p:grpSpPr>
          <a:xfrm>
            <a:off x="8811670" y="1185339"/>
            <a:ext cx="2269597" cy="1690461"/>
            <a:chOff x="6586217" y="1012720"/>
            <a:chExt cx="1702198" cy="1267846"/>
          </a:xfrm>
        </p:grpSpPr>
        <p:pic>
          <p:nvPicPr>
            <p:cNvPr id="2" name="Picture 1">
              <a:extLst>
                <a:ext uri="{FF2B5EF4-FFF2-40B4-BE49-F238E27FC236}">
                  <a16:creationId xmlns:a16="http://schemas.microsoft.com/office/drawing/2014/main" id="{C9E53D46-D637-D748-8B82-91F41BEA6AF2}"/>
                </a:ext>
              </a:extLst>
            </p:cNvPr>
            <p:cNvPicPr>
              <a:picLocks noChangeAspect="1"/>
            </p:cNvPicPr>
            <p:nvPr/>
          </p:nvPicPr>
          <p:blipFill>
            <a:blip r:embed="rId3"/>
            <a:stretch>
              <a:fillRect/>
            </a:stretch>
          </p:blipFill>
          <p:spPr>
            <a:xfrm>
              <a:off x="7212435" y="1012720"/>
              <a:ext cx="381000" cy="371475"/>
            </a:xfrm>
            <a:prstGeom prst="rect">
              <a:avLst/>
            </a:prstGeom>
          </p:spPr>
        </p:pic>
        <p:pic>
          <p:nvPicPr>
            <p:cNvPr id="3" name="Picture 2">
              <a:extLst>
                <a:ext uri="{FF2B5EF4-FFF2-40B4-BE49-F238E27FC236}">
                  <a16:creationId xmlns:a16="http://schemas.microsoft.com/office/drawing/2014/main" id="{7A1B0710-5BC0-EDA5-5994-516CE3F6BB30}"/>
                </a:ext>
              </a:extLst>
            </p:cNvPr>
            <p:cNvPicPr>
              <a:picLocks noChangeAspect="1"/>
            </p:cNvPicPr>
            <p:nvPr/>
          </p:nvPicPr>
          <p:blipFill>
            <a:blip r:embed="rId4"/>
            <a:stretch>
              <a:fillRect/>
            </a:stretch>
          </p:blipFill>
          <p:spPr>
            <a:xfrm>
              <a:off x="6586217" y="1842416"/>
              <a:ext cx="314325" cy="438150"/>
            </a:xfrm>
            <a:prstGeom prst="rect">
              <a:avLst/>
            </a:prstGeom>
          </p:spPr>
        </p:pic>
        <p:pic>
          <p:nvPicPr>
            <p:cNvPr id="4" name="Picture 3">
              <a:extLst>
                <a:ext uri="{FF2B5EF4-FFF2-40B4-BE49-F238E27FC236}">
                  <a16:creationId xmlns:a16="http://schemas.microsoft.com/office/drawing/2014/main" id="{191AE561-B8FA-9CE5-A15D-D2608A82BBAF}"/>
                </a:ext>
              </a:extLst>
            </p:cNvPr>
            <p:cNvPicPr>
              <a:picLocks noChangeAspect="1"/>
            </p:cNvPicPr>
            <p:nvPr/>
          </p:nvPicPr>
          <p:blipFill>
            <a:blip r:embed="rId4"/>
            <a:stretch>
              <a:fillRect/>
            </a:stretch>
          </p:blipFill>
          <p:spPr>
            <a:xfrm>
              <a:off x="7245772" y="1842416"/>
              <a:ext cx="314325" cy="438150"/>
            </a:xfrm>
            <a:prstGeom prst="rect">
              <a:avLst/>
            </a:prstGeom>
          </p:spPr>
        </p:pic>
        <p:pic>
          <p:nvPicPr>
            <p:cNvPr id="5" name="Picture 4">
              <a:extLst>
                <a:ext uri="{FF2B5EF4-FFF2-40B4-BE49-F238E27FC236}">
                  <a16:creationId xmlns:a16="http://schemas.microsoft.com/office/drawing/2014/main" id="{199FB899-B28B-DA61-8833-96A25552CE52}"/>
                </a:ext>
              </a:extLst>
            </p:cNvPr>
            <p:cNvPicPr>
              <a:picLocks noChangeAspect="1"/>
            </p:cNvPicPr>
            <p:nvPr/>
          </p:nvPicPr>
          <p:blipFill>
            <a:blip r:embed="rId3"/>
            <a:stretch>
              <a:fillRect/>
            </a:stretch>
          </p:blipFill>
          <p:spPr>
            <a:xfrm>
              <a:off x="7907415" y="1875753"/>
              <a:ext cx="381000" cy="371475"/>
            </a:xfrm>
            <a:prstGeom prst="rect">
              <a:avLst/>
            </a:prstGeom>
          </p:spPr>
        </p:pic>
        <p:cxnSp>
          <p:nvCxnSpPr>
            <p:cNvPr id="6" name="Straight Connector 5">
              <a:extLst>
                <a:ext uri="{FF2B5EF4-FFF2-40B4-BE49-F238E27FC236}">
                  <a16:creationId xmlns:a16="http://schemas.microsoft.com/office/drawing/2014/main" id="{85F28152-5329-F56F-0179-B6C0326BCA53}"/>
                </a:ext>
              </a:extLst>
            </p:cNvPr>
            <p:cNvCxnSpPr>
              <a:cxnSpLocks/>
              <a:stCxn id="2" idx="2"/>
              <a:endCxn id="4" idx="0"/>
            </p:cNvCxnSpPr>
            <p:nvPr/>
          </p:nvCxnSpPr>
          <p:spPr>
            <a:xfrm>
              <a:off x="7402935" y="1384195"/>
              <a:ext cx="0" cy="458221"/>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AD38405-737F-0569-C1BA-AD08DA881EA2}"/>
                </a:ext>
              </a:extLst>
            </p:cNvPr>
            <p:cNvCxnSpPr/>
            <p:nvPr/>
          </p:nvCxnSpPr>
          <p:spPr>
            <a:xfrm>
              <a:off x="6743379" y="1613305"/>
              <a:ext cx="13545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F74CBF9-C51D-EBEA-5284-920522A98C9D}"/>
                </a:ext>
              </a:extLst>
            </p:cNvPr>
            <p:cNvCxnSpPr>
              <a:cxnSpLocks/>
              <a:endCxn id="5" idx="0"/>
            </p:cNvCxnSpPr>
            <p:nvPr/>
          </p:nvCxnSpPr>
          <p:spPr>
            <a:xfrm>
              <a:off x="8097915" y="1613305"/>
              <a:ext cx="0" cy="26244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EF4709D-1291-23C6-8696-98219349428C}"/>
                </a:ext>
              </a:extLst>
            </p:cNvPr>
            <p:cNvCxnSpPr>
              <a:cxnSpLocks/>
              <a:endCxn id="3" idx="0"/>
            </p:cNvCxnSpPr>
            <p:nvPr/>
          </p:nvCxnSpPr>
          <p:spPr>
            <a:xfrm>
              <a:off x="6743379" y="1613305"/>
              <a:ext cx="1" cy="229111"/>
            </a:xfrm>
            <a:prstGeom prst="line">
              <a:avLst/>
            </a:prstGeom>
          </p:spPr>
          <p:style>
            <a:lnRef idx="1">
              <a:schemeClr val="accent1"/>
            </a:lnRef>
            <a:fillRef idx="0">
              <a:schemeClr val="accent1"/>
            </a:fillRef>
            <a:effectRef idx="0">
              <a:schemeClr val="accent1"/>
            </a:effectRef>
            <a:fontRef idx="minor">
              <a:schemeClr val="tx1"/>
            </a:fontRef>
          </p:style>
        </p:cxnSp>
      </p:grpSp>
      <p:sp>
        <p:nvSpPr>
          <p:cNvPr id="12" name="Szöveg helye 11">
            <a:extLst>
              <a:ext uri="{FF2B5EF4-FFF2-40B4-BE49-F238E27FC236}">
                <a16:creationId xmlns:a16="http://schemas.microsoft.com/office/drawing/2014/main" id="{0ABAD1F2-F52D-8198-6DEF-7B4F05B4DF29}"/>
              </a:ext>
            </a:extLst>
          </p:cNvPr>
          <p:cNvSpPr>
            <a:spLocks noGrp="1"/>
          </p:cNvSpPr>
          <p:nvPr>
            <p:ph type="body" idx="16"/>
          </p:nvPr>
        </p:nvSpPr>
        <p:spPr/>
        <p:txBody>
          <a:bodyPr/>
          <a:lstStyle/>
          <a:p>
            <a:r>
              <a:rPr lang="hu" dirty="0"/>
              <a:t>Management groups</a:t>
            </a:r>
            <a:endParaRPr lang="en-GB" dirty="0"/>
          </a:p>
        </p:txBody>
      </p:sp>
      <p:sp>
        <p:nvSpPr>
          <p:cNvPr id="13" name="Google Shape;199;p29">
            <a:extLst>
              <a:ext uri="{FF2B5EF4-FFF2-40B4-BE49-F238E27FC236}">
                <a16:creationId xmlns:a16="http://schemas.microsoft.com/office/drawing/2014/main" id="{7F7844C5-8FBF-54B5-B513-577BC96EE122}"/>
              </a:ext>
            </a:extLst>
          </p:cNvPr>
          <p:cNvSpPr txBox="1">
            <a:spLocks/>
          </p:cNvSpPr>
          <p:nvPr/>
        </p:nvSpPr>
        <p:spPr>
          <a:xfrm>
            <a:off x="89503" y="808117"/>
            <a:ext cx="6580537" cy="4977999"/>
          </a:xfrm>
          <a:prstGeom prst="rect">
            <a:avLst/>
          </a:prstGeom>
        </p:spPr>
        <p:txBody>
          <a:bodyPr spcFirstLastPara="1" wrap="square" lIns="68575" tIns="34275" rIns="68575" bIns="34275"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0650" indent="0">
              <a:spcBef>
                <a:spcPts val="300"/>
              </a:spcBef>
              <a:buSzPts val="1700"/>
              <a:buNone/>
            </a:pPr>
            <a:r>
              <a:rPr lang="en-GB" sz="1800" dirty="0"/>
              <a:t>Organize and manage subscriptions by logically grouping them into management groups.</a:t>
            </a:r>
          </a:p>
          <a:p>
            <a:pPr lvl="1" indent="-336550">
              <a:buSzPts val="1700"/>
              <a:buFont typeface="Arial" panose="020B0604020202020204" pitchFamily="34" charset="0"/>
              <a:buChar char="▪"/>
            </a:pPr>
            <a:r>
              <a:rPr lang="en-GB" sz="1600" dirty="0"/>
              <a:t>Organizational </a:t>
            </a:r>
            <a:r>
              <a:rPr lang="en-GB" sz="1600" dirty="0" err="1"/>
              <a:t>hirerachy</a:t>
            </a:r>
            <a:endParaRPr lang="en-GB" sz="1600" dirty="0"/>
          </a:p>
          <a:p>
            <a:pPr lvl="1" indent="-336550">
              <a:buSzPts val="1700"/>
              <a:buFont typeface="Arial" panose="020B0604020202020204" pitchFamily="34" charset="0"/>
              <a:buChar char="▪"/>
            </a:pPr>
            <a:r>
              <a:rPr lang="en-GB" sz="1600" dirty="0"/>
              <a:t>Another scope for enforcing governance and compliance</a:t>
            </a:r>
            <a:endParaRPr lang="hu-HU" sz="1600" dirty="0"/>
          </a:p>
          <a:p>
            <a:pPr lvl="1" indent="-336550">
              <a:buSzPts val="1700"/>
              <a:buFont typeface="Arial" panose="020B0604020202020204" pitchFamily="34" charset="0"/>
              <a:buChar char="▪"/>
            </a:pPr>
            <a:endParaRPr lang="en-GB" sz="1600" dirty="0"/>
          </a:p>
          <a:p>
            <a:pPr marL="0" indent="0">
              <a:buNone/>
            </a:pPr>
            <a:r>
              <a:rPr lang="en-GB" sz="1800" dirty="0"/>
              <a:t>Parent-child relationship: </a:t>
            </a:r>
          </a:p>
          <a:p>
            <a:pPr lvl="1"/>
            <a:r>
              <a:rPr lang="en-GB" sz="1600" dirty="0"/>
              <a:t>Root </a:t>
            </a:r>
            <a:r>
              <a:rPr lang="en-GB" sz="1600" dirty="0" err="1"/>
              <a:t>mgmt</a:t>
            </a:r>
            <a:r>
              <a:rPr lang="en-GB" sz="1600" dirty="0"/>
              <a:t> group is the top level</a:t>
            </a:r>
          </a:p>
          <a:p>
            <a:pPr lvl="1"/>
            <a:r>
              <a:rPr lang="en-GB" sz="1600" dirty="0" err="1"/>
              <a:t>Mgmg</a:t>
            </a:r>
            <a:r>
              <a:rPr lang="en-GB" sz="1600" dirty="0"/>
              <a:t> groups and subscriptions can have a single parent</a:t>
            </a:r>
          </a:p>
          <a:p>
            <a:pPr lvl="1"/>
            <a:r>
              <a:rPr lang="en-GB" sz="1600" dirty="0"/>
              <a:t>Supports six level of hierarchy</a:t>
            </a:r>
            <a:endParaRPr lang="hu-HU" sz="1600" dirty="0"/>
          </a:p>
          <a:p>
            <a:pPr lvl="1"/>
            <a:endParaRPr lang="en-GB" sz="1600" dirty="0"/>
          </a:p>
          <a:p>
            <a:pPr marL="0" indent="0">
              <a:buNone/>
            </a:pPr>
            <a:r>
              <a:rPr lang="en-GB" sz="1800" dirty="0"/>
              <a:t>Compliance support:</a:t>
            </a:r>
          </a:p>
          <a:p>
            <a:pPr lvl="1"/>
            <a:r>
              <a:rPr lang="en-GB" sz="1600" dirty="0"/>
              <a:t>Azure Policies</a:t>
            </a:r>
          </a:p>
          <a:p>
            <a:pPr lvl="1"/>
            <a:r>
              <a:rPr lang="en-GB" sz="1600" dirty="0"/>
              <a:t>Azure role-based access control (RBAC)</a:t>
            </a:r>
          </a:p>
          <a:p>
            <a:pPr marL="457200" indent="0">
              <a:spcBef>
                <a:spcPts val="300"/>
              </a:spcBef>
              <a:buFont typeface="Arial" panose="020B0604020202020204" pitchFamily="34" charset="0"/>
              <a:buNone/>
            </a:pPr>
            <a:endParaRPr lang="en-GB" sz="1800" dirty="0"/>
          </a:p>
        </p:txBody>
      </p:sp>
    </p:spTree>
    <p:extLst>
      <p:ext uri="{BB962C8B-B14F-4D97-AF65-F5344CB8AC3E}">
        <p14:creationId xmlns:p14="http://schemas.microsoft.com/office/powerpoint/2010/main" val="3947291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Szöveg helye 1">
            <a:extLst>
              <a:ext uri="{FF2B5EF4-FFF2-40B4-BE49-F238E27FC236}">
                <a16:creationId xmlns:a16="http://schemas.microsoft.com/office/drawing/2014/main" id="{4E4B7376-B168-C38D-C11B-602A05A5149E}"/>
              </a:ext>
            </a:extLst>
          </p:cNvPr>
          <p:cNvSpPr>
            <a:spLocks noGrp="1"/>
          </p:cNvSpPr>
          <p:nvPr>
            <p:ph type="body" idx="20"/>
          </p:nvPr>
        </p:nvSpPr>
        <p:spPr/>
        <p:txBody>
          <a:bodyPr/>
          <a:lstStyle/>
          <a:p>
            <a:endParaRPr lang="en-GB"/>
          </a:p>
        </p:txBody>
      </p:sp>
      <p:grpSp>
        <p:nvGrpSpPr>
          <p:cNvPr id="2072" name="Group 2071">
            <a:extLst>
              <a:ext uri="{FF2B5EF4-FFF2-40B4-BE49-F238E27FC236}">
                <a16:creationId xmlns:a16="http://schemas.microsoft.com/office/drawing/2014/main" id="{C305808F-B2BB-2365-63D2-ED6C32652EB6}"/>
              </a:ext>
            </a:extLst>
          </p:cNvPr>
          <p:cNvGrpSpPr/>
          <p:nvPr/>
        </p:nvGrpSpPr>
        <p:grpSpPr>
          <a:xfrm>
            <a:off x="8470310" y="865458"/>
            <a:ext cx="2949151" cy="3135617"/>
            <a:chOff x="532456" y="669310"/>
            <a:chExt cx="2211863" cy="2351713"/>
          </a:xfrm>
        </p:grpSpPr>
        <p:pic>
          <p:nvPicPr>
            <p:cNvPr id="10" name="Picture 9">
              <a:extLst>
                <a:ext uri="{FF2B5EF4-FFF2-40B4-BE49-F238E27FC236}">
                  <a16:creationId xmlns:a16="http://schemas.microsoft.com/office/drawing/2014/main" id="{3BC0071E-0F8D-DA6A-DAA0-802051C06E12}"/>
                </a:ext>
              </a:extLst>
            </p:cNvPr>
            <p:cNvPicPr>
              <a:picLocks noChangeAspect="1"/>
            </p:cNvPicPr>
            <p:nvPr/>
          </p:nvPicPr>
          <p:blipFill>
            <a:blip r:embed="rId3"/>
            <a:stretch>
              <a:fillRect/>
            </a:stretch>
          </p:blipFill>
          <p:spPr>
            <a:xfrm>
              <a:off x="1405610" y="898420"/>
              <a:ext cx="381000" cy="371475"/>
            </a:xfrm>
            <a:prstGeom prst="rect">
              <a:avLst/>
            </a:prstGeom>
          </p:spPr>
        </p:pic>
        <p:pic>
          <p:nvPicPr>
            <p:cNvPr id="11" name="Picture 10">
              <a:extLst>
                <a:ext uri="{FF2B5EF4-FFF2-40B4-BE49-F238E27FC236}">
                  <a16:creationId xmlns:a16="http://schemas.microsoft.com/office/drawing/2014/main" id="{081B8642-8819-B693-BD61-FBD1647D34B9}"/>
                </a:ext>
              </a:extLst>
            </p:cNvPr>
            <p:cNvPicPr>
              <a:picLocks noChangeAspect="1"/>
            </p:cNvPicPr>
            <p:nvPr/>
          </p:nvPicPr>
          <p:blipFill>
            <a:blip r:embed="rId4"/>
            <a:stretch>
              <a:fillRect/>
            </a:stretch>
          </p:blipFill>
          <p:spPr>
            <a:xfrm>
              <a:off x="804378" y="1733753"/>
              <a:ext cx="314325" cy="438150"/>
            </a:xfrm>
            <a:prstGeom prst="rect">
              <a:avLst/>
            </a:prstGeom>
          </p:spPr>
        </p:pic>
        <p:pic>
          <p:nvPicPr>
            <p:cNvPr id="12" name="Picture 11">
              <a:extLst>
                <a:ext uri="{FF2B5EF4-FFF2-40B4-BE49-F238E27FC236}">
                  <a16:creationId xmlns:a16="http://schemas.microsoft.com/office/drawing/2014/main" id="{C04E1CE6-E6AC-B1FE-C8E0-359E8DEF4B02}"/>
                </a:ext>
              </a:extLst>
            </p:cNvPr>
            <p:cNvPicPr>
              <a:picLocks noChangeAspect="1"/>
            </p:cNvPicPr>
            <p:nvPr/>
          </p:nvPicPr>
          <p:blipFill>
            <a:blip r:embed="rId3"/>
            <a:stretch>
              <a:fillRect/>
            </a:stretch>
          </p:blipFill>
          <p:spPr>
            <a:xfrm>
              <a:off x="2116215" y="1761453"/>
              <a:ext cx="381000" cy="371475"/>
            </a:xfrm>
            <a:prstGeom prst="rect">
              <a:avLst/>
            </a:prstGeom>
          </p:spPr>
        </p:pic>
        <p:cxnSp>
          <p:nvCxnSpPr>
            <p:cNvPr id="13" name="Straight Connector 12">
              <a:extLst>
                <a:ext uri="{FF2B5EF4-FFF2-40B4-BE49-F238E27FC236}">
                  <a16:creationId xmlns:a16="http://schemas.microsoft.com/office/drawing/2014/main" id="{2B0AF23D-62A4-CDAB-1738-6A0773DA51BC}"/>
                </a:ext>
              </a:extLst>
            </p:cNvPr>
            <p:cNvCxnSpPr>
              <a:cxnSpLocks/>
            </p:cNvCxnSpPr>
            <p:nvPr/>
          </p:nvCxnSpPr>
          <p:spPr>
            <a:xfrm>
              <a:off x="1591740" y="1306090"/>
              <a:ext cx="0" cy="2893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9EACD31-B23C-A7C4-421E-CE56764CB7AD}"/>
                </a:ext>
              </a:extLst>
            </p:cNvPr>
            <p:cNvCxnSpPr/>
            <p:nvPr/>
          </p:nvCxnSpPr>
          <p:spPr>
            <a:xfrm>
              <a:off x="952179" y="1499005"/>
              <a:ext cx="13545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2416DEF-8E8B-81D7-46CE-10B29658E941}"/>
                </a:ext>
              </a:extLst>
            </p:cNvPr>
            <p:cNvCxnSpPr>
              <a:cxnSpLocks/>
            </p:cNvCxnSpPr>
            <p:nvPr/>
          </p:nvCxnSpPr>
          <p:spPr>
            <a:xfrm>
              <a:off x="2306715" y="1499005"/>
              <a:ext cx="0" cy="114555"/>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297F014-B2C3-C5B4-38D2-BA8B3ED3B150}"/>
                </a:ext>
              </a:extLst>
            </p:cNvPr>
            <p:cNvCxnSpPr>
              <a:cxnSpLocks/>
            </p:cNvCxnSpPr>
            <p:nvPr/>
          </p:nvCxnSpPr>
          <p:spPr>
            <a:xfrm>
              <a:off x="952178" y="1496915"/>
              <a:ext cx="0" cy="116645"/>
            </a:xfrm>
            <a:prstGeom prst="line">
              <a:avLst/>
            </a:prstGeom>
          </p:spPr>
          <p:style>
            <a:lnRef idx="1">
              <a:schemeClr val="accent1"/>
            </a:lnRef>
            <a:fillRef idx="0">
              <a:schemeClr val="accent1"/>
            </a:fillRef>
            <a:effectRef idx="0">
              <a:schemeClr val="accent1"/>
            </a:effectRef>
            <a:fontRef idx="minor">
              <a:schemeClr val="tx1"/>
            </a:fontRef>
          </p:style>
        </p:cxnSp>
        <p:pic>
          <p:nvPicPr>
            <p:cNvPr id="2049" name="Picture 2048">
              <a:extLst>
                <a:ext uri="{FF2B5EF4-FFF2-40B4-BE49-F238E27FC236}">
                  <a16:creationId xmlns:a16="http://schemas.microsoft.com/office/drawing/2014/main" id="{DF24D606-AECF-DE63-2811-51A6F459B3E7}"/>
                </a:ext>
              </a:extLst>
            </p:cNvPr>
            <p:cNvPicPr>
              <a:picLocks noChangeAspect="1"/>
            </p:cNvPicPr>
            <p:nvPr/>
          </p:nvPicPr>
          <p:blipFill>
            <a:blip r:embed="rId3"/>
            <a:stretch>
              <a:fillRect/>
            </a:stretch>
          </p:blipFill>
          <p:spPr>
            <a:xfrm>
              <a:off x="1416823" y="1766587"/>
              <a:ext cx="381000" cy="371475"/>
            </a:xfrm>
            <a:prstGeom prst="rect">
              <a:avLst/>
            </a:prstGeom>
          </p:spPr>
        </p:pic>
        <p:sp>
          <p:nvSpPr>
            <p:cNvPr id="2051" name="TextBox 2050">
              <a:extLst>
                <a:ext uri="{FF2B5EF4-FFF2-40B4-BE49-F238E27FC236}">
                  <a16:creationId xmlns:a16="http://schemas.microsoft.com/office/drawing/2014/main" id="{A3F3B095-798F-E3A5-2149-C79ECD527050}"/>
                </a:ext>
              </a:extLst>
            </p:cNvPr>
            <p:cNvSpPr txBox="1"/>
            <p:nvPr/>
          </p:nvSpPr>
          <p:spPr>
            <a:xfrm>
              <a:off x="1296390" y="669310"/>
              <a:ext cx="599440" cy="238575"/>
            </a:xfrm>
            <a:prstGeom prst="rect">
              <a:avLst/>
            </a:prstGeom>
            <a:noFill/>
          </p:spPr>
          <p:txBody>
            <a:bodyPr wrap="square" rtlCol="0">
              <a:spAutoFit/>
            </a:bodyPr>
            <a:lstStyle/>
            <a:p>
              <a:pPr algn="ctr"/>
              <a:r>
                <a:rPr lang="hu-HU" sz="1467" dirty="0" err="1"/>
                <a:t>Root</a:t>
              </a:r>
              <a:endParaRPr lang="en-US" sz="1467" dirty="0"/>
            </a:p>
          </p:txBody>
        </p:sp>
        <p:sp>
          <p:nvSpPr>
            <p:cNvPr id="2052" name="TextBox 2051">
              <a:extLst>
                <a:ext uri="{FF2B5EF4-FFF2-40B4-BE49-F238E27FC236}">
                  <a16:creationId xmlns:a16="http://schemas.microsoft.com/office/drawing/2014/main" id="{8E20C2E6-4F4F-735A-1BCD-FA951812A586}"/>
                </a:ext>
              </a:extLst>
            </p:cNvPr>
            <p:cNvSpPr txBox="1"/>
            <p:nvPr/>
          </p:nvSpPr>
          <p:spPr>
            <a:xfrm>
              <a:off x="1167026" y="1559269"/>
              <a:ext cx="858168" cy="238575"/>
            </a:xfrm>
            <a:prstGeom prst="rect">
              <a:avLst/>
            </a:prstGeom>
            <a:noFill/>
          </p:spPr>
          <p:txBody>
            <a:bodyPr wrap="square" rtlCol="0">
              <a:spAutoFit/>
            </a:bodyPr>
            <a:lstStyle/>
            <a:p>
              <a:pPr algn="ctr"/>
              <a:r>
                <a:rPr lang="hu-HU" sz="1467" dirty="0"/>
                <a:t>Marketing</a:t>
              </a:r>
              <a:endParaRPr lang="en-US" sz="1467" dirty="0"/>
            </a:p>
          </p:txBody>
        </p:sp>
        <p:sp>
          <p:nvSpPr>
            <p:cNvPr id="2054" name="TextBox 2053">
              <a:extLst>
                <a:ext uri="{FF2B5EF4-FFF2-40B4-BE49-F238E27FC236}">
                  <a16:creationId xmlns:a16="http://schemas.microsoft.com/office/drawing/2014/main" id="{596876DB-1D3A-E141-B1A8-F563EB193E13}"/>
                </a:ext>
              </a:extLst>
            </p:cNvPr>
            <p:cNvSpPr txBox="1"/>
            <p:nvPr/>
          </p:nvSpPr>
          <p:spPr>
            <a:xfrm>
              <a:off x="1877631" y="1559269"/>
              <a:ext cx="858168" cy="238575"/>
            </a:xfrm>
            <a:prstGeom prst="rect">
              <a:avLst/>
            </a:prstGeom>
            <a:noFill/>
          </p:spPr>
          <p:txBody>
            <a:bodyPr wrap="square" rtlCol="0">
              <a:spAutoFit/>
            </a:bodyPr>
            <a:lstStyle/>
            <a:p>
              <a:pPr algn="ctr"/>
              <a:r>
                <a:rPr lang="hu-HU" sz="1467" dirty="0"/>
                <a:t>IT</a:t>
              </a:r>
              <a:endParaRPr lang="en-US" sz="1467" dirty="0"/>
            </a:p>
          </p:txBody>
        </p:sp>
        <p:grpSp>
          <p:nvGrpSpPr>
            <p:cNvPr id="2057" name="Group 2056">
              <a:extLst>
                <a:ext uri="{FF2B5EF4-FFF2-40B4-BE49-F238E27FC236}">
                  <a16:creationId xmlns:a16="http://schemas.microsoft.com/office/drawing/2014/main" id="{870EB906-1470-2521-FF5C-C895FDD55EE6}"/>
                </a:ext>
              </a:extLst>
            </p:cNvPr>
            <p:cNvGrpSpPr/>
            <p:nvPr/>
          </p:nvGrpSpPr>
          <p:grpSpPr>
            <a:xfrm>
              <a:off x="915843" y="2389744"/>
              <a:ext cx="858168" cy="630348"/>
              <a:chOff x="859175" y="2322115"/>
              <a:chExt cx="858168" cy="630348"/>
            </a:xfrm>
          </p:grpSpPr>
          <p:pic>
            <p:nvPicPr>
              <p:cNvPr id="2058" name="Picture 2057">
                <a:extLst>
                  <a:ext uri="{FF2B5EF4-FFF2-40B4-BE49-F238E27FC236}">
                    <a16:creationId xmlns:a16="http://schemas.microsoft.com/office/drawing/2014/main" id="{A6174404-09CB-9FBD-23BC-D9DC40121E8A}"/>
                  </a:ext>
                </a:extLst>
              </p:cNvPr>
              <p:cNvPicPr>
                <a:picLocks noChangeAspect="1"/>
              </p:cNvPicPr>
              <p:nvPr/>
            </p:nvPicPr>
            <p:blipFill>
              <a:blip r:embed="rId4"/>
              <a:stretch>
                <a:fillRect/>
              </a:stretch>
            </p:blipFill>
            <p:spPr>
              <a:xfrm>
                <a:off x="1131097" y="2514313"/>
                <a:ext cx="314325" cy="438150"/>
              </a:xfrm>
              <a:prstGeom prst="rect">
                <a:avLst/>
              </a:prstGeom>
            </p:spPr>
          </p:pic>
          <p:sp>
            <p:nvSpPr>
              <p:cNvPr id="2059" name="TextBox 2058">
                <a:extLst>
                  <a:ext uri="{FF2B5EF4-FFF2-40B4-BE49-F238E27FC236}">
                    <a16:creationId xmlns:a16="http://schemas.microsoft.com/office/drawing/2014/main" id="{8A13DBC1-6D11-90AE-3B11-28A1D4A7E37A}"/>
                  </a:ext>
                </a:extLst>
              </p:cNvPr>
              <p:cNvSpPr txBox="1"/>
              <p:nvPr/>
            </p:nvSpPr>
            <p:spPr>
              <a:xfrm>
                <a:off x="859175" y="2322115"/>
                <a:ext cx="858168" cy="238575"/>
              </a:xfrm>
              <a:prstGeom prst="rect">
                <a:avLst/>
              </a:prstGeom>
              <a:noFill/>
            </p:spPr>
            <p:txBody>
              <a:bodyPr wrap="square" rtlCol="0">
                <a:spAutoFit/>
              </a:bodyPr>
              <a:lstStyle/>
              <a:p>
                <a:pPr algn="ctr"/>
                <a:r>
                  <a:rPr lang="hu-HU" sz="1467" dirty="0" err="1"/>
                  <a:t>Trial</a:t>
                </a:r>
                <a:endParaRPr lang="en-US" sz="1467" dirty="0"/>
              </a:p>
            </p:txBody>
          </p:sp>
        </p:grpSp>
        <p:grpSp>
          <p:nvGrpSpPr>
            <p:cNvPr id="2060" name="Group 2059">
              <a:extLst>
                <a:ext uri="{FF2B5EF4-FFF2-40B4-BE49-F238E27FC236}">
                  <a16:creationId xmlns:a16="http://schemas.microsoft.com/office/drawing/2014/main" id="{511166E8-B086-148F-9F29-30A1A172A0E7}"/>
                </a:ext>
              </a:extLst>
            </p:cNvPr>
            <p:cNvGrpSpPr/>
            <p:nvPr/>
          </p:nvGrpSpPr>
          <p:grpSpPr>
            <a:xfrm>
              <a:off x="1392483" y="2390675"/>
              <a:ext cx="858168" cy="630348"/>
              <a:chOff x="859175" y="2322115"/>
              <a:chExt cx="858168" cy="630348"/>
            </a:xfrm>
          </p:grpSpPr>
          <p:pic>
            <p:nvPicPr>
              <p:cNvPr id="2061" name="Picture 2060">
                <a:extLst>
                  <a:ext uri="{FF2B5EF4-FFF2-40B4-BE49-F238E27FC236}">
                    <a16:creationId xmlns:a16="http://schemas.microsoft.com/office/drawing/2014/main" id="{3ACA0F63-5344-6386-5CF4-FD4F37E049C3}"/>
                  </a:ext>
                </a:extLst>
              </p:cNvPr>
              <p:cNvPicPr>
                <a:picLocks noChangeAspect="1"/>
              </p:cNvPicPr>
              <p:nvPr/>
            </p:nvPicPr>
            <p:blipFill>
              <a:blip r:embed="rId4"/>
              <a:stretch>
                <a:fillRect/>
              </a:stretch>
            </p:blipFill>
            <p:spPr>
              <a:xfrm>
                <a:off x="1131097" y="2514313"/>
                <a:ext cx="314325" cy="438150"/>
              </a:xfrm>
              <a:prstGeom prst="rect">
                <a:avLst/>
              </a:prstGeom>
            </p:spPr>
          </p:pic>
          <p:sp>
            <p:nvSpPr>
              <p:cNvPr id="2062" name="TextBox 2061">
                <a:extLst>
                  <a:ext uri="{FF2B5EF4-FFF2-40B4-BE49-F238E27FC236}">
                    <a16:creationId xmlns:a16="http://schemas.microsoft.com/office/drawing/2014/main" id="{8A5632A4-85A4-2CAA-5582-D03ED9BFCFAE}"/>
                  </a:ext>
                </a:extLst>
              </p:cNvPr>
              <p:cNvSpPr txBox="1"/>
              <p:nvPr/>
            </p:nvSpPr>
            <p:spPr>
              <a:xfrm>
                <a:off x="859175" y="2322115"/>
                <a:ext cx="858168" cy="238575"/>
              </a:xfrm>
              <a:prstGeom prst="rect">
                <a:avLst/>
              </a:prstGeom>
              <a:noFill/>
            </p:spPr>
            <p:txBody>
              <a:bodyPr wrap="square" rtlCol="0">
                <a:spAutoFit/>
              </a:bodyPr>
              <a:lstStyle/>
              <a:p>
                <a:pPr algn="ctr"/>
                <a:r>
                  <a:rPr lang="hu-HU" sz="1467" dirty="0" err="1"/>
                  <a:t>Trial</a:t>
                </a:r>
                <a:endParaRPr lang="en-US" sz="1467" dirty="0"/>
              </a:p>
            </p:txBody>
          </p:sp>
        </p:grpSp>
        <p:cxnSp>
          <p:nvCxnSpPr>
            <p:cNvPr id="2063" name="Straight Connector 2062">
              <a:extLst>
                <a:ext uri="{FF2B5EF4-FFF2-40B4-BE49-F238E27FC236}">
                  <a16:creationId xmlns:a16="http://schemas.microsoft.com/office/drawing/2014/main" id="{54FBFB5D-6319-A8C0-18D0-8B33D70494E6}"/>
                </a:ext>
              </a:extLst>
            </p:cNvPr>
            <p:cNvCxnSpPr>
              <a:cxnSpLocks/>
            </p:cNvCxnSpPr>
            <p:nvPr/>
          </p:nvCxnSpPr>
          <p:spPr>
            <a:xfrm>
              <a:off x="1592020" y="2163546"/>
              <a:ext cx="0" cy="1384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4" name="Straight Connector 2063">
              <a:extLst>
                <a:ext uri="{FF2B5EF4-FFF2-40B4-BE49-F238E27FC236}">
                  <a16:creationId xmlns:a16="http://schemas.microsoft.com/office/drawing/2014/main" id="{59D5D207-4103-3D5C-1675-BD1AAE473E87}"/>
                </a:ext>
              </a:extLst>
            </p:cNvPr>
            <p:cNvCxnSpPr>
              <a:cxnSpLocks/>
            </p:cNvCxnSpPr>
            <p:nvPr/>
          </p:nvCxnSpPr>
          <p:spPr>
            <a:xfrm>
              <a:off x="1353820" y="2299446"/>
              <a:ext cx="4724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5" name="Straight Connector 2064">
              <a:extLst>
                <a:ext uri="{FF2B5EF4-FFF2-40B4-BE49-F238E27FC236}">
                  <a16:creationId xmlns:a16="http://schemas.microsoft.com/office/drawing/2014/main" id="{59E1EAF0-761F-6185-A882-CEC2139EDAD5}"/>
                </a:ext>
              </a:extLst>
            </p:cNvPr>
            <p:cNvCxnSpPr>
              <a:cxnSpLocks/>
            </p:cNvCxnSpPr>
            <p:nvPr/>
          </p:nvCxnSpPr>
          <p:spPr>
            <a:xfrm>
              <a:off x="1353820" y="2294405"/>
              <a:ext cx="0" cy="138440"/>
            </a:xfrm>
            <a:prstGeom prst="line">
              <a:avLst/>
            </a:prstGeom>
          </p:spPr>
          <p:style>
            <a:lnRef idx="1">
              <a:schemeClr val="accent1"/>
            </a:lnRef>
            <a:fillRef idx="0">
              <a:schemeClr val="accent1"/>
            </a:fillRef>
            <a:effectRef idx="0">
              <a:schemeClr val="accent1"/>
            </a:effectRef>
            <a:fontRef idx="minor">
              <a:schemeClr val="tx1"/>
            </a:fontRef>
          </p:style>
        </p:cxnSp>
        <p:sp>
          <p:nvSpPr>
            <p:cNvPr id="2066" name="TextBox 2065">
              <a:extLst>
                <a:ext uri="{FF2B5EF4-FFF2-40B4-BE49-F238E27FC236}">
                  <a16:creationId xmlns:a16="http://schemas.microsoft.com/office/drawing/2014/main" id="{D08BA863-09E1-689E-A57B-8F73A472A22D}"/>
                </a:ext>
              </a:extLst>
            </p:cNvPr>
            <p:cNvSpPr txBox="1"/>
            <p:nvPr/>
          </p:nvSpPr>
          <p:spPr>
            <a:xfrm>
              <a:off x="532456" y="1565612"/>
              <a:ext cx="858168" cy="238575"/>
            </a:xfrm>
            <a:prstGeom prst="rect">
              <a:avLst/>
            </a:prstGeom>
            <a:noFill/>
          </p:spPr>
          <p:txBody>
            <a:bodyPr wrap="square" rtlCol="0">
              <a:spAutoFit/>
            </a:bodyPr>
            <a:lstStyle/>
            <a:p>
              <a:pPr algn="ctr"/>
              <a:r>
                <a:rPr lang="hu-HU" sz="1467" dirty="0"/>
                <a:t>EA</a:t>
              </a:r>
              <a:endParaRPr lang="en-US" sz="1467" dirty="0"/>
            </a:p>
          </p:txBody>
        </p:sp>
        <p:cxnSp>
          <p:nvCxnSpPr>
            <p:cNvPr id="2067" name="Straight Connector 2066">
              <a:extLst>
                <a:ext uri="{FF2B5EF4-FFF2-40B4-BE49-F238E27FC236}">
                  <a16:creationId xmlns:a16="http://schemas.microsoft.com/office/drawing/2014/main" id="{17DE8C6B-811B-4D40-24E9-EA34C1846EF7}"/>
                </a:ext>
              </a:extLst>
            </p:cNvPr>
            <p:cNvCxnSpPr>
              <a:cxnSpLocks/>
            </p:cNvCxnSpPr>
            <p:nvPr/>
          </p:nvCxnSpPr>
          <p:spPr>
            <a:xfrm>
              <a:off x="2300460" y="2126352"/>
              <a:ext cx="0" cy="32656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8" name="Straight Connector 2067">
              <a:extLst>
                <a:ext uri="{FF2B5EF4-FFF2-40B4-BE49-F238E27FC236}">
                  <a16:creationId xmlns:a16="http://schemas.microsoft.com/office/drawing/2014/main" id="{10615A34-30AD-790C-2E1D-6F9B285A6D4B}"/>
                </a:ext>
              </a:extLst>
            </p:cNvPr>
            <p:cNvCxnSpPr>
              <a:cxnSpLocks/>
            </p:cNvCxnSpPr>
            <p:nvPr/>
          </p:nvCxnSpPr>
          <p:spPr>
            <a:xfrm>
              <a:off x="1823720" y="2296906"/>
              <a:ext cx="0" cy="138440"/>
            </a:xfrm>
            <a:prstGeom prst="line">
              <a:avLst/>
            </a:prstGeom>
          </p:spPr>
          <p:style>
            <a:lnRef idx="1">
              <a:schemeClr val="accent1"/>
            </a:lnRef>
            <a:fillRef idx="0">
              <a:schemeClr val="accent1"/>
            </a:fillRef>
            <a:effectRef idx="0">
              <a:schemeClr val="accent1"/>
            </a:effectRef>
            <a:fontRef idx="minor">
              <a:schemeClr val="tx1"/>
            </a:fontRef>
          </p:style>
        </p:cxnSp>
        <p:grpSp>
          <p:nvGrpSpPr>
            <p:cNvPr id="2069" name="Group 2068">
              <a:extLst>
                <a:ext uri="{FF2B5EF4-FFF2-40B4-BE49-F238E27FC236}">
                  <a16:creationId xmlns:a16="http://schemas.microsoft.com/office/drawing/2014/main" id="{F49B33A0-839C-E276-5326-73B13094BBBB}"/>
                </a:ext>
              </a:extLst>
            </p:cNvPr>
            <p:cNvGrpSpPr/>
            <p:nvPr/>
          </p:nvGrpSpPr>
          <p:grpSpPr>
            <a:xfrm>
              <a:off x="1886151" y="2424864"/>
              <a:ext cx="858168" cy="571605"/>
              <a:chOff x="1892347" y="2433537"/>
              <a:chExt cx="858168" cy="571605"/>
            </a:xfrm>
          </p:grpSpPr>
          <p:pic>
            <p:nvPicPr>
              <p:cNvPr id="2070" name="Picture 2069">
                <a:extLst>
                  <a:ext uri="{FF2B5EF4-FFF2-40B4-BE49-F238E27FC236}">
                    <a16:creationId xmlns:a16="http://schemas.microsoft.com/office/drawing/2014/main" id="{F40E9834-805B-22D8-DD8D-7FD645A30165}"/>
                  </a:ext>
                </a:extLst>
              </p:cNvPr>
              <p:cNvPicPr>
                <a:picLocks noChangeAspect="1"/>
              </p:cNvPicPr>
              <p:nvPr/>
            </p:nvPicPr>
            <p:blipFill>
              <a:blip r:embed="rId3"/>
              <a:stretch>
                <a:fillRect/>
              </a:stretch>
            </p:blipFill>
            <p:spPr>
              <a:xfrm>
                <a:off x="2130931" y="2633667"/>
                <a:ext cx="381000" cy="371475"/>
              </a:xfrm>
              <a:prstGeom prst="rect">
                <a:avLst/>
              </a:prstGeom>
            </p:spPr>
          </p:pic>
          <p:sp>
            <p:nvSpPr>
              <p:cNvPr id="2071" name="TextBox 2070">
                <a:extLst>
                  <a:ext uri="{FF2B5EF4-FFF2-40B4-BE49-F238E27FC236}">
                    <a16:creationId xmlns:a16="http://schemas.microsoft.com/office/drawing/2014/main" id="{371FA77A-6441-65EB-76A3-A53EB07736D8}"/>
                  </a:ext>
                </a:extLst>
              </p:cNvPr>
              <p:cNvSpPr txBox="1"/>
              <p:nvPr/>
            </p:nvSpPr>
            <p:spPr>
              <a:xfrm>
                <a:off x="1892347" y="2433537"/>
                <a:ext cx="858168" cy="238575"/>
              </a:xfrm>
              <a:prstGeom prst="rect">
                <a:avLst/>
              </a:prstGeom>
              <a:noFill/>
            </p:spPr>
            <p:txBody>
              <a:bodyPr wrap="square" rtlCol="0">
                <a:spAutoFit/>
              </a:bodyPr>
              <a:lstStyle/>
              <a:p>
                <a:pPr algn="ctr"/>
                <a:r>
                  <a:rPr lang="hu-HU" sz="1467" dirty="0"/>
                  <a:t>IT</a:t>
                </a:r>
                <a:endParaRPr lang="en-US" sz="1467" dirty="0"/>
              </a:p>
            </p:txBody>
          </p:sp>
        </p:grpSp>
      </p:grpSp>
      <p:sp>
        <p:nvSpPr>
          <p:cNvPr id="4" name="Szöveg helye 3">
            <a:extLst>
              <a:ext uri="{FF2B5EF4-FFF2-40B4-BE49-F238E27FC236}">
                <a16:creationId xmlns:a16="http://schemas.microsoft.com/office/drawing/2014/main" id="{B248D151-6301-C9C3-F130-504F2459B0EA}"/>
              </a:ext>
            </a:extLst>
          </p:cNvPr>
          <p:cNvSpPr>
            <a:spLocks noGrp="1"/>
          </p:cNvSpPr>
          <p:nvPr>
            <p:ph type="body" idx="16"/>
          </p:nvPr>
        </p:nvSpPr>
        <p:spPr/>
        <p:txBody>
          <a:bodyPr/>
          <a:lstStyle/>
          <a:p>
            <a:r>
              <a:rPr lang="hu" dirty="0"/>
              <a:t>Management groups</a:t>
            </a:r>
            <a:endParaRPr lang="en-GB" dirty="0"/>
          </a:p>
        </p:txBody>
      </p:sp>
      <p:sp>
        <p:nvSpPr>
          <p:cNvPr id="5" name="Google Shape;199;p29">
            <a:extLst>
              <a:ext uri="{FF2B5EF4-FFF2-40B4-BE49-F238E27FC236}">
                <a16:creationId xmlns:a16="http://schemas.microsoft.com/office/drawing/2014/main" id="{8E9DD7B7-0E3D-335D-8ECC-56BFD2756BA4}"/>
              </a:ext>
            </a:extLst>
          </p:cNvPr>
          <p:cNvSpPr txBox="1">
            <a:spLocks/>
          </p:cNvSpPr>
          <p:nvPr/>
        </p:nvSpPr>
        <p:spPr>
          <a:xfrm>
            <a:off x="89503" y="808117"/>
            <a:ext cx="6580537" cy="4977999"/>
          </a:xfrm>
          <a:prstGeom prst="rect">
            <a:avLst/>
          </a:prstGeom>
        </p:spPr>
        <p:txBody>
          <a:bodyPr spcFirstLastPara="1" wrap="square" lIns="68575" tIns="34275" rIns="68575" bIns="34275"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0650" indent="0">
              <a:spcBef>
                <a:spcPts val="300"/>
              </a:spcBef>
              <a:buSzPts val="1700"/>
              <a:buNone/>
            </a:pPr>
            <a:r>
              <a:rPr lang="en-GB" sz="1800" dirty="0"/>
              <a:t>Organize and manage subscriptions by logically grouping them into management groups.</a:t>
            </a:r>
          </a:p>
          <a:p>
            <a:pPr lvl="1" indent="-336550">
              <a:buSzPts val="1700"/>
              <a:buFont typeface="Arial" panose="020B0604020202020204" pitchFamily="34" charset="0"/>
              <a:buChar char="▪"/>
            </a:pPr>
            <a:r>
              <a:rPr lang="en-GB" sz="1600" dirty="0"/>
              <a:t>Organizational </a:t>
            </a:r>
            <a:r>
              <a:rPr lang="en-GB" sz="1600" dirty="0" err="1"/>
              <a:t>hirerachy</a:t>
            </a:r>
            <a:endParaRPr lang="en-GB" sz="1600" dirty="0"/>
          </a:p>
          <a:p>
            <a:pPr lvl="1" indent="-336550">
              <a:buSzPts val="1700"/>
              <a:buFont typeface="Arial" panose="020B0604020202020204" pitchFamily="34" charset="0"/>
              <a:buChar char="▪"/>
            </a:pPr>
            <a:r>
              <a:rPr lang="en-GB" sz="1600" dirty="0"/>
              <a:t>Another scope for enforcing governance and compliance</a:t>
            </a:r>
            <a:endParaRPr lang="hu-HU" sz="1600" dirty="0"/>
          </a:p>
          <a:p>
            <a:pPr lvl="1" indent="-336550">
              <a:buSzPts val="1700"/>
              <a:buFont typeface="Arial" panose="020B0604020202020204" pitchFamily="34" charset="0"/>
              <a:buChar char="▪"/>
            </a:pPr>
            <a:endParaRPr lang="en-GB" sz="1600" dirty="0"/>
          </a:p>
          <a:p>
            <a:pPr marL="0" indent="0">
              <a:buNone/>
            </a:pPr>
            <a:r>
              <a:rPr lang="en-GB" sz="1800" dirty="0"/>
              <a:t>Parent-child relationship: </a:t>
            </a:r>
          </a:p>
          <a:p>
            <a:pPr lvl="1"/>
            <a:r>
              <a:rPr lang="en-GB" sz="1600" dirty="0"/>
              <a:t>Root </a:t>
            </a:r>
            <a:r>
              <a:rPr lang="en-GB" sz="1600" dirty="0" err="1"/>
              <a:t>mgmt</a:t>
            </a:r>
            <a:r>
              <a:rPr lang="en-GB" sz="1600" dirty="0"/>
              <a:t> group is the top level</a:t>
            </a:r>
          </a:p>
          <a:p>
            <a:pPr lvl="1"/>
            <a:r>
              <a:rPr lang="en-GB" sz="1600" dirty="0" err="1"/>
              <a:t>Mgmg</a:t>
            </a:r>
            <a:r>
              <a:rPr lang="en-GB" sz="1600" dirty="0"/>
              <a:t> groups and subscriptions can have a single parent</a:t>
            </a:r>
          </a:p>
          <a:p>
            <a:pPr lvl="1"/>
            <a:r>
              <a:rPr lang="en-GB" sz="1600" dirty="0"/>
              <a:t>Supports six level of hierarchy</a:t>
            </a:r>
            <a:endParaRPr lang="hu-HU" sz="1600" dirty="0"/>
          </a:p>
          <a:p>
            <a:pPr lvl="1"/>
            <a:endParaRPr lang="en-GB" sz="1600" dirty="0"/>
          </a:p>
          <a:p>
            <a:pPr marL="0" indent="0">
              <a:buNone/>
            </a:pPr>
            <a:r>
              <a:rPr lang="en-GB" sz="1800" dirty="0"/>
              <a:t>Compliance support:</a:t>
            </a:r>
          </a:p>
          <a:p>
            <a:pPr lvl="1"/>
            <a:r>
              <a:rPr lang="en-GB" sz="1600" dirty="0"/>
              <a:t>Azure Policies</a:t>
            </a:r>
          </a:p>
          <a:p>
            <a:pPr lvl="1"/>
            <a:r>
              <a:rPr lang="en-GB" sz="1600" dirty="0"/>
              <a:t>Azure role-based access control (RBAC)</a:t>
            </a:r>
          </a:p>
          <a:p>
            <a:pPr marL="457200" indent="0">
              <a:spcBef>
                <a:spcPts val="300"/>
              </a:spcBef>
              <a:buFont typeface="Arial" panose="020B0604020202020204" pitchFamily="34" charset="0"/>
              <a:buNone/>
            </a:pPr>
            <a:endParaRPr lang="en-GB" sz="1800" dirty="0"/>
          </a:p>
        </p:txBody>
      </p:sp>
    </p:spTree>
    <p:extLst>
      <p:ext uri="{BB962C8B-B14F-4D97-AF65-F5344CB8AC3E}">
        <p14:creationId xmlns:p14="http://schemas.microsoft.com/office/powerpoint/2010/main" val="3137442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72"/>
                                        </p:tgtEl>
                                        <p:attrNameLst>
                                          <p:attrName>style.visibility</p:attrName>
                                        </p:attrNameLst>
                                      </p:cBhvr>
                                      <p:to>
                                        <p:strVal val="visible"/>
                                      </p:to>
                                    </p:set>
                                    <p:animEffect transition="in" filter="fade">
                                      <p:cBhvr>
                                        <p:cTn id="7" dur="500"/>
                                        <p:tgtEl>
                                          <p:spTgt spid="20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2" name="Szöveg helye 1">
            <a:extLst>
              <a:ext uri="{FF2B5EF4-FFF2-40B4-BE49-F238E27FC236}">
                <a16:creationId xmlns:a16="http://schemas.microsoft.com/office/drawing/2014/main" id="{68DE691F-D427-C024-2896-773F071405D1}"/>
              </a:ext>
            </a:extLst>
          </p:cNvPr>
          <p:cNvSpPr>
            <a:spLocks noGrp="1"/>
          </p:cNvSpPr>
          <p:nvPr>
            <p:ph type="body" idx="20"/>
          </p:nvPr>
        </p:nvSpPr>
        <p:spPr/>
        <p:txBody>
          <a:bodyPr/>
          <a:lstStyle/>
          <a:p>
            <a:endParaRPr lang="en-GB"/>
          </a:p>
        </p:txBody>
      </p:sp>
      <p:pic>
        <p:nvPicPr>
          <p:cNvPr id="160" name="Google Shape;160;p23"/>
          <p:cNvPicPr preferRelativeResize="0"/>
          <p:nvPr/>
        </p:nvPicPr>
        <p:blipFill>
          <a:blip r:embed="rId3">
            <a:alphaModFix/>
          </a:blip>
          <a:stretch>
            <a:fillRect/>
          </a:stretch>
        </p:blipFill>
        <p:spPr>
          <a:xfrm>
            <a:off x="119334" y="1097501"/>
            <a:ext cx="6163633" cy="4888033"/>
          </a:xfrm>
          <a:prstGeom prst="rect">
            <a:avLst/>
          </a:prstGeom>
          <a:noFill/>
          <a:ln>
            <a:noFill/>
          </a:ln>
        </p:spPr>
      </p:pic>
      <p:sp>
        <p:nvSpPr>
          <p:cNvPr id="4" name="Szöveg helye 3">
            <a:extLst>
              <a:ext uri="{FF2B5EF4-FFF2-40B4-BE49-F238E27FC236}">
                <a16:creationId xmlns:a16="http://schemas.microsoft.com/office/drawing/2014/main" id="{B23FBA47-BC72-6833-C07A-EB080EFE14D3}"/>
              </a:ext>
            </a:extLst>
          </p:cNvPr>
          <p:cNvSpPr>
            <a:spLocks noGrp="1"/>
          </p:cNvSpPr>
          <p:nvPr>
            <p:ph type="body" idx="16"/>
          </p:nvPr>
        </p:nvSpPr>
        <p:spPr/>
        <p:txBody>
          <a:bodyPr/>
          <a:lstStyle/>
          <a:p>
            <a:r>
              <a:rPr lang="hu" dirty="0"/>
              <a:t>Azure subscriptions, management groups, and resources</a:t>
            </a:r>
            <a:endParaRPr lang="en-GB" dirty="0"/>
          </a:p>
        </p:txBody>
      </p:sp>
      <p:sp>
        <p:nvSpPr>
          <p:cNvPr id="5" name="Google Shape;159;p23">
            <a:extLst>
              <a:ext uri="{FF2B5EF4-FFF2-40B4-BE49-F238E27FC236}">
                <a16:creationId xmlns:a16="http://schemas.microsoft.com/office/drawing/2014/main" id="{EC5E42E9-11F2-36BE-FE9D-7BC5692E1A12}"/>
              </a:ext>
            </a:extLst>
          </p:cNvPr>
          <p:cNvSpPr txBox="1">
            <a:spLocks/>
          </p:cNvSpPr>
          <p:nvPr/>
        </p:nvSpPr>
        <p:spPr>
          <a:xfrm>
            <a:off x="6337299" y="1206500"/>
            <a:ext cx="5854701" cy="4779034"/>
          </a:xfrm>
          <a:prstGeom prst="rect">
            <a:avLst/>
          </a:prstGeom>
        </p:spPr>
        <p:txBody>
          <a:bodyPr spcFirstLastPara="1" wrap="square" lIns="68575" tIns="34275" rIns="68575" bIns="34275"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n-GB" sz="1800">
                <a:solidFill>
                  <a:srgbClr val="171717"/>
                </a:solidFill>
                <a:highlight>
                  <a:srgbClr val="FFFFFF"/>
                </a:highlight>
                <a:latin typeface="Arial"/>
                <a:ea typeface="Arial"/>
                <a:cs typeface="Arial"/>
                <a:sym typeface="Arial"/>
              </a:rPr>
              <a:t>Manage access, policy, and compliance for multiple subscriptions. Subscriptions automatically inherit the conditions applied to the management group.</a:t>
            </a:r>
          </a:p>
          <a:p>
            <a:pPr marL="0" indent="0">
              <a:spcBef>
                <a:spcPts val="300"/>
              </a:spcBef>
              <a:buFont typeface="Arial" panose="020B0604020202020204" pitchFamily="34" charset="0"/>
              <a:buNone/>
            </a:pPr>
            <a:endParaRPr lang="en-GB" sz="1800">
              <a:solidFill>
                <a:srgbClr val="171717"/>
              </a:solidFill>
              <a:highlight>
                <a:srgbClr val="FFFFFF"/>
              </a:highlight>
              <a:latin typeface="Arial"/>
              <a:ea typeface="Arial"/>
              <a:cs typeface="Arial"/>
              <a:sym typeface="Arial"/>
            </a:endParaRPr>
          </a:p>
          <a:p>
            <a:pPr marL="0" indent="0">
              <a:spcBef>
                <a:spcPts val="300"/>
              </a:spcBef>
              <a:buFont typeface="Arial" panose="020B0604020202020204" pitchFamily="34" charset="0"/>
              <a:buNone/>
            </a:pPr>
            <a:r>
              <a:rPr lang="en-GB" sz="1800">
                <a:solidFill>
                  <a:srgbClr val="171717"/>
                </a:solidFill>
                <a:highlight>
                  <a:srgbClr val="FFFFFF"/>
                </a:highlight>
                <a:latin typeface="Arial"/>
                <a:ea typeface="Arial"/>
                <a:cs typeface="Arial"/>
                <a:sym typeface="Arial"/>
              </a:rPr>
              <a:t> </a:t>
            </a:r>
          </a:p>
          <a:p>
            <a:pPr marL="0" indent="0">
              <a:spcBef>
                <a:spcPts val="300"/>
              </a:spcBef>
              <a:buFont typeface="Arial" panose="020B0604020202020204" pitchFamily="34" charset="0"/>
              <a:buNone/>
            </a:pPr>
            <a:r>
              <a:rPr lang="en-GB" sz="1800">
                <a:solidFill>
                  <a:srgbClr val="171717"/>
                </a:solidFill>
                <a:highlight>
                  <a:srgbClr val="FFFFFF"/>
                </a:highlight>
                <a:latin typeface="Arial"/>
                <a:ea typeface="Arial"/>
                <a:cs typeface="Arial"/>
                <a:sym typeface="Arial"/>
              </a:rPr>
              <a:t>Groups together user accounts and the resources that have been created by those user accounts. For each subscription, there are limits or quotas on the amount of resources that you can create and use.</a:t>
            </a:r>
          </a:p>
          <a:p>
            <a:pPr marL="0" indent="0">
              <a:spcBef>
                <a:spcPts val="300"/>
              </a:spcBef>
              <a:buFont typeface="Arial" panose="020B0604020202020204" pitchFamily="34" charset="0"/>
              <a:buNone/>
            </a:pPr>
            <a:endParaRPr lang="en-GB" sz="1800">
              <a:solidFill>
                <a:srgbClr val="171717"/>
              </a:solidFill>
              <a:highlight>
                <a:srgbClr val="FFFFFF"/>
              </a:highlight>
              <a:latin typeface="Arial"/>
              <a:ea typeface="Arial"/>
              <a:cs typeface="Arial"/>
              <a:sym typeface="Arial"/>
            </a:endParaRPr>
          </a:p>
          <a:p>
            <a:pPr marL="0" indent="0">
              <a:spcBef>
                <a:spcPts val="300"/>
              </a:spcBef>
              <a:buFont typeface="Arial" panose="020B0604020202020204" pitchFamily="34" charset="0"/>
              <a:buNone/>
            </a:pPr>
            <a:endParaRPr lang="en-GB" sz="1800">
              <a:solidFill>
                <a:srgbClr val="171717"/>
              </a:solidFill>
              <a:highlight>
                <a:srgbClr val="FFFFFF"/>
              </a:highlight>
              <a:latin typeface="Arial"/>
              <a:ea typeface="Arial"/>
              <a:cs typeface="Arial"/>
              <a:sym typeface="Arial"/>
            </a:endParaRPr>
          </a:p>
          <a:p>
            <a:pPr marL="0" indent="0">
              <a:spcBef>
                <a:spcPts val="300"/>
              </a:spcBef>
              <a:buFont typeface="Arial" panose="020B0604020202020204" pitchFamily="34" charset="0"/>
              <a:buNone/>
            </a:pPr>
            <a:r>
              <a:rPr lang="en-GB" sz="1800">
                <a:solidFill>
                  <a:srgbClr val="171717"/>
                </a:solidFill>
                <a:highlight>
                  <a:srgbClr val="FFFFFF"/>
                </a:highlight>
                <a:latin typeface="Arial"/>
                <a:ea typeface="Arial"/>
                <a:cs typeface="Arial"/>
                <a:sym typeface="Arial"/>
              </a:rPr>
              <a:t>Resources are combined into resource groups, which act as a logical container.</a:t>
            </a:r>
          </a:p>
          <a:p>
            <a:pPr marL="0" indent="0">
              <a:spcBef>
                <a:spcPts val="300"/>
              </a:spcBef>
              <a:buFont typeface="Arial" panose="020B0604020202020204" pitchFamily="34" charset="0"/>
              <a:buNone/>
            </a:pPr>
            <a:endParaRPr lang="en-GB" sz="1800">
              <a:solidFill>
                <a:srgbClr val="171717"/>
              </a:solidFill>
              <a:highlight>
                <a:srgbClr val="FFFFFF"/>
              </a:highlight>
              <a:latin typeface="Arial"/>
              <a:ea typeface="Arial"/>
              <a:cs typeface="Arial"/>
              <a:sym typeface="Arial"/>
            </a:endParaRPr>
          </a:p>
          <a:p>
            <a:pPr marL="0" indent="0">
              <a:spcBef>
                <a:spcPts val="300"/>
              </a:spcBef>
              <a:buFont typeface="Arial" panose="020B0604020202020204" pitchFamily="34" charset="0"/>
              <a:buNone/>
            </a:pPr>
            <a:endParaRPr lang="en-GB" sz="1800">
              <a:solidFill>
                <a:srgbClr val="171717"/>
              </a:solidFill>
              <a:highlight>
                <a:srgbClr val="FFFFFF"/>
              </a:highlight>
              <a:latin typeface="Arial"/>
              <a:ea typeface="Arial"/>
              <a:cs typeface="Arial"/>
              <a:sym typeface="Arial"/>
            </a:endParaRPr>
          </a:p>
          <a:p>
            <a:pPr marL="0" indent="0">
              <a:spcBef>
                <a:spcPts val="300"/>
              </a:spcBef>
              <a:buFont typeface="Arial" panose="020B0604020202020204" pitchFamily="34" charset="0"/>
              <a:buNone/>
            </a:pPr>
            <a:r>
              <a:rPr lang="en-GB" sz="1800">
                <a:solidFill>
                  <a:srgbClr val="171717"/>
                </a:solidFill>
                <a:highlight>
                  <a:srgbClr val="FFFFFF"/>
                </a:highlight>
                <a:latin typeface="Arial"/>
                <a:ea typeface="Arial"/>
                <a:cs typeface="Arial"/>
                <a:sym typeface="Arial"/>
              </a:rPr>
              <a:t>Resources are instances of services that you create.</a:t>
            </a:r>
            <a:br>
              <a:rPr lang="en-GB" sz="1800">
                <a:solidFill>
                  <a:srgbClr val="171717"/>
                </a:solidFill>
                <a:highlight>
                  <a:srgbClr val="FFFFFF"/>
                </a:highlight>
                <a:latin typeface="Arial"/>
                <a:ea typeface="Arial"/>
                <a:cs typeface="Arial"/>
                <a:sym typeface="Arial"/>
              </a:rPr>
            </a:br>
            <a:r>
              <a:rPr lang="en-GB" sz="1800">
                <a:solidFill>
                  <a:srgbClr val="171717"/>
                </a:solidFill>
                <a:highlight>
                  <a:srgbClr val="FFFFFF"/>
                </a:highlight>
                <a:latin typeface="Arial"/>
                <a:ea typeface="Arial"/>
                <a:cs typeface="Arial"/>
                <a:sym typeface="Arial"/>
              </a:rPr>
              <a:t>eg: virtual machines, storage or SQL databases</a:t>
            </a:r>
            <a:endParaRPr lang="en-GB" sz="1800" dirty="0">
              <a:solidFill>
                <a:srgbClr val="171717"/>
              </a:solidFill>
              <a:highlight>
                <a:srgbClr val="FFFFFF"/>
              </a:highlight>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2" name="Szöveg helye 1">
            <a:extLst>
              <a:ext uri="{FF2B5EF4-FFF2-40B4-BE49-F238E27FC236}">
                <a16:creationId xmlns:a16="http://schemas.microsoft.com/office/drawing/2014/main" id="{2D005676-1FCD-DFA5-2A58-0B831AA6FF82}"/>
              </a:ext>
            </a:extLst>
          </p:cNvPr>
          <p:cNvSpPr>
            <a:spLocks noGrp="1"/>
          </p:cNvSpPr>
          <p:nvPr>
            <p:ph type="body" idx="20"/>
          </p:nvPr>
        </p:nvSpPr>
        <p:spPr/>
        <p:txBody>
          <a:bodyPr/>
          <a:lstStyle/>
          <a:p>
            <a:endParaRPr lang="en-GB"/>
          </a:p>
        </p:txBody>
      </p:sp>
      <p:pic>
        <p:nvPicPr>
          <p:cNvPr id="186" name="Google Shape;186;p27"/>
          <p:cNvPicPr preferRelativeResize="0"/>
          <p:nvPr/>
        </p:nvPicPr>
        <p:blipFill>
          <a:blip r:embed="rId3">
            <a:alphaModFix/>
          </a:blip>
          <a:stretch>
            <a:fillRect/>
          </a:stretch>
        </p:blipFill>
        <p:spPr>
          <a:xfrm>
            <a:off x="7648701" y="3886317"/>
            <a:ext cx="4423833" cy="1985500"/>
          </a:xfrm>
          <a:prstGeom prst="rect">
            <a:avLst/>
          </a:prstGeom>
          <a:noFill/>
          <a:ln>
            <a:noFill/>
          </a:ln>
        </p:spPr>
      </p:pic>
      <p:sp>
        <p:nvSpPr>
          <p:cNvPr id="4" name="Szöveg helye 3">
            <a:extLst>
              <a:ext uri="{FF2B5EF4-FFF2-40B4-BE49-F238E27FC236}">
                <a16:creationId xmlns:a16="http://schemas.microsoft.com/office/drawing/2014/main" id="{FC03ECAA-D346-F972-9353-F1E1336F93F8}"/>
              </a:ext>
            </a:extLst>
          </p:cNvPr>
          <p:cNvSpPr>
            <a:spLocks noGrp="1"/>
          </p:cNvSpPr>
          <p:nvPr>
            <p:ph type="body" idx="16"/>
          </p:nvPr>
        </p:nvSpPr>
        <p:spPr/>
        <p:txBody>
          <a:bodyPr/>
          <a:lstStyle/>
          <a:p>
            <a:r>
              <a:rPr lang="hu" dirty="0"/>
              <a:t>Azure resource group</a:t>
            </a:r>
            <a:endParaRPr lang="en-GB" dirty="0"/>
          </a:p>
        </p:txBody>
      </p:sp>
      <p:sp>
        <p:nvSpPr>
          <p:cNvPr id="5" name="Google Shape;187;p27">
            <a:extLst>
              <a:ext uri="{FF2B5EF4-FFF2-40B4-BE49-F238E27FC236}">
                <a16:creationId xmlns:a16="http://schemas.microsoft.com/office/drawing/2014/main" id="{D818A462-414A-FD8C-1570-4D4DBF0E2F26}"/>
              </a:ext>
            </a:extLst>
          </p:cNvPr>
          <p:cNvSpPr txBox="1">
            <a:spLocks/>
          </p:cNvSpPr>
          <p:nvPr/>
        </p:nvSpPr>
        <p:spPr>
          <a:xfrm>
            <a:off x="89500" y="789549"/>
            <a:ext cx="11816750" cy="5082267"/>
          </a:xfrm>
          <a:prstGeom prst="rect">
            <a:avLst/>
          </a:prstGeom>
        </p:spPr>
        <p:txBody>
          <a:bodyPr spcFirstLastPara="1" wrap="square" lIns="68575" tIns="34275" rIns="68575" bIns="34275"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36550">
              <a:spcBef>
                <a:spcPts val="300"/>
              </a:spcBef>
              <a:buSzPts val="1700"/>
              <a:buFont typeface="Arial" panose="020B0604020202020204" pitchFamily="34" charset="0"/>
              <a:buChar char="▪"/>
            </a:pPr>
            <a:r>
              <a:rPr lang="en-GB" dirty="0"/>
              <a:t>Resource: manageable item</a:t>
            </a:r>
          </a:p>
          <a:p>
            <a:pPr marL="914400" lvl="1" indent="-285750">
              <a:spcBef>
                <a:spcPts val="300"/>
              </a:spcBef>
              <a:buSzPts val="900"/>
              <a:buFont typeface="Arial" panose="020B0604020202020204" pitchFamily="34" charset="0"/>
              <a:buChar char="❑"/>
            </a:pPr>
            <a:r>
              <a:rPr lang="en-GB" sz="2000" dirty="0" err="1"/>
              <a:t>Eg</a:t>
            </a:r>
            <a:r>
              <a:rPr lang="en-GB" sz="2000" dirty="0"/>
              <a:t>: VMs, storage accounts, web apps, databases, virtual networks</a:t>
            </a:r>
          </a:p>
          <a:p>
            <a:pPr marL="457200" indent="-336550">
              <a:spcBef>
                <a:spcPts val="300"/>
              </a:spcBef>
              <a:buSzPts val="1700"/>
              <a:buFont typeface="Arial" panose="020B0604020202020204" pitchFamily="34" charset="0"/>
              <a:buChar char="▪"/>
            </a:pPr>
            <a:r>
              <a:rPr lang="en-GB" dirty="0"/>
              <a:t>Resource group: Container that holds related resources for an Azure solution</a:t>
            </a:r>
          </a:p>
          <a:p>
            <a:pPr marL="457200" indent="-336550">
              <a:spcBef>
                <a:spcPts val="300"/>
              </a:spcBef>
              <a:buSzPts val="1700"/>
              <a:buFont typeface="Arial" panose="020B0604020202020204" pitchFamily="34" charset="0"/>
              <a:buChar char="▪"/>
            </a:pPr>
            <a:r>
              <a:rPr lang="en-GB" dirty="0"/>
              <a:t>Rules:</a:t>
            </a:r>
          </a:p>
          <a:p>
            <a:pPr marL="914400" lvl="1" indent="-279400">
              <a:spcBef>
                <a:spcPts val="300"/>
              </a:spcBef>
              <a:buSzPts val="800"/>
              <a:buFont typeface="Arial" panose="020B0604020202020204" pitchFamily="34" charset="0"/>
              <a:buChar char="❑"/>
            </a:pPr>
            <a:r>
              <a:rPr lang="en-GB" sz="2000" dirty="0"/>
              <a:t>All resources must be in a resource group</a:t>
            </a:r>
          </a:p>
          <a:p>
            <a:pPr marL="914400" lvl="1" indent="-279400">
              <a:spcBef>
                <a:spcPts val="300"/>
              </a:spcBef>
              <a:buSzPts val="800"/>
              <a:buFont typeface="Arial" panose="020B0604020202020204" pitchFamily="34" charset="0"/>
              <a:buChar char="❑"/>
            </a:pPr>
            <a:r>
              <a:rPr lang="en-GB" sz="2000" dirty="0"/>
              <a:t>A resource can only be a member of a single resource group</a:t>
            </a:r>
          </a:p>
          <a:p>
            <a:pPr marL="914400" lvl="1" indent="-279400">
              <a:spcBef>
                <a:spcPts val="300"/>
              </a:spcBef>
              <a:buSzPts val="800"/>
              <a:buFont typeface="Arial" panose="020B0604020202020204" pitchFamily="34" charset="0"/>
              <a:buChar char="❑"/>
            </a:pPr>
            <a:r>
              <a:rPr lang="en-GB" sz="2000" dirty="0"/>
              <a:t>Resource groups can't be nested</a:t>
            </a:r>
          </a:p>
          <a:p>
            <a:pPr marL="914400" lvl="1" indent="-279400">
              <a:spcBef>
                <a:spcPts val="300"/>
              </a:spcBef>
              <a:buSzPts val="800"/>
              <a:buFont typeface="Arial" panose="020B0604020202020204" pitchFamily="34" charset="0"/>
              <a:buChar char="❑"/>
            </a:pPr>
            <a:r>
              <a:rPr lang="en-GB" sz="2000" dirty="0"/>
              <a:t>Need a resource group before any resource can be provisioned</a:t>
            </a:r>
          </a:p>
          <a:p>
            <a:pPr marL="457200" indent="-336550">
              <a:spcBef>
                <a:spcPts val="300"/>
              </a:spcBef>
              <a:buSzPts val="1700"/>
              <a:buFont typeface="Arial" panose="020B0604020202020204" pitchFamily="34" charset="0"/>
              <a:buChar char="▪"/>
            </a:pPr>
            <a:r>
              <a:rPr lang="en-GB" dirty="0"/>
              <a:t>Life cycle</a:t>
            </a:r>
          </a:p>
          <a:p>
            <a:pPr marL="914400" lvl="1" indent="-279400">
              <a:spcBef>
                <a:spcPts val="300"/>
              </a:spcBef>
              <a:buSzPts val="800"/>
              <a:buFont typeface="Arial" panose="020B0604020202020204" pitchFamily="34" charset="0"/>
              <a:buChar char="❑"/>
            </a:pPr>
            <a:r>
              <a:rPr lang="en-GB" sz="2000" dirty="0"/>
              <a:t>Delete a resource group →  all resources contained also deleted</a:t>
            </a:r>
          </a:p>
          <a:p>
            <a:pPr marL="914400" lvl="1" indent="-285750">
              <a:spcBef>
                <a:spcPts val="300"/>
              </a:spcBef>
              <a:buSzPts val="900"/>
              <a:buFont typeface="Arial" panose="020B0604020202020204" pitchFamily="34" charset="0"/>
              <a:buChar char="❑"/>
            </a:pPr>
            <a:r>
              <a:rPr lang="en-GB" sz="2000" dirty="0"/>
              <a:t>Useful: Create and delete experiment / dev resources</a:t>
            </a:r>
          </a:p>
          <a:p>
            <a:pPr marL="457200" indent="-336550">
              <a:spcBef>
                <a:spcPts val="300"/>
              </a:spcBef>
              <a:buSzPts val="1700"/>
              <a:buFont typeface="Arial" panose="020B0604020202020204" pitchFamily="34" charset="0"/>
              <a:buChar char="▪"/>
            </a:pPr>
            <a:r>
              <a:rPr lang="en-GB" dirty="0"/>
              <a:t>Scope for role-based access control permissions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grpSp>
        <p:nvGrpSpPr>
          <p:cNvPr id="236" name="Group 235">
            <a:extLst>
              <a:ext uri="{FF2B5EF4-FFF2-40B4-BE49-F238E27FC236}">
                <a16:creationId xmlns:a16="http://schemas.microsoft.com/office/drawing/2014/main" id="{2E3DBD71-A82C-091C-B0B7-0F94DD78517B}"/>
              </a:ext>
            </a:extLst>
          </p:cNvPr>
          <p:cNvGrpSpPr/>
          <p:nvPr/>
        </p:nvGrpSpPr>
        <p:grpSpPr>
          <a:xfrm>
            <a:off x="7416451" y="933897"/>
            <a:ext cx="4539975" cy="2403784"/>
            <a:chOff x="5562338" y="700423"/>
            <a:chExt cx="3404981" cy="1802838"/>
          </a:xfrm>
        </p:grpSpPr>
        <p:grpSp>
          <p:nvGrpSpPr>
            <p:cNvPr id="197" name="Group 196">
              <a:extLst>
                <a:ext uri="{FF2B5EF4-FFF2-40B4-BE49-F238E27FC236}">
                  <a16:creationId xmlns:a16="http://schemas.microsoft.com/office/drawing/2014/main" id="{DBB2AAA6-48B3-0B58-7BBC-CF55E389B1C0}"/>
                </a:ext>
              </a:extLst>
            </p:cNvPr>
            <p:cNvGrpSpPr/>
            <p:nvPr/>
          </p:nvGrpSpPr>
          <p:grpSpPr>
            <a:xfrm>
              <a:off x="5596703" y="1509981"/>
              <a:ext cx="3370616" cy="993280"/>
              <a:chOff x="5635050" y="1288664"/>
              <a:chExt cx="3134261" cy="789359"/>
            </a:xfrm>
            <a:solidFill>
              <a:schemeClr val="bg1"/>
            </a:solidFill>
          </p:grpSpPr>
          <p:sp>
            <p:nvSpPr>
              <p:cNvPr id="25" name="Rectangle: Rounded Corners 24">
                <a:extLst>
                  <a:ext uri="{FF2B5EF4-FFF2-40B4-BE49-F238E27FC236}">
                    <a16:creationId xmlns:a16="http://schemas.microsoft.com/office/drawing/2014/main" id="{DB182C6D-F7AC-007C-FAC4-86EAA33450D9}"/>
                  </a:ext>
                </a:extLst>
              </p:cNvPr>
              <p:cNvSpPr/>
              <p:nvPr/>
            </p:nvSpPr>
            <p:spPr>
              <a:xfrm>
                <a:off x="5635050" y="1288664"/>
                <a:ext cx="3134261" cy="789359"/>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5" name="TextBox 194">
                <a:extLst>
                  <a:ext uri="{FF2B5EF4-FFF2-40B4-BE49-F238E27FC236}">
                    <a16:creationId xmlns:a16="http://schemas.microsoft.com/office/drawing/2014/main" id="{FE440559-9D34-36AE-B110-AE647AE000B7}"/>
                  </a:ext>
                </a:extLst>
              </p:cNvPr>
              <p:cNvSpPr txBox="1"/>
              <p:nvPr/>
            </p:nvSpPr>
            <p:spPr>
              <a:xfrm>
                <a:off x="5724310" y="1317002"/>
                <a:ext cx="2996110" cy="275164"/>
              </a:xfrm>
              <a:prstGeom prst="rect">
                <a:avLst/>
              </a:prstGeom>
              <a:noFill/>
            </p:spPr>
            <p:txBody>
              <a:bodyPr wrap="square" rtlCol="0">
                <a:spAutoFit/>
              </a:bodyPr>
              <a:lstStyle/>
              <a:p>
                <a:pPr algn="ctr"/>
                <a:r>
                  <a:rPr lang="hu-HU" sz="2400" dirty="0" err="1"/>
                  <a:t>Azure</a:t>
                </a:r>
                <a:r>
                  <a:rPr lang="hu-HU" sz="2400" dirty="0"/>
                  <a:t> </a:t>
                </a:r>
                <a:r>
                  <a:rPr lang="hu-HU" sz="2400" dirty="0" err="1"/>
                  <a:t>Resource</a:t>
                </a:r>
                <a:r>
                  <a:rPr lang="hu-HU" sz="2400" dirty="0"/>
                  <a:t> Manager</a:t>
                </a:r>
                <a:endParaRPr lang="en-US" sz="2400" dirty="0"/>
              </a:p>
            </p:txBody>
          </p:sp>
        </p:grpSp>
        <p:pic>
          <p:nvPicPr>
            <p:cNvPr id="199" name="Picture 198">
              <a:extLst>
                <a:ext uri="{FF2B5EF4-FFF2-40B4-BE49-F238E27FC236}">
                  <a16:creationId xmlns:a16="http://schemas.microsoft.com/office/drawing/2014/main" id="{3DF78635-7D56-430B-8719-1420D4404730}"/>
                </a:ext>
              </a:extLst>
            </p:cNvPr>
            <p:cNvPicPr>
              <a:picLocks noChangeAspect="1"/>
            </p:cNvPicPr>
            <p:nvPr/>
          </p:nvPicPr>
          <p:blipFill>
            <a:blip r:embed="rId3"/>
            <a:stretch>
              <a:fillRect/>
            </a:stretch>
          </p:blipFill>
          <p:spPr>
            <a:xfrm>
              <a:off x="5567042" y="716371"/>
              <a:ext cx="1197197" cy="636807"/>
            </a:xfrm>
            <a:prstGeom prst="rect">
              <a:avLst/>
            </a:prstGeom>
          </p:spPr>
        </p:pic>
        <p:pic>
          <p:nvPicPr>
            <p:cNvPr id="201" name="Picture 200">
              <a:extLst>
                <a:ext uri="{FF2B5EF4-FFF2-40B4-BE49-F238E27FC236}">
                  <a16:creationId xmlns:a16="http://schemas.microsoft.com/office/drawing/2014/main" id="{822805A7-CFF6-B8DC-CEE1-44BDF3E15490}"/>
                </a:ext>
              </a:extLst>
            </p:cNvPr>
            <p:cNvPicPr>
              <a:picLocks noChangeAspect="1"/>
            </p:cNvPicPr>
            <p:nvPr/>
          </p:nvPicPr>
          <p:blipFill>
            <a:blip r:embed="rId4"/>
            <a:stretch>
              <a:fillRect/>
            </a:stretch>
          </p:blipFill>
          <p:spPr>
            <a:xfrm>
              <a:off x="7859155" y="700423"/>
              <a:ext cx="1108164" cy="651466"/>
            </a:xfrm>
            <a:prstGeom prst="rect">
              <a:avLst/>
            </a:prstGeom>
          </p:spPr>
        </p:pic>
        <p:pic>
          <p:nvPicPr>
            <p:cNvPr id="203" name="Picture 202">
              <a:extLst>
                <a:ext uri="{FF2B5EF4-FFF2-40B4-BE49-F238E27FC236}">
                  <a16:creationId xmlns:a16="http://schemas.microsoft.com/office/drawing/2014/main" id="{10F3105C-E901-43DA-15E5-1D5F3F722F73}"/>
                </a:ext>
              </a:extLst>
            </p:cNvPr>
            <p:cNvPicPr>
              <a:picLocks noChangeAspect="1"/>
            </p:cNvPicPr>
            <p:nvPr/>
          </p:nvPicPr>
          <p:blipFill>
            <a:blip r:embed="rId5"/>
            <a:stretch>
              <a:fillRect/>
            </a:stretch>
          </p:blipFill>
          <p:spPr>
            <a:xfrm>
              <a:off x="6823163" y="711294"/>
              <a:ext cx="977067" cy="640594"/>
            </a:xfrm>
            <a:prstGeom prst="rect">
              <a:avLst/>
            </a:prstGeom>
          </p:spPr>
        </p:pic>
        <p:cxnSp>
          <p:nvCxnSpPr>
            <p:cNvPr id="206" name="Straight Connector 205">
              <a:extLst>
                <a:ext uri="{FF2B5EF4-FFF2-40B4-BE49-F238E27FC236}">
                  <a16:creationId xmlns:a16="http://schemas.microsoft.com/office/drawing/2014/main" id="{07B09D1E-1DE3-1015-25E7-5A7A20BBFC5E}"/>
                </a:ext>
              </a:extLst>
            </p:cNvPr>
            <p:cNvCxnSpPr>
              <a:cxnSpLocks/>
            </p:cNvCxnSpPr>
            <p:nvPr/>
          </p:nvCxnSpPr>
          <p:spPr>
            <a:xfrm flipV="1">
              <a:off x="5744565" y="1351888"/>
              <a:ext cx="0" cy="15945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F0D74DA0-70C9-E0AA-06D0-6F3D3FD7B744}"/>
                </a:ext>
              </a:extLst>
            </p:cNvPr>
            <p:cNvCxnSpPr>
              <a:cxnSpLocks/>
            </p:cNvCxnSpPr>
            <p:nvPr/>
          </p:nvCxnSpPr>
          <p:spPr>
            <a:xfrm flipV="1">
              <a:off x="6969153" y="1351888"/>
              <a:ext cx="0" cy="15945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0D5B6182-682C-B181-D6C1-41E3A0489D6D}"/>
                </a:ext>
              </a:extLst>
            </p:cNvPr>
            <p:cNvCxnSpPr>
              <a:cxnSpLocks/>
            </p:cNvCxnSpPr>
            <p:nvPr/>
          </p:nvCxnSpPr>
          <p:spPr>
            <a:xfrm flipV="1">
              <a:off x="8019135" y="1351888"/>
              <a:ext cx="0" cy="159456"/>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231" name="Group 230">
              <a:extLst>
                <a:ext uri="{FF2B5EF4-FFF2-40B4-BE49-F238E27FC236}">
                  <a16:creationId xmlns:a16="http://schemas.microsoft.com/office/drawing/2014/main" id="{5E9293DF-68F9-1BFE-D9FF-79331239A560}"/>
                </a:ext>
              </a:extLst>
            </p:cNvPr>
            <p:cNvGrpSpPr/>
            <p:nvPr/>
          </p:nvGrpSpPr>
          <p:grpSpPr>
            <a:xfrm>
              <a:off x="5591999" y="1509981"/>
              <a:ext cx="3370616" cy="993280"/>
              <a:chOff x="5635050" y="1288664"/>
              <a:chExt cx="3134261" cy="789359"/>
            </a:xfrm>
            <a:solidFill>
              <a:schemeClr val="bg1"/>
            </a:solidFill>
          </p:grpSpPr>
          <p:sp>
            <p:nvSpPr>
              <p:cNvPr id="232" name="Rectangle: Rounded Corners 231">
                <a:extLst>
                  <a:ext uri="{FF2B5EF4-FFF2-40B4-BE49-F238E27FC236}">
                    <a16:creationId xmlns:a16="http://schemas.microsoft.com/office/drawing/2014/main" id="{6B6883CD-9D2D-FF33-BD18-32463E558C65}"/>
                  </a:ext>
                </a:extLst>
              </p:cNvPr>
              <p:cNvSpPr/>
              <p:nvPr/>
            </p:nvSpPr>
            <p:spPr>
              <a:xfrm>
                <a:off x="5635050" y="1288664"/>
                <a:ext cx="3134261" cy="789359"/>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33" name="TextBox 232">
                <a:extLst>
                  <a:ext uri="{FF2B5EF4-FFF2-40B4-BE49-F238E27FC236}">
                    <a16:creationId xmlns:a16="http://schemas.microsoft.com/office/drawing/2014/main" id="{A838DFFC-8585-9D9D-02FE-BDA88FA6582D}"/>
                  </a:ext>
                </a:extLst>
              </p:cNvPr>
              <p:cNvSpPr txBox="1"/>
              <p:nvPr/>
            </p:nvSpPr>
            <p:spPr>
              <a:xfrm>
                <a:off x="5724310" y="1317002"/>
                <a:ext cx="2996110" cy="275164"/>
              </a:xfrm>
              <a:prstGeom prst="rect">
                <a:avLst/>
              </a:prstGeom>
              <a:noFill/>
            </p:spPr>
            <p:txBody>
              <a:bodyPr wrap="square" rtlCol="0">
                <a:spAutoFit/>
              </a:bodyPr>
              <a:lstStyle/>
              <a:p>
                <a:pPr algn="ctr"/>
                <a:r>
                  <a:rPr lang="hu-HU" sz="2400" dirty="0" err="1"/>
                  <a:t>Azure</a:t>
                </a:r>
                <a:r>
                  <a:rPr lang="hu-HU" sz="2400" dirty="0"/>
                  <a:t> </a:t>
                </a:r>
                <a:r>
                  <a:rPr lang="hu-HU" sz="2400" dirty="0" err="1"/>
                  <a:t>Resource</a:t>
                </a:r>
                <a:r>
                  <a:rPr lang="hu-HU" sz="2400" dirty="0"/>
                  <a:t> Manager</a:t>
                </a:r>
                <a:endParaRPr lang="en-US" sz="2400" dirty="0"/>
              </a:p>
            </p:txBody>
          </p:sp>
        </p:grpSp>
        <p:pic>
          <p:nvPicPr>
            <p:cNvPr id="234" name="Picture 233">
              <a:extLst>
                <a:ext uri="{FF2B5EF4-FFF2-40B4-BE49-F238E27FC236}">
                  <a16:creationId xmlns:a16="http://schemas.microsoft.com/office/drawing/2014/main" id="{9A31B93A-4753-A5D2-D6BD-C966C0DDDDA6}"/>
                </a:ext>
              </a:extLst>
            </p:cNvPr>
            <p:cNvPicPr>
              <a:picLocks noChangeAspect="1"/>
            </p:cNvPicPr>
            <p:nvPr/>
          </p:nvPicPr>
          <p:blipFill>
            <a:blip r:embed="rId3"/>
            <a:stretch>
              <a:fillRect/>
            </a:stretch>
          </p:blipFill>
          <p:spPr>
            <a:xfrm>
              <a:off x="5562338" y="716371"/>
              <a:ext cx="1197197" cy="636807"/>
            </a:xfrm>
            <a:prstGeom prst="rect">
              <a:avLst/>
            </a:prstGeom>
          </p:spPr>
        </p:pic>
        <p:pic>
          <p:nvPicPr>
            <p:cNvPr id="235" name="Picture 234">
              <a:extLst>
                <a:ext uri="{FF2B5EF4-FFF2-40B4-BE49-F238E27FC236}">
                  <a16:creationId xmlns:a16="http://schemas.microsoft.com/office/drawing/2014/main" id="{CC161464-C574-68DD-6C84-7B22E7C34BD3}"/>
                </a:ext>
              </a:extLst>
            </p:cNvPr>
            <p:cNvPicPr>
              <a:picLocks noChangeAspect="1"/>
            </p:cNvPicPr>
            <p:nvPr/>
          </p:nvPicPr>
          <p:blipFill>
            <a:blip r:embed="rId5"/>
            <a:stretch>
              <a:fillRect/>
            </a:stretch>
          </p:blipFill>
          <p:spPr>
            <a:xfrm>
              <a:off x="6818459" y="711294"/>
              <a:ext cx="977067" cy="640594"/>
            </a:xfrm>
            <a:prstGeom prst="rect">
              <a:avLst/>
            </a:prstGeom>
          </p:spPr>
        </p:pic>
      </p:grpSp>
      <p:sp>
        <p:nvSpPr>
          <p:cNvPr id="192" name="Google Shape;192;p28"/>
          <p:cNvSpPr txBox="1">
            <a:spLocks noGrp="1"/>
          </p:cNvSpPr>
          <p:nvPr>
            <p:ph type="title"/>
          </p:nvPr>
        </p:nvSpPr>
        <p:spPr>
          <a:xfrm>
            <a:off x="119336" y="116632"/>
            <a:ext cx="11953200" cy="669200"/>
          </a:xfrm>
          <a:prstGeom prst="rect">
            <a:avLst/>
          </a:prstGeom>
        </p:spPr>
        <p:txBody>
          <a:bodyPr spcFirstLastPara="1" wrap="square" lIns="91433" tIns="45700" rIns="91433" bIns="45700" anchor="ctr" anchorCtr="0">
            <a:normAutofit/>
          </a:bodyPr>
          <a:lstStyle/>
          <a:p>
            <a:r>
              <a:rPr lang="hu" sz="3000" dirty="0">
                <a:solidFill>
                  <a:srgbClr val="012850"/>
                </a:solidFill>
                <a:latin typeface="Open Sans" panose="020B0606030504020204" pitchFamily="34" charset="0"/>
                <a:ea typeface="Open Sans" panose="020B0606030504020204" pitchFamily="34" charset="0"/>
                <a:cs typeface="Open Sans" panose="020B0606030504020204" pitchFamily="34" charset="0"/>
              </a:rPr>
              <a:t>Azure Resource Manager</a:t>
            </a:r>
            <a:endParaRPr sz="3000" dirty="0">
              <a:solidFill>
                <a:srgbClr val="012850"/>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204" name="Group 203">
            <a:extLst>
              <a:ext uri="{FF2B5EF4-FFF2-40B4-BE49-F238E27FC236}">
                <a16:creationId xmlns:a16="http://schemas.microsoft.com/office/drawing/2014/main" id="{E9070CEB-DF7E-F00A-7320-944B0840066A}"/>
              </a:ext>
            </a:extLst>
          </p:cNvPr>
          <p:cNvGrpSpPr/>
          <p:nvPr/>
        </p:nvGrpSpPr>
        <p:grpSpPr>
          <a:xfrm>
            <a:off x="7659421" y="3431633"/>
            <a:ext cx="4179015" cy="2924704"/>
            <a:chOff x="5596703" y="2577255"/>
            <a:chExt cx="3134261" cy="2193528"/>
          </a:xfrm>
        </p:grpSpPr>
        <p:sp>
          <p:nvSpPr>
            <p:cNvPr id="2" name="Rectangle: Rounded Corners 1">
              <a:extLst>
                <a:ext uri="{FF2B5EF4-FFF2-40B4-BE49-F238E27FC236}">
                  <a16:creationId xmlns:a16="http://schemas.microsoft.com/office/drawing/2014/main" id="{B5315601-0100-F65D-CA56-A48FFE6A61D3}"/>
                </a:ext>
              </a:extLst>
            </p:cNvPr>
            <p:cNvSpPr/>
            <p:nvPr/>
          </p:nvSpPr>
          <p:spPr>
            <a:xfrm>
              <a:off x="5849535" y="3183426"/>
              <a:ext cx="2769702" cy="1463565"/>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3" name="Picture 2">
              <a:extLst>
                <a:ext uri="{FF2B5EF4-FFF2-40B4-BE49-F238E27FC236}">
                  <a16:creationId xmlns:a16="http://schemas.microsoft.com/office/drawing/2014/main" id="{F19C239B-E4D2-462D-24FE-4DACA952A46C}"/>
                </a:ext>
              </a:extLst>
            </p:cNvPr>
            <p:cNvPicPr>
              <a:picLocks noChangeAspect="1"/>
            </p:cNvPicPr>
            <p:nvPr/>
          </p:nvPicPr>
          <p:blipFill>
            <a:blip r:embed="rId6"/>
            <a:stretch>
              <a:fillRect/>
            </a:stretch>
          </p:blipFill>
          <p:spPr>
            <a:xfrm>
              <a:off x="6008502" y="2982001"/>
              <a:ext cx="255586" cy="356271"/>
            </a:xfrm>
            <a:prstGeom prst="rect">
              <a:avLst/>
            </a:prstGeom>
          </p:spPr>
        </p:pic>
        <p:sp>
          <p:nvSpPr>
            <p:cNvPr id="4" name="Rectangle: Rounded Corners 3">
              <a:extLst>
                <a:ext uri="{FF2B5EF4-FFF2-40B4-BE49-F238E27FC236}">
                  <a16:creationId xmlns:a16="http://schemas.microsoft.com/office/drawing/2014/main" id="{46E6E1AC-3C12-A275-A18A-25DEE98BABC4}"/>
                </a:ext>
              </a:extLst>
            </p:cNvPr>
            <p:cNvSpPr/>
            <p:nvPr/>
          </p:nvSpPr>
          <p:spPr>
            <a:xfrm>
              <a:off x="6329340" y="3591937"/>
              <a:ext cx="1820849" cy="93530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TextBox 4">
              <a:extLst>
                <a:ext uri="{FF2B5EF4-FFF2-40B4-BE49-F238E27FC236}">
                  <a16:creationId xmlns:a16="http://schemas.microsoft.com/office/drawing/2014/main" id="{D8AB3BA6-19DC-5D04-7B0E-ECDE4DE328B5}"/>
                </a:ext>
              </a:extLst>
            </p:cNvPr>
            <p:cNvSpPr txBox="1"/>
            <p:nvPr/>
          </p:nvSpPr>
          <p:spPr>
            <a:xfrm>
              <a:off x="6638195" y="2746279"/>
              <a:ext cx="1693363" cy="346249"/>
            </a:xfrm>
            <a:prstGeom prst="rect">
              <a:avLst/>
            </a:prstGeom>
            <a:noFill/>
          </p:spPr>
          <p:txBody>
            <a:bodyPr wrap="square" rtlCol="0">
              <a:spAutoFit/>
            </a:bodyPr>
            <a:lstStyle/>
            <a:p>
              <a:r>
                <a:rPr lang="hu-HU" sz="2400" dirty="0" err="1"/>
                <a:t>Subscription</a:t>
              </a:r>
              <a:endParaRPr lang="en-US" sz="2400" dirty="0"/>
            </a:p>
          </p:txBody>
        </p:sp>
        <p:sp>
          <p:nvSpPr>
            <p:cNvPr id="6" name="TextBox 5">
              <a:extLst>
                <a:ext uri="{FF2B5EF4-FFF2-40B4-BE49-F238E27FC236}">
                  <a16:creationId xmlns:a16="http://schemas.microsoft.com/office/drawing/2014/main" id="{19E8C249-3FE6-E62B-9C99-0844CF15CB20}"/>
                </a:ext>
              </a:extLst>
            </p:cNvPr>
            <p:cNvSpPr txBox="1"/>
            <p:nvPr/>
          </p:nvSpPr>
          <p:spPr>
            <a:xfrm>
              <a:off x="6618771" y="3332592"/>
              <a:ext cx="1467821" cy="253916"/>
            </a:xfrm>
            <a:prstGeom prst="rect">
              <a:avLst/>
            </a:prstGeom>
            <a:noFill/>
          </p:spPr>
          <p:txBody>
            <a:bodyPr wrap="square" rtlCol="0">
              <a:spAutoFit/>
            </a:bodyPr>
            <a:lstStyle/>
            <a:p>
              <a:r>
                <a:rPr lang="hu-HU" sz="1600" dirty="0" err="1"/>
                <a:t>Resource</a:t>
              </a:r>
              <a:r>
                <a:rPr lang="hu-HU" sz="1600" dirty="0"/>
                <a:t> </a:t>
              </a:r>
              <a:r>
                <a:rPr lang="hu-HU" sz="1600" dirty="0" err="1"/>
                <a:t>Groups</a:t>
              </a:r>
              <a:r>
                <a:rPr lang="hu-HU" sz="1600" dirty="0"/>
                <a:t> </a:t>
              </a:r>
              <a:endParaRPr lang="en-US" sz="1600" dirty="0"/>
            </a:p>
          </p:txBody>
        </p:sp>
        <p:grpSp>
          <p:nvGrpSpPr>
            <p:cNvPr id="7" name="Group 6">
              <a:extLst>
                <a:ext uri="{FF2B5EF4-FFF2-40B4-BE49-F238E27FC236}">
                  <a16:creationId xmlns:a16="http://schemas.microsoft.com/office/drawing/2014/main" id="{60528AB5-AAC7-D7A6-63DF-1024B816C99A}"/>
                </a:ext>
              </a:extLst>
            </p:cNvPr>
            <p:cNvGrpSpPr/>
            <p:nvPr/>
          </p:nvGrpSpPr>
          <p:grpSpPr>
            <a:xfrm>
              <a:off x="6968226" y="3048515"/>
              <a:ext cx="543075" cy="294804"/>
              <a:chOff x="1364974" y="1701289"/>
              <a:chExt cx="543075" cy="294804"/>
            </a:xfrm>
          </p:grpSpPr>
          <p:pic>
            <p:nvPicPr>
              <p:cNvPr id="8" name="Picture 7">
                <a:extLst>
                  <a:ext uri="{FF2B5EF4-FFF2-40B4-BE49-F238E27FC236}">
                    <a16:creationId xmlns:a16="http://schemas.microsoft.com/office/drawing/2014/main" id="{79D9ED2E-7F9C-A841-DC67-D47CBB4AB0E7}"/>
                  </a:ext>
                </a:extLst>
              </p:cNvPr>
              <p:cNvPicPr>
                <a:picLocks noChangeAspect="1"/>
              </p:cNvPicPr>
              <p:nvPr/>
            </p:nvPicPr>
            <p:blipFill>
              <a:blip r:embed="rId7"/>
              <a:stretch>
                <a:fillRect/>
              </a:stretch>
            </p:blipFill>
            <p:spPr>
              <a:xfrm>
                <a:off x="1364974" y="1701289"/>
                <a:ext cx="454825" cy="214976"/>
              </a:xfrm>
              <a:prstGeom prst="rect">
                <a:avLst/>
              </a:prstGeom>
            </p:spPr>
          </p:pic>
          <p:pic>
            <p:nvPicPr>
              <p:cNvPr id="9" name="Picture 8">
                <a:extLst>
                  <a:ext uri="{FF2B5EF4-FFF2-40B4-BE49-F238E27FC236}">
                    <a16:creationId xmlns:a16="http://schemas.microsoft.com/office/drawing/2014/main" id="{FCB46463-EA9B-2224-3BE5-841597145D28}"/>
                  </a:ext>
                </a:extLst>
              </p:cNvPr>
              <p:cNvPicPr>
                <a:picLocks noChangeAspect="1"/>
              </p:cNvPicPr>
              <p:nvPr/>
            </p:nvPicPr>
            <p:blipFill>
              <a:blip r:embed="rId7"/>
              <a:stretch>
                <a:fillRect/>
              </a:stretch>
            </p:blipFill>
            <p:spPr>
              <a:xfrm>
                <a:off x="1407079" y="1741203"/>
                <a:ext cx="454825" cy="214976"/>
              </a:xfrm>
              <a:prstGeom prst="rect">
                <a:avLst/>
              </a:prstGeom>
            </p:spPr>
          </p:pic>
          <p:pic>
            <p:nvPicPr>
              <p:cNvPr id="10" name="Picture 9">
                <a:extLst>
                  <a:ext uri="{FF2B5EF4-FFF2-40B4-BE49-F238E27FC236}">
                    <a16:creationId xmlns:a16="http://schemas.microsoft.com/office/drawing/2014/main" id="{6E66A940-87FD-FBB4-6C65-11922A3EEEB9}"/>
                  </a:ext>
                </a:extLst>
              </p:cNvPr>
              <p:cNvPicPr>
                <a:picLocks noChangeAspect="1"/>
              </p:cNvPicPr>
              <p:nvPr/>
            </p:nvPicPr>
            <p:blipFill>
              <a:blip r:embed="rId7"/>
              <a:stretch>
                <a:fillRect/>
              </a:stretch>
            </p:blipFill>
            <p:spPr>
              <a:xfrm>
                <a:off x="1453224" y="1781117"/>
                <a:ext cx="454825" cy="214976"/>
              </a:xfrm>
              <a:prstGeom prst="rect">
                <a:avLst/>
              </a:prstGeom>
            </p:spPr>
          </p:pic>
        </p:grpSp>
        <p:pic>
          <p:nvPicPr>
            <p:cNvPr id="11" name="Picture 10">
              <a:extLst>
                <a:ext uri="{FF2B5EF4-FFF2-40B4-BE49-F238E27FC236}">
                  <a16:creationId xmlns:a16="http://schemas.microsoft.com/office/drawing/2014/main" id="{AF28F870-0B2E-4650-463C-70E4AF360EE3}"/>
                </a:ext>
              </a:extLst>
            </p:cNvPr>
            <p:cNvPicPr>
              <a:picLocks noChangeAspect="1"/>
            </p:cNvPicPr>
            <p:nvPr/>
          </p:nvPicPr>
          <p:blipFill>
            <a:blip r:embed="rId8"/>
            <a:stretch>
              <a:fillRect/>
            </a:stretch>
          </p:blipFill>
          <p:spPr>
            <a:xfrm>
              <a:off x="6347478" y="3445684"/>
              <a:ext cx="313446" cy="276999"/>
            </a:xfrm>
            <a:prstGeom prst="rect">
              <a:avLst/>
            </a:prstGeom>
          </p:spPr>
        </p:pic>
        <p:pic>
          <p:nvPicPr>
            <p:cNvPr id="12" name="Picture 11">
              <a:extLst>
                <a:ext uri="{FF2B5EF4-FFF2-40B4-BE49-F238E27FC236}">
                  <a16:creationId xmlns:a16="http://schemas.microsoft.com/office/drawing/2014/main" id="{4892DB00-985A-60F0-C631-9EAF7780D897}"/>
                </a:ext>
              </a:extLst>
            </p:cNvPr>
            <p:cNvPicPr>
              <a:picLocks noChangeAspect="1"/>
            </p:cNvPicPr>
            <p:nvPr/>
          </p:nvPicPr>
          <p:blipFill>
            <a:blip r:embed="rId9"/>
            <a:stretch>
              <a:fillRect/>
            </a:stretch>
          </p:blipFill>
          <p:spPr>
            <a:xfrm>
              <a:off x="6511615" y="3713856"/>
              <a:ext cx="1574978" cy="609669"/>
            </a:xfrm>
            <a:prstGeom prst="rect">
              <a:avLst/>
            </a:prstGeom>
          </p:spPr>
        </p:pic>
        <p:pic>
          <p:nvPicPr>
            <p:cNvPr id="13" name="Picture 12">
              <a:extLst>
                <a:ext uri="{FF2B5EF4-FFF2-40B4-BE49-F238E27FC236}">
                  <a16:creationId xmlns:a16="http://schemas.microsoft.com/office/drawing/2014/main" id="{D5C49CEA-32CA-AE0F-6D6D-47DDDE9AD631}"/>
                </a:ext>
              </a:extLst>
            </p:cNvPr>
            <p:cNvPicPr>
              <a:picLocks noChangeAspect="1"/>
            </p:cNvPicPr>
            <p:nvPr/>
          </p:nvPicPr>
          <p:blipFill>
            <a:blip r:embed="rId7"/>
            <a:stretch>
              <a:fillRect/>
            </a:stretch>
          </p:blipFill>
          <p:spPr>
            <a:xfrm>
              <a:off x="6604567" y="4261010"/>
              <a:ext cx="351459" cy="166119"/>
            </a:xfrm>
            <a:prstGeom prst="rect">
              <a:avLst/>
            </a:prstGeom>
          </p:spPr>
        </p:pic>
        <p:pic>
          <p:nvPicPr>
            <p:cNvPr id="14" name="Picture 13">
              <a:extLst>
                <a:ext uri="{FF2B5EF4-FFF2-40B4-BE49-F238E27FC236}">
                  <a16:creationId xmlns:a16="http://schemas.microsoft.com/office/drawing/2014/main" id="{79FCE705-5037-F27F-AB9F-8771084C35F2}"/>
                </a:ext>
              </a:extLst>
            </p:cNvPr>
            <p:cNvPicPr>
              <a:picLocks noChangeAspect="1"/>
            </p:cNvPicPr>
            <p:nvPr/>
          </p:nvPicPr>
          <p:blipFill>
            <a:blip r:embed="rId7"/>
            <a:stretch>
              <a:fillRect/>
            </a:stretch>
          </p:blipFill>
          <p:spPr>
            <a:xfrm>
              <a:off x="7100392" y="4261009"/>
              <a:ext cx="351459" cy="166119"/>
            </a:xfrm>
            <a:prstGeom prst="rect">
              <a:avLst/>
            </a:prstGeom>
          </p:spPr>
        </p:pic>
        <p:pic>
          <p:nvPicPr>
            <p:cNvPr id="15" name="Picture 14">
              <a:extLst>
                <a:ext uri="{FF2B5EF4-FFF2-40B4-BE49-F238E27FC236}">
                  <a16:creationId xmlns:a16="http://schemas.microsoft.com/office/drawing/2014/main" id="{9F854180-B562-155B-7A33-919F718708DC}"/>
                </a:ext>
              </a:extLst>
            </p:cNvPr>
            <p:cNvPicPr>
              <a:picLocks noChangeAspect="1"/>
            </p:cNvPicPr>
            <p:nvPr/>
          </p:nvPicPr>
          <p:blipFill>
            <a:blip r:embed="rId7"/>
            <a:stretch>
              <a:fillRect/>
            </a:stretch>
          </p:blipFill>
          <p:spPr>
            <a:xfrm>
              <a:off x="7575190" y="4261008"/>
              <a:ext cx="351459" cy="166119"/>
            </a:xfrm>
            <a:prstGeom prst="rect">
              <a:avLst/>
            </a:prstGeom>
          </p:spPr>
        </p:pic>
        <p:sp>
          <p:nvSpPr>
            <p:cNvPr id="23" name="Rectangle: Rounded Corners 22">
              <a:extLst>
                <a:ext uri="{FF2B5EF4-FFF2-40B4-BE49-F238E27FC236}">
                  <a16:creationId xmlns:a16="http://schemas.microsoft.com/office/drawing/2014/main" id="{6EB0AFC2-B6D4-EC11-F3F9-AB9FA8E64180}"/>
                </a:ext>
              </a:extLst>
            </p:cNvPr>
            <p:cNvSpPr/>
            <p:nvPr/>
          </p:nvSpPr>
          <p:spPr>
            <a:xfrm>
              <a:off x="5596703" y="2746279"/>
              <a:ext cx="3134261" cy="2024504"/>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4" name="Picture 23">
              <a:extLst>
                <a:ext uri="{FF2B5EF4-FFF2-40B4-BE49-F238E27FC236}">
                  <a16:creationId xmlns:a16="http://schemas.microsoft.com/office/drawing/2014/main" id="{6993D636-9AB2-E4F5-9F17-8B7E4F3B4121}"/>
                </a:ext>
              </a:extLst>
            </p:cNvPr>
            <p:cNvPicPr>
              <a:picLocks noChangeAspect="1"/>
            </p:cNvPicPr>
            <p:nvPr/>
          </p:nvPicPr>
          <p:blipFill>
            <a:blip r:embed="rId10"/>
            <a:stretch>
              <a:fillRect/>
            </a:stretch>
          </p:blipFill>
          <p:spPr>
            <a:xfrm>
              <a:off x="5962937" y="2577255"/>
              <a:ext cx="346716" cy="338048"/>
            </a:xfrm>
            <a:prstGeom prst="rect">
              <a:avLst/>
            </a:prstGeom>
          </p:spPr>
        </p:pic>
      </p:grpSp>
      <p:sp>
        <p:nvSpPr>
          <p:cNvPr id="196" name="Google Shape;193;p28">
            <a:extLst>
              <a:ext uri="{FF2B5EF4-FFF2-40B4-BE49-F238E27FC236}">
                <a16:creationId xmlns:a16="http://schemas.microsoft.com/office/drawing/2014/main" id="{3433A38F-8943-DDE9-9E12-7A68324C6B17}"/>
              </a:ext>
            </a:extLst>
          </p:cNvPr>
          <p:cNvSpPr txBox="1">
            <a:spLocks noGrp="1"/>
          </p:cNvSpPr>
          <p:nvPr>
            <p:ph type="body" idx="1"/>
          </p:nvPr>
        </p:nvSpPr>
        <p:spPr>
          <a:xfrm>
            <a:off x="119336" y="1052737"/>
            <a:ext cx="7253987" cy="5303600"/>
          </a:xfrm>
          <a:prstGeom prst="rect">
            <a:avLst/>
          </a:prstGeom>
        </p:spPr>
        <p:txBody>
          <a:bodyPr spcFirstLastPara="1" wrap="square" lIns="91433" tIns="45700" rIns="91433" bIns="45700" anchor="t" anchorCtr="0">
            <a:normAutofit/>
          </a:bodyPr>
          <a:lstStyle/>
          <a:p>
            <a:r>
              <a:rPr lang="hu" sz="2133" dirty="0"/>
              <a:t>ARM is the orchestration layer for managing resoureces</a:t>
            </a:r>
          </a:p>
          <a:p>
            <a:r>
              <a:rPr lang="hu" sz="2133" dirty="0"/>
              <a:t>Uses REST API  endpoints</a:t>
            </a:r>
          </a:p>
          <a:p>
            <a:pPr lvl="1" indent="-448722">
              <a:buSzPts val="1700"/>
              <a:buChar char="▪"/>
            </a:pPr>
            <a:r>
              <a:rPr lang="hu" sz="1867" dirty="0"/>
              <a:t>Azure Portal</a:t>
            </a:r>
          </a:p>
          <a:p>
            <a:pPr lvl="1" indent="-448722">
              <a:buSzPts val="1700"/>
              <a:buFont typeface="Noto Sans Symbols"/>
              <a:buChar char="▪"/>
            </a:pPr>
            <a:r>
              <a:rPr lang="hu" sz="1867" dirty="0"/>
              <a:t>Azure Powershell</a:t>
            </a:r>
          </a:p>
          <a:p>
            <a:pPr lvl="1" indent="-448722">
              <a:buSzPts val="1700"/>
              <a:buChar char="▪"/>
            </a:pPr>
            <a:r>
              <a:rPr lang="hu" sz="1867" dirty="0"/>
              <a:t>Azure CLI</a:t>
            </a:r>
          </a:p>
        </p:txBody>
      </p:sp>
      <p:grpSp>
        <p:nvGrpSpPr>
          <p:cNvPr id="230" name="Group 229">
            <a:extLst>
              <a:ext uri="{FF2B5EF4-FFF2-40B4-BE49-F238E27FC236}">
                <a16:creationId xmlns:a16="http://schemas.microsoft.com/office/drawing/2014/main" id="{0BE36932-1725-2E30-0381-7FE5465AAED1}"/>
              </a:ext>
            </a:extLst>
          </p:cNvPr>
          <p:cNvGrpSpPr/>
          <p:nvPr/>
        </p:nvGrpSpPr>
        <p:grpSpPr>
          <a:xfrm>
            <a:off x="9189007" y="2522517"/>
            <a:ext cx="1325669" cy="2516059"/>
            <a:chOff x="6888479" y="1900096"/>
            <a:chExt cx="994252" cy="1887044"/>
          </a:xfrm>
        </p:grpSpPr>
        <p:cxnSp>
          <p:nvCxnSpPr>
            <p:cNvPr id="215" name="Straight Arrow Connector 214">
              <a:extLst>
                <a:ext uri="{FF2B5EF4-FFF2-40B4-BE49-F238E27FC236}">
                  <a16:creationId xmlns:a16="http://schemas.microsoft.com/office/drawing/2014/main" id="{A6095F29-13DA-9234-0349-8B7C3BE9C7CA}"/>
                </a:ext>
              </a:extLst>
            </p:cNvPr>
            <p:cNvCxnSpPr>
              <a:cxnSpLocks/>
              <a:stCxn id="195" idx="2"/>
            </p:cNvCxnSpPr>
            <p:nvPr/>
          </p:nvCxnSpPr>
          <p:spPr>
            <a:xfrm>
              <a:off x="7300442" y="1900097"/>
              <a:ext cx="117889" cy="1885680"/>
            </a:xfrm>
            <a:prstGeom prst="straightConnector1">
              <a:avLst/>
            </a:prstGeom>
            <a:ln w="19050">
              <a:solidFill>
                <a:srgbClr val="00B050"/>
              </a:solidFill>
              <a:tailEnd type="triangle"/>
            </a:ln>
          </p:spPr>
          <p:style>
            <a:lnRef idx="1">
              <a:schemeClr val="accent3"/>
            </a:lnRef>
            <a:fillRef idx="0">
              <a:schemeClr val="accent3"/>
            </a:fillRef>
            <a:effectRef idx="0">
              <a:schemeClr val="accent3"/>
            </a:effectRef>
            <a:fontRef idx="minor">
              <a:schemeClr val="tx1"/>
            </a:fontRef>
          </p:style>
        </p:cxnSp>
        <p:cxnSp>
          <p:nvCxnSpPr>
            <p:cNvPr id="219" name="Straight Arrow Connector 218">
              <a:extLst>
                <a:ext uri="{FF2B5EF4-FFF2-40B4-BE49-F238E27FC236}">
                  <a16:creationId xmlns:a16="http://schemas.microsoft.com/office/drawing/2014/main" id="{F811C21F-794A-C170-016A-5675910BAD6A}"/>
                </a:ext>
              </a:extLst>
            </p:cNvPr>
            <p:cNvCxnSpPr>
              <a:cxnSpLocks/>
              <a:stCxn id="195" idx="2"/>
            </p:cNvCxnSpPr>
            <p:nvPr/>
          </p:nvCxnSpPr>
          <p:spPr>
            <a:xfrm>
              <a:off x="7300442" y="1900096"/>
              <a:ext cx="582289" cy="1853542"/>
            </a:xfrm>
            <a:prstGeom prst="straightConnector1">
              <a:avLst/>
            </a:prstGeom>
            <a:ln w="19050">
              <a:solidFill>
                <a:srgbClr val="00B050"/>
              </a:solidFill>
              <a:tailEnd type="triangle"/>
            </a:ln>
          </p:spPr>
          <p:style>
            <a:lnRef idx="1">
              <a:schemeClr val="accent3"/>
            </a:lnRef>
            <a:fillRef idx="0">
              <a:schemeClr val="accent3"/>
            </a:fillRef>
            <a:effectRef idx="0">
              <a:schemeClr val="accent3"/>
            </a:effectRef>
            <a:fontRef idx="minor">
              <a:schemeClr val="tx1"/>
            </a:fontRef>
          </p:style>
        </p:cxnSp>
        <p:cxnSp>
          <p:nvCxnSpPr>
            <p:cNvPr id="225" name="Straight Arrow Connector 224">
              <a:extLst>
                <a:ext uri="{FF2B5EF4-FFF2-40B4-BE49-F238E27FC236}">
                  <a16:creationId xmlns:a16="http://schemas.microsoft.com/office/drawing/2014/main" id="{02D16557-8A57-92AE-66F6-C1E569E21167}"/>
                </a:ext>
              </a:extLst>
            </p:cNvPr>
            <p:cNvCxnSpPr>
              <a:cxnSpLocks/>
            </p:cNvCxnSpPr>
            <p:nvPr/>
          </p:nvCxnSpPr>
          <p:spPr>
            <a:xfrm flipH="1">
              <a:off x="6888479" y="1934290"/>
              <a:ext cx="415238" cy="1852850"/>
            </a:xfrm>
            <a:prstGeom prst="straightConnector1">
              <a:avLst/>
            </a:prstGeom>
            <a:ln w="19050">
              <a:solidFill>
                <a:srgbClr val="00B050"/>
              </a:solidFill>
              <a:tailEnd type="triangle"/>
            </a:ln>
          </p:spPr>
          <p:style>
            <a:lnRef idx="1">
              <a:schemeClr val="accent3"/>
            </a:lnRef>
            <a:fillRef idx="0">
              <a:schemeClr val="accent3"/>
            </a:fillRef>
            <a:effectRef idx="0">
              <a:schemeClr val="accent3"/>
            </a:effectRef>
            <a:fontRef idx="minor">
              <a:schemeClr val="tx1"/>
            </a:fontRef>
          </p:style>
        </p:cxnSp>
      </p:grpSp>
    </p:spTree>
    <p:extLst>
      <p:ext uri="{BB962C8B-B14F-4D97-AF65-F5344CB8AC3E}">
        <p14:creationId xmlns:p14="http://schemas.microsoft.com/office/powerpoint/2010/main" val="1932227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6"/>
                                        </p:tgtEl>
                                        <p:attrNameLst>
                                          <p:attrName>style.visibility</p:attrName>
                                        </p:attrNameLst>
                                      </p:cBhvr>
                                      <p:to>
                                        <p:strVal val="visible"/>
                                      </p:to>
                                    </p:set>
                                    <p:animEffect transition="in" filter="fade">
                                      <p:cBhvr>
                                        <p:cTn id="7" dur="500"/>
                                        <p:tgtEl>
                                          <p:spTgt spid="236"/>
                                        </p:tgtEl>
                                      </p:cBhvr>
                                    </p:animEffect>
                                  </p:childTnLst>
                                </p:cTn>
                              </p:par>
                              <p:par>
                                <p:cTn id="8" presetID="10" presetClass="entr" presetSubtype="0" fill="hold" nodeType="withEffect">
                                  <p:stCondLst>
                                    <p:cond delay="0"/>
                                  </p:stCondLst>
                                  <p:childTnLst>
                                    <p:set>
                                      <p:cBhvr>
                                        <p:cTn id="9" dur="1" fill="hold">
                                          <p:stCondLst>
                                            <p:cond delay="0"/>
                                          </p:stCondLst>
                                        </p:cTn>
                                        <p:tgtEl>
                                          <p:spTgt spid="196">
                                            <p:txEl>
                                              <p:pRg st="0" end="0"/>
                                            </p:txEl>
                                          </p:spTgt>
                                        </p:tgtEl>
                                        <p:attrNameLst>
                                          <p:attrName>style.visibility</p:attrName>
                                        </p:attrNameLst>
                                      </p:cBhvr>
                                      <p:to>
                                        <p:strVal val="visible"/>
                                      </p:to>
                                    </p:set>
                                    <p:animEffect transition="in" filter="fade">
                                      <p:cBhvr>
                                        <p:cTn id="10" dur="500"/>
                                        <p:tgtEl>
                                          <p:spTgt spid="19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6">
                                            <p:txEl>
                                              <p:pRg st="1" end="1"/>
                                            </p:txEl>
                                          </p:spTgt>
                                        </p:tgtEl>
                                        <p:attrNameLst>
                                          <p:attrName>style.visibility</p:attrName>
                                        </p:attrNameLst>
                                      </p:cBhvr>
                                      <p:to>
                                        <p:strVal val="visible"/>
                                      </p:to>
                                    </p:set>
                                    <p:animEffect transition="in" filter="fade">
                                      <p:cBhvr>
                                        <p:cTn id="15" dur="500"/>
                                        <p:tgtEl>
                                          <p:spTgt spid="196">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96">
                                            <p:txEl>
                                              <p:pRg st="2" end="2"/>
                                            </p:txEl>
                                          </p:spTgt>
                                        </p:tgtEl>
                                        <p:attrNameLst>
                                          <p:attrName>style.visibility</p:attrName>
                                        </p:attrNameLst>
                                      </p:cBhvr>
                                      <p:to>
                                        <p:strVal val="visible"/>
                                      </p:to>
                                    </p:set>
                                    <p:animEffect transition="in" filter="fade">
                                      <p:cBhvr>
                                        <p:cTn id="18" dur="500"/>
                                        <p:tgtEl>
                                          <p:spTgt spid="196">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96">
                                            <p:txEl>
                                              <p:pRg st="3" end="3"/>
                                            </p:txEl>
                                          </p:spTgt>
                                        </p:tgtEl>
                                        <p:attrNameLst>
                                          <p:attrName>style.visibility</p:attrName>
                                        </p:attrNameLst>
                                      </p:cBhvr>
                                      <p:to>
                                        <p:strVal val="visible"/>
                                      </p:to>
                                    </p:set>
                                    <p:animEffect transition="in" filter="fade">
                                      <p:cBhvr>
                                        <p:cTn id="21" dur="500"/>
                                        <p:tgtEl>
                                          <p:spTgt spid="196">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96">
                                            <p:txEl>
                                              <p:pRg st="4" end="4"/>
                                            </p:txEl>
                                          </p:spTgt>
                                        </p:tgtEl>
                                        <p:attrNameLst>
                                          <p:attrName>style.visibility</p:attrName>
                                        </p:attrNameLst>
                                      </p:cBhvr>
                                      <p:to>
                                        <p:strVal val="visible"/>
                                      </p:to>
                                    </p:set>
                                    <p:animEffect transition="in" filter="fade">
                                      <p:cBhvr>
                                        <p:cTn id="24" dur="500"/>
                                        <p:tgtEl>
                                          <p:spTgt spid="196">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30"/>
                                        </p:tgtEl>
                                        <p:attrNameLst>
                                          <p:attrName>style.visibility</p:attrName>
                                        </p:attrNameLst>
                                      </p:cBhvr>
                                      <p:to>
                                        <p:strVal val="visible"/>
                                      </p:to>
                                    </p:set>
                                    <p:animEffect transition="in" filter="fade">
                                      <p:cBhvr>
                                        <p:cTn id="29" dur="500"/>
                                        <p:tgtEl>
                                          <p:spTgt spid="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grpSp>
        <p:nvGrpSpPr>
          <p:cNvPr id="236" name="Group 235">
            <a:extLst>
              <a:ext uri="{FF2B5EF4-FFF2-40B4-BE49-F238E27FC236}">
                <a16:creationId xmlns:a16="http://schemas.microsoft.com/office/drawing/2014/main" id="{2E3DBD71-A82C-091C-B0B7-0F94DD78517B}"/>
              </a:ext>
            </a:extLst>
          </p:cNvPr>
          <p:cNvGrpSpPr/>
          <p:nvPr/>
        </p:nvGrpSpPr>
        <p:grpSpPr>
          <a:xfrm>
            <a:off x="7416451" y="933898"/>
            <a:ext cx="4539975" cy="2407949"/>
            <a:chOff x="5562338" y="700423"/>
            <a:chExt cx="3404981" cy="1805962"/>
          </a:xfrm>
        </p:grpSpPr>
        <p:grpSp>
          <p:nvGrpSpPr>
            <p:cNvPr id="197" name="Group 196">
              <a:extLst>
                <a:ext uri="{FF2B5EF4-FFF2-40B4-BE49-F238E27FC236}">
                  <a16:creationId xmlns:a16="http://schemas.microsoft.com/office/drawing/2014/main" id="{DBB2AAA6-48B3-0B58-7BBC-CF55E389B1C0}"/>
                </a:ext>
              </a:extLst>
            </p:cNvPr>
            <p:cNvGrpSpPr/>
            <p:nvPr/>
          </p:nvGrpSpPr>
          <p:grpSpPr>
            <a:xfrm>
              <a:off x="5596703" y="1509981"/>
              <a:ext cx="3370616" cy="993280"/>
              <a:chOff x="5635050" y="1288664"/>
              <a:chExt cx="3134261" cy="789359"/>
            </a:xfrm>
            <a:solidFill>
              <a:schemeClr val="bg1"/>
            </a:solidFill>
          </p:grpSpPr>
          <p:sp>
            <p:nvSpPr>
              <p:cNvPr id="25" name="Rectangle: Rounded Corners 24">
                <a:extLst>
                  <a:ext uri="{FF2B5EF4-FFF2-40B4-BE49-F238E27FC236}">
                    <a16:creationId xmlns:a16="http://schemas.microsoft.com/office/drawing/2014/main" id="{DB182C6D-F7AC-007C-FAC4-86EAA33450D9}"/>
                  </a:ext>
                </a:extLst>
              </p:cNvPr>
              <p:cNvSpPr/>
              <p:nvPr/>
            </p:nvSpPr>
            <p:spPr>
              <a:xfrm>
                <a:off x="5635050" y="1288664"/>
                <a:ext cx="3134261" cy="789359"/>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5" name="TextBox 194">
                <a:extLst>
                  <a:ext uri="{FF2B5EF4-FFF2-40B4-BE49-F238E27FC236}">
                    <a16:creationId xmlns:a16="http://schemas.microsoft.com/office/drawing/2014/main" id="{FE440559-9D34-36AE-B110-AE647AE000B7}"/>
                  </a:ext>
                </a:extLst>
              </p:cNvPr>
              <p:cNvSpPr txBox="1"/>
              <p:nvPr/>
            </p:nvSpPr>
            <p:spPr>
              <a:xfrm>
                <a:off x="5724310" y="1317002"/>
                <a:ext cx="2996110" cy="275164"/>
              </a:xfrm>
              <a:prstGeom prst="rect">
                <a:avLst/>
              </a:prstGeom>
              <a:noFill/>
            </p:spPr>
            <p:txBody>
              <a:bodyPr wrap="square" rtlCol="0">
                <a:spAutoFit/>
              </a:bodyPr>
              <a:lstStyle/>
              <a:p>
                <a:pPr algn="ctr"/>
                <a:r>
                  <a:rPr lang="hu-HU" sz="2400" dirty="0" err="1"/>
                  <a:t>Azure</a:t>
                </a:r>
                <a:r>
                  <a:rPr lang="hu-HU" sz="2400" dirty="0"/>
                  <a:t> </a:t>
                </a:r>
                <a:r>
                  <a:rPr lang="hu-HU" sz="2400" dirty="0" err="1"/>
                  <a:t>Resource</a:t>
                </a:r>
                <a:r>
                  <a:rPr lang="hu-HU" sz="2400" dirty="0"/>
                  <a:t> Manager</a:t>
                </a:r>
                <a:endParaRPr lang="en-US" sz="2400" dirty="0"/>
              </a:p>
            </p:txBody>
          </p:sp>
        </p:grpSp>
        <p:pic>
          <p:nvPicPr>
            <p:cNvPr id="199" name="Picture 198">
              <a:extLst>
                <a:ext uri="{FF2B5EF4-FFF2-40B4-BE49-F238E27FC236}">
                  <a16:creationId xmlns:a16="http://schemas.microsoft.com/office/drawing/2014/main" id="{3DF78635-7D56-430B-8719-1420D4404730}"/>
                </a:ext>
              </a:extLst>
            </p:cNvPr>
            <p:cNvPicPr>
              <a:picLocks noChangeAspect="1"/>
            </p:cNvPicPr>
            <p:nvPr/>
          </p:nvPicPr>
          <p:blipFill>
            <a:blip r:embed="rId3"/>
            <a:stretch>
              <a:fillRect/>
            </a:stretch>
          </p:blipFill>
          <p:spPr>
            <a:xfrm>
              <a:off x="5567042" y="716371"/>
              <a:ext cx="1197197" cy="636807"/>
            </a:xfrm>
            <a:prstGeom prst="rect">
              <a:avLst/>
            </a:prstGeom>
          </p:spPr>
        </p:pic>
        <p:pic>
          <p:nvPicPr>
            <p:cNvPr id="201" name="Picture 200">
              <a:extLst>
                <a:ext uri="{FF2B5EF4-FFF2-40B4-BE49-F238E27FC236}">
                  <a16:creationId xmlns:a16="http://schemas.microsoft.com/office/drawing/2014/main" id="{822805A7-CFF6-B8DC-CEE1-44BDF3E15490}"/>
                </a:ext>
              </a:extLst>
            </p:cNvPr>
            <p:cNvPicPr>
              <a:picLocks noChangeAspect="1"/>
            </p:cNvPicPr>
            <p:nvPr/>
          </p:nvPicPr>
          <p:blipFill>
            <a:blip r:embed="rId4"/>
            <a:stretch>
              <a:fillRect/>
            </a:stretch>
          </p:blipFill>
          <p:spPr>
            <a:xfrm>
              <a:off x="7859155" y="700423"/>
              <a:ext cx="1108164" cy="651466"/>
            </a:xfrm>
            <a:prstGeom prst="rect">
              <a:avLst/>
            </a:prstGeom>
          </p:spPr>
        </p:pic>
        <p:pic>
          <p:nvPicPr>
            <p:cNvPr id="203" name="Picture 202">
              <a:extLst>
                <a:ext uri="{FF2B5EF4-FFF2-40B4-BE49-F238E27FC236}">
                  <a16:creationId xmlns:a16="http://schemas.microsoft.com/office/drawing/2014/main" id="{10F3105C-E901-43DA-15E5-1D5F3F722F73}"/>
                </a:ext>
              </a:extLst>
            </p:cNvPr>
            <p:cNvPicPr>
              <a:picLocks noChangeAspect="1"/>
            </p:cNvPicPr>
            <p:nvPr/>
          </p:nvPicPr>
          <p:blipFill>
            <a:blip r:embed="rId5"/>
            <a:stretch>
              <a:fillRect/>
            </a:stretch>
          </p:blipFill>
          <p:spPr>
            <a:xfrm>
              <a:off x="6823163" y="711294"/>
              <a:ext cx="977067" cy="640594"/>
            </a:xfrm>
            <a:prstGeom prst="rect">
              <a:avLst/>
            </a:prstGeom>
          </p:spPr>
        </p:pic>
        <p:cxnSp>
          <p:nvCxnSpPr>
            <p:cNvPr id="206" name="Straight Connector 205">
              <a:extLst>
                <a:ext uri="{FF2B5EF4-FFF2-40B4-BE49-F238E27FC236}">
                  <a16:creationId xmlns:a16="http://schemas.microsoft.com/office/drawing/2014/main" id="{07B09D1E-1DE3-1015-25E7-5A7A20BBFC5E}"/>
                </a:ext>
              </a:extLst>
            </p:cNvPr>
            <p:cNvCxnSpPr>
              <a:cxnSpLocks/>
            </p:cNvCxnSpPr>
            <p:nvPr/>
          </p:nvCxnSpPr>
          <p:spPr>
            <a:xfrm flipV="1">
              <a:off x="5744565" y="1351888"/>
              <a:ext cx="0" cy="15945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F0D74DA0-70C9-E0AA-06D0-6F3D3FD7B744}"/>
                </a:ext>
              </a:extLst>
            </p:cNvPr>
            <p:cNvCxnSpPr>
              <a:cxnSpLocks/>
            </p:cNvCxnSpPr>
            <p:nvPr/>
          </p:nvCxnSpPr>
          <p:spPr>
            <a:xfrm flipV="1">
              <a:off x="6969153" y="1351888"/>
              <a:ext cx="0" cy="15945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0D5B6182-682C-B181-D6C1-41E3A0489D6D}"/>
                </a:ext>
              </a:extLst>
            </p:cNvPr>
            <p:cNvCxnSpPr>
              <a:cxnSpLocks/>
            </p:cNvCxnSpPr>
            <p:nvPr/>
          </p:nvCxnSpPr>
          <p:spPr>
            <a:xfrm flipV="1">
              <a:off x="8019135" y="1351888"/>
              <a:ext cx="0" cy="159456"/>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231" name="Group 230">
              <a:extLst>
                <a:ext uri="{FF2B5EF4-FFF2-40B4-BE49-F238E27FC236}">
                  <a16:creationId xmlns:a16="http://schemas.microsoft.com/office/drawing/2014/main" id="{5E9293DF-68F9-1BFE-D9FF-79331239A560}"/>
                </a:ext>
              </a:extLst>
            </p:cNvPr>
            <p:cNvGrpSpPr/>
            <p:nvPr/>
          </p:nvGrpSpPr>
          <p:grpSpPr>
            <a:xfrm>
              <a:off x="5590551" y="1513105"/>
              <a:ext cx="3370616" cy="993280"/>
              <a:chOff x="5633704" y="1291147"/>
              <a:chExt cx="3134261" cy="789359"/>
            </a:xfrm>
            <a:solidFill>
              <a:schemeClr val="bg1"/>
            </a:solidFill>
          </p:grpSpPr>
          <p:sp>
            <p:nvSpPr>
              <p:cNvPr id="232" name="Rectangle: Rounded Corners 231">
                <a:extLst>
                  <a:ext uri="{FF2B5EF4-FFF2-40B4-BE49-F238E27FC236}">
                    <a16:creationId xmlns:a16="http://schemas.microsoft.com/office/drawing/2014/main" id="{6B6883CD-9D2D-FF33-BD18-32463E558C65}"/>
                  </a:ext>
                </a:extLst>
              </p:cNvPr>
              <p:cNvSpPr/>
              <p:nvPr/>
            </p:nvSpPr>
            <p:spPr>
              <a:xfrm>
                <a:off x="5633704" y="1291147"/>
                <a:ext cx="3134261" cy="789359"/>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33" name="TextBox 232">
                <a:extLst>
                  <a:ext uri="{FF2B5EF4-FFF2-40B4-BE49-F238E27FC236}">
                    <a16:creationId xmlns:a16="http://schemas.microsoft.com/office/drawing/2014/main" id="{A838DFFC-8585-9D9D-02FE-BDA88FA6582D}"/>
                  </a:ext>
                </a:extLst>
              </p:cNvPr>
              <p:cNvSpPr txBox="1"/>
              <p:nvPr/>
            </p:nvSpPr>
            <p:spPr>
              <a:xfrm>
                <a:off x="5724310" y="1317002"/>
                <a:ext cx="2996110" cy="275164"/>
              </a:xfrm>
              <a:prstGeom prst="rect">
                <a:avLst/>
              </a:prstGeom>
              <a:noFill/>
            </p:spPr>
            <p:txBody>
              <a:bodyPr wrap="square" rtlCol="0">
                <a:spAutoFit/>
              </a:bodyPr>
              <a:lstStyle/>
              <a:p>
                <a:pPr algn="ctr"/>
                <a:r>
                  <a:rPr lang="hu-HU" sz="2400" dirty="0" err="1"/>
                  <a:t>Azure</a:t>
                </a:r>
                <a:r>
                  <a:rPr lang="hu-HU" sz="2400" dirty="0"/>
                  <a:t> </a:t>
                </a:r>
                <a:r>
                  <a:rPr lang="hu-HU" sz="2400" dirty="0" err="1"/>
                  <a:t>Resource</a:t>
                </a:r>
                <a:r>
                  <a:rPr lang="hu-HU" sz="2400" dirty="0"/>
                  <a:t> Manager</a:t>
                </a:r>
                <a:endParaRPr lang="en-US" sz="2400" dirty="0"/>
              </a:p>
            </p:txBody>
          </p:sp>
        </p:grpSp>
        <p:pic>
          <p:nvPicPr>
            <p:cNvPr id="234" name="Picture 233">
              <a:extLst>
                <a:ext uri="{FF2B5EF4-FFF2-40B4-BE49-F238E27FC236}">
                  <a16:creationId xmlns:a16="http://schemas.microsoft.com/office/drawing/2014/main" id="{9A31B93A-4753-A5D2-D6BD-C966C0DDDDA6}"/>
                </a:ext>
              </a:extLst>
            </p:cNvPr>
            <p:cNvPicPr>
              <a:picLocks noChangeAspect="1"/>
            </p:cNvPicPr>
            <p:nvPr/>
          </p:nvPicPr>
          <p:blipFill>
            <a:blip r:embed="rId3"/>
            <a:stretch>
              <a:fillRect/>
            </a:stretch>
          </p:blipFill>
          <p:spPr>
            <a:xfrm>
              <a:off x="5562338" y="716371"/>
              <a:ext cx="1197197" cy="636807"/>
            </a:xfrm>
            <a:prstGeom prst="rect">
              <a:avLst/>
            </a:prstGeom>
          </p:spPr>
        </p:pic>
        <p:pic>
          <p:nvPicPr>
            <p:cNvPr id="235" name="Picture 234">
              <a:extLst>
                <a:ext uri="{FF2B5EF4-FFF2-40B4-BE49-F238E27FC236}">
                  <a16:creationId xmlns:a16="http://schemas.microsoft.com/office/drawing/2014/main" id="{CC161464-C574-68DD-6C84-7B22E7C34BD3}"/>
                </a:ext>
              </a:extLst>
            </p:cNvPr>
            <p:cNvPicPr>
              <a:picLocks noChangeAspect="1"/>
            </p:cNvPicPr>
            <p:nvPr/>
          </p:nvPicPr>
          <p:blipFill>
            <a:blip r:embed="rId5"/>
            <a:stretch>
              <a:fillRect/>
            </a:stretch>
          </p:blipFill>
          <p:spPr>
            <a:xfrm>
              <a:off x="6818459" y="711294"/>
              <a:ext cx="977067" cy="640594"/>
            </a:xfrm>
            <a:prstGeom prst="rect">
              <a:avLst/>
            </a:prstGeom>
          </p:spPr>
        </p:pic>
      </p:grpSp>
      <p:sp>
        <p:nvSpPr>
          <p:cNvPr id="192" name="Google Shape;192;p28"/>
          <p:cNvSpPr txBox="1">
            <a:spLocks noGrp="1"/>
          </p:cNvSpPr>
          <p:nvPr>
            <p:ph type="title"/>
          </p:nvPr>
        </p:nvSpPr>
        <p:spPr>
          <a:xfrm>
            <a:off x="119336" y="116632"/>
            <a:ext cx="11953200" cy="669200"/>
          </a:xfrm>
          <a:prstGeom prst="rect">
            <a:avLst/>
          </a:prstGeom>
        </p:spPr>
        <p:txBody>
          <a:bodyPr spcFirstLastPara="1" wrap="square" lIns="91433" tIns="45700" rIns="91433" bIns="45700" anchor="ctr" anchorCtr="0">
            <a:normAutofit/>
          </a:bodyPr>
          <a:lstStyle/>
          <a:p>
            <a:r>
              <a:rPr lang="hu" sz="3000" dirty="0">
                <a:solidFill>
                  <a:srgbClr val="012850"/>
                </a:solidFill>
                <a:latin typeface="Open Sans" panose="020B0606030504020204" pitchFamily="34" charset="0"/>
                <a:ea typeface="Open Sans" panose="020B0606030504020204" pitchFamily="34" charset="0"/>
                <a:cs typeface="Open Sans" panose="020B0606030504020204" pitchFamily="34" charset="0"/>
              </a:rPr>
              <a:t>Azure Resource Manager</a:t>
            </a:r>
            <a:endParaRPr sz="3000" dirty="0">
              <a:solidFill>
                <a:srgbClr val="012850"/>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204" name="Group 203">
            <a:extLst>
              <a:ext uri="{FF2B5EF4-FFF2-40B4-BE49-F238E27FC236}">
                <a16:creationId xmlns:a16="http://schemas.microsoft.com/office/drawing/2014/main" id="{E9070CEB-DF7E-F00A-7320-944B0840066A}"/>
              </a:ext>
            </a:extLst>
          </p:cNvPr>
          <p:cNvGrpSpPr/>
          <p:nvPr/>
        </p:nvGrpSpPr>
        <p:grpSpPr>
          <a:xfrm>
            <a:off x="7659421" y="3431633"/>
            <a:ext cx="4179015" cy="2924704"/>
            <a:chOff x="5596703" y="2577255"/>
            <a:chExt cx="3134261" cy="2193528"/>
          </a:xfrm>
        </p:grpSpPr>
        <p:sp>
          <p:nvSpPr>
            <p:cNvPr id="2" name="Rectangle: Rounded Corners 1">
              <a:extLst>
                <a:ext uri="{FF2B5EF4-FFF2-40B4-BE49-F238E27FC236}">
                  <a16:creationId xmlns:a16="http://schemas.microsoft.com/office/drawing/2014/main" id="{B5315601-0100-F65D-CA56-A48FFE6A61D3}"/>
                </a:ext>
              </a:extLst>
            </p:cNvPr>
            <p:cNvSpPr/>
            <p:nvPr/>
          </p:nvSpPr>
          <p:spPr>
            <a:xfrm>
              <a:off x="5849535" y="3183426"/>
              <a:ext cx="2769702" cy="1463565"/>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3" name="Picture 2">
              <a:extLst>
                <a:ext uri="{FF2B5EF4-FFF2-40B4-BE49-F238E27FC236}">
                  <a16:creationId xmlns:a16="http://schemas.microsoft.com/office/drawing/2014/main" id="{F19C239B-E4D2-462D-24FE-4DACA952A46C}"/>
                </a:ext>
              </a:extLst>
            </p:cNvPr>
            <p:cNvPicPr>
              <a:picLocks noChangeAspect="1"/>
            </p:cNvPicPr>
            <p:nvPr/>
          </p:nvPicPr>
          <p:blipFill>
            <a:blip r:embed="rId6"/>
            <a:stretch>
              <a:fillRect/>
            </a:stretch>
          </p:blipFill>
          <p:spPr>
            <a:xfrm>
              <a:off x="6008502" y="2982001"/>
              <a:ext cx="255586" cy="356271"/>
            </a:xfrm>
            <a:prstGeom prst="rect">
              <a:avLst/>
            </a:prstGeom>
          </p:spPr>
        </p:pic>
        <p:sp>
          <p:nvSpPr>
            <p:cNvPr id="4" name="Rectangle: Rounded Corners 3">
              <a:extLst>
                <a:ext uri="{FF2B5EF4-FFF2-40B4-BE49-F238E27FC236}">
                  <a16:creationId xmlns:a16="http://schemas.microsoft.com/office/drawing/2014/main" id="{46E6E1AC-3C12-A275-A18A-25DEE98BABC4}"/>
                </a:ext>
              </a:extLst>
            </p:cNvPr>
            <p:cNvSpPr/>
            <p:nvPr/>
          </p:nvSpPr>
          <p:spPr>
            <a:xfrm>
              <a:off x="6329340" y="3591937"/>
              <a:ext cx="1820849" cy="93530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TextBox 4">
              <a:extLst>
                <a:ext uri="{FF2B5EF4-FFF2-40B4-BE49-F238E27FC236}">
                  <a16:creationId xmlns:a16="http://schemas.microsoft.com/office/drawing/2014/main" id="{D8AB3BA6-19DC-5D04-7B0E-ECDE4DE328B5}"/>
                </a:ext>
              </a:extLst>
            </p:cNvPr>
            <p:cNvSpPr txBox="1"/>
            <p:nvPr/>
          </p:nvSpPr>
          <p:spPr>
            <a:xfrm>
              <a:off x="6638195" y="2746279"/>
              <a:ext cx="1693363" cy="346249"/>
            </a:xfrm>
            <a:prstGeom prst="rect">
              <a:avLst/>
            </a:prstGeom>
            <a:noFill/>
          </p:spPr>
          <p:txBody>
            <a:bodyPr wrap="square" rtlCol="0">
              <a:spAutoFit/>
            </a:bodyPr>
            <a:lstStyle/>
            <a:p>
              <a:r>
                <a:rPr lang="hu-HU" sz="2400" dirty="0" err="1"/>
                <a:t>Subscription</a:t>
              </a:r>
              <a:endParaRPr lang="en-US" sz="2400" dirty="0"/>
            </a:p>
          </p:txBody>
        </p:sp>
        <p:sp>
          <p:nvSpPr>
            <p:cNvPr id="6" name="TextBox 5">
              <a:extLst>
                <a:ext uri="{FF2B5EF4-FFF2-40B4-BE49-F238E27FC236}">
                  <a16:creationId xmlns:a16="http://schemas.microsoft.com/office/drawing/2014/main" id="{19E8C249-3FE6-E62B-9C99-0844CF15CB20}"/>
                </a:ext>
              </a:extLst>
            </p:cNvPr>
            <p:cNvSpPr txBox="1"/>
            <p:nvPr/>
          </p:nvSpPr>
          <p:spPr>
            <a:xfrm>
              <a:off x="6618771" y="3332592"/>
              <a:ext cx="1467821" cy="253916"/>
            </a:xfrm>
            <a:prstGeom prst="rect">
              <a:avLst/>
            </a:prstGeom>
            <a:noFill/>
          </p:spPr>
          <p:txBody>
            <a:bodyPr wrap="square" rtlCol="0">
              <a:spAutoFit/>
            </a:bodyPr>
            <a:lstStyle/>
            <a:p>
              <a:r>
                <a:rPr lang="hu-HU" sz="1600" dirty="0" err="1"/>
                <a:t>Resource</a:t>
              </a:r>
              <a:r>
                <a:rPr lang="hu-HU" sz="1600" dirty="0"/>
                <a:t> </a:t>
              </a:r>
              <a:r>
                <a:rPr lang="hu-HU" sz="1600" dirty="0" err="1"/>
                <a:t>Groups</a:t>
              </a:r>
              <a:r>
                <a:rPr lang="hu-HU" sz="1600" dirty="0"/>
                <a:t> </a:t>
              </a:r>
              <a:endParaRPr lang="en-US" sz="1600" dirty="0"/>
            </a:p>
          </p:txBody>
        </p:sp>
        <p:grpSp>
          <p:nvGrpSpPr>
            <p:cNvPr id="7" name="Group 6">
              <a:extLst>
                <a:ext uri="{FF2B5EF4-FFF2-40B4-BE49-F238E27FC236}">
                  <a16:creationId xmlns:a16="http://schemas.microsoft.com/office/drawing/2014/main" id="{60528AB5-AAC7-D7A6-63DF-1024B816C99A}"/>
                </a:ext>
              </a:extLst>
            </p:cNvPr>
            <p:cNvGrpSpPr/>
            <p:nvPr/>
          </p:nvGrpSpPr>
          <p:grpSpPr>
            <a:xfrm>
              <a:off x="6968226" y="3048515"/>
              <a:ext cx="543075" cy="294804"/>
              <a:chOff x="1364974" y="1701289"/>
              <a:chExt cx="543075" cy="294804"/>
            </a:xfrm>
          </p:grpSpPr>
          <p:pic>
            <p:nvPicPr>
              <p:cNvPr id="8" name="Picture 7">
                <a:extLst>
                  <a:ext uri="{FF2B5EF4-FFF2-40B4-BE49-F238E27FC236}">
                    <a16:creationId xmlns:a16="http://schemas.microsoft.com/office/drawing/2014/main" id="{79D9ED2E-7F9C-A841-DC67-D47CBB4AB0E7}"/>
                  </a:ext>
                </a:extLst>
              </p:cNvPr>
              <p:cNvPicPr>
                <a:picLocks noChangeAspect="1"/>
              </p:cNvPicPr>
              <p:nvPr/>
            </p:nvPicPr>
            <p:blipFill>
              <a:blip r:embed="rId7"/>
              <a:stretch>
                <a:fillRect/>
              </a:stretch>
            </p:blipFill>
            <p:spPr>
              <a:xfrm>
                <a:off x="1364974" y="1701289"/>
                <a:ext cx="454825" cy="214976"/>
              </a:xfrm>
              <a:prstGeom prst="rect">
                <a:avLst/>
              </a:prstGeom>
            </p:spPr>
          </p:pic>
          <p:pic>
            <p:nvPicPr>
              <p:cNvPr id="9" name="Picture 8">
                <a:extLst>
                  <a:ext uri="{FF2B5EF4-FFF2-40B4-BE49-F238E27FC236}">
                    <a16:creationId xmlns:a16="http://schemas.microsoft.com/office/drawing/2014/main" id="{FCB46463-EA9B-2224-3BE5-841597145D28}"/>
                  </a:ext>
                </a:extLst>
              </p:cNvPr>
              <p:cNvPicPr>
                <a:picLocks noChangeAspect="1"/>
              </p:cNvPicPr>
              <p:nvPr/>
            </p:nvPicPr>
            <p:blipFill>
              <a:blip r:embed="rId7"/>
              <a:stretch>
                <a:fillRect/>
              </a:stretch>
            </p:blipFill>
            <p:spPr>
              <a:xfrm>
                <a:off x="1407079" y="1741203"/>
                <a:ext cx="454825" cy="214976"/>
              </a:xfrm>
              <a:prstGeom prst="rect">
                <a:avLst/>
              </a:prstGeom>
            </p:spPr>
          </p:pic>
          <p:pic>
            <p:nvPicPr>
              <p:cNvPr id="10" name="Picture 9">
                <a:extLst>
                  <a:ext uri="{FF2B5EF4-FFF2-40B4-BE49-F238E27FC236}">
                    <a16:creationId xmlns:a16="http://schemas.microsoft.com/office/drawing/2014/main" id="{6E66A940-87FD-FBB4-6C65-11922A3EEEB9}"/>
                  </a:ext>
                </a:extLst>
              </p:cNvPr>
              <p:cNvPicPr>
                <a:picLocks noChangeAspect="1"/>
              </p:cNvPicPr>
              <p:nvPr/>
            </p:nvPicPr>
            <p:blipFill>
              <a:blip r:embed="rId7"/>
              <a:stretch>
                <a:fillRect/>
              </a:stretch>
            </p:blipFill>
            <p:spPr>
              <a:xfrm>
                <a:off x="1453224" y="1781117"/>
                <a:ext cx="454825" cy="214976"/>
              </a:xfrm>
              <a:prstGeom prst="rect">
                <a:avLst/>
              </a:prstGeom>
            </p:spPr>
          </p:pic>
        </p:grpSp>
        <p:pic>
          <p:nvPicPr>
            <p:cNvPr id="11" name="Picture 10">
              <a:extLst>
                <a:ext uri="{FF2B5EF4-FFF2-40B4-BE49-F238E27FC236}">
                  <a16:creationId xmlns:a16="http://schemas.microsoft.com/office/drawing/2014/main" id="{AF28F870-0B2E-4650-463C-70E4AF360EE3}"/>
                </a:ext>
              </a:extLst>
            </p:cNvPr>
            <p:cNvPicPr>
              <a:picLocks noChangeAspect="1"/>
            </p:cNvPicPr>
            <p:nvPr/>
          </p:nvPicPr>
          <p:blipFill>
            <a:blip r:embed="rId8"/>
            <a:stretch>
              <a:fillRect/>
            </a:stretch>
          </p:blipFill>
          <p:spPr>
            <a:xfrm>
              <a:off x="6347478" y="3445684"/>
              <a:ext cx="313446" cy="276999"/>
            </a:xfrm>
            <a:prstGeom prst="rect">
              <a:avLst/>
            </a:prstGeom>
          </p:spPr>
        </p:pic>
        <p:pic>
          <p:nvPicPr>
            <p:cNvPr id="12" name="Picture 11">
              <a:extLst>
                <a:ext uri="{FF2B5EF4-FFF2-40B4-BE49-F238E27FC236}">
                  <a16:creationId xmlns:a16="http://schemas.microsoft.com/office/drawing/2014/main" id="{4892DB00-985A-60F0-C631-9EAF7780D897}"/>
                </a:ext>
              </a:extLst>
            </p:cNvPr>
            <p:cNvPicPr>
              <a:picLocks noChangeAspect="1"/>
            </p:cNvPicPr>
            <p:nvPr/>
          </p:nvPicPr>
          <p:blipFill>
            <a:blip r:embed="rId9"/>
            <a:stretch>
              <a:fillRect/>
            </a:stretch>
          </p:blipFill>
          <p:spPr>
            <a:xfrm>
              <a:off x="6511615" y="3713856"/>
              <a:ext cx="1574978" cy="609669"/>
            </a:xfrm>
            <a:prstGeom prst="rect">
              <a:avLst/>
            </a:prstGeom>
          </p:spPr>
        </p:pic>
        <p:pic>
          <p:nvPicPr>
            <p:cNvPr id="13" name="Picture 12">
              <a:extLst>
                <a:ext uri="{FF2B5EF4-FFF2-40B4-BE49-F238E27FC236}">
                  <a16:creationId xmlns:a16="http://schemas.microsoft.com/office/drawing/2014/main" id="{D5C49CEA-32CA-AE0F-6D6D-47DDDE9AD631}"/>
                </a:ext>
              </a:extLst>
            </p:cNvPr>
            <p:cNvPicPr>
              <a:picLocks noChangeAspect="1"/>
            </p:cNvPicPr>
            <p:nvPr/>
          </p:nvPicPr>
          <p:blipFill>
            <a:blip r:embed="rId7"/>
            <a:stretch>
              <a:fillRect/>
            </a:stretch>
          </p:blipFill>
          <p:spPr>
            <a:xfrm>
              <a:off x="6604567" y="4261010"/>
              <a:ext cx="351459" cy="166119"/>
            </a:xfrm>
            <a:prstGeom prst="rect">
              <a:avLst/>
            </a:prstGeom>
          </p:spPr>
        </p:pic>
        <p:pic>
          <p:nvPicPr>
            <p:cNvPr id="14" name="Picture 13">
              <a:extLst>
                <a:ext uri="{FF2B5EF4-FFF2-40B4-BE49-F238E27FC236}">
                  <a16:creationId xmlns:a16="http://schemas.microsoft.com/office/drawing/2014/main" id="{79FCE705-5037-F27F-AB9F-8771084C35F2}"/>
                </a:ext>
              </a:extLst>
            </p:cNvPr>
            <p:cNvPicPr>
              <a:picLocks noChangeAspect="1"/>
            </p:cNvPicPr>
            <p:nvPr/>
          </p:nvPicPr>
          <p:blipFill>
            <a:blip r:embed="rId7"/>
            <a:stretch>
              <a:fillRect/>
            </a:stretch>
          </p:blipFill>
          <p:spPr>
            <a:xfrm>
              <a:off x="7100392" y="4261009"/>
              <a:ext cx="351459" cy="166119"/>
            </a:xfrm>
            <a:prstGeom prst="rect">
              <a:avLst/>
            </a:prstGeom>
          </p:spPr>
        </p:pic>
        <p:pic>
          <p:nvPicPr>
            <p:cNvPr id="15" name="Picture 14">
              <a:extLst>
                <a:ext uri="{FF2B5EF4-FFF2-40B4-BE49-F238E27FC236}">
                  <a16:creationId xmlns:a16="http://schemas.microsoft.com/office/drawing/2014/main" id="{9F854180-B562-155B-7A33-919F718708DC}"/>
                </a:ext>
              </a:extLst>
            </p:cNvPr>
            <p:cNvPicPr>
              <a:picLocks noChangeAspect="1"/>
            </p:cNvPicPr>
            <p:nvPr/>
          </p:nvPicPr>
          <p:blipFill>
            <a:blip r:embed="rId7"/>
            <a:stretch>
              <a:fillRect/>
            </a:stretch>
          </p:blipFill>
          <p:spPr>
            <a:xfrm>
              <a:off x="7575190" y="4261008"/>
              <a:ext cx="351459" cy="166119"/>
            </a:xfrm>
            <a:prstGeom prst="rect">
              <a:avLst/>
            </a:prstGeom>
          </p:spPr>
        </p:pic>
        <p:sp>
          <p:nvSpPr>
            <p:cNvPr id="23" name="Rectangle: Rounded Corners 22">
              <a:extLst>
                <a:ext uri="{FF2B5EF4-FFF2-40B4-BE49-F238E27FC236}">
                  <a16:creationId xmlns:a16="http://schemas.microsoft.com/office/drawing/2014/main" id="{6EB0AFC2-B6D4-EC11-F3F9-AB9FA8E64180}"/>
                </a:ext>
              </a:extLst>
            </p:cNvPr>
            <p:cNvSpPr/>
            <p:nvPr/>
          </p:nvSpPr>
          <p:spPr>
            <a:xfrm>
              <a:off x="5596703" y="2746279"/>
              <a:ext cx="3134261" cy="2024504"/>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4" name="Picture 23">
              <a:extLst>
                <a:ext uri="{FF2B5EF4-FFF2-40B4-BE49-F238E27FC236}">
                  <a16:creationId xmlns:a16="http://schemas.microsoft.com/office/drawing/2014/main" id="{6993D636-9AB2-E4F5-9F17-8B7E4F3B4121}"/>
                </a:ext>
              </a:extLst>
            </p:cNvPr>
            <p:cNvPicPr>
              <a:picLocks noChangeAspect="1"/>
            </p:cNvPicPr>
            <p:nvPr/>
          </p:nvPicPr>
          <p:blipFill>
            <a:blip r:embed="rId10"/>
            <a:stretch>
              <a:fillRect/>
            </a:stretch>
          </p:blipFill>
          <p:spPr>
            <a:xfrm>
              <a:off x="5962937" y="2577255"/>
              <a:ext cx="346716" cy="338048"/>
            </a:xfrm>
            <a:prstGeom prst="rect">
              <a:avLst/>
            </a:prstGeom>
          </p:spPr>
        </p:pic>
      </p:grpSp>
      <p:sp>
        <p:nvSpPr>
          <p:cNvPr id="196" name="Google Shape;193;p28">
            <a:extLst>
              <a:ext uri="{FF2B5EF4-FFF2-40B4-BE49-F238E27FC236}">
                <a16:creationId xmlns:a16="http://schemas.microsoft.com/office/drawing/2014/main" id="{3433A38F-8943-DDE9-9E12-7A68324C6B17}"/>
              </a:ext>
            </a:extLst>
          </p:cNvPr>
          <p:cNvSpPr txBox="1">
            <a:spLocks noGrp="1"/>
          </p:cNvSpPr>
          <p:nvPr>
            <p:ph type="body" idx="1"/>
          </p:nvPr>
        </p:nvSpPr>
        <p:spPr>
          <a:xfrm>
            <a:off x="119336" y="1052737"/>
            <a:ext cx="7253987" cy="5303600"/>
          </a:xfrm>
          <a:prstGeom prst="rect">
            <a:avLst/>
          </a:prstGeom>
        </p:spPr>
        <p:txBody>
          <a:bodyPr spcFirstLastPara="1" wrap="square" lIns="91433" tIns="45700" rIns="91433" bIns="45700" anchor="t" anchorCtr="0">
            <a:normAutofit/>
          </a:bodyPr>
          <a:lstStyle/>
          <a:p>
            <a:r>
              <a:rPr lang="hu" sz="2133" dirty="0"/>
              <a:t>ARM is the orchestration layer for managing resoureces</a:t>
            </a:r>
          </a:p>
          <a:p>
            <a:r>
              <a:rPr lang="hu" sz="2133" dirty="0"/>
              <a:t>Uses REST API  endpoints</a:t>
            </a:r>
          </a:p>
          <a:p>
            <a:pPr lvl="1" indent="-448722">
              <a:buSzPts val="1700"/>
              <a:buChar char="▪"/>
            </a:pPr>
            <a:r>
              <a:rPr lang="hu" sz="1867" dirty="0"/>
              <a:t>Azure Portal</a:t>
            </a:r>
          </a:p>
          <a:p>
            <a:pPr lvl="1" indent="-448722">
              <a:buSzPts val="1700"/>
              <a:buFont typeface="Noto Sans Symbols"/>
              <a:buChar char="▪"/>
            </a:pPr>
            <a:r>
              <a:rPr lang="hu" sz="1867" dirty="0"/>
              <a:t>Azure Powershell</a:t>
            </a:r>
          </a:p>
          <a:p>
            <a:pPr lvl="1" indent="-448722">
              <a:buSzPts val="1700"/>
              <a:buChar char="▪"/>
            </a:pPr>
            <a:r>
              <a:rPr lang="hu" sz="1867" dirty="0"/>
              <a:t>Azure CLI</a:t>
            </a:r>
          </a:p>
          <a:p>
            <a:r>
              <a:rPr lang="hu" sz="2133" dirty="0"/>
              <a:t>More precisely, ARM calls Azure Resource Providers:</a:t>
            </a:r>
          </a:p>
          <a:p>
            <a:pPr lvl="1" indent="-448722">
              <a:buSzPts val="1700"/>
              <a:buFont typeface="Noto Sans Symbols"/>
              <a:buChar char="▪"/>
            </a:pPr>
            <a:r>
              <a:rPr lang="hu-HU" sz="1867" dirty="0" err="1"/>
              <a:t>Each</a:t>
            </a:r>
            <a:r>
              <a:rPr lang="hu-HU" sz="1867" dirty="0"/>
              <a:t> </a:t>
            </a:r>
            <a:r>
              <a:rPr lang="hu-HU" sz="1867" dirty="0" err="1"/>
              <a:t>provider</a:t>
            </a:r>
            <a:r>
              <a:rPr lang="hu-HU" sz="1867" dirty="0"/>
              <a:t> </a:t>
            </a:r>
            <a:r>
              <a:rPr lang="hu-HU" sz="1867" dirty="0" err="1"/>
              <a:t>manages</a:t>
            </a:r>
            <a:r>
              <a:rPr lang="hu-HU" sz="1867" dirty="0"/>
              <a:t> </a:t>
            </a:r>
            <a:r>
              <a:rPr lang="hu-HU" sz="1867" dirty="0" err="1"/>
              <a:t>the</a:t>
            </a:r>
            <a:r>
              <a:rPr lang="hu-HU" sz="1867" dirty="0"/>
              <a:t> </a:t>
            </a:r>
            <a:r>
              <a:rPr lang="hu-HU" sz="1867" dirty="0" err="1"/>
              <a:t>resources</a:t>
            </a:r>
            <a:r>
              <a:rPr lang="hu-HU" sz="1867" dirty="0"/>
              <a:t> </a:t>
            </a:r>
            <a:r>
              <a:rPr lang="hu-HU" sz="1867" dirty="0" err="1"/>
              <a:t>themselves</a:t>
            </a:r>
            <a:endParaRPr lang="hu-HU" sz="1867" dirty="0"/>
          </a:p>
          <a:p>
            <a:r>
              <a:rPr lang="hu" sz="2133" dirty="0"/>
              <a:t>What prevents someone to manage resources in a subscription that does not belong to them? </a:t>
            </a:r>
          </a:p>
          <a:p>
            <a:pPr lvl="1"/>
            <a:r>
              <a:rPr lang="hu" sz="1867" dirty="0"/>
              <a:t>Active Directory - Tenant</a:t>
            </a:r>
          </a:p>
        </p:txBody>
      </p:sp>
      <p:grpSp>
        <p:nvGrpSpPr>
          <p:cNvPr id="275" name="Group 274">
            <a:extLst>
              <a:ext uri="{FF2B5EF4-FFF2-40B4-BE49-F238E27FC236}">
                <a16:creationId xmlns:a16="http://schemas.microsoft.com/office/drawing/2014/main" id="{DFBEA49D-AC4D-147C-D5EE-60031D47BEF3}"/>
              </a:ext>
            </a:extLst>
          </p:cNvPr>
          <p:cNvGrpSpPr/>
          <p:nvPr/>
        </p:nvGrpSpPr>
        <p:grpSpPr>
          <a:xfrm>
            <a:off x="7659421" y="2457195"/>
            <a:ext cx="4179015" cy="937716"/>
            <a:chOff x="5744565" y="1842896"/>
            <a:chExt cx="3134261" cy="703287"/>
          </a:xfrm>
        </p:grpSpPr>
        <p:sp>
          <p:nvSpPr>
            <p:cNvPr id="16" name="Rectangle: Rounded Corners 15">
              <a:extLst>
                <a:ext uri="{FF2B5EF4-FFF2-40B4-BE49-F238E27FC236}">
                  <a16:creationId xmlns:a16="http://schemas.microsoft.com/office/drawing/2014/main" id="{5C391FC3-917E-1A8B-347B-77474E20815C}"/>
                </a:ext>
              </a:extLst>
            </p:cNvPr>
            <p:cNvSpPr/>
            <p:nvPr/>
          </p:nvSpPr>
          <p:spPr>
            <a:xfrm>
              <a:off x="5744565" y="1881528"/>
              <a:ext cx="3134261" cy="563055"/>
            </a:xfrm>
            <a:prstGeom prst="roundRect">
              <a:avLst/>
            </a:prstGeom>
            <a:no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2400"/>
            </a:p>
          </p:txBody>
        </p:sp>
        <p:pic>
          <p:nvPicPr>
            <p:cNvPr id="17" name="Picture 16">
              <a:extLst>
                <a:ext uri="{FF2B5EF4-FFF2-40B4-BE49-F238E27FC236}">
                  <a16:creationId xmlns:a16="http://schemas.microsoft.com/office/drawing/2014/main" id="{2B6E291D-EF00-4E6E-6E8D-A976C793293A}"/>
                </a:ext>
              </a:extLst>
            </p:cNvPr>
            <p:cNvPicPr>
              <a:picLocks noChangeAspect="1"/>
            </p:cNvPicPr>
            <p:nvPr/>
          </p:nvPicPr>
          <p:blipFill rotWithShape="1">
            <a:blip r:embed="rId9">
              <a:clrChange>
                <a:clrFrom>
                  <a:srgbClr val="FFFFFF"/>
                </a:clrFrom>
                <a:clrTo>
                  <a:srgbClr val="FFFFFF">
                    <a:alpha val="0"/>
                  </a:srgbClr>
                </a:clrTo>
              </a:clrChange>
            </a:blip>
            <a:srcRect l="63421" r="8453"/>
            <a:stretch/>
          </p:blipFill>
          <p:spPr>
            <a:xfrm>
              <a:off x="8038253" y="2078323"/>
              <a:ext cx="281393" cy="387287"/>
            </a:xfrm>
            <a:prstGeom prst="rect">
              <a:avLst/>
            </a:prstGeom>
          </p:spPr>
        </p:pic>
        <p:pic>
          <p:nvPicPr>
            <p:cNvPr id="18" name="Picture 17">
              <a:extLst>
                <a:ext uri="{FF2B5EF4-FFF2-40B4-BE49-F238E27FC236}">
                  <a16:creationId xmlns:a16="http://schemas.microsoft.com/office/drawing/2014/main" id="{41211D73-B1D0-340E-3FBA-723B95F8D6EE}"/>
                </a:ext>
              </a:extLst>
            </p:cNvPr>
            <p:cNvPicPr>
              <a:picLocks noChangeAspect="1"/>
            </p:cNvPicPr>
            <p:nvPr/>
          </p:nvPicPr>
          <p:blipFill rotWithShape="1">
            <a:blip r:embed="rId9">
              <a:clrChange>
                <a:clrFrom>
                  <a:srgbClr val="FFFFFF"/>
                </a:clrFrom>
                <a:clrTo>
                  <a:srgbClr val="FFFFFF">
                    <a:alpha val="0"/>
                  </a:srgbClr>
                </a:clrTo>
              </a:clrChange>
            </a:blip>
            <a:srcRect r="67759"/>
            <a:stretch/>
          </p:blipFill>
          <p:spPr>
            <a:xfrm>
              <a:off x="6256290" y="2086658"/>
              <a:ext cx="322001" cy="386600"/>
            </a:xfrm>
            <a:prstGeom prst="rect">
              <a:avLst/>
            </a:prstGeom>
          </p:spPr>
        </p:pic>
        <p:pic>
          <p:nvPicPr>
            <p:cNvPr id="19" name="Picture 18">
              <a:extLst>
                <a:ext uri="{FF2B5EF4-FFF2-40B4-BE49-F238E27FC236}">
                  <a16:creationId xmlns:a16="http://schemas.microsoft.com/office/drawing/2014/main" id="{A86FC19B-57F0-8F1C-703E-6CFFF43B67C8}"/>
                </a:ext>
              </a:extLst>
            </p:cNvPr>
            <p:cNvPicPr>
              <a:picLocks noChangeAspect="1"/>
            </p:cNvPicPr>
            <p:nvPr/>
          </p:nvPicPr>
          <p:blipFill rotWithShape="1">
            <a:blip r:embed="rId9">
              <a:clrChange>
                <a:clrFrom>
                  <a:srgbClr val="FFFFFF"/>
                </a:clrFrom>
                <a:clrTo>
                  <a:srgbClr val="FFFFFF">
                    <a:alpha val="0"/>
                  </a:srgbClr>
                </a:clrTo>
              </a:clrChange>
            </a:blip>
            <a:srcRect l="32323" r="35435"/>
            <a:stretch/>
          </p:blipFill>
          <p:spPr>
            <a:xfrm>
              <a:off x="7140894" y="2029896"/>
              <a:ext cx="430019" cy="516287"/>
            </a:xfrm>
            <a:prstGeom prst="rect">
              <a:avLst/>
            </a:prstGeom>
          </p:spPr>
        </p:pic>
        <p:sp>
          <p:nvSpPr>
            <p:cNvPr id="20" name="TextBox 19">
              <a:extLst>
                <a:ext uri="{FF2B5EF4-FFF2-40B4-BE49-F238E27FC236}">
                  <a16:creationId xmlns:a16="http://schemas.microsoft.com/office/drawing/2014/main" id="{A81ECC3E-A49D-64FD-87A2-ECC68D22AAB9}"/>
                </a:ext>
              </a:extLst>
            </p:cNvPr>
            <p:cNvSpPr txBox="1"/>
            <p:nvPr/>
          </p:nvSpPr>
          <p:spPr>
            <a:xfrm>
              <a:off x="6156364" y="1842896"/>
              <a:ext cx="2722462" cy="346249"/>
            </a:xfrm>
            <a:prstGeom prst="rect">
              <a:avLst/>
            </a:prstGeom>
            <a:noFill/>
          </p:spPr>
          <p:txBody>
            <a:bodyPr wrap="square" rtlCol="0">
              <a:spAutoFit/>
            </a:bodyPr>
            <a:lstStyle/>
            <a:p>
              <a:r>
                <a:rPr lang="hu-HU" sz="2400" dirty="0" err="1"/>
                <a:t>Azure</a:t>
              </a:r>
              <a:r>
                <a:rPr lang="hu-HU" sz="2400" dirty="0"/>
                <a:t> </a:t>
              </a:r>
              <a:r>
                <a:rPr lang="hu-HU" sz="2400" dirty="0" err="1"/>
                <a:t>Resource</a:t>
              </a:r>
              <a:r>
                <a:rPr lang="hu-HU" sz="2400" dirty="0"/>
                <a:t> </a:t>
              </a:r>
              <a:r>
                <a:rPr lang="hu-HU" sz="2400" dirty="0" err="1"/>
                <a:t>Providers</a:t>
              </a:r>
              <a:endParaRPr lang="en-US" sz="2400" dirty="0"/>
            </a:p>
          </p:txBody>
        </p:sp>
      </p:grpSp>
      <p:grpSp>
        <p:nvGrpSpPr>
          <p:cNvPr id="238" name="Group 237">
            <a:extLst>
              <a:ext uri="{FF2B5EF4-FFF2-40B4-BE49-F238E27FC236}">
                <a16:creationId xmlns:a16="http://schemas.microsoft.com/office/drawing/2014/main" id="{7F5B7039-99A6-012F-DA96-716A7B2A85CC}"/>
              </a:ext>
            </a:extLst>
          </p:cNvPr>
          <p:cNvGrpSpPr/>
          <p:nvPr/>
        </p:nvGrpSpPr>
        <p:grpSpPr>
          <a:xfrm>
            <a:off x="7975430" y="1299831"/>
            <a:ext cx="1258681" cy="3753933"/>
            <a:chOff x="5975434" y="960693"/>
            <a:chExt cx="944011" cy="2815450"/>
          </a:xfrm>
        </p:grpSpPr>
        <p:cxnSp>
          <p:nvCxnSpPr>
            <p:cNvPr id="226" name="Straight Arrow Connector 225">
              <a:extLst>
                <a:ext uri="{FF2B5EF4-FFF2-40B4-BE49-F238E27FC236}">
                  <a16:creationId xmlns:a16="http://schemas.microsoft.com/office/drawing/2014/main" id="{AF20B689-9701-2EE1-5E92-039F143C0DD5}"/>
                </a:ext>
              </a:extLst>
            </p:cNvPr>
            <p:cNvCxnSpPr>
              <a:cxnSpLocks/>
            </p:cNvCxnSpPr>
            <p:nvPr/>
          </p:nvCxnSpPr>
          <p:spPr>
            <a:xfrm>
              <a:off x="5975434" y="2108384"/>
              <a:ext cx="944011" cy="1667759"/>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29" name="Straight Arrow Connector 228">
              <a:extLst>
                <a:ext uri="{FF2B5EF4-FFF2-40B4-BE49-F238E27FC236}">
                  <a16:creationId xmlns:a16="http://schemas.microsoft.com/office/drawing/2014/main" id="{C96685CC-4F41-AAF2-AD06-7F120CC9DA32}"/>
                </a:ext>
              </a:extLst>
            </p:cNvPr>
            <p:cNvCxnSpPr>
              <a:cxnSpLocks/>
            </p:cNvCxnSpPr>
            <p:nvPr/>
          </p:nvCxnSpPr>
          <p:spPr>
            <a:xfrm>
              <a:off x="5984046" y="960693"/>
              <a:ext cx="0" cy="78239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37" name="Straight Arrow Connector 236">
              <a:extLst>
                <a:ext uri="{FF2B5EF4-FFF2-40B4-BE49-F238E27FC236}">
                  <a16:creationId xmlns:a16="http://schemas.microsoft.com/office/drawing/2014/main" id="{66E3D811-2327-4C88-D0E8-A8AB99C9E82A}"/>
                </a:ext>
              </a:extLst>
            </p:cNvPr>
            <p:cNvCxnSpPr>
              <a:cxnSpLocks/>
            </p:cNvCxnSpPr>
            <p:nvPr/>
          </p:nvCxnSpPr>
          <p:spPr>
            <a:xfrm>
              <a:off x="5984046" y="1773144"/>
              <a:ext cx="0" cy="305179"/>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71" name="Group 270">
            <a:extLst>
              <a:ext uri="{FF2B5EF4-FFF2-40B4-BE49-F238E27FC236}">
                <a16:creationId xmlns:a16="http://schemas.microsoft.com/office/drawing/2014/main" id="{77FEF532-AA1A-D835-C499-504EC5CDBB2D}"/>
              </a:ext>
            </a:extLst>
          </p:cNvPr>
          <p:cNvGrpSpPr/>
          <p:nvPr/>
        </p:nvGrpSpPr>
        <p:grpSpPr>
          <a:xfrm>
            <a:off x="1189575" y="1219044"/>
            <a:ext cx="6765340" cy="5069840"/>
            <a:chOff x="923875" y="1051560"/>
            <a:chExt cx="5074005" cy="3802380"/>
          </a:xfrm>
        </p:grpSpPr>
        <p:sp>
          <p:nvSpPr>
            <p:cNvPr id="256" name="Rectangle: Rounded Corners 255">
              <a:extLst>
                <a:ext uri="{FF2B5EF4-FFF2-40B4-BE49-F238E27FC236}">
                  <a16:creationId xmlns:a16="http://schemas.microsoft.com/office/drawing/2014/main" id="{2DC27CD2-4C29-30BD-DB47-6944D1B24259}"/>
                </a:ext>
              </a:extLst>
            </p:cNvPr>
            <p:cNvSpPr/>
            <p:nvPr/>
          </p:nvSpPr>
          <p:spPr>
            <a:xfrm>
              <a:off x="923875" y="3710326"/>
              <a:ext cx="2895600" cy="114361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57" name="Picture 2" descr="Official Azure Icon Set">
              <a:extLst>
                <a:ext uri="{FF2B5EF4-FFF2-40B4-BE49-F238E27FC236}">
                  <a16:creationId xmlns:a16="http://schemas.microsoft.com/office/drawing/2014/main" id="{CD7F4671-4524-F2BA-C990-F8F9982FAB0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87026" y="3550400"/>
              <a:ext cx="409202" cy="409202"/>
            </a:xfrm>
            <a:prstGeom prst="rect">
              <a:avLst/>
            </a:prstGeom>
            <a:noFill/>
            <a:extLst>
              <a:ext uri="{909E8E84-426E-40DD-AFC4-6F175D3DCCD1}">
                <a14:hiddenFill xmlns:a14="http://schemas.microsoft.com/office/drawing/2010/main">
                  <a:solidFill>
                    <a:srgbClr val="FFFFFF"/>
                  </a:solidFill>
                </a14:hiddenFill>
              </a:ext>
            </a:extLst>
          </p:spPr>
        </p:pic>
        <p:grpSp>
          <p:nvGrpSpPr>
            <p:cNvPr id="258" name="Group 257">
              <a:extLst>
                <a:ext uri="{FF2B5EF4-FFF2-40B4-BE49-F238E27FC236}">
                  <a16:creationId xmlns:a16="http://schemas.microsoft.com/office/drawing/2014/main" id="{1CEC5554-1139-117D-2B9F-7670616BE4CB}"/>
                </a:ext>
              </a:extLst>
            </p:cNvPr>
            <p:cNvGrpSpPr/>
            <p:nvPr/>
          </p:nvGrpSpPr>
          <p:grpSpPr>
            <a:xfrm>
              <a:off x="1269301" y="3964052"/>
              <a:ext cx="982980" cy="803201"/>
              <a:chOff x="1268818" y="3964052"/>
              <a:chExt cx="982980" cy="803201"/>
            </a:xfrm>
          </p:grpSpPr>
          <p:sp>
            <p:nvSpPr>
              <p:cNvPr id="259" name="Rectangle: Rounded Corners 258">
                <a:extLst>
                  <a:ext uri="{FF2B5EF4-FFF2-40B4-BE49-F238E27FC236}">
                    <a16:creationId xmlns:a16="http://schemas.microsoft.com/office/drawing/2014/main" id="{9EF28031-4C4F-0874-02E3-56D83DF4232C}"/>
                  </a:ext>
                </a:extLst>
              </p:cNvPr>
              <p:cNvSpPr/>
              <p:nvPr/>
            </p:nvSpPr>
            <p:spPr>
              <a:xfrm>
                <a:off x="1318260" y="4241051"/>
                <a:ext cx="721852" cy="52620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60" name="Picture 259">
                <a:extLst>
                  <a:ext uri="{FF2B5EF4-FFF2-40B4-BE49-F238E27FC236}">
                    <a16:creationId xmlns:a16="http://schemas.microsoft.com/office/drawing/2014/main" id="{0DA9A9B4-90E6-13E8-C2B9-FE71A9E72995}"/>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1424940" y="4281409"/>
                <a:ext cx="304800" cy="386862"/>
              </a:xfrm>
              <a:prstGeom prst="rect">
                <a:avLst/>
              </a:prstGeom>
            </p:spPr>
          </p:pic>
          <p:pic>
            <p:nvPicPr>
              <p:cNvPr id="261" name="Picture 260">
                <a:extLst>
                  <a:ext uri="{FF2B5EF4-FFF2-40B4-BE49-F238E27FC236}">
                    <a16:creationId xmlns:a16="http://schemas.microsoft.com/office/drawing/2014/main" id="{A5004DC6-607C-0503-C425-64C022C1772A}"/>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1627912" y="4346253"/>
                <a:ext cx="304800" cy="386862"/>
              </a:xfrm>
              <a:prstGeom prst="rect">
                <a:avLst/>
              </a:prstGeom>
            </p:spPr>
          </p:pic>
          <p:sp>
            <p:nvSpPr>
              <p:cNvPr id="262" name="TextBox 261">
                <a:extLst>
                  <a:ext uri="{FF2B5EF4-FFF2-40B4-BE49-F238E27FC236}">
                    <a16:creationId xmlns:a16="http://schemas.microsoft.com/office/drawing/2014/main" id="{0D4A6B19-0913-3CD3-E57E-530BDE1104E9}"/>
                  </a:ext>
                </a:extLst>
              </p:cNvPr>
              <p:cNvSpPr txBox="1"/>
              <p:nvPr/>
            </p:nvSpPr>
            <p:spPr>
              <a:xfrm>
                <a:off x="1268818" y="3964052"/>
                <a:ext cx="982980" cy="253915"/>
              </a:xfrm>
              <a:prstGeom prst="rect">
                <a:avLst/>
              </a:prstGeom>
              <a:noFill/>
            </p:spPr>
            <p:txBody>
              <a:bodyPr wrap="square" rtlCol="0">
                <a:spAutoFit/>
              </a:bodyPr>
              <a:lstStyle/>
              <a:p>
                <a:r>
                  <a:rPr lang="hu-HU" sz="1600" dirty="0" err="1"/>
                  <a:t>Tenant</a:t>
                </a:r>
                <a:r>
                  <a:rPr lang="hu-HU" sz="1600" dirty="0"/>
                  <a:t> A</a:t>
                </a:r>
                <a:endParaRPr lang="en-US" sz="1600" dirty="0"/>
              </a:p>
            </p:txBody>
          </p:sp>
        </p:grpSp>
        <p:grpSp>
          <p:nvGrpSpPr>
            <p:cNvPr id="263" name="Group 262">
              <a:extLst>
                <a:ext uri="{FF2B5EF4-FFF2-40B4-BE49-F238E27FC236}">
                  <a16:creationId xmlns:a16="http://schemas.microsoft.com/office/drawing/2014/main" id="{AF8BB9EA-FF15-44F3-AA4E-1BF0385789CD}"/>
                </a:ext>
              </a:extLst>
            </p:cNvPr>
            <p:cNvGrpSpPr/>
            <p:nvPr/>
          </p:nvGrpSpPr>
          <p:grpSpPr>
            <a:xfrm>
              <a:off x="2497054" y="3952346"/>
              <a:ext cx="982980" cy="803201"/>
              <a:chOff x="1268818" y="3964052"/>
              <a:chExt cx="982980" cy="803201"/>
            </a:xfrm>
          </p:grpSpPr>
          <p:sp>
            <p:nvSpPr>
              <p:cNvPr id="264" name="Rectangle: Rounded Corners 263">
                <a:extLst>
                  <a:ext uri="{FF2B5EF4-FFF2-40B4-BE49-F238E27FC236}">
                    <a16:creationId xmlns:a16="http://schemas.microsoft.com/office/drawing/2014/main" id="{1B46C815-1579-2AEC-DB14-46B8CA745AB8}"/>
                  </a:ext>
                </a:extLst>
              </p:cNvPr>
              <p:cNvSpPr/>
              <p:nvPr/>
            </p:nvSpPr>
            <p:spPr>
              <a:xfrm>
                <a:off x="1318260" y="4241051"/>
                <a:ext cx="721852" cy="52620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65" name="Picture 264">
                <a:extLst>
                  <a:ext uri="{FF2B5EF4-FFF2-40B4-BE49-F238E27FC236}">
                    <a16:creationId xmlns:a16="http://schemas.microsoft.com/office/drawing/2014/main" id="{E108386F-346C-CEE5-C570-A9889B1AFB71}"/>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1424940" y="4281409"/>
                <a:ext cx="304800" cy="386862"/>
              </a:xfrm>
              <a:prstGeom prst="rect">
                <a:avLst/>
              </a:prstGeom>
            </p:spPr>
          </p:pic>
          <p:pic>
            <p:nvPicPr>
              <p:cNvPr id="266" name="Picture 265">
                <a:extLst>
                  <a:ext uri="{FF2B5EF4-FFF2-40B4-BE49-F238E27FC236}">
                    <a16:creationId xmlns:a16="http://schemas.microsoft.com/office/drawing/2014/main" id="{D264C8B3-AAE8-5BF6-B915-DC95E228A5C3}"/>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1627912" y="4346253"/>
                <a:ext cx="304800" cy="386862"/>
              </a:xfrm>
              <a:prstGeom prst="rect">
                <a:avLst/>
              </a:prstGeom>
            </p:spPr>
          </p:pic>
          <p:sp>
            <p:nvSpPr>
              <p:cNvPr id="267" name="TextBox 266">
                <a:extLst>
                  <a:ext uri="{FF2B5EF4-FFF2-40B4-BE49-F238E27FC236}">
                    <a16:creationId xmlns:a16="http://schemas.microsoft.com/office/drawing/2014/main" id="{5063C3AD-BF4E-7D36-2D14-AA48E9625E60}"/>
                  </a:ext>
                </a:extLst>
              </p:cNvPr>
              <p:cNvSpPr txBox="1"/>
              <p:nvPr/>
            </p:nvSpPr>
            <p:spPr>
              <a:xfrm>
                <a:off x="1268818" y="3964052"/>
                <a:ext cx="982980" cy="253915"/>
              </a:xfrm>
              <a:prstGeom prst="rect">
                <a:avLst/>
              </a:prstGeom>
              <a:noFill/>
            </p:spPr>
            <p:txBody>
              <a:bodyPr wrap="square" rtlCol="0">
                <a:spAutoFit/>
              </a:bodyPr>
              <a:lstStyle/>
              <a:p>
                <a:r>
                  <a:rPr lang="hu-HU" sz="1600" dirty="0" err="1"/>
                  <a:t>Tenant</a:t>
                </a:r>
                <a:r>
                  <a:rPr lang="hu-HU" sz="1600" dirty="0"/>
                  <a:t> B</a:t>
                </a:r>
                <a:endParaRPr lang="en-US" sz="1600" dirty="0"/>
              </a:p>
            </p:txBody>
          </p:sp>
        </p:grpSp>
        <p:cxnSp>
          <p:nvCxnSpPr>
            <p:cNvPr id="268" name="Straight Arrow Connector 267">
              <a:extLst>
                <a:ext uri="{FF2B5EF4-FFF2-40B4-BE49-F238E27FC236}">
                  <a16:creationId xmlns:a16="http://schemas.microsoft.com/office/drawing/2014/main" id="{7006ED39-244C-8665-4596-5BFDD0D139C4}"/>
                </a:ext>
              </a:extLst>
            </p:cNvPr>
            <p:cNvCxnSpPr/>
            <p:nvPr/>
          </p:nvCxnSpPr>
          <p:spPr>
            <a:xfrm flipV="1">
              <a:off x="3268348" y="1051560"/>
              <a:ext cx="2294473" cy="3177785"/>
            </a:xfrm>
            <a:prstGeom prst="straightConnector1">
              <a:avLst/>
            </a:prstGeom>
            <a:ln w="19050">
              <a:headEnd type="triangle"/>
              <a:tailEnd type="triangle"/>
            </a:ln>
          </p:spPr>
          <p:style>
            <a:lnRef idx="1">
              <a:schemeClr val="accent6"/>
            </a:lnRef>
            <a:fillRef idx="0">
              <a:schemeClr val="accent6"/>
            </a:fillRef>
            <a:effectRef idx="0">
              <a:schemeClr val="accent6"/>
            </a:effectRef>
            <a:fontRef idx="minor">
              <a:schemeClr val="tx1"/>
            </a:fontRef>
          </p:style>
        </p:cxnSp>
        <p:cxnSp>
          <p:nvCxnSpPr>
            <p:cNvPr id="269" name="Straight Arrow Connector 268">
              <a:extLst>
                <a:ext uri="{FF2B5EF4-FFF2-40B4-BE49-F238E27FC236}">
                  <a16:creationId xmlns:a16="http://schemas.microsoft.com/office/drawing/2014/main" id="{2C982CE6-B413-5E64-FEFD-E4A4FA7007BE}"/>
                </a:ext>
              </a:extLst>
            </p:cNvPr>
            <p:cNvCxnSpPr>
              <a:cxnSpLocks/>
            </p:cNvCxnSpPr>
            <p:nvPr/>
          </p:nvCxnSpPr>
          <p:spPr>
            <a:xfrm flipV="1">
              <a:off x="3267628" y="3911679"/>
              <a:ext cx="2730252" cy="561059"/>
            </a:xfrm>
            <a:prstGeom prst="straightConnector1">
              <a:avLst/>
            </a:prstGeom>
            <a:ln w="19050">
              <a:headEnd type="triangle"/>
              <a:tailEnd type="triangle"/>
            </a:ln>
          </p:spPr>
          <p:style>
            <a:lnRef idx="1">
              <a:schemeClr val="accent6"/>
            </a:lnRef>
            <a:fillRef idx="0">
              <a:schemeClr val="accent6"/>
            </a:fillRef>
            <a:effectRef idx="0">
              <a:schemeClr val="accent6"/>
            </a:effectRef>
            <a:fontRef idx="minor">
              <a:schemeClr val="tx1"/>
            </a:fontRef>
          </p:style>
        </p:cxnSp>
        <p:sp>
          <p:nvSpPr>
            <p:cNvPr id="270" name="TextBox 269">
              <a:extLst>
                <a:ext uri="{FF2B5EF4-FFF2-40B4-BE49-F238E27FC236}">
                  <a16:creationId xmlns:a16="http://schemas.microsoft.com/office/drawing/2014/main" id="{6A9C77F6-41EF-5466-D01F-E8CD3C9B7C28}"/>
                </a:ext>
              </a:extLst>
            </p:cNvPr>
            <p:cNvSpPr txBox="1"/>
            <p:nvPr/>
          </p:nvSpPr>
          <p:spPr>
            <a:xfrm rot="20905658">
              <a:off x="3925523" y="3852089"/>
              <a:ext cx="1665999" cy="300083"/>
            </a:xfrm>
            <a:prstGeom prst="rect">
              <a:avLst/>
            </a:prstGeom>
            <a:noFill/>
          </p:spPr>
          <p:txBody>
            <a:bodyPr wrap="square" rtlCol="0">
              <a:spAutoFit/>
            </a:bodyPr>
            <a:lstStyle/>
            <a:p>
              <a:r>
                <a:rPr lang="hu-HU" sz="2000" dirty="0" err="1"/>
                <a:t>Trust</a:t>
              </a:r>
              <a:r>
                <a:rPr lang="hu-HU" sz="2000" dirty="0"/>
                <a:t> </a:t>
              </a:r>
              <a:r>
                <a:rPr lang="hu-HU" sz="2000" dirty="0" err="1"/>
                <a:t>relationship</a:t>
              </a:r>
              <a:endParaRPr lang="hu-HU" sz="2000" dirty="0"/>
            </a:p>
          </p:txBody>
        </p:sp>
      </p:grpSp>
    </p:spTree>
    <p:extLst>
      <p:ext uri="{BB962C8B-B14F-4D97-AF65-F5344CB8AC3E}">
        <p14:creationId xmlns:p14="http://schemas.microsoft.com/office/powerpoint/2010/main" val="981937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6">
                                            <p:txEl>
                                              <p:pRg st="5" end="5"/>
                                            </p:txEl>
                                          </p:spTgt>
                                        </p:tgtEl>
                                        <p:attrNameLst>
                                          <p:attrName>style.visibility</p:attrName>
                                        </p:attrNameLst>
                                      </p:cBhvr>
                                      <p:to>
                                        <p:strVal val="visible"/>
                                      </p:to>
                                    </p:set>
                                    <p:animEffect transition="in" filter="fade">
                                      <p:cBhvr>
                                        <p:cTn id="7" dur="500"/>
                                        <p:tgtEl>
                                          <p:spTgt spid="196">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75"/>
                                        </p:tgtEl>
                                        <p:attrNameLst>
                                          <p:attrName>style.visibility</p:attrName>
                                        </p:attrNameLst>
                                      </p:cBhvr>
                                      <p:to>
                                        <p:strVal val="visible"/>
                                      </p:to>
                                    </p:set>
                                    <p:animEffect transition="in" filter="fade">
                                      <p:cBhvr>
                                        <p:cTn id="10" dur="500"/>
                                        <p:tgtEl>
                                          <p:spTgt spid="27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6">
                                            <p:txEl>
                                              <p:pRg st="6" end="6"/>
                                            </p:txEl>
                                          </p:spTgt>
                                        </p:tgtEl>
                                        <p:attrNameLst>
                                          <p:attrName>style.visibility</p:attrName>
                                        </p:attrNameLst>
                                      </p:cBhvr>
                                      <p:to>
                                        <p:strVal val="visible"/>
                                      </p:to>
                                    </p:set>
                                    <p:animEffect transition="in" filter="fade">
                                      <p:cBhvr>
                                        <p:cTn id="13" dur="500"/>
                                        <p:tgtEl>
                                          <p:spTgt spid="196">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38"/>
                                        </p:tgtEl>
                                        <p:attrNameLst>
                                          <p:attrName>style.visibility</p:attrName>
                                        </p:attrNameLst>
                                      </p:cBhvr>
                                      <p:to>
                                        <p:strVal val="visible"/>
                                      </p:to>
                                    </p:set>
                                    <p:animEffect transition="in" filter="fade">
                                      <p:cBhvr>
                                        <p:cTn id="16" dur="500"/>
                                        <p:tgtEl>
                                          <p:spTgt spid="23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96">
                                            <p:txEl>
                                              <p:pRg st="7" end="7"/>
                                            </p:txEl>
                                          </p:spTgt>
                                        </p:tgtEl>
                                        <p:attrNameLst>
                                          <p:attrName>style.visibility</p:attrName>
                                        </p:attrNameLst>
                                      </p:cBhvr>
                                      <p:to>
                                        <p:strVal val="visible"/>
                                      </p:to>
                                    </p:set>
                                    <p:animEffect transition="in" filter="fade">
                                      <p:cBhvr>
                                        <p:cTn id="21" dur="500"/>
                                        <p:tgtEl>
                                          <p:spTgt spid="196">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71"/>
                                        </p:tgtEl>
                                        <p:attrNameLst>
                                          <p:attrName>style.visibility</p:attrName>
                                        </p:attrNameLst>
                                      </p:cBhvr>
                                      <p:to>
                                        <p:strVal val="visible"/>
                                      </p:to>
                                    </p:set>
                                    <p:animEffect transition="in" filter="fade">
                                      <p:cBhvr>
                                        <p:cTn id="26" dur="500"/>
                                        <p:tgtEl>
                                          <p:spTgt spid="27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96">
                                            <p:txEl>
                                              <p:pRg st="8" end="8"/>
                                            </p:txEl>
                                          </p:spTgt>
                                        </p:tgtEl>
                                        <p:attrNameLst>
                                          <p:attrName>style.visibility</p:attrName>
                                        </p:attrNameLst>
                                      </p:cBhvr>
                                      <p:to>
                                        <p:strVal val="visible"/>
                                      </p:to>
                                    </p:set>
                                    <p:animEffect transition="in" filter="fade">
                                      <p:cBhvr>
                                        <p:cTn id="29" dur="500"/>
                                        <p:tgtEl>
                                          <p:spTgt spid="19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8"/>
          <p:cNvSpPr txBox="1">
            <a:spLocks noGrp="1"/>
          </p:cNvSpPr>
          <p:nvPr>
            <p:ph type="title"/>
          </p:nvPr>
        </p:nvSpPr>
        <p:spPr>
          <a:xfrm>
            <a:off x="119336" y="116632"/>
            <a:ext cx="11953200" cy="669200"/>
          </a:xfrm>
          <a:prstGeom prst="rect">
            <a:avLst/>
          </a:prstGeom>
        </p:spPr>
        <p:txBody>
          <a:bodyPr spcFirstLastPara="1" wrap="square" lIns="91433" tIns="45700" rIns="91433" bIns="45700" anchor="ctr" anchorCtr="0">
            <a:normAutofit/>
          </a:bodyPr>
          <a:lstStyle/>
          <a:p>
            <a:r>
              <a:rPr lang="hu" sz="3000" dirty="0">
                <a:solidFill>
                  <a:srgbClr val="012850"/>
                </a:solidFill>
                <a:latin typeface="Open Sans" panose="020B0606030504020204" pitchFamily="34" charset="0"/>
                <a:ea typeface="Open Sans" panose="020B0606030504020204" pitchFamily="34" charset="0"/>
                <a:cs typeface="Open Sans" panose="020B0606030504020204" pitchFamily="34" charset="0"/>
              </a:rPr>
              <a:t>Azure Resource Manager - Overview</a:t>
            </a:r>
            <a:endParaRPr sz="3000" dirty="0">
              <a:solidFill>
                <a:srgbClr val="0128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3" name="Google Shape;193;p28"/>
          <p:cNvSpPr txBox="1">
            <a:spLocks noGrp="1"/>
          </p:cNvSpPr>
          <p:nvPr>
            <p:ph type="body" idx="1"/>
          </p:nvPr>
        </p:nvSpPr>
        <p:spPr>
          <a:xfrm>
            <a:off x="119336" y="1052737"/>
            <a:ext cx="11953200" cy="5303600"/>
          </a:xfrm>
          <a:prstGeom prst="rect">
            <a:avLst/>
          </a:prstGeom>
        </p:spPr>
        <p:txBody>
          <a:bodyPr spcFirstLastPara="1" wrap="square" lIns="91433" tIns="45700" rIns="91433" bIns="45700" anchor="t" anchorCtr="0">
            <a:normAutofit/>
          </a:bodyPr>
          <a:lstStyle/>
          <a:p>
            <a:r>
              <a:rPr lang="hu" dirty="0"/>
              <a:t>The deployment and management service for Azure</a:t>
            </a:r>
          </a:p>
          <a:p>
            <a:endParaRPr dirty="0"/>
          </a:p>
          <a:p>
            <a:pPr>
              <a:spcBef>
                <a:spcPts val="0"/>
              </a:spcBef>
            </a:pPr>
            <a:r>
              <a:rPr lang="hu" dirty="0"/>
              <a:t>Provides a management layer that enables you to create, update, and delete resources</a:t>
            </a:r>
          </a:p>
          <a:p>
            <a:pPr>
              <a:spcBef>
                <a:spcPts val="0"/>
              </a:spcBef>
            </a:pPr>
            <a:endParaRPr dirty="0"/>
          </a:p>
          <a:p>
            <a:pPr>
              <a:spcBef>
                <a:spcPts val="0"/>
              </a:spcBef>
            </a:pPr>
            <a:r>
              <a:rPr lang="hu" dirty="0"/>
              <a:t>Receives the user request </a:t>
            </a:r>
            <a:br>
              <a:rPr lang="hu" dirty="0"/>
            </a:br>
            <a:r>
              <a:rPr lang="hu" dirty="0"/>
              <a:t>	→  authenticates and authorizes</a:t>
            </a:r>
            <a:br>
              <a:rPr lang="hu" dirty="0"/>
            </a:br>
            <a:r>
              <a:rPr lang="hu" dirty="0"/>
              <a:t>		→ sends the request to the Azure service</a:t>
            </a:r>
            <a:br>
              <a:rPr lang="hu" dirty="0"/>
            </a:br>
            <a:r>
              <a:rPr lang="hu" dirty="0"/>
              <a:t>			(takes the requested action)</a:t>
            </a:r>
          </a:p>
          <a:p>
            <a:pPr>
              <a:spcBef>
                <a:spcPts val="0"/>
              </a:spcBef>
            </a:pPr>
            <a:endParaRPr dirty="0"/>
          </a:p>
          <a:p>
            <a:pPr>
              <a:spcBef>
                <a:spcPts val="0"/>
              </a:spcBef>
            </a:pPr>
            <a:r>
              <a:rPr lang="hu" dirty="0"/>
              <a:t>Requests are handled through the same API </a:t>
            </a:r>
            <a:br>
              <a:rPr lang="hu" dirty="0"/>
            </a:br>
            <a:r>
              <a:rPr lang="hu" dirty="0"/>
              <a:t>→ Same capabilities in Azure Portal, PowerShell, Azure CLI, REST APIs, and client SDKs</a:t>
            </a:r>
            <a:endParaRPr dirty="0"/>
          </a:p>
        </p:txBody>
      </p:sp>
    </p:spTree>
    <p:extLst>
      <p:ext uri="{BB962C8B-B14F-4D97-AF65-F5344CB8AC3E}">
        <p14:creationId xmlns:p14="http://schemas.microsoft.com/office/powerpoint/2010/main" val="1764724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8"/>
          <p:cNvSpPr txBox="1">
            <a:spLocks noGrp="1"/>
          </p:cNvSpPr>
          <p:nvPr>
            <p:ph type="title"/>
          </p:nvPr>
        </p:nvSpPr>
        <p:spPr>
          <a:xfrm>
            <a:off x="119336" y="116632"/>
            <a:ext cx="11953200" cy="669200"/>
          </a:xfrm>
          <a:prstGeom prst="rect">
            <a:avLst/>
          </a:prstGeom>
        </p:spPr>
        <p:txBody>
          <a:bodyPr spcFirstLastPara="1" wrap="square" lIns="91433" tIns="45700" rIns="91433" bIns="45700" anchor="ctr" anchorCtr="0">
            <a:normAutofit/>
          </a:bodyPr>
          <a:lstStyle/>
          <a:p>
            <a:r>
              <a:rPr lang="hu" sz="3000" dirty="0">
                <a:solidFill>
                  <a:srgbClr val="012850"/>
                </a:solidFill>
                <a:latin typeface="Open Sans" panose="020B0606030504020204" pitchFamily="34" charset="0"/>
                <a:ea typeface="Open Sans" panose="020B0606030504020204" pitchFamily="34" charset="0"/>
                <a:cs typeface="Open Sans" panose="020B0606030504020204" pitchFamily="34" charset="0"/>
              </a:rPr>
              <a:t>Azure Resource Manager – templates</a:t>
            </a:r>
            <a:endParaRPr sz="3000" dirty="0">
              <a:solidFill>
                <a:srgbClr val="0128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3" name="Google Shape;193;p28"/>
          <p:cNvSpPr txBox="1">
            <a:spLocks noGrp="1"/>
          </p:cNvSpPr>
          <p:nvPr>
            <p:ph type="body" idx="1"/>
          </p:nvPr>
        </p:nvSpPr>
        <p:spPr>
          <a:xfrm>
            <a:off x="119336" y="1052737"/>
            <a:ext cx="4747304" cy="5303600"/>
          </a:xfrm>
          <a:prstGeom prst="rect">
            <a:avLst/>
          </a:prstGeom>
        </p:spPr>
        <p:txBody>
          <a:bodyPr spcFirstLastPara="1" wrap="square" lIns="91433" tIns="45700" rIns="91433" bIns="45700" anchor="t" anchorCtr="0">
            <a:normAutofit/>
          </a:bodyPr>
          <a:lstStyle/>
          <a:p>
            <a:r>
              <a:rPr lang="hu" dirty="0"/>
              <a:t>ARM templates:</a:t>
            </a:r>
          </a:p>
          <a:p>
            <a:pPr lvl="1" indent="-448722">
              <a:buSzPts val="1700"/>
              <a:buChar char="▪"/>
            </a:pPr>
            <a:r>
              <a:rPr lang="hu" dirty="0"/>
              <a:t>Infrastructure as Code (IaC)</a:t>
            </a:r>
          </a:p>
          <a:p>
            <a:pPr lvl="1" indent="-448722">
              <a:buSzPts val="1700"/>
              <a:buChar char="▪"/>
            </a:pPr>
            <a:r>
              <a:rPr lang="hu" dirty="0"/>
              <a:t>Deploy environments quickly</a:t>
            </a:r>
          </a:p>
          <a:p>
            <a:pPr lvl="1" indent="-448722">
              <a:buSzPts val="1700"/>
              <a:buChar char="▪"/>
            </a:pPr>
            <a:r>
              <a:rPr lang="hu" dirty="0"/>
              <a:t>Repeatable deployments</a:t>
            </a:r>
          </a:p>
          <a:p>
            <a:pPr lvl="1" indent="-448722">
              <a:buSzPts val="1700"/>
              <a:buChar char="▪"/>
            </a:pPr>
            <a:endParaRPr lang="hu" dirty="0"/>
          </a:p>
          <a:p>
            <a:pPr lvl="1" indent="-448722">
              <a:buSzPts val="1700"/>
              <a:buChar char="▪"/>
            </a:pPr>
            <a:endParaRPr lang="hu" dirty="0"/>
          </a:p>
          <a:p>
            <a:pPr lvl="1" indent="-448722">
              <a:buSzPts val="1700"/>
              <a:buChar char="▪"/>
            </a:pPr>
            <a:endParaRPr lang="hu" dirty="0"/>
          </a:p>
          <a:p>
            <a:pPr lvl="1" indent="-448722">
              <a:buSzPts val="1700"/>
              <a:buChar char="▪"/>
            </a:pPr>
            <a:endParaRPr lang="hu" dirty="0"/>
          </a:p>
          <a:p>
            <a:pPr lvl="1" indent="-448722">
              <a:buSzPts val="1700"/>
              <a:buChar char="▪"/>
            </a:pPr>
            <a:endParaRPr lang="hu" dirty="0"/>
          </a:p>
          <a:p>
            <a:endParaRPr dirty="0"/>
          </a:p>
        </p:txBody>
      </p:sp>
      <p:grpSp>
        <p:nvGrpSpPr>
          <p:cNvPr id="2" name="Group 1">
            <a:extLst>
              <a:ext uri="{FF2B5EF4-FFF2-40B4-BE49-F238E27FC236}">
                <a16:creationId xmlns:a16="http://schemas.microsoft.com/office/drawing/2014/main" id="{D656D842-A405-B5A8-6F19-1B62E460B086}"/>
              </a:ext>
            </a:extLst>
          </p:cNvPr>
          <p:cNvGrpSpPr/>
          <p:nvPr/>
        </p:nvGrpSpPr>
        <p:grpSpPr>
          <a:xfrm>
            <a:off x="7431968" y="2014239"/>
            <a:ext cx="4502357" cy="1328539"/>
            <a:chOff x="5590551" y="1509981"/>
            <a:chExt cx="3376768" cy="996404"/>
          </a:xfrm>
        </p:grpSpPr>
        <p:grpSp>
          <p:nvGrpSpPr>
            <p:cNvPr id="3" name="Group 2">
              <a:extLst>
                <a:ext uri="{FF2B5EF4-FFF2-40B4-BE49-F238E27FC236}">
                  <a16:creationId xmlns:a16="http://schemas.microsoft.com/office/drawing/2014/main" id="{5E1E552C-A0CC-95DC-1687-672B10148435}"/>
                </a:ext>
              </a:extLst>
            </p:cNvPr>
            <p:cNvGrpSpPr/>
            <p:nvPr/>
          </p:nvGrpSpPr>
          <p:grpSpPr>
            <a:xfrm>
              <a:off x="5596703" y="1509981"/>
              <a:ext cx="3370616" cy="993280"/>
              <a:chOff x="5635050" y="1288664"/>
              <a:chExt cx="3134261" cy="789359"/>
            </a:xfrm>
            <a:solidFill>
              <a:schemeClr val="bg1"/>
            </a:solidFill>
          </p:grpSpPr>
          <p:sp>
            <p:nvSpPr>
              <p:cNvPr id="15" name="Rectangle: Rounded Corners 14">
                <a:extLst>
                  <a:ext uri="{FF2B5EF4-FFF2-40B4-BE49-F238E27FC236}">
                    <a16:creationId xmlns:a16="http://schemas.microsoft.com/office/drawing/2014/main" id="{C5215C64-9864-072B-3BBD-6BC01CC037CD}"/>
                  </a:ext>
                </a:extLst>
              </p:cNvPr>
              <p:cNvSpPr/>
              <p:nvPr/>
            </p:nvSpPr>
            <p:spPr>
              <a:xfrm>
                <a:off x="5635050" y="1288664"/>
                <a:ext cx="3134261" cy="789359"/>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 name="TextBox 15">
                <a:extLst>
                  <a:ext uri="{FF2B5EF4-FFF2-40B4-BE49-F238E27FC236}">
                    <a16:creationId xmlns:a16="http://schemas.microsoft.com/office/drawing/2014/main" id="{EA489C06-B906-A5F8-E770-7EE349E4C358}"/>
                  </a:ext>
                </a:extLst>
              </p:cNvPr>
              <p:cNvSpPr txBox="1"/>
              <p:nvPr/>
            </p:nvSpPr>
            <p:spPr>
              <a:xfrm>
                <a:off x="5724310" y="1317002"/>
                <a:ext cx="2996110" cy="275164"/>
              </a:xfrm>
              <a:prstGeom prst="rect">
                <a:avLst/>
              </a:prstGeom>
              <a:noFill/>
            </p:spPr>
            <p:txBody>
              <a:bodyPr wrap="square" rtlCol="0">
                <a:spAutoFit/>
              </a:bodyPr>
              <a:lstStyle/>
              <a:p>
                <a:pPr algn="ctr"/>
                <a:r>
                  <a:rPr lang="hu-HU" sz="2400" dirty="0" err="1"/>
                  <a:t>Azure</a:t>
                </a:r>
                <a:r>
                  <a:rPr lang="hu-HU" sz="2400" dirty="0"/>
                  <a:t> </a:t>
                </a:r>
                <a:r>
                  <a:rPr lang="hu-HU" sz="2400" dirty="0" err="1"/>
                  <a:t>Resource</a:t>
                </a:r>
                <a:r>
                  <a:rPr lang="hu-HU" sz="2400" dirty="0"/>
                  <a:t> Manager</a:t>
                </a:r>
                <a:endParaRPr lang="en-US" sz="2400" dirty="0"/>
              </a:p>
            </p:txBody>
          </p:sp>
        </p:grpSp>
        <p:grpSp>
          <p:nvGrpSpPr>
            <p:cNvPr id="10" name="Group 9">
              <a:extLst>
                <a:ext uri="{FF2B5EF4-FFF2-40B4-BE49-F238E27FC236}">
                  <a16:creationId xmlns:a16="http://schemas.microsoft.com/office/drawing/2014/main" id="{26FA452C-EE54-B02A-CCE8-24C1CA74A72D}"/>
                </a:ext>
              </a:extLst>
            </p:cNvPr>
            <p:cNvGrpSpPr/>
            <p:nvPr/>
          </p:nvGrpSpPr>
          <p:grpSpPr>
            <a:xfrm>
              <a:off x="5590551" y="1513105"/>
              <a:ext cx="3370616" cy="993280"/>
              <a:chOff x="5633704" y="1291147"/>
              <a:chExt cx="3134261" cy="789359"/>
            </a:xfrm>
            <a:solidFill>
              <a:schemeClr val="bg1"/>
            </a:solidFill>
          </p:grpSpPr>
          <p:sp>
            <p:nvSpPr>
              <p:cNvPr id="13" name="Rectangle: Rounded Corners 12">
                <a:extLst>
                  <a:ext uri="{FF2B5EF4-FFF2-40B4-BE49-F238E27FC236}">
                    <a16:creationId xmlns:a16="http://schemas.microsoft.com/office/drawing/2014/main" id="{D272CB1A-98E4-753C-C40B-1C5DBA3D1A30}"/>
                  </a:ext>
                </a:extLst>
              </p:cNvPr>
              <p:cNvSpPr/>
              <p:nvPr/>
            </p:nvSpPr>
            <p:spPr>
              <a:xfrm>
                <a:off x="5633704" y="1291147"/>
                <a:ext cx="3134261" cy="789359"/>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4" name="TextBox 13">
                <a:extLst>
                  <a:ext uri="{FF2B5EF4-FFF2-40B4-BE49-F238E27FC236}">
                    <a16:creationId xmlns:a16="http://schemas.microsoft.com/office/drawing/2014/main" id="{36F0E8F1-C68A-5558-BADB-3F696C3B1CC7}"/>
                  </a:ext>
                </a:extLst>
              </p:cNvPr>
              <p:cNvSpPr txBox="1"/>
              <p:nvPr/>
            </p:nvSpPr>
            <p:spPr>
              <a:xfrm>
                <a:off x="5724310" y="1317002"/>
                <a:ext cx="2996110" cy="275164"/>
              </a:xfrm>
              <a:prstGeom prst="rect">
                <a:avLst/>
              </a:prstGeom>
              <a:noFill/>
            </p:spPr>
            <p:txBody>
              <a:bodyPr wrap="square" rtlCol="0">
                <a:spAutoFit/>
              </a:bodyPr>
              <a:lstStyle/>
              <a:p>
                <a:pPr algn="ctr"/>
                <a:r>
                  <a:rPr lang="hu-HU" sz="2400" dirty="0" err="1"/>
                  <a:t>Azure</a:t>
                </a:r>
                <a:r>
                  <a:rPr lang="hu-HU" sz="2400" dirty="0"/>
                  <a:t> </a:t>
                </a:r>
                <a:r>
                  <a:rPr lang="hu-HU" sz="2400" dirty="0" err="1"/>
                  <a:t>Resource</a:t>
                </a:r>
                <a:r>
                  <a:rPr lang="hu-HU" sz="2400" dirty="0"/>
                  <a:t> Manager</a:t>
                </a:r>
                <a:endParaRPr lang="en-US" sz="2400" dirty="0"/>
              </a:p>
            </p:txBody>
          </p:sp>
        </p:grpSp>
      </p:grpSp>
      <p:grpSp>
        <p:nvGrpSpPr>
          <p:cNvPr id="17" name="Group 16">
            <a:extLst>
              <a:ext uri="{FF2B5EF4-FFF2-40B4-BE49-F238E27FC236}">
                <a16:creationId xmlns:a16="http://schemas.microsoft.com/office/drawing/2014/main" id="{815DA710-6D4F-11D7-1A61-FCEDF977E264}"/>
              </a:ext>
            </a:extLst>
          </p:cNvPr>
          <p:cNvGrpSpPr/>
          <p:nvPr/>
        </p:nvGrpSpPr>
        <p:grpSpPr>
          <a:xfrm>
            <a:off x="7659421" y="3431633"/>
            <a:ext cx="4179015" cy="2924704"/>
            <a:chOff x="5596703" y="2577255"/>
            <a:chExt cx="3134261" cy="2193528"/>
          </a:xfrm>
        </p:grpSpPr>
        <p:sp>
          <p:nvSpPr>
            <p:cNvPr id="18" name="Rectangle: Rounded Corners 17">
              <a:extLst>
                <a:ext uri="{FF2B5EF4-FFF2-40B4-BE49-F238E27FC236}">
                  <a16:creationId xmlns:a16="http://schemas.microsoft.com/office/drawing/2014/main" id="{458781E4-97B1-E1E3-CEA0-F307F02D38E0}"/>
                </a:ext>
              </a:extLst>
            </p:cNvPr>
            <p:cNvSpPr/>
            <p:nvPr/>
          </p:nvSpPr>
          <p:spPr>
            <a:xfrm>
              <a:off x="5849535" y="3183426"/>
              <a:ext cx="2769702" cy="1463565"/>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9" name="Picture 18">
              <a:extLst>
                <a:ext uri="{FF2B5EF4-FFF2-40B4-BE49-F238E27FC236}">
                  <a16:creationId xmlns:a16="http://schemas.microsoft.com/office/drawing/2014/main" id="{52A26E14-7768-6762-E87E-0A631716D7AE}"/>
                </a:ext>
              </a:extLst>
            </p:cNvPr>
            <p:cNvPicPr>
              <a:picLocks noChangeAspect="1"/>
            </p:cNvPicPr>
            <p:nvPr/>
          </p:nvPicPr>
          <p:blipFill>
            <a:blip r:embed="rId3"/>
            <a:stretch>
              <a:fillRect/>
            </a:stretch>
          </p:blipFill>
          <p:spPr>
            <a:xfrm>
              <a:off x="6008502" y="2982001"/>
              <a:ext cx="255586" cy="356271"/>
            </a:xfrm>
            <a:prstGeom prst="rect">
              <a:avLst/>
            </a:prstGeom>
          </p:spPr>
        </p:pic>
        <p:sp>
          <p:nvSpPr>
            <p:cNvPr id="20" name="Rectangle: Rounded Corners 19">
              <a:extLst>
                <a:ext uri="{FF2B5EF4-FFF2-40B4-BE49-F238E27FC236}">
                  <a16:creationId xmlns:a16="http://schemas.microsoft.com/office/drawing/2014/main" id="{C8748DE9-A11A-4CC2-7675-77CF62596623}"/>
                </a:ext>
              </a:extLst>
            </p:cNvPr>
            <p:cNvSpPr/>
            <p:nvPr/>
          </p:nvSpPr>
          <p:spPr>
            <a:xfrm>
              <a:off x="6329340" y="3591937"/>
              <a:ext cx="1820849" cy="93530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 name="TextBox 20">
              <a:extLst>
                <a:ext uri="{FF2B5EF4-FFF2-40B4-BE49-F238E27FC236}">
                  <a16:creationId xmlns:a16="http://schemas.microsoft.com/office/drawing/2014/main" id="{D3CEE350-895D-C016-195E-EDE8B05981DC}"/>
                </a:ext>
              </a:extLst>
            </p:cNvPr>
            <p:cNvSpPr txBox="1"/>
            <p:nvPr/>
          </p:nvSpPr>
          <p:spPr>
            <a:xfrm>
              <a:off x="6638195" y="2746279"/>
              <a:ext cx="1693363" cy="346249"/>
            </a:xfrm>
            <a:prstGeom prst="rect">
              <a:avLst/>
            </a:prstGeom>
            <a:noFill/>
          </p:spPr>
          <p:txBody>
            <a:bodyPr wrap="square" rtlCol="0">
              <a:spAutoFit/>
            </a:bodyPr>
            <a:lstStyle/>
            <a:p>
              <a:r>
                <a:rPr lang="hu-HU" sz="2400" dirty="0" err="1"/>
                <a:t>Subscription</a:t>
              </a:r>
              <a:endParaRPr lang="en-US" sz="2400" dirty="0"/>
            </a:p>
          </p:txBody>
        </p:sp>
        <p:sp>
          <p:nvSpPr>
            <p:cNvPr id="22" name="TextBox 21">
              <a:extLst>
                <a:ext uri="{FF2B5EF4-FFF2-40B4-BE49-F238E27FC236}">
                  <a16:creationId xmlns:a16="http://schemas.microsoft.com/office/drawing/2014/main" id="{60922E96-5997-9C76-17D7-9DE0BDF99A44}"/>
                </a:ext>
              </a:extLst>
            </p:cNvPr>
            <p:cNvSpPr txBox="1"/>
            <p:nvPr/>
          </p:nvSpPr>
          <p:spPr>
            <a:xfrm>
              <a:off x="6618771" y="3332592"/>
              <a:ext cx="1467821" cy="253916"/>
            </a:xfrm>
            <a:prstGeom prst="rect">
              <a:avLst/>
            </a:prstGeom>
            <a:noFill/>
          </p:spPr>
          <p:txBody>
            <a:bodyPr wrap="square" rtlCol="0">
              <a:spAutoFit/>
            </a:bodyPr>
            <a:lstStyle/>
            <a:p>
              <a:r>
                <a:rPr lang="hu-HU" sz="1600" dirty="0" err="1"/>
                <a:t>Resource</a:t>
              </a:r>
              <a:r>
                <a:rPr lang="hu-HU" sz="1600" dirty="0"/>
                <a:t> </a:t>
              </a:r>
              <a:r>
                <a:rPr lang="hu-HU" sz="1600" dirty="0" err="1"/>
                <a:t>Groups</a:t>
              </a:r>
              <a:r>
                <a:rPr lang="hu-HU" sz="1600" dirty="0"/>
                <a:t> </a:t>
              </a:r>
              <a:endParaRPr lang="en-US" sz="1600" dirty="0"/>
            </a:p>
          </p:txBody>
        </p:sp>
        <p:grpSp>
          <p:nvGrpSpPr>
            <p:cNvPr id="23" name="Group 22">
              <a:extLst>
                <a:ext uri="{FF2B5EF4-FFF2-40B4-BE49-F238E27FC236}">
                  <a16:creationId xmlns:a16="http://schemas.microsoft.com/office/drawing/2014/main" id="{B03CE7FC-61BA-DE0F-5008-5548B2501FF0}"/>
                </a:ext>
              </a:extLst>
            </p:cNvPr>
            <p:cNvGrpSpPr/>
            <p:nvPr/>
          </p:nvGrpSpPr>
          <p:grpSpPr>
            <a:xfrm>
              <a:off x="6968226" y="3048515"/>
              <a:ext cx="543075" cy="294804"/>
              <a:chOff x="1364974" y="1701289"/>
              <a:chExt cx="543075" cy="294804"/>
            </a:xfrm>
          </p:grpSpPr>
          <p:pic>
            <p:nvPicPr>
              <p:cNvPr id="31" name="Picture 30">
                <a:extLst>
                  <a:ext uri="{FF2B5EF4-FFF2-40B4-BE49-F238E27FC236}">
                    <a16:creationId xmlns:a16="http://schemas.microsoft.com/office/drawing/2014/main" id="{D94F3643-1A35-2828-F4CC-F432D65D535B}"/>
                  </a:ext>
                </a:extLst>
              </p:cNvPr>
              <p:cNvPicPr>
                <a:picLocks noChangeAspect="1"/>
              </p:cNvPicPr>
              <p:nvPr/>
            </p:nvPicPr>
            <p:blipFill>
              <a:blip r:embed="rId4"/>
              <a:stretch>
                <a:fillRect/>
              </a:stretch>
            </p:blipFill>
            <p:spPr>
              <a:xfrm>
                <a:off x="1364974" y="1701289"/>
                <a:ext cx="454825" cy="214976"/>
              </a:xfrm>
              <a:prstGeom prst="rect">
                <a:avLst/>
              </a:prstGeom>
            </p:spPr>
          </p:pic>
          <p:pic>
            <p:nvPicPr>
              <p:cNvPr id="194" name="Picture 193">
                <a:extLst>
                  <a:ext uri="{FF2B5EF4-FFF2-40B4-BE49-F238E27FC236}">
                    <a16:creationId xmlns:a16="http://schemas.microsoft.com/office/drawing/2014/main" id="{841D3C4B-A349-223F-CE74-38FAD606E77A}"/>
                  </a:ext>
                </a:extLst>
              </p:cNvPr>
              <p:cNvPicPr>
                <a:picLocks noChangeAspect="1"/>
              </p:cNvPicPr>
              <p:nvPr/>
            </p:nvPicPr>
            <p:blipFill>
              <a:blip r:embed="rId4"/>
              <a:stretch>
                <a:fillRect/>
              </a:stretch>
            </p:blipFill>
            <p:spPr>
              <a:xfrm>
                <a:off x="1407079" y="1741203"/>
                <a:ext cx="454825" cy="214976"/>
              </a:xfrm>
              <a:prstGeom prst="rect">
                <a:avLst/>
              </a:prstGeom>
            </p:spPr>
          </p:pic>
          <p:pic>
            <p:nvPicPr>
              <p:cNvPr id="195" name="Picture 194">
                <a:extLst>
                  <a:ext uri="{FF2B5EF4-FFF2-40B4-BE49-F238E27FC236}">
                    <a16:creationId xmlns:a16="http://schemas.microsoft.com/office/drawing/2014/main" id="{EEF2B1B9-5047-1132-63EE-E980FFC9CB09}"/>
                  </a:ext>
                </a:extLst>
              </p:cNvPr>
              <p:cNvPicPr>
                <a:picLocks noChangeAspect="1"/>
              </p:cNvPicPr>
              <p:nvPr/>
            </p:nvPicPr>
            <p:blipFill>
              <a:blip r:embed="rId4"/>
              <a:stretch>
                <a:fillRect/>
              </a:stretch>
            </p:blipFill>
            <p:spPr>
              <a:xfrm>
                <a:off x="1453224" y="1781117"/>
                <a:ext cx="454825" cy="214976"/>
              </a:xfrm>
              <a:prstGeom prst="rect">
                <a:avLst/>
              </a:prstGeom>
            </p:spPr>
          </p:pic>
        </p:grpSp>
        <p:pic>
          <p:nvPicPr>
            <p:cNvPr id="24" name="Picture 23">
              <a:extLst>
                <a:ext uri="{FF2B5EF4-FFF2-40B4-BE49-F238E27FC236}">
                  <a16:creationId xmlns:a16="http://schemas.microsoft.com/office/drawing/2014/main" id="{ABA85595-D974-47C8-574B-D20201041577}"/>
                </a:ext>
              </a:extLst>
            </p:cNvPr>
            <p:cNvPicPr>
              <a:picLocks noChangeAspect="1"/>
            </p:cNvPicPr>
            <p:nvPr/>
          </p:nvPicPr>
          <p:blipFill>
            <a:blip r:embed="rId5"/>
            <a:stretch>
              <a:fillRect/>
            </a:stretch>
          </p:blipFill>
          <p:spPr>
            <a:xfrm>
              <a:off x="6347478" y="3445684"/>
              <a:ext cx="313446" cy="276999"/>
            </a:xfrm>
            <a:prstGeom prst="rect">
              <a:avLst/>
            </a:prstGeom>
          </p:spPr>
        </p:pic>
        <p:pic>
          <p:nvPicPr>
            <p:cNvPr id="25" name="Picture 24">
              <a:extLst>
                <a:ext uri="{FF2B5EF4-FFF2-40B4-BE49-F238E27FC236}">
                  <a16:creationId xmlns:a16="http://schemas.microsoft.com/office/drawing/2014/main" id="{B4BD7458-F07D-39C0-A83A-627C328F86B8}"/>
                </a:ext>
              </a:extLst>
            </p:cNvPr>
            <p:cNvPicPr>
              <a:picLocks noChangeAspect="1"/>
            </p:cNvPicPr>
            <p:nvPr/>
          </p:nvPicPr>
          <p:blipFill>
            <a:blip r:embed="rId6"/>
            <a:stretch>
              <a:fillRect/>
            </a:stretch>
          </p:blipFill>
          <p:spPr>
            <a:xfrm>
              <a:off x="6511615" y="3713856"/>
              <a:ext cx="1574978" cy="609669"/>
            </a:xfrm>
            <a:prstGeom prst="rect">
              <a:avLst/>
            </a:prstGeom>
          </p:spPr>
        </p:pic>
        <p:pic>
          <p:nvPicPr>
            <p:cNvPr id="26" name="Picture 25">
              <a:extLst>
                <a:ext uri="{FF2B5EF4-FFF2-40B4-BE49-F238E27FC236}">
                  <a16:creationId xmlns:a16="http://schemas.microsoft.com/office/drawing/2014/main" id="{5C1040BB-50B4-C046-2C3B-39548F810FA4}"/>
                </a:ext>
              </a:extLst>
            </p:cNvPr>
            <p:cNvPicPr>
              <a:picLocks noChangeAspect="1"/>
            </p:cNvPicPr>
            <p:nvPr/>
          </p:nvPicPr>
          <p:blipFill>
            <a:blip r:embed="rId4"/>
            <a:stretch>
              <a:fillRect/>
            </a:stretch>
          </p:blipFill>
          <p:spPr>
            <a:xfrm>
              <a:off x="6604567" y="4261010"/>
              <a:ext cx="351459" cy="166119"/>
            </a:xfrm>
            <a:prstGeom prst="rect">
              <a:avLst/>
            </a:prstGeom>
          </p:spPr>
        </p:pic>
        <p:pic>
          <p:nvPicPr>
            <p:cNvPr id="27" name="Picture 26">
              <a:extLst>
                <a:ext uri="{FF2B5EF4-FFF2-40B4-BE49-F238E27FC236}">
                  <a16:creationId xmlns:a16="http://schemas.microsoft.com/office/drawing/2014/main" id="{91D92312-4EFE-BCFC-70DB-9432BFB3B87A}"/>
                </a:ext>
              </a:extLst>
            </p:cNvPr>
            <p:cNvPicPr>
              <a:picLocks noChangeAspect="1"/>
            </p:cNvPicPr>
            <p:nvPr/>
          </p:nvPicPr>
          <p:blipFill>
            <a:blip r:embed="rId4"/>
            <a:stretch>
              <a:fillRect/>
            </a:stretch>
          </p:blipFill>
          <p:spPr>
            <a:xfrm>
              <a:off x="7100392" y="4261009"/>
              <a:ext cx="351459" cy="166119"/>
            </a:xfrm>
            <a:prstGeom prst="rect">
              <a:avLst/>
            </a:prstGeom>
          </p:spPr>
        </p:pic>
        <p:pic>
          <p:nvPicPr>
            <p:cNvPr id="28" name="Picture 27">
              <a:extLst>
                <a:ext uri="{FF2B5EF4-FFF2-40B4-BE49-F238E27FC236}">
                  <a16:creationId xmlns:a16="http://schemas.microsoft.com/office/drawing/2014/main" id="{B0DA55D6-575E-8A7F-3A90-33084AF80D39}"/>
                </a:ext>
              </a:extLst>
            </p:cNvPr>
            <p:cNvPicPr>
              <a:picLocks noChangeAspect="1"/>
            </p:cNvPicPr>
            <p:nvPr/>
          </p:nvPicPr>
          <p:blipFill>
            <a:blip r:embed="rId4"/>
            <a:stretch>
              <a:fillRect/>
            </a:stretch>
          </p:blipFill>
          <p:spPr>
            <a:xfrm>
              <a:off x="7575190" y="4261008"/>
              <a:ext cx="351459" cy="166119"/>
            </a:xfrm>
            <a:prstGeom prst="rect">
              <a:avLst/>
            </a:prstGeom>
          </p:spPr>
        </p:pic>
        <p:sp>
          <p:nvSpPr>
            <p:cNvPr id="29" name="Rectangle: Rounded Corners 28">
              <a:extLst>
                <a:ext uri="{FF2B5EF4-FFF2-40B4-BE49-F238E27FC236}">
                  <a16:creationId xmlns:a16="http://schemas.microsoft.com/office/drawing/2014/main" id="{1B6B90B0-AD9E-D810-EB9B-652DAEB3EA88}"/>
                </a:ext>
              </a:extLst>
            </p:cNvPr>
            <p:cNvSpPr/>
            <p:nvPr/>
          </p:nvSpPr>
          <p:spPr>
            <a:xfrm>
              <a:off x="5596703" y="2746279"/>
              <a:ext cx="3134261" cy="2024504"/>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30" name="Picture 29">
              <a:extLst>
                <a:ext uri="{FF2B5EF4-FFF2-40B4-BE49-F238E27FC236}">
                  <a16:creationId xmlns:a16="http://schemas.microsoft.com/office/drawing/2014/main" id="{310DAB46-087D-5918-A939-353B05D3A362}"/>
                </a:ext>
              </a:extLst>
            </p:cNvPr>
            <p:cNvPicPr>
              <a:picLocks noChangeAspect="1"/>
            </p:cNvPicPr>
            <p:nvPr/>
          </p:nvPicPr>
          <p:blipFill>
            <a:blip r:embed="rId7"/>
            <a:stretch>
              <a:fillRect/>
            </a:stretch>
          </p:blipFill>
          <p:spPr>
            <a:xfrm>
              <a:off x="5962937" y="2577255"/>
              <a:ext cx="346716" cy="338048"/>
            </a:xfrm>
            <a:prstGeom prst="rect">
              <a:avLst/>
            </a:prstGeom>
          </p:spPr>
        </p:pic>
      </p:grpSp>
      <p:grpSp>
        <p:nvGrpSpPr>
          <p:cNvPr id="196" name="Group 195">
            <a:extLst>
              <a:ext uri="{FF2B5EF4-FFF2-40B4-BE49-F238E27FC236}">
                <a16:creationId xmlns:a16="http://schemas.microsoft.com/office/drawing/2014/main" id="{4C10C8A1-1142-BF42-B18F-BE9C149467B7}"/>
              </a:ext>
            </a:extLst>
          </p:cNvPr>
          <p:cNvGrpSpPr/>
          <p:nvPr/>
        </p:nvGrpSpPr>
        <p:grpSpPr>
          <a:xfrm>
            <a:off x="7659421" y="2457195"/>
            <a:ext cx="4179015" cy="937716"/>
            <a:chOff x="5744565" y="1842896"/>
            <a:chExt cx="3134261" cy="703287"/>
          </a:xfrm>
        </p:grpSpPr>
        <p:sp>
          <p:nvSpPr>
            <p:cNvPr id="197" name="Rectangle: Rounded Corners 196">
              <a:extLst>
                <a:ext uri="{FF2B5EF4-FFF2-40B4-BE49-F238E27FC236}">
                  <a16:creationId xmlns:a16="http://schemas.microsoft.com/office/drawing/2014/main" id="{9F9179BF-5EFC-337D-2B4F-DEB2041B1126}"/>
                </a:ext>
              </a:extLst>
            </p:cNvPr>
            <p:cNvSpPr/>
            <p:nvPr/>
          </p:nvSpPr>
          <p:spPr>
            <a:xfrm>
              <a:off x="5744565" y="1881528"/>
              <a:ext cx="3134261" cy="563055"/>
            </a:xfrm>
            <a:prstGeom prst="roundRect">
              <a:avLst/>
            </a:prstGeom>
            <a:no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2400"/>
            </a:p>
          </p:txBody>
        </p:sp>
        <p:pic>
          <p:nvPicPr>
            <p:cNvPr id="198" name="Picture 197">
              <a:extLst>
                <a:ext uri="{FF2B5EF4-FFF2-40B4-BE49-F238E27FC236}">
                  <a16:creationId xmlns:a16="http://schemas.microsoft.com/office/drawing/2014/main" id="{1B5198B7-A81A-E0E3-804A-F7827A7CAEB6}"/>
                </a:ext>
              </a:extLst>
            </p:cNvPr>
            <p:cNvPicPr>
              <a:picLocks noChangeAspect="1"/>
            </p:cNvPicPr>
            <p:nvPr/>
          </p:nvPicPr>
          <p:blipFill rotWithShape="1">
            <a:blip r:embed="rId6">
              <a:clrChange>
                <a:clrFrom>
                  <a:srgbClr val="FFFFFF"/>
                </a:clrFrom>
                <a:clrTo>
                  <a:srgbClr val="FFFFFF">
                    <a:alpha val="0"/>
                  </a:srgbClr>
                </a:clrTo>
              </a:clrChange>
            </a:blip>
            <a:srcRect l="63421" r="8453"/>
            <a:stretch/>
          </p:blipFill>
          <p:spPr>
            <a:xfrm>
              <a:off x="8038253" y="2078323"/>
              <a:ext cx="281393" cy="387287"/>
            </a:xfrm>
            <a:prstGeom prst="rect">
              <a:avLst/>
            </a:prstGeom>
          </p:spPr>
        </p:pic>
        <p:pic>
          <p:nvPicPr>
            <p:cNvPr id="199" name="Picture 198">
              <a:extLst>
                <a:ext uri="{FF2B5EF4-FFF2-40B4-BE49-F238E27FC236}">
                  <a16:creationId xmlns:a16="http://schemas.microsoft.com/office/drawing/2014/main" id="{11895BDB-CD43-6976-DEE1-AFF96AFEEC5C}"/>
                </a:ext>
              </a:extLst>
            </p:cNvPr>
            <p:cNvPicPr>
              <a:picLocks noChangeAspect="1"/>
            </p:cNvPicPr>
            <p:nvPr/>
          </p:nvPicPr>
          <p:blipFill rotWithShape="1">
            <a:blip r:embed="rId6">
              <a:clrChange>
                <a:clrFrom>
                  <a:srgbClr val="FFFFFF"/>
                </a:clrFrom>
                <a:clrTo>
                  <a:srgbClr val="FFFFFF">
                    <a:alpha val="0"/>
                  </a:srgbClr>
                </a:clrTo>
              </a:clrChange>
            </a:blip>
            <a:srcRect r="67759"/>
            <a:stretch/>
          </p:blipFill>
          <p:spPr>
            <a:xfrm>
              <a:off x="6256290" y="2086658"/>
              <a:ext cx="322001" cy="386600"/>
            </a:xfrm>
            <a:prstGeom prst="rect">
              <a:avLst/>
            </a:prstGeom>
          </p:spPr>
        </p:pic>
        <p:pic>
          <p:nvPicPr>
            <p:cNvPr id="200" name="Picture 199">
              <a:extLst>
                <a:ext uri="{FF2B5EF4-FFF2-40B4-BE49-F238E27FC236}">
                  <a16:creationId xmlns:a16="http://schemas.microsoft.com/office/drawing/2014/main" id="{E8E66560-2DB9-3405-526D-979D3E2570E4}"/>
                </a:ext>
              </a:extLst>
            </p:cNvPr>
            <p:cNvPicPr>
              <a:picLocks noChangeAspect="1"/>
            </p:cNvPicPr>
            <p:nvPr/>
          </p:nvPicPr>
          <p:blipFill rotWithShape="1">
            <a:blip r:embed="rId6">
              <a:clrChange>
                <a:clrFrom>
                  <a:srgbClr val="FFFFFF"/>
                </a:clrFrom>
                <a:clrTo>
                  <a:srgbClr val="FFFFFF">
                    <a:alpha val="0"/>
                  </a:srgbClr>
                </a:clrTo>
              </a:clrChange>
            </a:blip>
            <a:srcRect l="32323" r="35435"/>
            <a:stretch/>
          </p:blipFill>
          <p:spPr>
            <a:xfrm>
              <a:off x="7140894" y="2029896"/>
              <a:ext cx="430019" cy="516287"/>
            </a:xfrm>
            <a:prstGeom prst="rect">
              <a:avLst/>
            </a:prstGeom>
          </p:spPr>
        </p:pic>
        <p:sp>
          <p:nvSpPr>
            <p:cNvPr id="201" name="TextBox 200">
              <a:extLst>
                <a:ext uri="{FF2B5EF4-FFF2-40B4-BE49-F238E27FC236}">
                  <a16:creationId xmlns:a16="http://schemas.microsoft.com/office/drawing/2014/main" id="{46130432-B926-0D33-0934-9CFA7DA18F6F}"/>
                </a:ext>
              </a:extLst>
            </p:cNvPr>
            <p:cNvSpPr txBox="1"/>
            <p:nvPr/>
          </p:nvSpPr>
          <p:spPr>
            <a:xfrm>
              <a:off x="6156364" y="1842896"/>
              <a:ext cx="2667595" cy="346249"/>
            </a:xfrm>
            <a:prstGeom prst="rect">
              <a:avLst/>
            </a:prstGeom>
            <a:noFill/>
          </p:spPr>
          <p:txBody>
            <a:bodyPr wrap="square" rtlCol="0">
              <a:spAutoFit/>
            </a:bodyPr>
            <a:lstStyle/>
            <a:p>
              <a:r>
                <a:rPr lang="hu-HU" sz="2400" dirty="0" err="1"/>
                <a:t>Azure</a:t>
              </a:r>
              <a:r>
                <a:rPr lang="hu-HU" sz="2400" dirty="0"/>
                <a:t> </a:t>
              </a:r>
              <a:r>
                <a:rPr lang="hu-HU" sz="2400" dirty="0" err="1"/>
                <a:t>Resource</a:t>
              </a:r>
              <a:r>
                <a:rPr lang="hu-HU" sz="2400" dirty="0"/>
                <a:t> </a:t>
              </a:r>
              <a:r>
                <a:rPr lang="hu-HU" sz="2400" dirty="0" err="1"/>
                <a:t>Providers</a:t>
              </a:r>
              <a:endParaRPr lang="en-US" sz="2400" dirty="0"/>
            </a:p>
          </p:txBody>
        </p:sp>
      </p:grpSp>
      <p:cxnSp>
        <p:nvCxnSpPr>
          <p:cNvPr id="204" name="Straight Arrow Connector 203">
            <a:extLst>
              <a:ext uri="{FF2B5EF4-FFF2-40B4-BE49-F238E27FC236}">
                <a16:creationId xmlns:a16="http://schemas.microsoft.com/office/drawing/2014/main" id="{78B54436-B579-FA9B-ED7C-1326427C9C54}"/>
              </a:ext>
            </a:extLst>
          </p:cNvPr>
          <p:cNvCxnSpPr>
            <a:cxnSpLocks/>
            <a:stCxn id="3074" idx="2"/>
          </p:cNvCxnSpPr>
          <p:nvPr/>
        </p:nvCxnSpPr>
        <p:spPr>
          <a:xfrm>
            <a:off x="7992702" y="1659648"/>
            <a:ext cx="3828" cy="571469"/>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nvGrpSpPr>
          <p:cNvPr id="3080" name="Group 3079">
            <a:extLst>
              <a:ext uri="{FF2B5EF4-FFF2-40B4-BE49-F238E27FC236}">
                <a16:creationId xmlns:a16="http://schemas.microsoft.com/office/drawing/2014/main" id="{07D8F186-0CE4-DE55-478E-87F25B952683}"/>
              </a:ext>
            </a:extLst>
          </p:cNvPr>
          <p:cNvGrpSpPr/>
          <p:nvPr/>
        </p:nvGrpSpPr>
        <p:grpSpPr>
          <a:xfrm>
            <a:off x="7981220" y="2319973"/>
            <a:ext cx="1258681" cy="2714056"/>
            <a:chOff x="3013668" y="2221936"/>
            <a:chExt cx="944011" cy="2035542"/>
          </a:xfrm>
        </p:grpSpPr>
        <p:cxnSp>
          <p:nvCxnSpPr>
            <p:cNvPr id="203" name="Straight Arrow Connector 202">
              <a:extLst>
                <a:ext uri="{FF2B5EF4-FFF2-40B4-BE49-F238E27FC236}">
                  <a16:creationId xmlns:a16="http://schemas.microsoft.com/office/drawing/2014/main" id="{8F476DD3-7BC5-DAD9-6A30-9C2EF56543BE}"/>
                </a:ext>
              </a:extLst>
            </p:cNvPr>
            <p:cNvCxnSpPr>
              <a:cxnSpLocks/>
            </p:cNvCxnSpPr>
            <p:nvPr/>
          </p:nvCxnSpPr>
          <p:spPr>
            <a:xfrm>
              <a:off x="3013668" y="2589719"/>
              <a:ext cx="944011" cy="1667759"/>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Straight Arrow Connector 204">
              <a:extLst>
                <a:ext uri="{FF2B5EF4-FFF2-40B4-BE49-F238E27FC236}">
                  <a16:creationId xmlns:a16="http://schemas.microsoft.com/office/drawing/2014/main" id="{A7E830DE-3216-4F89-4127-468B69F56B99}"/>
                </a:ext>
              </a:extLst>
            </p:cNvPr>
            <p:cNvCxnSpPr>
              <a:cxnSpLocks/>
            </p:cNvCxnSpPr>
            <p:nvPr/>
          </p:nvCxnSpPr>
          <p:spPr>
            <a:xfrm>
              <a:off x="3022279" y="2221936"/>
              <a:ext cx="1" cy="337722"/>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pic>
        <p:nvPicPr>
          <p:cNvPr id="3074" name="Picture 2" descr="File icon PNG, ICO or ICNS | Free vector icons">
            <a:extLst>
              <a:ext uri="{FF2B5EF4-FFF2-40B4-BE49-F238E27FC236}">
                <a16:creationId xmlns:a16="http://schemas.microsoft.com/office/drawing/2014/main" id="{5F18D9AB-E361-950E-8C66-991F97AE4CF3}"/>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5805" y="805856"/>
            <a:ext cx="853793" cy="853793"/>
          </a:xfrm>
          <a:prstGeom prst="rect">
            <a:avLst/>
          </a:prstGeom>
          <a:noFill/>
          <a:extLst>
            <a:ext uri="{909E8E84-426E-40DD-AFC4-6F175D3DCCD1}">
              <a14:hiddenFill xmlns:a14="http://schemas.microsoft.com/office/drawing/2010/main">
                <a:solidFill>
                  <a:srgbClr val="FFFFFF"/>
                </a:solidFill>
              </a14:hiddenFill>
            </a:ext>
          </a:extLst>
        </p:spPr>
      </p:pic>
      <p:sp>
        <p:nvSpPr>
          <p:cNvPr id="3079" name="TextBox 3078">
            <a:extLst>
              <a:ext uri="{FF2B5EF4-FFF2-40B4-BE49-F238E27FC236}">
                <a16:creationId xmlns:a16="http://schemas.microsoft.com/office/drawing/2014/main" id="{90145E73-6523-D6E3-E94D-FC5956A4CFD6}"/>
              </a:ext>
            </a:extLst>
          </p:cNvPr>
          <p:cNvSpPr txBox="1"/>
          <p:nvPr/>
        </p:nvSpPr>
        <p:spPr>
          <a:xfrm>
            <a:off x="8072319" y="1559280"/>
            <a:ext cx="3046443" cy="461665"/>
          </a:xfrm>
          <a:prstGeom prst="rect">
            <a:avLst/>
          </a:prstGeom>
          <a:noFill/>
        </p:spPr>
        <p:txBody>
          <a:bodyPr wrap="square" rtlCol="0">
            <a:spAutoFit/>
          </a:bodyPr>
          <a:lstStyle/>
          <a:p>
            <a:r>
              <a:rPr lang="hu-HU" sz="2400" dirty="0" err="1"/>
              <a:t>via</a:t>
            </a:r>
            <a:r>
              <a:rPr lang="hu-HU" sz="2400" dirty="0"/>
              <a:t> CLI </a:t>
            </a:r>
            <a:r>
              <a:rPr lang="hu-HU" sz="2400" dirty="0" err="1"/>
              <a:t>or</a:t>
            </a:r>
            <a:r>
              <a:rPr lang="hu-HU" sz="2400" dirty="0"/>
              <a:t> UI</a:t>
            </a:r>
            <a:endParaRPr lang="en-US" sz="2400" dirty="0"/>
          </a:p>
        </p:txBody>
      </p:sp>
      <p:sp>
        <p:nvSpPr>
          <p:cNvPr id="3088" name="TextBox 3087">
            <a:extLst>
              <a:ext uri="{FF2B5EF4-FFF2-40B4-BE49-F238E27FC236}">
                <a16:creationId xmlns:a16="http://schemas.microsoft.com/office/drawing/2014/main" id="{C4DA1B73-72AC-7229-344C-2CBA71BB9084}"/>
              </a:ext>
            </a:extLst>
          </p:cNvPr>
          <p:cNvSpPr txBox="1"/>
          <p:nvPr/>
        </p:nvSpPr>
        <p:spPr>
          <a:xfrm>
            <a:off x="696542" y="2928721"/>
            <a:ext cx="6005945" cy="3046988"/>
          </a:xfrm>
          <a:prstGeom prst="rect">
            <a:avLst/>
          </a:prstGeom>
          <a:noFill/>
          <a:ln>
            <a:solidFill>
              <a:schemeClr val="tx1"/>
            </a:solidFill>
          </a:ln>
        </p:spPr>
        <p:txBody>
          <a:bodyPr wrap="square" rtlCol="0">
            <a:spAutoFit/>
          </a:bodyPr>
          <a:lstStyle/>
          <a:p>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  </a:t>
            </a:r>
            <a:r>
              <a:rPr lang="en-US" sz="1600" dirty="0">
                <a:solidFill>
                  <a:schemeClr val="accent1"/>
                </a:solidFill>
                <a:latin typeface="Courier New" panose="02070309020205020404" pitchFamily="49" charset="0"/>
                <a:cs typeface="Courier New" panose="02070309020205020404" pitchFamily="49" charset="0"/>
              </a:rPr>
              <a:t>"$schema": </a:t>
            </a:r>
            <a:r>
              <a:rPr lang="en-US" sz="1600" dirty="0">
                <a:solidFill>
                  <a:schemeClr val="accent2"/>
                </a:solidFill>
                <a:latin typeface="Courier New" panose="02070309020205020404" pitchFamily="49" charset="0"/>
                <a:cs typeface="Courier New" panose="02070309020205020404" pitchFamily="49" charset="0"/>
              </a:rPr>
              <a:t>"https://schema.management.azure.com/schemas/2019-04-01/</a:t>
            </a:r>
            <a:r>
              <a:rPr lang="en-US" sz="1600" dirty="0" err="1">
                <a:solidFill>
                  <a:schemeClr val="accent2"/>
                </a:solidFill>
                <a:latin typeface="Courier New" panose="02070309020205020404" pitchFamily="49" charset="0"/>
                <a:cs typeface="Courier New" panose="02070309020205020404" pitchFamily="49" charset="0"/>
              </a:rPr>
              <a:t>deploymentTemplate.json</a:t>
            </a:r>
            <a:r>
              <a:rPr lang="en-US" sz="1600" dirty="0">
                <a:solidFill>
                  <a:schemeClr val="accent2"/>
                </a:solidFill>
                <a:latin typeface="Courier New" panose="02070309020205020404" pitchFamily="49" charset="0"/>
                <a:cs typeface="Courier New" panose="02070309020205020404" pitchFamily="49" charset="0"/>
              </a:rPr>
              <a:t>#"</a:t>
            </a:r>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  </a:t>
            </a:r>
            <a:r>
              <a:rPr lang="en-US" sz="1600" dirty="0">
                <a:solidFill>
                  <a:schemeClr val="accent1"/>
                </a:solidFill>
                <a:latin typeface="Courier New" panose="02070309020205020404" pitchFamily="49" charset="0"/>
                <a:cs typeface="Courier New" panose="02070309020205020404" pitchFamily="49" charset="0"/>
              </a:rPr>
              <a:t>"</a:t>
            </a:r>
            <a:r>
              <a:rPr lang="en-US" sz="1600" dirty="0" err="1">
                <a:solidFill>
                  <a:schemeClr val="accent1"/>
                </a:solidFill>
                <a:latin typeface="Courier New" panose="02070309020205020404" pitchFamily="49" charset="0"/>
                <a:cs typeface="Courier New" panose="02070309020205020404" pitchFamily="49" charset="0"/>
              </a:rPr>
              <a:t>contentVersion</a:t>
            </a:r>
            <a:r>
              <a:rPr lang="en-US" sz="1600" dirty="0">
                <a:solidFill>
                  <a:schemeClr val="accent1"/>
                </a:solidFill>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  </a:t>
            </a:r>
            <a:r>
              <a:rPr lang="en-US" sz="1600" dirty="0">
                <a:solidFill>
                  <a:schemeClr val="accent1"/>
                </a:solidFill>
                <a:latin typeface="Courier New" panose="02070309020205020404" pitchFamily="49" charset="0"/>
                <a:cs typeface="Courier New" panose="02070309020205020404" pitchFamily="49" charset="0"/>
              </a:rPr>
              <a:t>"</a:t>
            </a:r>
            <a:r>
              <a:rPr lang="en-US" sz="1600" dirty="0" err="1">
                <a:solidFill>
                  <a:schemeClr val="accent1"/>
                </a:solidFill>
                <a:latin typeface="Courier New" panose="02070309020205020404" pitchFamily="49" charset="0"/>
                <a:cs typeface="Courier New" panose="02070309020205020404" pitchFamily="49" charset="0"/>
              </a:rPr>
              <a:t>apiProfile</a:t>
            </a:r>
            <a:r>
              <a:rPr lang="en-US" sz="1600" dirty="0">
                <a:solidFill>
                  <a:schemeClr val="accent1"/>
                </a:solidFill>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  </a:t>
            </a:r>
            <a:r>
              <a:rPr lang="en-US" sz="1600" dirty="0">
                <a:solidFill>
                  <a:schemeClr val="accent1"/>
                </a:solidFill>
                <a:latin typeface="Courier New" panose="02070309020205020404" pitchFamily="49" charset="0"/>
                <a:cs typeface="Courier New" panose="02070309020205020404" pitchFamily="49" charset="0"/>
              </a:rPr>
              <a:t>"parameters": </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a:t>
            </a:r>
            <a:r>
              <a:rPr lang="en-US" sz="1600" dirty="0">
                <a:solidFill>
                  <a:schemeClr val="accent1"/>
                </a:solidFill>
                <a:latin typeface="Courier New" panose="02070309020205020404" pitchFamily="49" charset="0"/>
                <a:cs typeface="Courier New" panose="02070309020205020404" pitchFamily="49" charset="0"/>
              </a:rPr>
              <a:t>"variables": </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a:t>
            </a:r>
            <a:r>
              <a:rPr lang="en-US" sz="1600" dirty="0">
                <a:solidFill>
                  <a:schemeClr val="accent1"/>
                </a:solidFill>
                <a:latin typeface="Courier New" panose="02070309020205020404" pitchFamily="49" charset="0"/>
                <a:cs typeface="Courier New" panose="02070309020205020404" pitchFamily="49" charset="0"/>
              </a:rPr>
              <a:t>"functions":</a:t>
            </a:r>
            <a:r>
              <a:rPr lang="en-US" sz="1600" dirty="0">
                <a:latin typeface="Courier New" panose="02070309020205020404" pitchFamily="49" charset="0"/>
                <a:cs typeface="Courier New" panose="02070309020205020404" pitchFamily="49" charset="0"/>
              </a:rPr>
              <a:t> [  ],</a:t>
            </a:r>
          </a:p>
          <a:p>
            <a:r>
              <a:rPr lang="en-US" sz="1600" dirty="0">
                <a:latin typeface="Courier New" panose="02070309020205020404" pitchFamily="49" charset="0"/>
                <a:cs typeface="Courier New" panose="02070309020205020404" pitchFamily="49" charset="0"/>
              </a:rPr>
              <a:t>  </a:t>
            </a:r>
            <a:r>
              <a:rPr lang="en-US" sz="1600" dirty="0">
                <a:solidFill>
                  <a:schemeClr val="accent1"/>
                </a:solidFill>
                <a:latin typeface="Courier New" panose="02070309020205020404" pitchFamily="49" charset="0"/>
                <a:cs typeface="Courier New" panose="02070309020205020404" pitchFamily="49" charset="0"/>
              </a:rPr>
              <a:t>"resources": </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a:t>
            </a:r>
            <a:r>
              <a:rPr lang="en-US" sz="1600" dirty="0">
                <a:solidFill>
                  <a:schemeClr val="accent1"/>
                </a:solidFill>
                <a:latin typeface="Courier New" panose="02070309020205020404" pitchFamily="49" charset="0"/>
                <a:cs typeface="Courier New" panose="02070309020205020404" pitchFamily="49" charset="0"/>
              </a:rPr>
              <a:t>"outputs":</a:t>
            </a:r>
            <a:r>
              <a:rPr lang="en-US" sz="1600" dirty="0">
                <a:latin typeface="Courier New" panose="02070309020205020404" pitchFamily="49" charset="0"/>
                <a:cs typeface="Courier New" panose="02070309020205020404" pitchFamily="49" charset="0"/>
              </a:rPr>
              <a:t> {  }</a:t>
            </a:r>
          </a:p>
          <a:p>
            <a:r>
              <a:rPr lang="en-US" sz="1600" dirty="0">
                <a:latin typeface="Courier New" panose="02070309020205020404" pitchFamily="49" charset="0"/>
                <a:cs typeface="Courier New" panose="02070309020205020404" pitchFamily="49" charset="0"/>
              </a:rPr>
              <a:t>}</a:t>
            </a:r>
          </a:p>
        </p:txBody>
      </p:sp>
      <p:pic>
        <p:nvPicPr>
          <p:cNvPr id="3087" name="Picture 2" descr="File icon PNG, ICO or ICNS | Free vector icons">
            <a:extLst>
              <a:ext uri="{FF2B5EF4-FFF2-40B4-BE49-F238E27FC236}">
                <a16:creationId xmlns:a16="http://schemas.microsoft.com/office/drawing/2014/main" id="{0895F05D-9FDC-4158-2F95-2527BD640BA0}"/>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3450" y="2617098"/>
            <a:ext cx="417981" cy="417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5102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2" name="Szöveg helye 1">
            <a:extLst>
              <a:ext uri="{FF2B5EF4-FFF2-40B4-BE49-F238E27FC236}">
                <a16:creationId xmlns:a16="http://schemas.microsoft.com/office/drawing/2014/main" id="{722E55AE-BA92-81FF-9BF8-5AC9B60CFE69}"/>
              </a:ext>
            </a:extLst>
          </p:cNvPr>
          <p:cNvSpPr>
            <a:spLocks noGrp="1"/>
          </p:cNvSpPr>
          <p:nvPr>
            <p:ph type="body" idx="20"/>
          </p:nvPr>
        </p:nvSpPr>
        <p:spPr/>
        <p:txBody>
          <a:bodyPr/>
          <a:lstStyle/>
          <a:p>
            <a:endParaRPr lang="en-GB"/>
          </a:p>
        </p:txBody>
      </p:sp>
      <p:sp>
        <p:nvSpPr>
          <p:cNvPr id="4" name="Szöveg helye 3">
            <a:extLst>
              <a:ext uri="{FF2B5EF4-FFF2-40B4-BE49-F238E27FC236}">
                <a16:creationId xmlns:a16="http://schemas.microsoft.com/office/drawing/2014/main" id="{9F1C2F5C-AD33-7BF7-651F-644BA4D7363E}"/>
              </a:ext>
            </a:extLst>
          </p:cNvPr>
          <p:cNvSpPr>
            <a:spLocks noGrp="1"/>
          </p:cNvSpPr>
          <p:nvPr>
            <p:ph type="body" idx="16"/>
          </p:nvPr>
        </p:nvSpPr>
        <p:spPr/>
        <p:txBody>
          <a:bodyPr/>
          <a:lstStyle/>
          <a:p>
            <a:r>
              <a:rPr lang="hu" dirty="0"/>
              <a:t>Billing (very) basics</a:t>
            </a:r>
            <a:endParaRPr lang="en-GB" dirty="0"/>
          </a:p>
        </p:txBody>
      </p:sp>
      <p:sp>
        <p:nvSpPr>
          <p:cNvPr id="5" name="Google Shape;187;p27">
            <a:extLst>
              <a:ext uri="{FF2B5EF4-FFF2-40B4-BE49-F238E27FC236}">
                <a16:creationId xmlns:a16="http://schemas.microsoft.com/office/drawing/2014/main" id="{C3434BAA-4D70-9DB2-80D1-159BAAC940FB}"/>
              </a:ext>
            </a:extLst>
          </p:cNvPr>
          <p:cNvSpPr txBox="1">
            <a:spLocks/>
          </p:cNvSpPr>
          <p:nvPr/>
        </p:nvSpPr>
        <p:spPr>
          <a:xfrm>
            <a:off x="89500" y="789550"/>
            <a:ext cx="11759600" cy="5020700"/>
          </a:xfrm>
          <a:prstGeom prst="rect">
            <a:avLst/>
          </a:prstGeom>
        </p:spPr>
        <p:txBody>
          <a:bodyPr spcFirstLastPara="1" wrap="square" lIns="68575" tIns="34275" rIns="68575" bIns="34275"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36550">
              <a:spcBef>
                <a:spcPts val="300"/>
              </a:spcBef>
              <a:buSzPts val="1700"/>
              <a:buFont typeface="Arial" panose="020B0604020202020204" pitchFamily="34" charset="0"/>
              <a:buChar char="▪"/>
            </a:pPr>
            <a:r>
              <a:rPr lang="en-US"/>
              <a:t>Pay only for what you use</a:t>
            </a:r>
          </a:p>
          <a:p>
            <a:pPr marL="914400" lvl="1" indent="-285750">
              <a:spcBef>
                <a:spcPts val="300"/>
              </a:spcBef>
              <a:buSzPts val="900"/>
              <a:buFont typeface="Arial" panose="020B0604020202020204" pitchFamily="34" charset="0"/>
              <a:buChar char="❑"/>
            </a:pPr>
            <a:r>
              <a:rPr lang="en-US"/>
              <a:t>Compute resources: CPU and memory allocated</a:t>
            </a:r>
          </a:p>
          <a:p>
            <a:pPr marL="914400" lvl="1" indent="-285750">
              <a:spcBef>
                <a:spcPts val="300"/>
              </a:spcBef>
              <a:buSzPts val="900"/>
              <a:buFont typeface="Arial" panose="020B0604020202020204" pitchFamily="34" charset="0"/>
              <a:buChar char="❑"/>
            </a:pPr>
            <a:r>
              <a:rPr lang="en-US"/>
              <a:t>Storage: per GB cost </a:t>
            </a:r>
          </a:p>
          <a:p>
            <a:pPr marL="914400" lvl="1" indent="-285750">
              <a:spcBef>
                <a:spcPts val="300"/>
              </a:spcBef>
              <a:buSzPts val="900"/>
              <a:buFont typeface="Arial" panose="020B0604020202020204" pitchFamily="34" charset="0"/>
              <a:buChar char="❑"/>
            </a:pPr>
            <a:r>
              <a:rPr lang="en-US"/>
              <a:t>Networking: pay for every outgoing GB</a:t>
            </a:r>
          </a:p>
          <a:p>
            <a:pPr marL="914400" lvl="1" indent="-285750">
              <a:spcBef>
                <a:spcPts val="300"/>
              </a:spcBef>
              <a:buSzPts val="900"/>
              <a:buFont typeface="Arial" panose="020B0604020202020204" pitchFamily="34" charset="0"/>
              <a:buChar char="❑"/>
            </a:pPr>
            <a:r>
              <a:rPr lang="en-US"/>
              <a:t>Other (usually SaaS): per user, per API call, etc.</a:t>
            </a:r>
          </a:p>
          <a:p>
            <a:pPr marL="914400" lvl="1" indent="-285750">
              <a:spcBef>
                <a:spcPts val="300"/>
              </a:spcBef>
              <a:buSzPts val="900"/>
              <a:buFont typeface="Arial" panose="020B0604020202020204" pitchFamily="34" charset="0"/>
              <a:buChar char="❑"/>
            </a:pPr>
            <a:endParaRPr lang="en-US"/>
          </a:p>
          <a:p>
            <a:pPr marL="457200" indent="-336550">
              <a:spcBef>
                <a:spcPts val="300"/>
              </a:spcBef>
              <a:buSzPts val="1700"/>
              <a:buFont typeface="Arial" panose="020B0604020202020204" pitchFamily="34" charset="0"/>
              <a:buChar char="▪"/>
            </a:pPr>
            <a:r>
              <a:rPr lang="en-US"/>
              <a:t>Many services can help you with cost management</a:t>
            </a:r>
          </a:p>
          <a:p>
            <a:pPr lvl="1"/>
            <a:r>
              <a:rPr lang="en-US"/>
              <a:t>Analysis: fine grade breakdown on how costs are structured, even with BI support</a:t>
            </a:r>
          </a:p>
          <a:p>
            <a:pPr lvl="1"/>
            <a:r>
              <a:rPr lang="en-US"/>
              <a:t>Management: set up budget and restrictions</a:t>
            </a:r>
          </a:p>
          <a:p>
            <a:pPr lvl="1"/>
            <a:r>
              <a:rPr lang="en-US"/>
              <a:t>Optimization: plan for future services, optimize used resources</a:t>
            </a:r>
          </a:p>
          <a:p>
            <a:pPr marL="457200" indent="-336550">
              <a:spcBef>
                <a:spcPts val="300"/>
              </a:spcBef>
              <a:buSzPts val="1700"/>
              <a:buFont typeface="Arial" panose="020B0604020202020204" pitchFamily="34" charset="0"/>
              <a:buChar char="▪"/>
            </a:pPr>
            <a:endParaRPr lang="en-US" dirty="0"/>
          </a:p>
        </p:txBody>
      </p:sp>
    </p:spTree>
    <p:extLst>
      <p:ext uri="{BB962C8B-B14F-4D97-AF65-F5344CB8AC3E}">
        <p14:creationId xmlns:p14="http://schemas.microsoft.com/office/powerpoint/2010/main" val="22083651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zöveg helye 3">
            <a:extLst>
              <a:ext uri="{FF2B5EF4-FFF2-40B4-BE49-F238E27FC236}">
                <a16:creationId xmlns:a16="http://schemas.microsoft.com/office/drawing/2014/main" id="{4CF4D59B-FDCB-B804-CFA3-6A98DCB0B246}"/>
              </a:ext>
            </a:extLst>
          </p:cNvPr>
          <p:cNvSpPr>
            <a:spLocks noGrp="1"/>
          </p:cNvSpPr>
          <p:nvPr>
            <p:ph type="body" idx="16"/>
          </p:nvPr>
        </p:nvSpPr>
        <p:spPr/>
        <p:txBody>
          <a:bodyPr/>
          <a:lstStyle/>
          <a:p>
            <a:r>
              <a:rPr lang="en-GB" dirty="0"/>
              <a:t>Billing (very) basics</a:t>
            </a:r>
          </a:p>
        </p:txBody>
      </p:sp>
      <p:sp>
        <p:nvSpPr>
          <p:cNvPr id="5" name="Szöveg helye 4">
            <a:extLst>
              <a:ext uri="{FF2B5EF4-FFF2-40B4-BE49-F238E27FC236}">
                <a16:creationId xmlns:a16="http://schemas.microsoft.com/office/drawing/2014/main" id="{A3A5614F-4995-8DD2-A755-61E7AD5A239E}"/>
              </a:ext>
            </a:extLst>
          </p:cNvPr>
          <p:cNvSpPr>
            <a:spLocks noGrp="1"/>
          </p:cNvSpPr>
          <p:nvPr>
            <p:ph type="body" idx="20"/>
          </p:nvPr>
        </p:nvSpPr>
        <p:spPr/>
        <p:txBody>
          <a:bodyPr/>
          <a:lstStyle/>
          <a:p>
            <a:endParaRPr lang="en-GB"/>
          </a:p>
        </p:txBody>
      </p:sp>
      <p:sp>
        <p:nvSpPr>
          <p:cNvPr id="3" name="Alcím 2"/>
          <p:cNvSpPr txBox="1">
            <a:spLocks/>
          </p:cNvSpPr>
          <p:nvPr/>
        </p:nvSpPr>
        <p:spPr>
          <a:xfrm>
            <a:off x="214282" y="863601"/>
            <a:ext cx="11570351" cy="5661744"/>
          </a:xfrm>
          <a:prstGeom prst="rect">
            <a:avLst/>
          </a:prstGeom>
        </p:spPr>
        <p:txBody>
          <a:bodyPr vert="horz" lIns="91440" tIns="45720" rIns="91440" bIns="45720" rtlCol="0">
            <a:normAutofit/>
          </a:bodyPr>
          <a:lstStyle/>
          <a:p>
            <a:pPr>
              <a:spcBef>
                <a:spcPts val="600"/>
              </a:spcBef>
            </a:pPr>
            <a:r>
              <a:rPr lang="en-US" sz="2000" b="1" dirty="0"/>
              <a:t>Azure Migrate</a:t>
            </a:r>
            <a:r>
              <a:rPr lang="en-US" sz="2000" dirty="0"/>
              <a:t>: allows for digital estate inventory, limited rationalization, and cost calculations in one tool.</a:t>
            </a:r>
          </a:p>
          <a:p>
            <a:pPr>
              <a:spcBef>
                <a:spcPts val="600"/>
              </a:spcBef>
            </a:pPr>
            <a:endParaRPr lang="en-US" sz="2000" dirty="0"/>
          </a:p>
          <a:p>
            <a:pPr>
              <a:spcBef>
                <a:spcPts val="600"/>
              </a:spcBef>
            </a:pPr>
            <a:r>
              <a:rPr lang="en-US" sz="2000" b="1" dirty="0"/>
              <a:t>Total cost of ownership (TCO) calculator</a:t>
            </a:r>
            <a:r>
              <a:rPr lang="en-US" sz="2000" dirty="0"/>
              <a:t>: estimate the cost savings you can realize by migrating your application workloads to Azure. </a:t>
            </a:r>
          </a:p>
          <a:p>
            <a:pPr>
              <a:spcBef>
                <a:spcPts val="600"/>
              </a:spcBef>
            </a:pPr>
            <a:endParaRPr lang="en-US" sz="2000" dirty="0"/>
          </a:p>
          <a:p>
            <a:pPr>
              <a:spcBef>
                <a:spcPts val="600"/>
              </a:spcBef>
            </a:pPr>
            <a:r>
              <a:rPr lang="en-US" sz="2000" b="1" dirty="0"/>
              <a:t>Azure pricing calculator</a:t>
            </a:r>
            <a:r>
              <a:rPr lang="en-US" sz="2000" dirty="0"/>
              <a:t>: Estimate your expected monthly bill by using our pricing calculator. </a:t>
            </a:r>
          </a:p>
          <a:p>
            <a:pPr>
              <a:spcBef>
                <a:spcPts val="600"/>
              </a:spcBef>
            </a:pPr>
            <a:endParaRPr lang="en-US" sz="2000" dirty="0"/>
          </a:p>
          <a:p>
            <a:pPr>
              <a:spcBef>
                <a:spcPts val="600"/>
              </a:spcBef>
            </a:pPr>
            <a:r>
              <a:rPr lang="en-US" sz="2000" b="1" dirty="0"/>
              <a:t>Azure Cost Management + Billing</a:t>
            </a:r>
            <a:r>
              <a:rPr lang="en-US" sz="2000" dirty="0"/>
              <a:t>: </a:t>
            </a:r>
          </a:p>
          <a:p>
            <a:pPr marL="342891" indent="-342891">
              <a:spcBef>
                <a:spcPts val="600"/>
              </a:spcBef>
              <a:buFont typeface="Wingdings" panose="05000000000000000000" pitchFamily="2" charset="2"/>
              <a:buChar char="§"/>
            </a:pPr>
            <a:r>
              <a:rPr lang="hu-HU" sz="2000" dirty="0"/>
              <a:t>C</a:t>
            </a:r>
            <a:r>
              <a:rPr lang="en-US" sz="2000" dirty="0" err="1"/>
              <a:t>ost</a:t>
            </a:r>
            <a:r>
              <a:rPr lang="en-US" sz="2000" dirty="0"/>
              <a:t> management solution that helps you use and manage Azure and other cloud resources effectively.</a:t>
            </a:r>
          </a:p>
          <a:p>
            <a:pPr marL="342891" indent="-342891">
              <a:spcBef>
                <a:spcPts val="600"/>
              </a:spcBef>
              <a:buFont typeface="Wingdings" panose="05000000000000000000" pitchFamily="2" charset="2"/>
              <a:buChar char="§"/>
            </a:pPr>
            <a:r>
              <a:rPr lang="hu-HU" sz="2000" dirty="0"/>
              <a:t>C</a:t>
            </a:r>
            <a:r>
              <a:rPr lang="en-US" sz="2000" dirty="0" err="1"/>
              <a:t>ollect</a:t>
            </a:r>
            <a:r>
              <a:rPr lang="en-US" sz="2000" dirty="0"/>
              <a:t> cloud usage and billing data through application program interfaces (APIs) from Azure, Amazon Web Services, and Google Cloud Platform. </a:t>
            </a:r>
          </a:p>
          <a:p>
            <a:pPr marL="342891" indent="-342891">
              <a:spcBef>
                <a:spcPts val="600"/>
              </a:spcBef>
              <a:buFont typeface="Wingdings" panose="05000000000000000000" pitchFamily="2" charset="2"/>
              <a:buChar char="§"/>
            </a:pPr>
            <a:r>
              <a:rPr lang="en-US" sz="2000" dirty="0"/>
              <a:t>Gain full visibility into resource consumption and costs across cloud platforms in a single, unified view.</a:t>
            </a:r>
          </a:p>
          <a:p>
            <a:pPr marL="342891" indent="-342891">
              <a:spcBef>
                <a:spcPts val="600"/>
              </a:spcBef>
              <a:buFont typeface="Wingdings" panose="05000000000000000000" pitchFamily="2" charset="2"/>
              <a:buChar char="§"/>
            </a:pPr>
            <a:r>
              <a:rPr lang="en-US" sz="2000" dirty="0"/>
              <a:t>Detect spending anomalies and usage inefficiencies. </a:t>
            </a:r>
          </a:p>
          <a:p>
            <a:pPr marL="342891" indent="-342891">
              <a:spcBef>
                <a:spcPts val="600"/>
              </a:spcBef>
              <a:buFont typeface="Wingdings" panose="05000000000000000000" pitchFamily="2" charset="2"/>
              <a:buChar char="§"/>
            </a:pPr>
            <a:r>
              <a:rPr lang="en-US" sz="2000" dirty="0"/>
              <a:t>Use historical data to improve your forecasting accuracy for cloud usage and expenditures.</a:t>
            </a:r>
            <a:endParaRPr lang="hu-HU" sz="2000" dirty="0"/>
          </a:p>
        </p:txBody>
      </p:sp>
    </p:spTree>
    <p:extLst>
      <p:ext uri="{BB962C8B-B14F-4D97-AF65-F5344CB8AC3E}">
        <p14:creationId xmlns:p14="http://schemas.microsoft.com/office/powerpoint/2010/main" val="4087412334"/>
      </p:ext>
    </p:extLst>
  </p:cSld>
  <p:clrMapOvr>
    <a:masterClrMapping/>
  </p:clrMapOvr>
</p:sld>
</file>

<file path=ppt/theme/theme1.xml><?xml version="1.0" encoding="utf-8"?>
<a:theme xmlns:a="http://schemas.openxmlformats.org/drawingml/2006/main" name="címdi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FC4D2D28162944D85E2D900E79383EE" ma:contentTypeVersion="0" ma:contentTypeDescription="Create a new document." ma:contentTypeScope="" ma:versionID="e58b1988462305a4806cf920813547d7">
  <xsd:schema xmlns:xsd="http://www.w3.org/2001/XMLSchema" xmlns:xs="http://www.w3.org/2001/XMLSchema" xmlns:p="http://schemas.microsoft.com/office/2006/metadata/properties" targetNamespace="http://schemas.microsoft.com/office/2006/metadata/properties" ma:root="true" ma:fieldsID="b764bea3eb9b1a5be8fd57fac5fb459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69B3C84-05CF-4B08-92B3-579266778208}">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A908913-8FD6-4A90-9F70-940A6B7058D1}">
  <ds:schemaRefs>
    <ds:schemaRef ds:uri="http://schemas.microsoft.com/sharepoint/v3/contenttype/forms"/>
  </ds:schemaRefs>
</ds:datastoreItem>
</file>

<file path=customXml/itemProps3.xml><?xml version="1.0" encoding="utf-8"?>
<ds:datastoreItem xmlns:ds="http://schemas.openxmlformats.org/officeDocument/2006/customXml" ds:itemID="{8DE7BD31-F9E4-4431-A68E-F9617E1BCE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16888</TotalTime>
  <Words>1343</Words>
  <Application>Microsoft Office PowerPoint</Application>
  <PresentationFormat>Szélesvásznú</PresentationFormat>
  <Paragraphs>256</Paragraphs>
  <Slides>23</Slides>
  <Notes>22</Notes>
  <HiddenSlides>0</HiddenSlides>
  <MMClips>0</MMClips>
  <ScaleCrop>false</ScaleCrop>
  <HeadingPairs>
    <vt:vector size="6" baseType="variant">
      <vt:variant>
        <vt:lpstr>Használt betűtípusok</vt:lpstr>
      </vt:variant>
      <vt:variant>
        <vt:i4>6</vt:i4>
      </vt:variant>
      <vt:variant>
        <vt:lpstr>Téma</vt:lpstr>
      </vt:variant>
      <vt:variant>
        <vt:i4>1</vt:i4>
      </vt:variant>
      <vt:variant>
        <vt:lpstr>Diacímek</vt:lpstr>
      </vt:variant>
      <vt:variant>
        <vt:i4>23</vt:i4>
      </vt:variant>
    </vt:vector>
  </HeadingPairs>
  <TitlesOfParts>
    <vt:vector size="30" baseType="lpstr">
      <vt:lpstr>Arial</vt:lpstr>
      <vt:lpstr>Calibri</vt:lpstr>
      <vt:lpstr>Courier New</vt:lpstr>
      <vt:lpstr>Noto Sans Symbols</vt:lpstr>
      <vt:lpstr>Open Sans</vt:lpstr>
      <vt:lpstr>Wingdings</vt:lpstr>
      <vt:lpstr>címdia</vt:lpstr>
      <vt:lpstr>PowerPoint-bemutató</vt:lpstr>
      <vt:lpstr>Lab 1</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Azure subscriptions</vt:lpstr>
      <vt:lpstr>PowerPoint-bemutató</vt:lpstr>
      <vt:lpstr>PowerPoint-bemutató</vt:lpstr>
      <vt:lpstr>PowerPoint-bemutató</vt:lpstr>
      <vt:lpstr>PowerPoint-bemutató</vt:lpstr>
      <vt:lpstr>PowerPoint-bemutató</vt:lpstr>
      <vt:lpstr>PowerPoint-bemutató</vt:lpstr>
      <vt:lpstr>Azure Resource Manager</vt:lpstr>
      <vt:lpstr>Azure Resource Manager</vt:lpstr>
      <vt:lpstr>Azure Resource Manager - Overview</vt:lpstr>
      <vt:lpstr>Azure Resource Manager – templates</vt:lpstr>
      <vt:lpstr>PowerPoint-bemutató</vt:lpstr>
      <vt:lpstr>PowerPoint-bemutató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PREZENTÁCIÓ CÍME prezentáció alcíme</dc:title>
  <dc:creator>Microsoft Office User</dc:creator>
  <cp:lastModifiedBy>Megyesi Péter Zoltán</cp:lastModifiedBy>
  <cp:revision>787</cp:revision>
  <dcterms:created xsi:type="dcterms:W3CDTF">2021-07-01T15:39:11Z</dcterms:created>
  <dcterms:modified xsi:type="dcterms:W3CDTF">2024-09-07T20:00:52Z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0x010100FFC4D2D28162944D85E2D900E79383EE</vt:lpwstr>
  </property>
</Properties>
</file>